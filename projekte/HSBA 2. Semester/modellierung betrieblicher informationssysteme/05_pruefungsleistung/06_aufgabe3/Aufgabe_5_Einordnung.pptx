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2" r:id="rId11"/>
    <p:sldId id="51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99" autoAdjust="0"/>
    <p:restoredTop sz="94660"/>
  </p:normalViewPr>
  <p:slideViewPr>
    <p:cSldViewPr snapToGrid="0">
      <p:cViewPr>
        <p:scale>
          <a:sx n="50" d="100"/>
          <a:sy n="50" d="100"/>
        </p:scale>
        <p:origin x="329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 (4 Min Bearbeitung + 4 Min Auflösung), Platz: Ende Block 1 direkt nach Aufgabe 3.</a:t>
            </a:r>
          </a:p>
          <a:p>
            <a:r>
              <a:t>Anmoderation: „Aufgabe 3 hat gezeigt, was das Klassendiagramm kann. Jetzt ordnen wir es ein.“</a:t>
            </a:r>
          </a:p>
          <a:p>
            <a:r>
              <a:t>Hinweis nach 2 Minuten: „Die Frage ist nicht, was das Diagramm zeigt, sondern wohin es im ARIS-Haus gehört.“</a:t>
            </a:r>
          </a:p>
          <a:p>
            <a:r>
              <a:t>Zusatzfrage nur stellen, wenn nach 3 Minuten noch Zeit ist.</a:t>
            </a:r>
          </a:p>
          <a:p>
            <a:r>
              <a:t>Beide Betreuenden geben denselben Hinweis; keine weiteren Tipps.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Erwartbare Rückfragen und abgestimmte Antworten:</a:t>
            </a:r>
          </a:p>
          <a:p>
            <a:r>
              <a:t>– „Datensicht oder Funktionssicht?“ Beides gilt. Der Modulüberblick führt das Klassendiagramm in beiden Sichten. Begründung zählt, nicht das Stichwort.</a:t>
            </a:r>
          </a:p>
          <a:p>
            <a:r>
              <a:t>– „Fachkonzept oder DV-Konzept?“ Der Modulüberblick setzt es auf DV-Konzept. Wer Fachkonzept nennt und mit „fachliche Struktur, noch keine Technik“ begründet, bekommt das ebenfalls anerkannt.</a:t>
            </a:r>
          </a:p>
          <a:p>
            <a:r>
              <a:t>– „Was heißt Strukturdiagramm?“ Gegenstück sind Verhaltensdiagramme wie Aktivitäts- oder Sequenzdiagramm; diese Themen haben andere Gruppen.</a:t>
            </a:r>
          </a:p>
          <a:p>
            <a:r>
              <a:t>– Historie: 1997 UML 1.0 (OMG), 2005 UML 2.0. Jahreszahlen sind nicht auswendig verlangt – die Reihenfolge genügt.</a:t>
            </a:r>
          </a:p>
          <a:p>
            <a:r>
              <a:t>Quelle: Vorlesung Prof. Dr. Sarshar, Folien 3 und 5; Modulüberblick, Folie „Behandelte Modellierungssprachen“.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B81EA-FAD0-4618-E36E-68861CD84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163245-73AA-8B34-1C85-C6643C8C9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CD209F-7FD5-F9DF-FEDB-1DD3C467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37564C-776D-579C-922F-1DD72917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7A9861-EA2A-D697-9E36-EB851AF2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9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F55ED0-F38B-2FC5-BF83-778C606D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A4B1E8-19F1-1E28-0F38-4AB32F7D8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08386-DE83-D0AE-4FF3-C5D08ADA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492DB8-8171-ED73-D556-C04E1F56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30D79A-0F97-A67E-8370-18231174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57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917A5-C851-E491-CCC7-281B0F9DA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9380BA-1EFE-2B51-2EDC-9AC8F431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17A078-2A78-0796-03E3-DCCBE9817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AD2312-F607-20C1-59F5-6E4012BE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38AE6E-1977-410D-DCF3-1FCF4185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352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78CF3-9481-8609-505F-92E629CC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2836AE-9D80-1913-B912-A58F750D0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561BF2-2C2C-9236-5EAE-710A75F12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D37030-20B0-3A83-B90C-F16C4254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C80C63-0AD1-A684-8271-B5BC7C12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2E9B94-C238-DBCF-F9AE-BF6D891B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3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C427C-7FDA-3BB5-BB46-76168688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3E29B5-3A1B-674E-ECF9-8D2469EBB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54D207-D3E6-42B4-CD03-2E376927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ABE4A4-BEEA-03B1-059F-93CB90AFB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54777C-8007-9038-FDA4-F0CD7A850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A01DA2-4A97-409E-CA04-121A5558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0F15FA3-D311-5847-DE52-A376D81F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E5F475-33AF-F3D6-7474-572F6B24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30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1ECE66-4042-AAB1-478A-7743F2E1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FEB3619-9522-D258-E0BE-30991ED6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40BF41-1E45-41FD-3871-05023FA3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142665-0418-2FD7-6000-CFC72376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1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6001D74-ABA7-C427-2B14-CACED476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593B5A-8D87-587C-82DF-F3C9835C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22B06D-D5D4-0E47-1132-9F1CD1CA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7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61F53-12C9-521A-1BA6-82F1FE1E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465333-878B-1916-365B-DEF925D2E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9537CA-EF5B-F0B6-EED3-AB19BB092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60ABBC-4FA1-CD93-5D40-503DB95E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B3B513-B321-DF10-F8E7-BD41D971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3CD1AA-66A3-BD2E-42C5-A3BA43CA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9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96F25-54AD-DD68-E96F-2F78911C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FD2EDB4-1183-237C-B699-7C09AF397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42241C-0334-CE3C-2CB4-9F937D1B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122375-75FA-9E99-861D-38D26F41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0126B0-9350-DD79-B1B4-592BF43F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DB68A3-7286-9A4E-77D7-9CDBC849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85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EFE8D-1C77-6874-9361-E674070D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9F264-A108-C528-46E0-AA4615C4F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11476F-F68E-0DB2-32AD-64BC3359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C73DAC-636B-9993-38C1-47C664DA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B7AD70-AB62-E627-D5E7-45DB8BD3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94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8E8A97E-8041-83AA-D8ED-A44F82C6C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BC28F3-9FCF-C831-E28D-D7E5FC1D3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744715-9079-5ECD-425D-32D5F8A4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87098-9658-09BD-920C-EA4F00B6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93612A-0B61-60CA-C091-B24E6ACB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3331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0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3A4B30F-CB54-4958-AA03-FA9D0095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99" y="125973"/>
            <a:ext cx="11688001" cy="9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3200" b="1"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feld 14">
            <a:extLst>
              <a:ext uri="{FF2B5EF4-FFF2-40B4-BE49-F238E27FC236}">
                <a16:creationId xmlns:a16="http://schemas.microsoft.com/office/drawing/2014/main" id="{6D943558-3506-4F85-B733-47581F5662C7}"/>
              </a:ext>
            </a:extLst>
          </p:cNvPr>
          <p:cNvSpPr txBox="1"/>
          <p:nvPr userDrawn="1"/>
        </p:nvSpPr>
        <p:spPr>
          <a:xfrm>
            <a:off x="251322" y="6540673"/>
            <a:ext cx="351746" cy="3046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fld id="{2606D6E4-7A48-4190-B649-F3AD422062DD}" type="slidenum">
              <a:rPr lang="de-DE" sz="1000" smtClean="0">
                <a:solidFill>
                  <a:schemeClr val="accent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E015888-9A5F-8494-A23E-1A1099C77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095268" y="151916"/>
            <a:ext cx="886095" cy="30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609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483D92F-8E03-DD8D-4A26-4F35ACCB3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1FB00B-C8FB-B05A-4EF3-2DB713A0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356722-BA6D-B686-1E99-0B267CFC0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2FFF2-4751-4BE2-8586-A3C1F17AD2E3}" type="datetimeFigureOut">
              <a:rPr lang="de-DE" smtClean="0"/>
              <a:t>01.09.2026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434873-EE2E-A889-17D5-2B0BF0177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687FE3-0AC7-EDED-B407-CA8A37A08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C6F3C-F22C-4482-95EA-2F7C5C30AF96}" type="slidenum">
              <a:rPr lang="de-DE" smtClean="0"/>
              <a:t>‹Nr.›</a:t>
            </a:fld>
            <a:endParaRPr lang="de-DE"/>
          </a:p>
        </p:txBody>
      </p:sp>
      <p:grpSp>
        <p:nvGrpSpPr>
          <p:cNvPr id="900" name="Deko"/>
          <p:cNvGrpSpPr/>
          <p:nvPr/>
        </p:nvGrpSpPr>
        <p:grpSpPr>
          <a:xfrm>
            <a:off x="0" y="6781800"/>
            <a:ext cx="12192000" cy="76200"/>
            <a:chOff x="0" y="6781800"/>
            <a:chExt cx="12192000" cy="76200"/>
          </a:xfrm>
        </p:grpSpPr>
        <p:sp>
          <p:nvSpPr>
            <p:cNvPr id="901" name="Linie hell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DEE8F2"/>
            </a:solidFill>
            <a:ln>
              <a:noFill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2" name="Akzentblock"/>
            <p:cNvSpPr/>
            <p:nvPr/>
          </p:nvSpPr>
          <p:spPr>
            <a:xfrm>
              <a:off x="0" y="6781800"/>
              <a:ext cx="2286000" cy="76200"/>
            </a:xfrm>
            <a:prstGeom prst="rect">
              <a:avLst/>
            </a:prstGeom>
            <a:solidFill>
              <a:srgbClr val="548ECB"/>
            </a:solidFill>
            <a:ln>
              <a:noFill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7999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C5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FFBFF-1F15-681B-F698-E3F4A8A8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787400"/>
          </a:xfrm>
        </p:spPr>
        <p:txBody>
          <a:bodyPr/>
          <a:lstStyle/>
          <a:p>
            <a:r>
              <a:rPr lang="de-DE" sz="3200" b="1" dirty="0"/>
              <a:t>Aufgabe 5: Einordnung und Herkunft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320A10-58C8-E2E5-562D-097751130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953000"/>
          </a:xfrm>
        </p:spPr>
        <p:txBody>
          <a:bodyPr anchor="ctr"/>
          <a:lstStyle/>
          <a:p>
            <a:pPr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de-DE" sz="1800" dirty="0">
                <a:solidFill>
                  <a:srgbClr val="212121"/>
                </a:solidFill>
              </a:rPr>
              <a:t>ARIS gliedert Modelle in vier Sichten – Organisations-, Daten-, Funktions- und Prozesssicht – auf drei Ebenen: Fachkonzept, DV-Konzept, Implementierung.</a:t>
            </a:r>
          </a:p>
          <a:p>
            <a:pPr algn="ctr">
              <a:lnSpc>
                <a:spcPct val="105000"/>
              </a:lnSpc>
              <a:spcAft>
                <a:spcPts val="1200"/>
              </a:spcAft>
              <a:buNone/>
            </a:pPr>
            <a:r>
              <a:rPr lang="de-DE" sz="3600" b="1" dirty="0">
                <a:solidFill>
                  <a:srgbClr val="002C58"/>
                </a:solidFill>
              </a:rPr>
              <a:t>„In welche ARIS-Sicht gehört das Klassendiagramm – und warum?“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de-DE" sz="1800" dirty="0">
                <a:solidFill>
                  <a:srgbClr val="212121"/>
                </a:solidFill>
              </a:rPr>
              <a:t>Zusatz: Seit wann ist die UML genormt, und zu welcher Diagrammfamilie zählt das Klassendiagramm?</a:t>
            </a:r>
          </a:p>
          <a:p>
            <a:pPr algn="ctr">
              <a:buNone/>
            </a:pPr>
            <a:r>
              <a:rPr lang="de-DE" sz="1800" dirty="0">
                <a:solidFill>
                  <a:srgbClr val="212121"/>
                </a:solidFill>
              </a:rPr>
              <a:t>Gruppenarbeit, 4 Minuten – anschließend Auflösung im Plenum.</a:t>
            </a:r>
          </a:p>
        </p:txBody>
      </p:sp>
    </p:spTree>
    <p:extLst>
      <p:ext uri="{BB962C8B-B14F-4D97-AF65-F5344CB8AC3E}">
        <p14:creationId xmlns:p14="http://schemas.microsoft.com/office/powerpoint/2010/main" val="282071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EFFCF-1905-DA42-B9A1-2AB55FB5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787400"/>
          </a:xfrm>
        </p:spPr>
        <p:txBody>
          <a:bodyPr/>
          <a:lstStyle/>
          <a:p>
            <a:r>
              <a:rPr lang="de-DE" sz="3200" b="1" dirty="0"/>
              <a:t>Musterlösung Aufgabe 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E1044F-0F2C-5CE7-6F86-6FACB3E95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953000"/>
          </a:xfrm>
        </p:spPr>
        <p:txBody>
          <a:bodyPr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de-DE" sz="2200" b="1" dirty="0">
                <a:solidFill>
                  <a:srgbClr val="002C58"/>
                </a:solidFill>
              </a:rPr>
              <a:t>Einordnung in ARIS</a:t>
            </a:r>
          </a:p>
          <a:p>
            <a:pPr marL="285750" indent="-285750" algn="l">
              <a:spcAft>
                <a:spcPts val="2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Datensicht: Das Klassendiagramm beschreibt, welche Daten das System führt und wie sie strukturiert sind.</a:t>
            </a:r>
          </a:p>
          <a:p>
            <a:pPr marL="285750" indent="-285750" algn="l">
              <a:spcAft>
                <a:spcPts val="2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Der Modulüberblick führt es zusätzlich in der Funktionssicht – Klassen tragen neben Attributen auch Methoden.</a:t>
            </a:r>
          </a:p>
          <a:p>
            <a:pPr marL="285750" indent="-285750" algn="l">
              <a:spcAft>
                <a:spcPts val="2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Ebene: DV-Konzept (Modulüberblick, Folie „Behandelte Modellierungssprachen“).</a:t>
            </a:r>
          </a:p>
          <a:p>
            <a:pPr marL="285750" indent="-285750" algn="l">
              <a:spcAft>
                <a:spcPts val="8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Nicht Prozesssicht: Abläufe zeigt das Klassendiagramm nicht – siehe Aufgabe 3.</a:t>
            </a:r>
          </a:p>
          <a:p>
            <a:pPr algn="l">
              <a:spcAft>
                <a:spcPts val="400"/>
              </a:spcAft>
              <a:buNone/>
            </a:pPr>
            <a:r>
              <a:rPr lang="de-DE" sz="2200" b="1" dirty="0">
                <a:solidFill>
                  <a:srgbClr val="002C58"/>
                </a:solidFill>
              </a:rPr>
              <a:t>Herkunft</a:t>
            </a:r>
          </a:p>
          <a:p>
            <a:pPr marL="285750" indent="-285750" algn="l">
              <a:spcAft>
                <a:spcPts val="2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1997: Die OMG standardisiert UML 1.0; das Klassendiagramm wird eines der wichtigsten UML-Diagramme.</a:t>
            </a:r>
          </a:p>
          <a:p>
            <a:pPr marL="285750" indent="-285750" algn="l">
              <a:spcAft>
                <a:spcPts val="2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2005: UML 2.0 erweitert und präzisiert es.</a:t>
            </a:r>
          </a:p>
          <a:p>
            <a:pPr marL="285750" indent="-285750" algn="l">
              <a:spcAft>
                <a:spcPts val="800"/>
              </a:spcAft>
              <a:buClr>
                <a:srgbClr val="002C58"/>
              </a:buClr>
              <a:buFont typeface="Arial"/>
              <a:buChar char="▪"/>
            </a:pPr>
            <a:r>
              <a:rPr lang="de-DE" sz="1600" dirty="0">
                <a:solidFill>
                  <a:srgbClr val="212121"/>
                </a:solidFill>
              </a:rPr>
              <a:t>Es zählt zu den Strukturdiagrammen, nicht zu den Verhaltensdiagrammen (Vorlesung, Folie 3).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de-DE" sz="1600" dirty="0" b="1">
                <a:solidFill>
                  <a:srgbClr val="002C58"/>
                </a:solidFill>
              </a:rPr>
              <a:t>Struktur statt Ablauf – deshalb Datensicht.</a:t>
            </a:r>
          </a:p>
        </p:txBody>
      </p:sp>
    </p:spTree>
    <p:extLst>
      <p:ext uri="{BB962C8B-B14F-4D97-AF65-F5344CB8AC3E}">
        <p14:creationId xmlns:p14="http://schemas.microsoft.com/office/powerpoint/2010/main" val="2468668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[1788246192383]">
  <a:themeElements>
    <a:clrScheme name="Office">
      <a:dk1>
        <a:srgbClr val="002C58"/>
      </a:dk1>
      <a:lt1>
        <a:srgbClr val="FFFFFF"/>
      </a:lt1>
      <a:dk2>
        <a:srgbClr val="212121"/>
      </a:dk2>
      <a:lt2>
        <a:srgbClr val="DEE8F2"/>
      </a:lt2>
      <a:accent1>
        <a:srgbClr val="002C58"/>
      </a:accent1>
      <a:accent2>
        <a:srgbClr val="548ECB"/>
      </a:accent2>
      <a:accent3>
        <a:srgbClr val="DEE8F2"/>
      </a:accent3>
      <a:accent4>
        <a:srgbClr val="7F98B0"/>
      </a:accent4>
      <a:accent5>
        <a:srgbClr val="9EC2E4"/>
      </a:accent5>
      <a:accent6>
        <a:srgbClr val="212121"/>
      </a:accent6>
      <a:hlink>
        <a:srgbClr val="0563C1"/>
      </a:hlink>
      <a:folHlink>
        <a:srgbClr val="954F72"/>
      </a:folHlink>
    </a:clrScheme>
    <a:fontScheme name="Office">
      <a:majorFont>
        <a:latin typeface="Titillium Web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tillium Web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  <wetp:taskpane dockstate="right" visibility="0" width="699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43298EC-D853-4F43-A780-C3DAE653539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5eb2b94-a7df-4888-a621-b0654a32bfa6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2E9F2B8-8945-4547-8363-53F5119A381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365c5b02-3a29-48b0-9911-bd523d989a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Breitbild</PresentationFormat>
  <Paragraphs>99</Paragraphs>
  <Slides>11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Titillium Web</vt:lpstr>
      <vt:lpstr>Office [1788246192383]</vt:lpstr>
      <vt:lpstr>think-cell Slide</vt:lpstr>
      <vt:lpstr>Modellierung betrieblicher Informationssysteme</vt:lpstr>
      <vt:lpstr>Sprachkonstrukte (Überblick)</vt:lpstr>
      <vt:lpstr>Aufgabe 1: Szenario Hochschulverwaltung</vt:lpstr>
      <vt:lpstr>Aufgabe 1: Finden Sie die sechs Fehler</vt:lpstr>
      <vt:lpstr>Musterlösung Aufgabe 1</vt:lpstr>
      <vt:lpstr>Aufgabe 2: Modellieren Sie das Szenario</vt:lpstr>
      <vt:lpstr>Musterlösung Aufgabe 2</vt:lpstr>
      <vt:lpstr>Aufgabe 3: Zweck und Grenzen</vt:lpstr>
      <vt:lpstr>Musterlösung Aufgabe 3</vt:lpstr>
      <vt:lpstr>Aufgabe 4:</vt:lpstr>
      <vt:lpstr>Musterlösung Aufgabe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Heinsius</dc:creator>
  <cp:lastModifiedBy>Felix Heinsius</cp:lastModifiedBy>
  <cp:revision>21</cp:revision>
  <dcterms:created xsi:type="dcterms:W3CDTF">2026-09-01T07:03:12Z</dcterms:created>
  <dcterms:modified xsi:type="dcterms:W3CDTF">2026-09-01T21:46:09Z</dcterms:modified>
</cp:coreProperties>
</file>