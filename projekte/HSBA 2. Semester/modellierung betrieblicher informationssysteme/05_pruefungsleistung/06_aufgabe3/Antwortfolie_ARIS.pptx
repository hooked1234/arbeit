
<file path=[Content_Types].xml><?xml version="1.0" encoding="utf-8"?>
<Types xmlns="http://schemas.openxmlformats.org/package/2006/content-types">
  <Default Extension="emf" ContentType="image/x-emf"/>
  <Default Extension="fntdata" ContentType="application/x-fontdata"/>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handoutMasters/handoutMaster1.xml" ContentType="application/vnd.openxmlformats-officedocument.presentationml.handoutMaster+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 id="2147483695" r:id="rId5"/>
  </p:sldMasterIdLst>
  <p:notesMasterIdLst>
    <p:notesMasterId r:id="rId31"/>
  </p:notesMasterIdLst>
  <p:handoutMasterIdLst>
    <p:handoutMasterId r:id="rId32"/>
  </p:handoutMasterIdLst>
  <p:sldIdLst>
    <p:sldId id="419" r:id="rId10"/>
  </p:sldIdLst>
  <p:sldSz cx="12192000" cy="6858000"/>
  <p:notesSz cx="6797675" cy="9928225"/>
  <p:embeddedFontLst>
    <p:embeddedFont>
      <p:font typeface="Titillium Web" panose="00000500000000000000" pitchFamily="2" charset="0"/>
      <p:regular r:id="rId33"/>
      <p:bold r:id="rId34"/>
      <p:italic r:id="rId35"/>
      <p:boldItalic r:id="rId36"/>
    </p:embeddedFont>
    <p:embeddedFont>
      <p:font typeface="TitilliumText25L" panose="020B0604020202020204" charset="0"/>
      <p:regular r:id="rId37"/>
      <p:bold r:id="rId38"/>
    </p:embeddedFont>
    <p:embeddedFont>
      <p:font typeface="Wingdings 3" panose="05040102010807070707" pitchFamily="18" charset="2"/>
      <p:regular r:id="rId39"/>
    </p:embeddedFont>
  </p:embeddedFontLst>
  <p:custDataLst>
    <p:tags r:id="rId4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61E90986-D7A6-428E-BA00-AEBAB1C1BE0C}">
          <p14:sldIdLst>
            <p14:sldId id="336"/>
            <p14:sldId id="463"/>
          </p14:sldIdLst>
        </p14:section>
        <p14:section name="Inhalt" id="{73D33112-1D5A-4DB3-98C0-9366422F57C2}">
          <p14:sldIdLst>
            <p14:sldId id="259"/>
            <p14:sldId id="348"/>
            <p14:sldId id="419"/>
            <p14:sldId id="481"/>
            <p14:sldId id="451"/>
            <p14:sldId id="482"/>
            <p14:sldId id="483"/>
            <p14:sldId id="484"/>
            <p14:sldId id="488"/>
            <p14:sldId id="492"/>
            <p14:sldId id="487"/>
            <p14:sldId id="489"/>
            <p14:sldId id="493"/>
            <p14:sldId id="486"/>
            <p14:sldId id="490"/>
            <p14:sldId id="494"/>
            <p14:sldId id="485"/>
            <p14:sldId id="491"/>
            <p14:sldId id="495"/>
            <p14:sldId id="496"/>
            <p14:sldId id="497"/>
            <p14:sldId id="349"/>
            <p14:sldId id="35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cus Bräunig" initials="MB" lastIdx="1" clrIdx="0">
    <p:extLst>
      <p:ext uri="{19B8F6BF-5375-455C-9EA6-DF929625EA0E}">
        <p15:presenceInfo xmlns:p15="http://schemas.microsoft.com/office/powerpoint/2012/main" userId="Marcus Bräuni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600"/>
    <a:srgbClr val="012656"/>
    <a:srgbClr val="254061"/>
    <a:srgbClr val="548ECB"/>
    <a:srgbClr val="4472C4"/>
    <a:srgbClr val="405C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3947" autoAdjust="0"/>
    <p:restoredTop sz="94743" autoAdjust="0"/>
  </p:normalViewPr>
  <p:slideViewPr>
    <p:cSldViewPr snapToGrid="0">
      <p:cViewPr>
        <p:scale>
          <a:sx n="75" d="100"/>
          <a:sy n="75" d="100"/>
        </p:scale>
        <p:origin x="1074" y="780"/>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113" d="100"/>
          <a:sy n="113" d="100"/>
        </p:scale>
        <p:origin x="5220" y="7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0" Type="http://schemas.openxmlformats.org/officeDocument/2006/relationships/slide" Target="slides/slide1.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font" Target="fonts/font1.fntdata"/><Relationship Id="rId34" Type="http://schemas.openxmlformats.org/officeDocument/2006/relationships/font" Target="fonts/font2.fntdata"/><Relationship Id="rId35" Type="http://schemas.openxmlformats.org/officeDocument/2006/relationships/font" Target="fonts/font3.fntdata"/><Relationship Id="rId36" Type="http://schemas.openxmlformats.org/officeDocument/2006/relationships/font" Target="fonts/font4.fntdata"/><Relationship Id="rId37" Type="http://schemas.openxmlformats.org/officeDocument/2006/relationships/font" Target="fonts/font5.fntdata"/><Relationship Id="rId38" Type="http://schemas.openxmlformats.org/officeDocument/2006/relationships/font" Target="fonts/font6.fntdata"/><Relationship Id="rId39" Type="http://schemas.openxmlformats.org/officeDocument/2006/relationships/font" Target="fonts/font7.fntdata"/><Relationship Id="rId40" Type="http://schemas.openxmlformats.org/officeDocument/2006/relationships/tags" Target="tags/tag1.xml"/><Relationship Id="rId41" Type="http://schemas.openxmlformats.org/officeDocument/2006/relationships/commentAuthors" Target="commentAuthors.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dirty="0">
              <a:latin typeface="TitilliumText25L" panose="02000000000000000000" pitchFamily="50" charset="0"/>
            </a:endParaRPr>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19194331-4FA0-4800-A181-4782E50297E6}" type="datetimeFigureOut">
              <a:rPr lang="en-US" smtClean="0">
                <a:latin typeface="TitilliumText25L" panose="02000000000000000000" pitchFamily="50" charset="0"/>
              </a:rPr>
              <a:t>7/31/2026</a:t>
            </a:fld>
            <a:endParaRPr lang="en-US" dirty="0">
              <a:latin typeface="TitilliumText25L" panose="02000000000000000000" pitchFamily="50" charset="0"/>
            </a:endParaRPr>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dirty="0">
              <a:latin typeface="TitilliumText25L" panose="02000000000000000000" pitchFamily="50" charset="0"/>
            </a:endParaRPr>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98FD8BD7-889E-4B52-9FD0-E04AB5DD7A7F}" type="slidenum">
              <a:rPr lang="en-US" smtClean="0">
                <a:latin typeface="TitilliumText25L" panose="02000000000000000000" pitchFamily="50" charset="0"/>
              </a:rPr>
              <a:t>‹Nr.›</a:t>
            </a:fld>
            <a:endParaRPr lang="en-US" dirty="0">
              <a:latin typeface="TitilliumText25L" panose="02000000000000000000" pitchFamily="50" charset="0"/>
            </a:endParaRPr>
          </a:p>
        </p:txBody>
      </p:sp>
    </p:spTree>
    <p:extLst>
      <p:ext uri="{BB962C8B-B14F-4D97-AF65-F5344CB8AC3E}">
        <p14:creationId xmlns:p14="http://schemas.microsoft.com/office/powerpoint/2010/main" val="12030805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atin typeface="TitilliumText25L" panose="02000000000000000000" pitchFamily="50" charset="0"/>
              </a:defRPr>
            </a:lvl1pPr>
          </a:lstStyle>
          <a:p>
            <a:endParaRPr lang="en-US" dirty="0"/>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atin typeface="TitilliumText25L" panose="02000000000000000000" pitchFamily="50" charset="0"/>
              </a:defRPr>
            </a:lvl1pPr>
          </a:lstStyle>
          <a:p>
            <a:fld id="{7F1A7734-EBA1-4FEE-BC1D-270600FA870E}" type="datetimeFigureOut">
              <a:rPr lang="en-US" smtClean="0"/>
              <a:pPr/>
              <a:t>7/31/2026</a:t>
            </a:fld>
            <a:endParaRPr lang="en-US"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atin typeface="TitilliumText25L" panose="02000000000000000000" pitchFamily="50" charset="0"/>
              </a:defRPr>
            </a:lvl1pPr>
          </a:lstStyle>
          <a:p>
            <a:endParaRPr lang="en-US" dirty="0"/>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atin typeface="TitilliumText25L" panose="02000000000000000000" pitchFamily="50" charset="0"/>
              </a:defRPr>
            </a:lvl1pPr>
          </a:lstStyle>
          <a:p>
            <a:fld id="{FF3E3E09-7F06-4A43-A984-22A0452AED80}" type="slidenum">
              <a:rPr lang="en-US" smtClean="0"/>
              <a:pPr/>
              <a:t>‹Nr.›</a:t>
            </a:fld>
            <a:endParaRPr lang="en-US" dirty="0"/>
          </a:p>
        </p:txBody>
      </p:sp>
    </p:spTree>
    <p:extLst>
      <p:ext uri="{BB962C8B-B14F-4D97-AF65-F5344CB8AC3E}">
        <p14:creationId xmlns:p14="http://schemas.microsoft.com/office/powerpoint/2010/main" val="2257768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tilliumText25L" panose="02000000000000000000" pitchFamily="50" charset="0"/>
        <a:ea typeface="+mn-ea"/>
        <a:cs typeface="+mn-cs"/>
      </a:defRPr>
    </a:lvl1pPr>
    <a:lvl2pPr marL="457200" algn="l" defTabSz="914400" rtl="0" eaLnBrk="1" latinLnBrk="0" hangingPunct="1">
      <a:defRPr sz="1200" kern="1200">
        <a:solidFill>
          <a:schemeClr val="tx1"/>
        </a:solidFill>
        <a:latin typeface="TitilliumText25L" panose="02000000000000000000" pitchFamily="50" charset="0"/>
        <a:ea typeface="+mn-ea"/>
        <a:cs typeface="+mn-cs"/>
      </a:defRPr>
    </a:lvl2pPr>
    <a:lvl3pPr marL="914400" algn="l" defTabSz="914400" rtl="0" eaLnBrk="1" latinLnBrk="0" hangingPunct="1">
      <a:defRPr sz="1200" kern="1200">
        <a:solidFill>
          <a:schemeClr val="tx1"/>
        </a:solidFill>
        <a:latin typeface="TitilliumText25L" panose="02000000000000000000" pitchFamily="50" charset="0"/>
        <a:ea typeface="+mn-ea"/>
        <a:cs typeface="+mn-cs"/>
      </a:defRPr>
    </a:lvl3pPr>
    <a:lvl4pPr marL="1371600" algn="l" defTabSz="914400" rtl="0" eaLnBrk="1" latinLnBrk="0" hangingPunct="1">
      <a:defRPr sz="1200" kern="1200">
        <a:solidFill>
          <a:schemeClr val="tx1"/>
        </a:solidFill>
        <a:latin typeface="TitilliumText25L" panose="02000000000000000000" pitchFamily="50" charset="0"/>
        <a:ea typeface="+mn-ea"/>
        <a:cs typeface="+mn-cs"/>
      </a:defRPr>
    </a:lvl4pPr>
    <a:lvl5pPr marL="1828800" algn="l" defTabSz="914400" rtl="0" eaLnBrk="1" latinLnBrk="0" hangingPunct="1">
      <a:defRPr sz="1200" kern="1200">
        <a:solidFill>
          <a:schemeClr val="tx1"/>
        </a:solidFill>
        <a:latin typeface="TitilliumText25L" panose="020000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xfrm>
            <a:off x="5641707" y="6474725"/>
            <a:ext cx="4316008" cy="34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lvl1pPr>
              <a:defRPr sz="1600">
                <a:solidFill>
                  <a:schemeClr val="tx1"/>
                </a:solidFill>
                <a:latin typeface="Arial" charset="0"/>
                <a:cs typeface="Arial" charset="0"/>
              </a:defRPr>
            </a:lvl1pPr>
            <a:lvl2pPr marL="745627" indent="-286779">
              <a:defRPr sz="1600">
                <a:solidFill>
                  <a:schemeClr val="tx1"/>
                </a:solidFill>
                <a:latin typeface="Arial" charset="0"/>
                <a:cs typeface="Arial" charset="0"/>
              </a:defRPr>
            </a:lvl2pPr>
            <a:lvl3pPr marL="1147118" indent="-229423">
              <a:defRPr sz="1600">
                <a:solidFill>
                  <a:schemeClr val="tx1"/>
                </a:solidFill>
                <a:latin typeface="Arial" charset="0"/>
                <a:cs typeface="Arial" charset="0"/>
              </a:defRPr>
            </a:lvl3pPr>
            <a:lvl4pPr marL="1605966" indent="-229423">
              <a:defRPr sz="1600">
                <a:solidFill>
                  <a:schemeClr val="tx1"/>
                </a:solidFill>
                <a:latin typeface="Arial" charset="0"/>
                <a:cs typeface="Arial" charset="0"/>
              </a:defRPr>
            </a:lvl4pPr>
            <a:lvl5pPr marL="2064813" indent="-229423">
              <a:defRPr sz="1600">
                <a:solidFill>
                  <a:schemeClr val="tx1"/>
                </a:solidFill>
                <a:latin typeface="Arial" charset="0"/>
                <a:cs typeface="Arial" charset="0"/>
              </a:defRPr>
            </a:lvl5pPr>
            <a:lvl6pPr marL="2523660" indent="-229423" algn="ctr" eaLnBrk="0" fontAlgn="base" hangingPunct="0">
              <a:spcBef>
                <a:spcPct val="0"/>
              </a:spcBef>
              <a:spcAft>
                <a:spcPct val="0"/>
              </a:spcAft>
              <a:defRPr sz="1600">
                <a:solidFill>
                  <a:schemeClr val="tx1"/>
                </a:solidFill>
                <a:latin typeface="Arial" charset="0"/>
                <a:cs typeface="Arial" charset="0"/>
              </a:defRPr>
            </a:lvl6pPr>
            <a:lvl7pPr marL="2982508" indent="-229423" algn="ctr" eaLnBrk="0" fontAlgn="base" hangingPunct="0">
              <a:spcBef>
                <a:spcPct val="0"/>
              </a:spcBef>
              <a:spcAft>
                <a:spcPct val="0"/>
              </a:spcAft>
              <a:defRPr sz="1600">
                <a:solidFill>
                  <a:schemeClr val="tx1"/>
                </a:solidFill>
                <a:latin typeface="Arial" charset="0"/>
                <a:cs typeface="Arial" charset="0"/>
              </a:defRPr>
            </a:lvl7pPr>
            <a:lvl8pPr marL="3441355" indent="-229423" algn="ctr" eaLnBrk="0" fontAlgn="base" hangingPunct="0">
              <a:spcBef>
                <a:spcPct val="0"/>
              </a:spcBef>
              <a:spcAft>
                <a:spcPct val="0"/>
              </a:spcAft>
              <a:defRPr sz="1600">
                <a:solidFill>
                  <a:schemeClr val="tx1"/>
                </a:solidFill>
                <a:latin typeface="Arial" charset="0"/>
                <a:cs typeface="Arial" charset="0"/>
              </a:defRPr>
            </a:lvl8pPr>
            <a:lvl9pPr marL="3900203" indent="-229423" algn="ctr" eaLnBrk="0" fontAlgn="base" hangingPunct="0">
              <a:spcBef>
                <a:spcPct val="0"/>
              </a:spcBef>
              <a:spcAft>
                <a:spcPct val="0"/>
              </a:spcAft>
              <a:defRPr sz="1600">
                <a:solidFill>
                  <a:schemeClr val="tx1"/>
                </a:solidFill>
                <a:latin typeface="Arial" charset="0"/>
                <a:cs typeface="Arial" charset="0"/>
              </a:defRPr>
            </a:lvl9pPr>
          </a:lstStyle>
          <a:p>
            <a:fld id="{34B2CE11-54ED-499D-8C36-BA321BB06A8F}" type="slidenum">
              <a:rPr lang="de-DE" sz="1200"/>
              <a:pPr/>
              <a:t>5</a:t>
            </a:fld>
            <a:endParaRPr lang="de-DE" sz="120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xfrm>
            <a:off x="1328003" y="3237954"/>
            <a:ext cx="7304014" cy="306753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p>
            <a:r>
              <a:t>Vortragsfolie, keine Aufgabe. Dauer 60–90 Sekunden, Platz: nach der Auflösung von Aufgabe 3.</a:t>
            </a:r>
          </a:p>
          <a:p/>
          <a:p>
            <a:r>
              <a:t>Roter Faden:</a:t>
            </a:r>
          </a:p>
          <a:p>
            <a:r>
              <a:t>1. „Aufgabe 3 hat gezeigt, was das Klassendiagramm kann und was nicht. Jetzt: wo steht es im Werkzeugkasten?“</a:t>
            </a:r>
          </a:p>
          <a:p>
            <a:r>
              <a:t>2. ARIS gliedert Modelle in vier Sichten – Organisations-, Daten-, Funktions- und Prozesssicht – auf drei Ebenen: Fachkonzept, DV-Konzept, Implementierung (Vorlesung, Folie 5, nach Scheer 2011).</a:t>
            </a:r>
          </a:p>
          <a:p>
            <a:r>
              <a:t>3. Das Klassendiagramm steht in der Datensicht: es beschreibt, welche Daten das System führt und wie sie strukturiert sind.</a:t>
            </a:r>
          </a:p>
          <a:p>
            <a:r>
              <a:t>4. Der Modulüberblick führt es zusätzlich in der Funktionssicht, weil Klassen neben Attributen auch Methoden tragen. Beide Nennungen stehen dort auf der Ebene DV-Konzept.</a:t>
            </a:r>
          </a:p>
          <a:p>
            <a:r>
              <a:t>5. Nicht Prozesssicht – Abläufe zeigt es nicht. Das ist genau das Ergebnis aus Aufgabe 3.</a:t>
            </a:r>
          </a:p>
          <a:p/>
          <a:p>
            <a:r>
              <a:t>Anschlusssatz für die Historie (Vorlesungsfolie 3), falls sie sonst nirgends vorkommt:</a:t>
            </a:r>
          </a:p>
          <a:p>
            <a:r>
              <a:t>„Genormt ist das Ganze seit 1997, als die OMG UML 1.0 verabschiedet hat; 2005 kam UML 2.0. Seitdem zählt das Klassendiagramm zu den Strukturdiagrammen – nicht zu den Verhaltensdiagrammen.“</a:t>
            </a:r>
          </a:p>
          <a:p/>
          <a:p>
            <a:r>
              <a:t>Wenn jemand fragt „Fachkonzept oder DV-Konzept?“: Der Modulüberblick setzt es auf DV-Konzept. Wer Fachkonzept nennt und mit „fachliche Struktur, noch keine Technik“ begründet, liegt ebenfalls richtig.</a:t>
            </a:r>
          </a:p>
          <a:p/>
          <a:p>
            <a:r>
              <a:t>Belege: 7-UML-KD.pptx Folien 3 und 5 · Konzept.pptx Folie 2 „Behandelte Modellierungsprachen“, dort steht UML-Klassendiagramm zweimal, links neben der Datensicht und rechts neben der Funktionssicht.</a:t>
            </a:r>
          </a:p>
        </p:txBody>
      </p:sp>
    </p:spTree>
    <p:extLst>
      <p:ext uri="{BB962C8B-B14F-4D97-AF65-F5344CB8AC3E}">
        <p14:creationId xmlns:p14="http://schemas.microsoft.com/office/powerpoint/2010/main" val="996508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 Id="rId6" Type="http://schemas.openxmlformats.org/officeDocument/2006/relationships/image" Target="../media/image5.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tags" Target="../tags/tag19.xml"/><Relationship Id="rId3" Type="http://schemas.openxmlformats.org/officeDocument/2006/relationships/slideMaster" Target="../slideMasters/slideMaster1.xml"/><Relationship Id="rId4" Type="http://schemas.openxmlformats.org/officeDocument/2006/relationships/oleObject" Target="../embeddings/oleObject3.bin"/><Relationship Id="rId5" Type="http://schemas.openxmlformats.org/officeDocument/2006/relationships/image" Target="../media/image2.emf"/><Relationship Id="rId6"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Version 1)">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3886200"/>
            <a:ext cx="12192000" cy="2971800"/>
          </a:xfrm>
          <a:prstGeom prst="rect">
            <a:avLst/>
          </a:prstGeom>
        </p:spPr>
        <p:txBody>
          <a:bodyPr anchor="ctr">
            <a:noAutofit/>
          </a:bodyPr>
          <a:lstStyle>
            <a:lvl1pPr algn="ctr">
              <a:defRPr sz="9000" spc="200" baseline="0">
                <a:solidFill>
                  <a:schemeClr val="bg1"/>
                </a:solidFill>
                <a:latin typeface="+mj-lt"/>
              </a:defRPr>
            </a:lvl1pPr>
          </a:lstStyle>
          <a:p>
            <a:r>
              <a:rPr lang="de-DE" dirty="0"/>
              <a:t>Titel</a:t>
            </a:r>
            <a:endParaRPr lang="en-US" dirty="0"/>
          </a:p>
        </p:txBody>
      </p:sp>
      <p:pic>
        <p:nvPicPr>
          <p:cNvPr id="4" name="Grafik 3">
            <a:extLst>
              <a:ext uri="{FF2B5EF4-FFF2-40B4-BE49-F238E27FC236}">
                <a16:creationId xmlns:a16="http://schemas.microsoft.com/office/drawing/2014/main" id="{E87AA66C-9778-81A6-F53B-931BBBFD960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277445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Version 2)">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4845837"/>
            <a:ext cx="7772400" cy="1463040"/>
          </a:xfrm>
          <a:prstGeom prst="rect">
            <a:avLst/>
          </a:prstGeom>
        </p:spPr>
        <p:txBody>
          <a:bodyPr lIns="90000" rIns="90000" anchor="ctr">
            <a:noAutofit/>
          </a:bodyPr>
          <a:lstStyle>
            <a:lvl1pPr algn="r">
              <a:defRPr sz="5000" b="1" spc="0" baseline="0">
                <a:solidFill>
                  <a:schemeClr val="tx1"/>
                </a:solidFill>
                <a:latin typeface="+mj-lt"/>
              </a:defRPr>
            </a:lvl1pPr>
          </a:lstStyle>
          <a:p>
            <a:r>
              <a:rPr lang="de-DE" dirty="0"/>
              <a:t>Titel</a:t>
            </a:r>
            <a:endParaRPr lang="en-US" dirty="0"/>
          </a:p>
        </p:txBody>
      </p:sp>
      <p:sp>
        <p:nvSpPr>
          <p:cNvPr id="3" name="Subtitle 2"/>
          <p:cNvSpPr>
            <a:spLocks noGrp="1"/>
          </p:cNvSpPr>
          <p:nvPr>
            <p:ph type="subTitle" idx="1" hasCustomPrompt="1"/>
          </p:nvPr>
        </p:nvSpPr>
        <p:spPr>
          <a:xfrm>
            <a:off x="8610600" y="4845837"/>
            <a:ext cx="3200400" cy="1463040"/>
          </a:xfrm>
          <a:prstGeom prst="rect">
            <a:avLst/>
          </a:prstGeom>
        </p:spPr>
        <p:txBody>
          <a:bodyPr lIns="91440" rIns="91440" anchor="ctr">
            <a:noAutofit/>
          </a:bodyPr>
          <a:lstStyle>
            <a:lvl1pPr marL="0" indent="0" algn="l">
              <a:lnSpc>
                <a:spcPct val="100000"/>
              </a:lnSpc>
              <a:spcBef>
                <a:spcPts val="0"/>
              </a:spcBef>
              <a:buNone/>
              <a:defRPr sz="1800">
                <a:solidFill>
                  <a:schemeClr val="tx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Untertitel</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2B1EAEB1-6678-AAAD-058B-1C127308CA6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82651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5662"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Bildplatzhalter 2">
            <a:extLst>
              <a:ext uri="{FF2B5EF4-FFF2-40B4-BE49-F238E27FC236}">
                <a16:creationId xmlns:a16="http://schemas.microsoft.com/office/drawing/2014/main" id="{7F105D5F-BE6D-0313-E8FF-F3B78E0A48F5}"/>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04E88ACA-6FE0-2A98-BFFA-8A19899BD8DF}"/>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166895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genda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56868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599993"/>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3" name="Bildplatzhalter 2">
            <a:extLst>
              <a:ext uri="{FF2B5EF4-FFF2-40B4-BE49-F238E27FC236}">
                <a16:creationId xmlns:a16="http://schemas.microsoft.com/office/drawing/2014/main" id="{DE01786B-F052-E286-4C89-7CAD3EEA3DAB}"/>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1C722A60-4FBA-C8E6-D104-5E8E94832F15}"/>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1039612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 up to 10">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46735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9DC9AA2E-15F9-0D88-4C10-13405D900DAD}"/>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DF040532-C423-6DC7-130B-B3E7B501BAA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852472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 up to 10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05515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600"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AF56EA3F-1922-8872-9792-501999237C38}"/>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3EEBF7B5-035D-015D-8C41-E74975E5CFAC}"/>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944694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pic>
        <p:nvPicPr>
          <p:cNvPr id="3" name="Grafik 2">
            <a:extLst>
              <a:ext uri="{FF2B5EF4-FFF2-40B4-BE49-F238E27FC236}">
                <a16:creationId xmlns:a16="http://schemas.microsoft.com/office/drawing/2014/main" id="{6E015888-9A5F-8494-A23E-1A1099C77F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241638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800" smtClean="0">
                <a:solidFill>
                  <a:schemeClr val="accent1"/>
                </a:solidFill>
                <a:latin typeface="Arial" panose="020B0604020202020204" pitchFamily="34" charset="0"/>
                <a:cs typeface="Arial" panose="020B0604020202020204" pitchFamily="34" charset="0"/>
              </a:rPr>
              <a:t>‹Nr.›</a:t>
            </a:fld>
            <a:endParaRPr lang="de-DE" sz="1800" dirty="0">
              <a:solidFill>
                <a:schemeClr val="accent1"/>
              </a:solidFill>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908300"/>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5" name="Grafik 4">
            <a:extLst>
              <a:ext uri="{FF2B5EF4-FFF2-40B4-BE49-F238E27FC236}">
                <a16:creationId xmlns:a16="http://schemas.microsoft.com/office/drawing/2014/main" id="{01053EC7-9585-5077-D1F9-4E591C9F87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56897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Text Placeholder 2"/>
          <p:cNvSpPr>
            <a:spLocks noGrp="1"/>
          </p:cNvSpPr>
          <p:nvPr>
            <p:ph type="body" sz="quarter" idx="12"/>
          </p:nvPr>
        </p:nvSpPr>
        <p:spPr>
          <a:xfrm>
            <a:off x="251999" y="1455420"/>
            <a:ext cx="11729363" cy="479298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2000" y="6312233"/>
            <a:ext cx="351746" cy="304627"/>
          </a:xfrm>
          <a:prstGeom prst="rect">
            <a:avLst/>
          </a:prstGeom>
          <a:noFill/>
        </p:spPr>
        <p:txBody>
          <a:bodyPr wrap="none" lIns="0" tIns="0" rIns="0" bIns="0" rtlCol="0">
            <a:noAutofit/>
          </a:bodyPr>
          <a:lstStyle/>
          <a:p>
            <a:fld id="{2606D6E4-7A48-4190-B649-F3AD422062DD}" type="slidenum">
              <a:rPr lang="de-DE" sz="1600" smtClean="0">
                <a:solidFill>
                  <a:schemeClr val="accent1"/>
                </a:solidFill>
                <a:latin typeface="+mj-lt"/>
              </a:rPr>
              <a:t>‹Nr.›</a:t>
            </a:fld>
            <a:endParaRPr lang="de-DE" sz="400" dirty="0">
              <a:solidFill>
                <a:schemeClr val="accent1"/>
              </a:solidFill>
              <a:latin typeface="+mj-lt"/>
            </a:endParaRPr>
          </a:p>
        </p:txBody>
      </p:sp>
      <p:pic>
        <p:nvPicPr>
          <p:cNvPr id="5" name="Grafik 4">
            <a:extLst>
              <a:ext uri="{FF2B5EF4-FFF2-40B4-BE49-F238E27FC236}">
                <a16:creationId xmlns:a16="http://schemas.microsoft.com/office/drawing/2014/main" id="{A3A2326D-2D59-C192-CB73-E3BC627D47B3}"/>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ACDB8551-B7E9-4647-CCEA-72AA502EBBA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527033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pic>
        <p:nvPicPr>
          <p:cNvPr id="11" name="Grafik 10">
            <a:extLst>
              <a:ext uri="{FF2B5EF4-FFF2-40B4-BE49-F238E27FC236}">
                <a16:creationId xmlns:a16="http://schemas.microsoft.com/office/drawing/2014/main" id="{F57CC41D-AAD0-75A1-C4DE-E00AAA2BDDE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628473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3705807"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pic>
        <p:nvPicPr>
          <p:cNvPr id="9" name="Grafik 8">
            <a:extLst>
              <a:ext uri="{FF2B5EF4-FFF2-40B4-BE49-F238E27FC236}">
                <a16:creationId xmlns:a16="http://schemas.microsoft.com/office/drawing/2014/main" id="{91E65AC4-F37D-4273-2617-0B1624F7EC06}"/>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781912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516478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6" name="Grafik 5">
            <a:extLst>
              <a:ext uri="{FF2B5EF4-FFF2-40B4-BE49-F238E27FC236}">
                <a16:creationId xmlns:a16="http://schemas.microsoft.com/office/drawing/2014/main" id="{B48653E5-466A-8D8D-4E91-191C4E9C704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54342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amp; Foto brei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371631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4" name="Bildplatzhalter 2">
            <a:extLst>
              <a:ext uri="{FF2B5EF4-FFF2-40B4-BE49-F238E27FC236}">
                <a16:creationId xmlns:a16="http://schemas.microsoft.com/office/drawing/2014/main" id="{3E851C3A-281E-653F-02B8-1D5C0CE37CC4}"/>
              </a:ext>
            </a:extLst>
          </p:cNvPr>
          <p:cNvSpPr>
            <a:spLocks noGrp="1"/>
          </p:cNvSpPr>
          <p:nvPr>
            <p:ph type="pic" sz="quarter" idx="12"/>
          </p:nvPr>
        </p:nvSpPr>
        <p:spPr>
          <a:xfrm>
            <a:off x="4270160" y="0"/>
            <a:ext cx="7921840" cy="6858000"/>
          </a:xfrm>
          <a:prstGeom prst="rect">
            <a:avLst/>
          </a:prstGeom>
        </p:spPr>
        <p:txBody>
          <a:bodyPr/>
          <a:lstStyle>
            <a:lvl1pPr marL="0" indent="0">
              <a:buNone/>
              <a:defRPr/>
            </a:lvl1pPr>
          </a:lstStyle>
          <a:p>
            <a:r>
              <a:rPr lang="de-DE"/>
              <a:t>Bild durch Klicken auf Symbol hinzufügen</a:t>
            </a:r>
            <a:endParaRPr lang="de-DE" dirty="0"/>
          </a:p>
        </p:txBody>
      </p:sp>
      <p:sp>
        <p:nvSpPr>
          <p:cNvPr id="6" name="Textplatzhalter 4">
            <a:extLst>
              <a:ext uri="{FF2B5EF4-FFF2-40B4-BE49-F238E27FC236}">
                <a16:creationId xmlns:a16="http://schemas.microsoft.com/office/drawing/2014/main" id="{5CC78C2A-3EFE-45C0-9AED-56F54CD8ABD8}"/>
              </a:ext>
            </a:extLst>
          </p:cNvPr>
          <p:cNvSpPr>
            <a:spLocks noGrp="1"/>
          </p:cNvSpPr>
          <p:nvPr>
            <p:ph type="body" sz="quarter" idx="14"/>
          </p:nvPr>
        </p:nvSpPr>
        <p:spPr>
          <a:xfrm>
            <a:off x="252000" y="1455937"/>
            <a:ext cx="3716319"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4159640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Layout dunkel Headline &amp; Content schrä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A05E0CD-80E7-3597-5232-74A9A88BE148}"/>
              </a:ext>
            </a:extLst>
          </p:cNvPr>
          <p:cNvSpPr/>
          <p:nvPr userDrawn="1"/>
        </p:nvSpPr>
        <p:spPr>
          <a:xfrm>
            <a:off x="-1" y="0"/>
            <a:ext cx="12191999" cy="6857999"/>
          </a:xfrm>
          <a:prstGeom prst="rect">
            <a:avLst/>
          </a:prstGeom>
          <a:gradFill>
            <a:gsLst>
              <a:gs pos="23000">
                <a:srgbClr val="012656"/>
              </a:gs>
              <a:gs pos="80000">
                <a:srgbClr val="012656"/>
              </a:gs>
              <a:gs pos="50000">
                <a:srgbClr val="4472C4"/>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6369539" y="-15631"/>
            <a:ext cx="5822460" cy="6889261"/>
          </a:xfrm>
          <a:custGeom>
            <a:avLst/>
            <a:gdLst>
              <a:gd name="connsiteX0" fmla="*/ 0 w 4974491"/>
              <a:gd name="connsiteY0" fmla="*/ 0 h 6858000"/>
              <a:gd name="connsiteX1" fmla="*/ 4974491 w 4974491"/>
              <a:gd name="connsiteY1" fmla="*/ 0 h 6858000"/>
              <a:gd name="connsiteX2" fmla="*/ 4974491 w 4974491"/>
              <a:gd name="connsiteY2" fmla="*/ 6858000 h 6858000"/>
              <a:gd name="connsiteX3" fmla="*/ 0 w 4974491"/>
              <a:gd name="connsiteY3" fmla="*/ 6858000 h 6858000"/>
              <a:gd name="connsiteX4" fmla="*/ 0 w 4974491"/>
              <a:gd name="connsiteY4" fmla="*/ 0 h 6858000"/>
              <a:gd name="connsiteX0" fmla="*/ 1348154 w 4974491"/>
              <a:gd name="connsiteY0" fmla="*/ 0 h 6869723"/>
              <a:gd name="connsiteX1" fmla="*/ 4974491 w 4974491"/>
              <a:gd name="connsiteY1" fmla="*/ 11723 h 6869723"/>
              <a:gd name="connsiteX2" fmla="*/ 4974491 w 4974491"/>
              <a:gd name="connsiteY2" fmla="*/ 6869723 h 6869723"/>
              <a:gd name="connsiteX3" fmla="*/ 0 w 4974491"/>
              <a:gd name="connsiteY3" fmla="*/ 6869723 h 6869723"/>
              <a:gd name="connsiteX4" fmla="*/ 1348154 w 4974491"/>
              <a:gd name="connsiteY4" fmla="*/ 0 h 6869723"/>
              <a:gd name="connsiteX0" fmla="*/ 2176585 w 5802922"/>
              <a:gd name="connsiteY0" fmla="*/ 0 h 6881446"/>
              <a:gd name="connsiteX1" fmla="*/ 5802922 w 5802922"/>
              <a:gd name="connsiteY1" fmla="*/ 11723 h 6881446"/>
              <a:gd name="connsiteX2" fmla="*/ 5802922 w 5802922"/>
              <a:gd name="connsiteY2" fmla="*/ 6869723 h 6881446"/>
              <a:gd name="connsiteX3" fmla="*/ 0 w 5802922"/>
              <a:gd name="connsiteY3" fmla="*/ 6881446 h 6881446"/>
              <a:gd name="connsiteX4" fmla="*/ 2176585 w 5802922"/>
              <a:gd name="connsiteY4" fmla="*/ 0 h 6881446"/>
              <a:gd name="connsiteX0" fmla="*/ 2196123 w 5822460"/>
              <a:gd name="connsiteY0" fmla="*/ 0 h 6885354"/>
              <a:gd name="connsiteX1" fmla="*/ 5822460 w 5822460"/>
              <a:gd name="connsiteY1" fmla="*/ 11723 h 6885354"/>
              <a:gd name="connsiteX2" fmla="*/ 5822460 w 5822460"/>
              <a:gd name="connsiteY2" fmla="*/ 6869723 h 6885354"/>
              <a:gd name="connsiteX3" fmla="*/ 0 w 5822460"/>
              <a:gd name="connsiteY3" fmla="*/ 6885354 h 6885354"/>
              <a:gd name="connsiteX4" fmla="*/ 2196123 w 5822460"/>
              <a:gd name="connsiteY4" fmla="*/ 0 h 6885354"/>
              <a:gd name="connsiteX0" fmla="*/ 2590800 w 5822460"/>
              <a:gd name="connsiteY0" fmla="*/ 0 h 6889261"/>
              <a:gd name="connsiteX1" fmla="*/ 5822460 w 5822460"/>
              <a:gd name="connsiteY1" fmla="*/ 15630 h 6889261"/>
              <a:gd name="connsiteX2" fmla="*/ 5822460 w 5822460"/>
              <a:gd name="connsiteY2" fmla="*/ 6873630 h 6889261"/>
              <a:gd name="connsiteX3" fmla="*/ 0 w 5822460"/>
              <a:gd name="connsiteY3" fmla="*/ 6889261 h 6889261"/>
              <a:gd name="connsiteX4" fmla="*/ 2590800 w 5822460"/>
              <a:gd name="connsiteY4" fmla="*/ 0 h 6889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2460" h="6889261">
                <a:moveTo>
                  <a:pt x="2590800" y="0"/>
                </a:moveTo>
                <a:lnTo>
                  <a:pt x="5822460" y="15630"/>
                </a:lnTo>
                <a:lnTo>
                  <a:pt x="5822460" y="6873630"/>
                </a:lnTo>
                <a:lnTo>
                  <a:pt x="0" y="6889261"/>
                </a:lnTo>
                <a:lnTo>
                  <a:pt x="2590800" y="0"/>
                </a:lnTo>
                <a:close/>
              </a:path>
            </a:pathLst>
          </a:cu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1606062"/>
            <a:ext cx="6205415" cy="4372707"/>
          </a:xfrm>
          <a:prstGeom prst="rect">
            <a:avLst/>
          </a:prstGeom>
        </p:spPr>
        <p:txBody>
          <a:bodyPr lIns="90000" rIns="90000" anchor="t">
            <a:normAutofit/>
          </a:bodyPr>
          <a:lstStyle>
            <a:lvl1pPr algn="l">
              <a:defRPr sz="8000" b="1" spc="0" baseline="0">
                <a:solidFill>
                  <a:schemeClr val="bg1"/>
                </a:solidFill>
                <a:latin typeface="+mj-lt"/>
              </a:defRPr>
            </a:lvl1pPr>
          </a:lstStyle>
          <a:p>
            <a:r>
              <a:rPr lang="de-DE" dirty="0"/>
              <a:t>Headline</a:t>
            </a:r>
            <a:endParaRPr lang="en-US" dirty="0"/>
          </a:p>
        </p:txBody>
      </p:sp>
      <p:sp>
        <p:nvSpPr>
          <p:cNvPr id="7" name="Rechteck 6">
            <a:extLst>
              <a:ext uri="{FF2B5EF4-FFF2-40B4-BE49-F238E27FC236}">
                <a16:creationId xmlns:a16="http://schemas.microsoft.com/office/drawing/2014/main" id="{6EBBD200-1A8B-B613-0372-64B506A69692}"/>
              </a:ext>
            </a:extLst>
          </p:cNvPr>
          <p:cNvSpPr/>
          <p:nvPr userDrawn="1"/>
        </p:nvSpPr>
        <p:spPr>
          <a:xfrm rot="6637795">
            <a:off x="3930266" y="3273476"/>
            <a:ext cx="7469663" cy="294214"/>
          </a:xfrm>
          <a:prstGeom prst="rect">
            <a:avLst/>
          </a:prstGeom>
          <a:solidFill>
            <a:srgbClr val="548EC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extplatzhalter 11">
            <a:extLst>
              <a:ext uri="{FF2B5EF4-FFF2-40B4-BE49-F238E27FC236}">
                <a16:creationId xmlns:a16="http://schemas.microsoft.com/office/drawing/2014/main" id="{2FBF3823-473F-87CF-A278-E2B06AFD4A3C}"/>
              </a:ext>
            </a:extLst>
          </p:cNvPr>
          <p:cNvSpPr>
            <a:spLocks noGrp="1"/>
          </p:cNvSpPr>
          <p:nvPr>
            <p:ph type="body" sz="quarter" idx="12" hasCustomPrompt="1"/>
          </p:nvPr>
        </p:nvSpPr>
        <p:spPr>
          <a:xfrm>
            <a:off x="527538" y="879231"/>
            <a:ext cx="7315200" cy="617078"/>
          </a:xfrm>
        </p:spPr>
        <p:txBody>
          <a:bodyPr/>
          <a:lstStyle>
            <a:lvl1pPr marL="0" indent="0">
              <a:buNone/>
              <a:defRPr b="1">
                <a:solidFill>
                  <a:schemeClr val="bg1"/>
                </a:solidFill>
              </a:defRPr>
            </a:lvl1pPr>
          </a:lstStyle>
          <a:p>
            <a:pPr lvl="0"/>
            <a:r>
              <a:rPr lang="de-DE" dirty="0"/>
              <a:t>Subheadline</a:t>
            </a:r>
          </a:p>
        </p:txBody>
      </p:sp>
      <p:pic>
        <p:nvPicPr>
          <p:cNvPr id="3" name="Grafik 2">
            <a:extLst>
              <a:ext uri="{FF2B5EF4-FFF2-40B4-BE49-F238E27FC236}">
                <a16:creationId xmlns:a16="http://schemas.microsoft.com/office/drawing/2014/main" id="{5D6E1C60-39BF-C3AB-7FB3-9AA99ECF2F9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pic>
        <p:nvPicPr>
          <p:cNvPr id="8" name="Grafik 7">
            <a:extLst>
              <a:ext uri="{FF2B5EF4-FFF2-40B4-BE49-F238E27FC236}">
                <a16:creationId xmlns:a16="http://schemas.microsoft.com/office/drawing/2014/main" id="{9FA28CF5-2D12-C169-DD71-3C69D4ED1438}"/>
              </a:ext>
            </a:extLst>
          </p:cNvPr>
          <p:cNvPicPr>
            <a:picLocks noChangeAspect="1"/>
          </p:cNvPicPr>
          <p:nvPr userDrawn="1"/>
        </p:nvPicPr>
        <p:blipFill>
          <a:blip>
            <a:alphaModFix amt="8000"/>
            <a:extLst>
              <a:ext uri="{96DAC541-7B7A-43D3-8B79-37D633B846F1}">
                <asvg:svgBlip xmlns:asvg="http://schemas.microsoft.com/office/drawing/2016/SVG/main" r:embed="rId6"/>
              </a:ext>
            </a:extLst>
          </a:blip>
          <a:stretch>
            <a:fillRect/>
          </a:stretch>
        </p:blipFill>
        <p:spPr>
          <a:xfrm>
            <a:off x="316903" y="226420"/>
            <a:ext cx="6405158" cy="6405158"/>
          </a:xfrm>
          <a:prstGeom prst="rect">
            <a:avLst/>
          </a:prstGeom>
        </p:spPr>
      </p:pic>
    </p:spTree>
    <p:extLst>
      <p:ext uri="{BB962C8B-B14F-4D97-AF65-F5344CB8AC3E}">
        <p14:creationId xmlns:p14="http://schemas.microsoft.com/office/powerpoint/2010/main" val="32715677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Event Speaker">
    <p:bg>
      <p:bgPr>
        <a:gradFill>
          <a:gsLst>
            <a:gs pos="23000">
              <a:srgbClr val="012656"/>
            </a:gs>
            <a:gs pos="80000">
              <a:srgbClr val="012656"/>
            </a:gs>
            <a:gs pos="50000">
              <a:srgbClr val="4472C4"/>
            </a:gs>
          </a:gsLst>
          <a:lin ang="13800000" scaled="0"/>
        </a:gra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BB3423F-8607-97C9-F2DB-43288E3BE6FD}"/>
              </a:ext>
            </a:extLst>
          </p:cNvPr>
          <p:cNvPicPr>
            <a:picLocks noChangeAspect="1"/>
          </p:cNvPicPr>
          <p:nvPr userDrawn="1"/>
        </p:nvPicPr>
        <p:blipFill>
          <a:blip>
            <a:alphaModFix amt="8000"/>
            <a:extLst>
              <a:ext uri="{96DAC541-7B7A-43D3-8B79-37D633B846F1}">
                <asvg:svgBlip xmlns:asvg="http://schemas.microsoft.com/office/drawing/2016/SVG/main" r:embed="rId2"/>
              </a:ext>
            </a:extLst>
          </a:blip>
          <a:stretch>
            <a:fillRect/>
          </a:stretch>
        </p:blipFill>
        <p:spPr>
          <a:xfrm>
            <a:off x="3345180" y="678180"/>
            <a:ext cx="5501640" cy="5501640"/>
          </a:xfrm>
          <a:prstGeom prst="rect">
            <a:avLst/>
          </a:prstGeom>
        </p:spPr>
      </p:pic>
    </p:spTree>
    <p:extLst>
      <p:ext uri="{BB962C8B-B14F-4D97-AF65-F5344CB8AC3E}">
        <p14:creationId xmlns:p14="http://schemas.microsoft.com/office/powerpoint/2010/main" val="23815236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Headline + Bild">
    <p:spTree>
      <p:nvGrpSpPr>
        <p:cNvPr id="1" name=""/>
        <p:cNvGrpSpPr/>
        <p:nvPr/>
      </p:nvGrpSpPr>
      <p:grpSpPr>
        <a:xfrm>
          <a:off x="0" y="0"/>
          <a:ext cx="0" cy="0"/>
          <a:chOff x="0" y="0"/>
          <a:chExt cx="0" cy="0"/>
        </a:xfrm>
      </p:grpSpPr>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6858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sp>
        <p:nvSpPr>
          <p:cNvPr id="24" name="Textplatzhalter 4">
            <a:extLst>
              <a:ext uri="{FF2B5EF4-FFF2-40B4-BE49-F238E27FC236}">
                <a16:creationId xmlns:a16="http://schemas.microsoft.com/office/drawing/2014/main" id="{FE466495-C3BB-EF56-B174-4557CA5C2A7B}"/>
              </a:ext>
            </a:extLst>
          </p:cNvPr>
          <p:cNvSpPr>
            <a:spLocks noGrp="1"/>
          </p:cNvSpPr>
          <p:nvPr>
            <p:ph type="body" sz="quarter" idx="14"/>
          </p:nvPr>
        </p:nvSpPr>
        <p:spPr>
          <a:xfrm>
            <a:off x="252000" y="1455937"/>
            <a:ext cx="5577300"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5" name="Title 1">
            <a:extLst>
              <a:ext uri="{FF2B5EF4-FFF2-40B4-BE49-F238E27FC236}">
                <a16:creationId xmlns:a16="http://schemas.microsoft.com/office/drawing/2014/main" id="{B6D96523-888D-D241-2BD6-F9A21050FDDE}"/>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pic>
        <p:nvPicPr>
          <p:cNvPr id="2" name="Grafik 1">
            <a:extLst>
              <a:ext uri="{FF2B5EF4-FFF2-40B4-BE49-F238E27FC236}">
                <a16:creationId xmlns:a16="http://schemas.microsoft.com/office/drawing/2014/main" id="{1C40A896-FAD4-5BAD-DAC2-3AE48CD86DB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4023232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67152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80000"/>
              </a:lnSpc>
              <a:spcBef>
                <a:spcPct val="0"/>
              </a:spcBef>
              <a:spcAft>
                <a:spcPct val="0"/>
              </a:spcAft>
            </a:pPr>
            <a:endParaRPr lang="de-DE" sz="5000" b="1" i="0" baseline="0" dirty="0">
              <a:latin typeface="TitilliumText25L" panose="020B0604020202020204" charset="0"/>
              <a:ea typeface="+mj-ea"/>
              <a:cs typeface="+mj-cs"/>
              <a:sym typeface="TitilliumText25L" panose="020B0604020202020204" charset="0"/>
            </a:endParaRPr>
          </a:p>
        </p:txBody>
      </p:sp>
      <p:sp>
        <p:nvSpPr>
          <p:cNvPr id="10" name="Rectangle 9"/>
          <p:cNvSpPr/>
          <p:nvPr userDrawn="1"/>
        </p:nvSpPr>
        <p:spPr>
          <a:xfrm>
            <a:off x="8229600" y="4699000"/>
            <a:ext cx="381000" cy="16098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itle 1"/>
          <p:cNvSpPr>
            <a:spLocks noGrp="1"/>
          </p:cNvSpPr>
          <p:nvPr>
            <p:ph type="ctrTitle" hasCustomPrompt="1"/>
          </p:nvPr>
        </p:nvSpPr>
        <p:spPr>
          <a:xfrm>
            <a:off x="457200" y="4845837"/>
            <a:ext cx="11163300" cy="669592"/>
          </a:xfrm>
          <a:prstGeom prst="rect">
            <a:avLst/>
          </a:prstGeom>
        </p:spPr>
        <p:txBody>
          <a:bodyPr lIns="90000" rIns="90000" anchor="t">
            <a:noAutofit/>
          </a:bodyPr>
          <a:lstStyle>
            <a:lvl1pPr algn="l">
              <a:defRPr sz="5000" b="1" spc="0" baseline="0">
                <a:solidFill>
                  <a:schemeClr val="accent1"/>
                </a:solidFill>
                <a:latin typeface="+mj-lt"/>
              </a:defRPr>
            </a:lvl1pPr>
          </a:lstStyle>
          <a:p>
            <a:r>
              <a:rPr lang="de-DE" dirty="0"/>
              <a:t>Thank you!</a:t>
            </a:r>
            <a:endParaRPr lang="en-US" dirty="0"/>
          </a:p>
        </p:txBody>
      </p:sp>
      <p:sp>
        <p:nvSpPr>
          <p:cNvPr id="3" name="Subtitle 2"/>
          <p:cNvSpPr>
            <a:spLocks noGrp="1"/>
          </p:cNvSpPr>
          <p:nvPr>
            <p:ph type="subTitle" idx="1" hasCustomPrompt="1"/>
          </p:nvPr>
        </p:nvSpPr>
        <p:spPr>
          <a:xfrm>
            <a:off x="457200" y="5515429"/>
            <a:ext cx="11163300" cy="793448"/>
          </a:xfrm>
          <a:prstGeom prst="rect">
            <a:avLst/>
          </a:prstGeom>
        </p:spPr>
        <p:txBody>
          <a:bodyPr lIns="91440" rIns="91440" anchor="t">
            <a:noAutofit/>
          </a:bodyPr>
          <a:lstStyle>
            <a:lvl1pPr marL="0" indent="0" algn="l">
              <a:lnSpc>
                <a:spcPct val="100000"/>
              </a:lnSpc>
              <a:spcBef>
                <a:spcPts val="0"/>
              </a:spcBef>
              <a:buNone/>
              <a:defRPr sz="2200">
                <a:solidFill>
                  <a:schemeClr val="accent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Kontakt</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E77AA912-6D48-7FCE-AE9C-CB61D1FB1348}"/>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5213717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623392" y="1146558"/>
            <a:ext cx="10945216" cy="5162763"/>
          </a:xfrm>
          <a:prstGeom prst="rect">
            <a:avLst/>
          </a:prstGeom>
        </p:spPr>
        <p:txBody>
          <a:bodyPr/>
          <a:lstStyle>
            <a:lvl1pPr marL="266700" indent="-266700">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1pPr>
            <a:lvl2pPr marL="628650" indent="-266700">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2pPr>
            <a:lvl3pPr marL="1076325" indent="-266700">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3pPr>
            <a:lvl4pPr marL="1438275" indent="-180975">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4pPr>
            <a:lvl5pPr marL="1971675" indent="-180975">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5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20" name="Titel 18"/>
          <p:cNvSpPr>
            <a:spLocks noGrp="1"/>
          </p:cNvSpPr>
          <p:nvPr>
            <p:ph type="title"/>
          </p:nvPr>
        </p:nvSpPr>
        <p:spPr>
          <a:xfrm>
            <a:off x="623391" y="193890"/>
            <a:ext cx="10250751" cy="614499"/>
          </a:xfrm>
          <a:prstGeom prst="rect">
            <a:avLst/>
          </a:prstGeom>
        </p:spPr>
        <p:txBody>
          <a:bodyPr anchor="ctr" anchorCtr="0">
            <a:noAutofit/>
          </a:bodyPr>
          <a:lstStyle>
            <a:lvl1pPr marL="0" indent="0" algn="l">
              <a:tabLst/>
              <a:defRPr sz="2000" b="1">
                <a:solidFill>
                  <a:schemeClr val="tx1"/>
                </a:solidFill>
                <a:latin typeface="Arial" pitchFamily="34" charset="0"/>
                <a:cs typeface="Arial" pitchFamily="34" charset="0"/>
              </a:defRPr>
            </a:lvl1pPr>
          </a:lstStyle>
          <a:p>
            <a:r>
              <a:rPr lang="de-DE"/>
              <a:t>Titelmasterformat durch Klicken bearbeiten</a:t>
            </a:r>
          </a:p>
        </p:txBody>
      </p:sp>
      <p:sp>
        <p:nvSpPr>
          <p:cNvPr id="6" name="Textfeld 5"/>
          <p:cNvSpPr txBox="1"/>
          <p:nvPr userDrawn="1"/>
        </p:nvSpPr>
        <p:spPr>
          <a:xfrm>
            <a:off x="623391" y="6444335"/>
            <a:ext cx="8921564" cy="416660"/>
          </a:xfrm>
          <a:prstGeom prst="rect">
            <a:avLst/>
          </a:prstGeom>
          <a:noFill/>
        </p:spPr>
        <p:txBody>
          <a:bodyPr wrap="square" rtlCol="0" anchor="ctr" anchorCtr="0">
            <a:noAutofit/>
          </a:bodyPr>
          <a:lstStyle/>
          <a:p>
            <a:r>
              <a:rPr lang="de-DE" sz="1200" i="1" kern="1200">
                <a:solidFill>
                  <a:schemeClr val="accent1">
                    <a:lumMod val="50000"/>
                  </a:schemeClr>
                </a:solidFill>
                <a:latin typeface="Arial" pitchFamily="34" charset="0"/>
                <a:ea typeface="+mn-ea"/>
                <a:cs typeface="Arial" pitchFamily="34" charset="0"/>
              </a:rPr>
              <a:t>Modellierung betrieblicher Informationssysteme (MOBIS)</a:t>
            </a:r>
          </a:p>
        </p:txBody>
      </p:sp>
      <p:sp>
        <p:nvSpPr>
          <p:cNvPr id="10" name="Textfeld 9"/>
          <p:cNvSpPr txBox="1"/>
          <p:nvPr userDrawn="1"/>
        </p:nvSpPr>
        <p:spPr>
          <a:xfrm>
            <a:off x="10901108" y="6444336"/>
            <a:ext cx="775513" cy="413664"/>
          </a:xfrm>
          <a:prstGeom prst="rect">
            <a:avLst/>
          </a:prstGeom>
          <a:noFill/>
        </p:spPr>
        <p:txBody>
          <a:bodyPr wrap="square" rtlCol="0" anchor="ctr" anchorCtr="0">
            <a:noAutofit/>
          </a:bodyPr>
          <a:lstStyle/>
          <a:p>
            <a:pPr algn="r"/>
            <a:fld id="{03A53B9E-05D4-4AED-A091-042480FFC68F}" type="slidenum">
              <a:rPr lang="de-DE" sz="1200" i="1" kern="1200" smtClean="0">
                <a:solidFill>
                  <a:schemeClr val="accent1">
                    <a:lumMod val="50000"/>
                  </a:schemeClr>
                </a:solidFill>
                <a:latin typeface="Arial" pitchFamily="34" charset="0"/>
                <a:ea typeface="+mn-ea"/>
                <a:cs typeface="Arial" pitchFamily="34" charset="0"/>
              </a:rPr>
              <a:pPr algn="r"/>
              <a:t>‹Nr.›</a:t>
            </a:fld>
            <a:endParaRPr lang="de-DE" sz="1200" i="1" kern="1200">
              <a:solidFill>
                <a:schemeClr val="accent1">
                  <a:lumMod val="50000"/>
                </a:schemeClr>
              </a:solidFill>
              <a:latin typeface="Arial" pitchFamily="34" charset="0"/>
              <a:ea typeface="+mn-ea"/>
              <a:cs typeface="Arial" pitchFamily="34" charset="0"/>
            </a:endParaRPr>
          </a:p>
        </p:txBody>
      </p:sp>
      <p:sp>
        <p:nvSpPr>
          <p:cNvPr id="11" name="Rechteck 10"/>
          <p:cNvSpPr>
            <a:spLocks/>
          </p:cNvSpPr>
          <p:nvPr userDrawn="1"/>
        </p:nvSpPr>
        <p:spPr>
          <a:xfrm>
            <a:off x="9544957" y="6444336"/>
            <a:ext cx="1356151" cy="413664"/>
          </a:xfrm>
          <a:prstGeom prst="rect">
            <a:avLst/>
          </a:prstGeom>
        </p:spPr>
        <p:txBody>
          <a:bodyPr wrap="square" anchor="ctr" anchorCtr="0">
            <a:noAutofit/>
          </a:bodyPr>
          <a:lstStyle/>
          <a:p>
            <a:r>
              <a:rPr lang="de-DE" sz="1200" i="1" kern="1200" dirty="0">
                <a:solidFill>
                  <a:schemeClr val="accent1">
                    <a:lumMod val="50000"/>
                  </a:schemeClr>
                </a:solidFill>
                <a:latin typeface="Arial" pitchFamily="34" charset="0"/>
                <a:ea typeface="+mn-ea"/>
                <a:cs typeface="Arial" pitchFamily="34" charset="0"/>
              </a:rPr>
              <a:t>2026</a:t>
            </a:r>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051987" y="143678"/>
            <a:ext cx="924047" cy="693035"/>
          </a:xfrm>
          <a:prstGeom prst="rect">
            <a:avLst/>
          </a:prstGeom>
        </p:spPr>
      </p:pic>
      <p:cxnSp>
        <p:nvCxnSpPr>
          <p:cNvPr id="15" name="Gerade Verbindung 14"/>
          <p:cNvCxnSpPr/>
          <p:nvPr userDrawn="1"/>
        </p:nvCxnSpPr>
        <p:spPr>
          <a:xfrm>
            <a:off x="0" y="6444335"/>
            <a:ext cx="1221668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Gerade Verbindung 20"/>
          <p:cNvCxnSpPr/>
          <p:nvPr userDrawn="1"/>
        </p:nvCxnSpPr>
        <p:spPr>
          <a:xfrm>
            <a:off x="0" y="998730"/>
            <a:ext cx="1221668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782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200" smtClean="0">
                <a:solidFill>
                  <a:schemeClr val="accent1"/>
                </a:solidFill>
                <a:latin typeface="+mj-lt"/>
              </a:rPr>
              <a:t>‹Nr.›</a:t>
            </a:fld>
            <a:r>
              <a:rPr lang="de-DE" sz="1200" dirty="0">
                <a:solidFill>
                  <a:schemeClr val="accent1"/>
                </a:solidFill>
                <a:latin typeface="+mj-lt"/>
              </a:rPr>
              <a:t> |</a:t>
            </a:r>
          </a:p>
        </p:txBody>
      </p:sp>
      <p:sp>
        <p:nvSpPr>
          <p:cNvPr id="3" name="Textplatzhalter 12">
            <a:extLst>
              <a:ext uri="{FF2B5EF4-FFF2-40B4-BE49-F238E27FC236}">
                <a16:creationId xmlns:a16="http://schemas.microsoft.com/office/drawing/2014/main" id="{E3961D08-A446-C485-B82F-2105F260B1D7}"/>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100">
                <a:solidFill>
                  <a:schemeClr val="accent1"/>
                </a:solidFill>
              </a:defRPr>
            </a:lvl1pPr>
          </a:lstStyle>
          <a:p>
            <a:pPr lvl="0"/>
            <a:r>
              <a:rPr lang="de-DE" dirty="0"/>
              <a:t>Quellennachweis</a:t>
            </a:r>
          </a:p>
        </p:txBody>
      </p:sp>
      <p:pic>
        <p:nvPicPr>
          <p:cNvPr id="5" name="Grafik 4">
            <a:extLst>
              <a:ext uri="{FF2B5EF4-FFF2-40B4-BE49-F238E27FC236}">
                <a16:creationId xmlns:a16="http://schemas.microsoft.com/office/drawing/2014/main" id="{A41C7A10-9A6B-8B44-DFB1-EAC1EFA45CA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575296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877819"/>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12">
            <a:extLst>
              <a:ext uri="{FF2B5EF4-FFF2-40B4-BE49-F238E27FC236}">
                <a16:creationId xmlns:a16="http://schemas.microsoft.com/office/drawing/2014/main" id="{C7D0EEA3-AC2D-0209-5E93-29844B2734D6}"/>
              </a:ext>
            </a:extLst>
          </p:cNvPr>
          <p:cNvSpPr>
            <a:spLocks noGrp="1"/>
          </p:cNvSpPr>
          <p:nvPr>
            <p:ph type="body" sz="quarter" idx="11" hasCustomPrompt="1"/>
          </p:nvPr>
        </p:nvSpPr>
        <p:spPr>
          <a:xfrm>
            <a:off x="603068" y="6540673"/>
            <a:ext cx="1040021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8" name="Grafik 7">
            <a:extLst>
              <a:ext uri="{FF2B5EF4-FFF2-40B4-BE49-F238E27FC236}">
                <a16:creationId xmlns:a16="http://schemas.microsoft.com/office/drawing/2014/main" id="{39ACFE7D-DA1A-FC3B-CFEC-519F97772CAE}"/>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7568192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Text Placeholder 2"/>
          <p:cNvSpPr>
            <a:spLocks noGrp="1"/>
          </p:cNvSpPr>
          <p:nvPr>
            <p:ph type="body" sz="quarter" idx="12"/>
          </p:nvPr>
        </p:nvSpPr>
        <p:spPr>
          <a:xfrm>
            <a:off x="252000"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6" name="Text Placeholder 2"/>
          <p:cNvSpPr>
            <a:spLocks noGrp="1"/>
          </p:cNvSpPr>
          <p:nvPr>
            <p:ph type="body" sz="quarter" idx="13"/>
          </p:nvPr>
        </p:nvSpPr>
        <p:spPr>
          <a:xfrm>
            <a:off x="6221362"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12">
            <a:extLst>
              <a:ext uri="{FF2B5EF4-FFF2-40B4-BE49-F238E27FC236}">
                <a16:creationId xmlns:a16="http://schemas.microsoft.com/office/drawing/2014/main" id="{1925990B-4AC2-1838-F2D8-DAF58D098E1D}"/>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E46AB0DF-E49B-E1B6-DD3C-8923EA30DDE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5169440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327195"/>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327195"/>
          </a:xfrm>
          <a:prstGeom prst="rect">
            <a:avLst/>
          </a:prstGeom>
        </p:spPr>
        <p:txBody>
          <a:bodyPr/>
          <a:lstStyle>
            <a:lvl1pPr marL="0" indent="0">
              <a:buNone/>
              <a:defRPr/>
            </a:lvl1pPr>
          </a:lstStyle>
          <a:p>
            <a:r>
              <a:rPr lang="de-DE" dirty="0"/>
              <a:t>Bild durch Klicken auf Symbol hinzufügen</a:t>
            </a:r>
          </a:p>
        </p:txBody>
      </p:sp>
      <p:sp>
        <p:nvSpPr>
          <p:cNvPr id="7" name="Textplatzhalter 12">
            <a:extLst>
              <a:ext uri="{FF2B5EF4-FFF2-40B4-BE49-F238E27FC236}">
                <a16:creationId xmlns:a16="http://schemas.microsoft.com/office/drawing/2014/main" id="{BB9ACA6B-739A-55B1-62C3-79260FCBCC1C}"/>
              </a:ext>
            </a:extLst>
          </p:cNvPr>
          <p:cNvSpPr>
            <a:spLocks noGrp="1"/>
          </p:cNvSpPr>
          <p:nvPr>
            <p:ph type="body" sz="quarter" idx="11" hasCustomPrompt="1"/>
          </p:nvPr>
        </p:nvSpPr>
        <p:spPr>
          <a:xfrm>
            <a:off x="603068" y="6540673"/>
            <a:ext cx="103925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9" name="Grafik 8">
            <a:extLst>
              <a:ext uri="{FF2B5EF4-FFF2-40B4-BE49-F238E27FC236}">
                <a16:creationId xmlns:a16="http://schemas.microsoft.com/office/drawing/2014/main" id="{73C2D2FF-4846-FE23-D712-B3C575A9FA6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22291446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1825319"/>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1825319"/>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1" name="Textplatzhalter 12">
            <a:extLst>
              <a:ext uri="{FF2B5EF4-FFF2-40B4-BE49-F238E27FC236}">
                <a16:creationId xmlns:a16="http://schemas.microsoft.com/office/drawing/2014/main" id="{0C863F3A-CCCD-A0B3-0D4F-E0ECFEC6160C}"/>
              </a:ext>
            </a:extLst>
          </p:cNvPr>
          <p:cNvSpPr>
            <a:spLocks noGrp="1"/>
          </p:cNvSpPr>
          <p:nvPr>
            <p:ph type="body" sz="quarter" idx="11" hasCustomPrompt="1"/>
          </p:nvPr>
        </p:nvSpPr>
        <p:spPr>
          <a:xfrm>
            <a:off x="603068" y="6540673"/>
            <a:ext cx="103697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2" name="Grafik 11">
            <a:extLst>
              <a:ext uri="{FF2B5EF4-FFF2-40B4-BE49-F238E27FC236}">
                <a16:creationId xmlns:a16="http://schemas.microsoft.com/office/drawing/2014/main" id="{21894EA8-B2B9-81F8-108F-FA5D286E3B3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4403392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860350"/>
            <a:ext cx="3705807"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487215"/>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487215"/>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487215"/>
          </a:xfrm>
          <a:prstGeom prst="rect">
            <a:avLst/>
          </a:prstGeom>
        </p:spPr>
        <p:txBody>
          <a:bodyPr/>
          <a:lstStyle>
            <a:lvl1pPr marL="0" indent="0">
              <a:buNone/>
              <a:defRPr/>
            </a:lvl1pPr>
          </a:lstStyle>
          <a:p>
            <a:r>
              <a:rPr lang="de-DE"/>
              <a:t>Bild durch Klicken auf Symbol hinzufügen</a:t>
            </a:r>
            <a:endParaRPr lang="de-DE" dirty="0"/>
          </a:p>
        </p:txBody>
      </p:sp>
      <p:sp>
        <p:nvSpPr>
          <p:cNvPr id="9" name="Textplatzhalter 12">
            <a:extLst>
              <a:ext uri="{FF2B5EF4-FFF2-40B4-BE49-F238E27FC236}">
                <a16:creationId xmlns:a16="http://schemas.microsoft.com/office/drawing/2014/main" id="{5C9DDC2C-D858-6B6C-F92C-655A4F055A3D}"/>
              </a:ext>
            </a:extLst>
          </p:cNvPr>
          <p:cNvSpPr>
            <a:spLocks noGrp="1"/>
          </p:cNvSpPr>
          <p:nvPr>
            <p:ph type="body" sz="quarter" idx="11" hasCustomPrompt="1"/>
          </p:nvPr>
        </p:nvSpPr>
        <p:spPr>
          <a:xfrm>
            <a:off x="603068" y="6540673"/>
            <a:ext cx="103544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0" name="Grafik 9">
            <a:extLst>
              <a:ext uri="{FF2B5EF4-FFF2-40B4-BE49-F238E27FC236}">
                <a16:creationId xmlns:a16="http://schemas.microsoft.com/office/drawing/2014/main" id="{00D50ED0-013A-2B62-7348-5D49014791B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9747232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4964401"/>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extplatzhalter 12">
            <a:extLst>
              <a:ext uri="{FF2B5EF4-FFF2-40B4-BE49-F238E27FC236}">
                <a16:creationId xmlns:a16="http://schemas.microsoft.com/office/drawing/2014/main" id="{9E4B1675-524F-F2C3-9AA1-2DC7AF19029E}"/>
              </a:ext>
            </a:extLst>
          </p:cNvPr>
          <p:cNvSpPr>
            <a:spLocks noGrp="1"/>
          </p:cNvSpPr>
          <p:nvPr>
            <p:ph type="body" sz="quarter" idx="11" hasCustomPrompt="1"/>
          </p:nvPr>
        </p:nvSpPr>
        <p:spPr>
          <a:xfrm>
            <a:off x="603068" y="6540673"/>
            <a:ext cx="6405476"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DF6E7464-A734-54BF-1B78-343073E71036}"/>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6364633"/>
            <a:ext cx="340594" cy="355039"/>
          </a:xfrm>
          <a:prstGeom prst="rect">
            <a:avLst/>
          </a:prstGeom>
        </p:spPr>
      </p:pic>
    </p:spTree>
    <p:extLst>
      <p:ext uri="{BB962C8B-B14F-4D97-AF65-F5344CB8AC3E}">
        <p14:creationId xmlns:p14="http://schemas.microsoft.com/office/powerpoint/2010/main" val="32535246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 Id="rId21" Type="http://schemas.openxmlformats.org/officeDocument/2006/relationships/tags" Target="../tags/tag2.xml"/><Relationship Id="rId22" Type="http://schemas.openxmlformats.org/officeDocument/2006/relationships/tags" Target="../tags/tag3.xml"/><Relationship Id="rId23" Type="http://schemas.openxmlformats.org/officeDocument/2006/relationships/oleObject" Target="../embeddings/oleObject1.bin"/><Relationship Id="rId24" Type="http://schemas.openxmlformats.org/officeDocument/2006/relationships/image" Target="../media/image2.emf"/><Relationship Id="rId25"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theme" Target="../theme/theme2.xml"/><Relationship Id="rId9" Type="http://schemas.openxmlformats.org/officeDocument/2006/relationships/tags" Target="../tags/tag20.xml"/><Relationship Id="rId10" Type="http://schemas.openxmlformats.org/officeDocument/2006/relationships/tags" Target="../tags/tag21.xml"/><Relationship Id="rId11" Type="http://schemas.openxmlformats.org/officeDocument/2006/relationships/oleObject" Target="../embeddings/oleObject1.bin"/><Relationship Id="rId12" Type="http://schemas.openxmlformats.org/officeDocument/2006/relationships/image" Target="../media/image2.emf"/><Relationship Id="rId13"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1"/>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3" imgW="359" imgH="360" progId="TCLayout.ActiveDocument.1">
                  <p:embed/>
                </p:oleObj>
              </mc:Choice>
              <mc:Fallback>
                <p:oleObj name="think-cell Slide" r:id="rId23" imgW="359" imgH="360" progId="TCLayout.ActiveDocument.1">
                  <p:embed/>
                  <p:pic>
                    <p:nvPicPr>
                      <p:cNvPr id="3" name="Object 2" hidden="1"/>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517500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5" name="Grafik 4">
            <a:extLst>
              <a:ext uri="{FF2B5EF4-FFF2-40B4-BE49-F238E27FC236}">
                <a16:creationId xmlns:a16="http://schemas.microsoft.com/office/drawing/2014/main" id="{56C176EB-3427-276E-8002-ABD8AEE93783}"/>
              </a:ext>
            </a:extLst>
          </p:cNvPr>
          <p:cNvPicPr>
            <a:picLocks noChangeAspect="1"/>
          </p:cNvPicPr>
          <p:nvPr userDrawn="1"/>
        </p:nvPicPr>
        <p:blipFill>
          <a:blip>
            <a:extLst>
              <a:ext uri="{96DAC541-7B7A-43D3-8B79-37D633B846F1}">
                <asvg:svgBlip xmlns:asvg="http://schemas.microsoft.com/office/drawing/2016/SVG/main" r:embed="rId25"/>
              </a:ext>
            </a:extLst>
          </a:blip>
          <a:srcRect/>
          <a:stretch/>
        </p:blipFill>
        <p:spPr>
          <a:xfrm>
            <a:off x="11095268" y="151916"/>
            <a:ext cx="886095" cy="303548"/>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49" r:id="rId2"/>
    <p:sldLayoutId id="2147483670" r:id="rId3"/>
    <p:sldLayoutId id="2147483674" r:id="rId4"/>
    <p:sldLayoutId id="2147483678" r:id="rId5"/>
    <p:sldLayoutId id="2147483680" r:id="rId6"/>
    <p:sldLayoutId id="2147483673" r:id="rId7"/>
    <p:sldLayoutId id="2147483690" r:id="rId8"/>
    <p:sldLayoutId id="2147483650" r:id="rId9"/>
    <p:sldLayoutId id="2147483685" r:id="rId10"/>
    <p:sldLayoutId id="2147483689" r:id="rId11"/>
    <p:sldLayoutId id="2147483686" r:id="rId12"/>
    <p:sldLayoutId id="2147483669" r:id="rId13"/>
    <p:sldLayoutId id="2147483687" r:id="rId14"/>
    <p:sldLayoutId id="2147483694" r:id="rId15"/>
    <p:sldLayoutId id="2147483693" r:id="rId16"/>
    <p:sldLayoutId id="2147483688" r:id="rId17"/>
    <p:sldLayoutId id="2147483679" r:id="rId18"/>
    <p:sldLayoutId id="2147483709" r:id="rId19"/>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9"/>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59" imgH="360" progId="TCLayout.ActiveDocument.1">
                  <p:embed/>
                </p:oleObj>
              </mc:Choice>
              <mc:Fallback>
                <p:oleObj name="think-cell Slide" r:id="rId11" imgW="359" imgH="360" progId="TCLayout.ActiveDocument.1">
                  <p:embed/>
                  <p:pic>
                    <p:nvPicPr>
                      <p:cNvPr id="3" name="Object 2" hidden="1"/>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486258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7" name="Grafik 6">
            <a:extLst>
              <a:ext uri="{FF2B5EF4-FFF2-40B4-BE49-F238E27FC236}">
                <a16:creationId xmlns:a16="http://schemas.microsoft.com/office/drawing/2014/main" id="{7A436AA1-9051-0502-74DB-F1BECB1D377C}"/>
              </a:ext>
            </a:extLst>
          </p:cNvPr>
          <p:cNvPicPr>
            <a:picLocks noChangeAspect="1"/>
          </p:cNvPicPr>
          <p:nvPr userDrawn="1"/>
        </p:nvPicPr>
        <p:blipFill>
          <a:blip>
            <a:extLst>
              <a:ext uri="{96DAC541-7B7A-43D3-8B79-37D633B846F1}">
                <asvg:svgBlip xmlns:asvg="http://schemas.microsoft.com/office/drawing/2016/SVG/main" r:embed="rId13"/>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7314203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Einordnung in ARIS: Daten- und Funktionssicht</a:t>
            </a:r>
          </a:p>
        </p:txBody>
      </p:sp>
      <p:sp>
        <p:nvSpPr>
          <p:cNvPr id="8" name="Isosceles Triangle 7"/>
          <p:cNvSpPr/>
          <p:nvPr/>
        </p:nvSpPr>
        <p:spPr bwMode="auto">
          <a:xfrm>
            <a:off x="2665319" y="1862079"/>
            <a:ext cx="5695950" cy="1257300"/>
          </a:xfrm>
          <a:prstGeom prst="triangle">
            <a:avLst/>
          </a:prstGeom>
          <a:solidFill>
            <a:srgbClr val="012656"/>
          </a:solidFill>
          <a:ln w="12700" cap="flat" cmpd="sng" algn="ctr">
            <a:noFill/>
            <a:prstDash val="solid"/>
            <a:round/>
            <a:headEnd type="none" w="sm" len="sm"/>
            <a:tailEnd type="none" w="sm" len="sm"/>
          </a:ln>
          <a:effectLst/>
        </p:spPr>
        <p:txBody>
          <a:bodyPr/>
          <a:lstStyle/>
          <a:p>
            <a:pPr algn="ctr">
              <a:defRPr/>
            </a:pPr>
            <a:endParaRPr lang="en-US" sz="2215" dirty="0">
              <a:latin typeface="+mj-lt"/>
            </a:endParaRPr>
          </a:p>
        </p:txBody>
      </p:sp>
      <p:sp>
        <p:nvSpPr>
          <p:cNvPr id="11" name="Rectangle 10"/>
          <p:cNvSpPr/>
          <p:nvPr/>
        </p:nvSpPr>
        <p:spPr bwMode="auto">
          <a:xfrm>
            <a:off x="4717958" y="3453278"/>
            <a:ext cx="1552575" cy="520137"/>
          </a:xfrm>
          <a:prstGeom prst="rect">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cxnSp>
        <p:nvCxnSpPr>
          <p:cNvPr id="11275" name="Straight Arrow Connector 9"/>
          <p:cNvCxnSpPr>
            <a:cxnSpLocks noChangeShapeType="1"/>
            <a:stCxn id="8" idx="3"/>
            <a:endCxn id="11" idx="0"/>
          </p:cNvCxnSpPr>
          <p:nvPr/>
        </p:nvCxnSpPr>
        <p:spPr bwMode="auto">
          <a:xfrm flipH="1">
            <a:off x="5494246" y="3119379"/>
            <a:ext cx="19048" cy="333899"/>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cxnSp>
        <p:nvCxnSpPr>
          <p:cNvPr id="11276" name="Straight Arrow Connector 11"/>
          <p:cNvCxnSpPr>
            <a:cxnSpLocks noChangeShapeType="1"/>
          </p:cNvCxnSpPr>
          <p:nvPr/>
        </p:nvCxnSpPr>
        <p:spPr bwMode="auto">
          <a:xfrm>
            <a:off x="4304148" y="4289519"/>
            <a:ext cx="413811" cy="0"/>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cxnSp>
        <p:nvCxnSpPr>
          <p:cNvPr id="11277" name="Straight Arrow Connector 13"/>
          <p:cNvCxnSpPr>
            <a:cxnSpLocks noChangeShapeType="1"/>
          </p:cNvCxnSpPr>
          <p:nvPr/>
        </p:nvCxnSpPr>
        <p:spPr bwMode="auto">
          <a:xfrm>
            <a:off x="6270533" y="4289519"/>
            <a:ext cx="449595" cy="0"/>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sp>
        <p:nvSpPr>
          <p:cNvPr id="3" name="Textfeld 2"/>
          <p:cNvSpPr txBox="1"/>
          <p:nvPr/>
        </p:nvSpPr>
        <p:spPr>
          <a:xfrm>
            <a:off x="6631355" y="4939251"/>
            <a:ext cx="2016899" cy="376385"/>
          </a:xfrm>
          <a:prstGeom prst="rect">
            <a:avLst/>
          </a:prstGeom>
          <a:noFill/>
        </p:spPr>
        <p:txBody>
          <a:bodyPr wrap="none" rtlCol="0">
            <a:spAutoFit/>
          </a:bodyPr>
          <a:lstStyle/>
          <a:p>
            <a:r>
              <a:rPr lang="de-DE" sz="1846" b="1" dirty="0">
                <a:latin typeface="+mj-lt"/>
              </a:rPr>
              <a:t>FUNKTIONSSICHT</a:t>
            </a:r>
            <a:endParaRPr lang="en-US" sz="1846" b="1" dirty="0">
              <a:latin typeface="+mj-lt"/>
            </a:endParaRPr>
          </a:p>
        </p:txBody>
      </p:sp>
      <p:sp>
        <p:nvSpPr>
          <p:cNvPr id="13" name="Textfeld 12"/>
          <p:cNvSpPr txBox="1"/>
          <p:nvPr/>
        </p:nvSpPr>
        <p:spPr>
          <a:xfrm>
            <a:off x="2856886" y="4939251"/>
            <a:ext cx="1507144" cy="376385"/>
          </a:xfrm>
          <a:prstGeom prst="rect">
            <a:avLst/>
          </a:prstGeom>
          <a:noFill/>
        </p:spPr>
        <p:txBody>
          <a:bodyPr wrap="none" rtlCol="0">
            <a:spAutoFit/>
          </a:bodyPr>
          <a:lstStyle/>
          <a:p>
            <a:r>
              <a:rPr lang="de-DE" sz="1846" b="1" dirty="0">
                <a:latin typeface="+mj-lt"/>
              </a:rPr>
              <a:t>DATENSICHT</a:t>
            </a:r>
            <a:endParaRPr lang="en-US" sz="1846" b="1" dirty="0">
              <a:latin typeface="+mj-lt"/>
            </a:endParaRPr>
          </a:p>
        </p:txBody>
      </p:sp>
      <p:sp>
        <p:nvSpPr>
          <p:cNvPr id="4" name="Textfeld 3"/>
          <p:cNvSpPr txBox="1"/>
          <p:nvPr/>
        </p:nvSpPr>
        <p:spPr>
          <a:xfrm>
            <a:off x="4713151" y="4998434"/>
            <a:ext cx="1749197" cy="376385"/>
          </a:xfrm>
          <a:prstGeom prst="rect">
            <a:avLst/>
          </a:prstGeom>
          <a:noFill/>
        </p:spPr>
        <p:txBody>
          <a:bodyPr wrap="none" rtlCol="0">
            <a:spAutoFit/>
          </a:bodyPr>
          <a:lstStyle/>
          <a:p>
            <a:r>
              <a:rPr lang="de-DE" sz="1846" b="1" dirty="0">
                <a:latin typeface="+mj-lt"/>
              </a:rPr>
              <a:t>PROZESSSICHT</a:t>
            </a:r>
            <a:endParaRPr lang="en-US" sz="1846" b="1" dirty="0">
              <a:latin typeface="+mj-lt"/>
            </a:endParaRPr>
          </a:p>
        </p:txBody>
      </p:sp>
      <p:sp>
        <p:nvSpPr>
          <p:cNvPr id="15" name="Textfeld 14"/>
          <p:cNvSpPr txBox="1"/>
          <p:nvPr/>
        </p:nvSpPr>
        <p:spPr>
          <a:xfrm>
            <a:off x="2909624" y="1862079"/>
            <a:ext cx="2008883" cy="660437"/>
          </a:xfrm>
          <a:prstGeom prst="rect">
            <a:avLst/>
          </a:prstGeom>
          <a:noFill/>
        </p:spPr>
        <p:txBody>
          <a:bodyPr wrap="none" rtlCol="0">
            <a:spAutoFit/>
          </a:bodyPr>
          <a:lstStyle/>
          <a:p>
            <a:r>
              <a:rPr lang="de-DE" sz="1846" b="1" dirty="0">
                <a:latin typeface="+mj-lt"/>
              </a:rPr>
              <a:t>ORGANISATIONS-</a:t>
            </a:r>
          </a:p>
          <a:p>
            <a:r>
              <a:rPr lang="de-DE" sz="1846" b="1" dirty="0">
                <a:latin typeface="+mj-lt"/>
              </a:rPr>
              <a:t>SICHT</a:t>
            </a:r>
            <a:endParaRPr lang="en-US" sz="1846" b="1" dirty="0">
              <a:latin typeface="+mj-lt"/>
            </a:endParaRPr>
          </a:p>
        </p:txBody>
      </p:sp>
      <p:cxnSp>
        <p:nvCxnSpPr>
          <p:cNvPr id="26" name="Gerader Verbinder 25"/>
          <p:cNvCxnSpPr/>
          <p:nvPr/>
        </p:nvCxnSpPr>
        <p:spPr>
          <a:xfrm>
            <a:off x="4704266" y="4520574"/>
            <a:ext cx="156626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Gerader Verbinder 33"/>
          <p:cNvCxnSpPr>
            <a:cxnSpLocks/>
            <a:endCxn id="8" idx="5"/>
          </p:cNvCxnSpPr>
          <p:nvPr/>
        </p:nvCxnSpPr>
        <p:spPr>
          <a:xfrm>
            <a:off x="4122645" y="2480151"/>
            <a:ext cx="2814637" cy="1057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p:cNvCxnSpPr/>
          <p:nvPr/>
        </p:nvCxnSpPr>
        <p:spPr>
          <a:xfrm>
            <a:off x="3435966" y="2785120"/>
            <a:ext cx="408900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6" name="Textfeld 35"/>
          <p:cNvSpPr txBox="1"/>
          <p:nvPr/>
        </p:nvSpPr>
        <p:spPr>
          <a:xfrm>
            <a:off x="4977492" y="2075894"/>
            <a:ext cx="1162498" cy="305468"/>
          </a:xfrm>
          <a:prstGeom prst="rect">
            <a:avLst/>
          </a:prstGeom>
          <a:noFill/>
        </p:spPr>
        <p:txBody>
          <a:bodyPr wrap="none" rtlCol="0">
            <a:spAutoFit/>
          </a:bodyPr>
          <a:lstStyle/>
          <a:p>
            <a:pPr algn="ctr"/>
            <a:r>
              <a:rPr lang="en-GB" sz="1385" b="1" dirty="0" err="1">
                <a:solidFill>
                  <a:schemeClr val="bg1"/>
                </a:solidFill>
                <a:latin typeface="+mj-lt"/>
              </a:rPr>
              <a:t>Fachkonzept</a:t>
            </a:r>
            <a:endParaRPr lang="de-DE" sz="1385" b="1" dirty="0">
              <a:solidFill>
                <a:schemeClr val="bg1"/>
              </a:solidFill>
              <a:latin typeface="+mj-lt"/>
            </a:endParaRPr>
          </a:p>
        </p:txBody>
      </p:sp>
      <p:sp>
        <p:nvSpPr>
          <p:cNvPr id="37" name="Textfeld 36"/>
          <p:cNvSpPr txBox="1"/>
          <p:nvPr/>
        </p:nvSpPr>
        <p:spPr>
          <a:xfrm>
            <a:off x="5004743" y="2482576"/>
            <a:ext cx="1107996" cy="305468"/>
          </a:xfrm>
          <a:prstGeom prst="rect">
            <a:avLst/>
          </a:prstGeom>
          <a:noFill/>
        </p:spPr>
        <p:txBody>
          <a:bodyPr wrap="none" rtlCol="0">
            <a:spAutoFit/>
          </a:bodyPr>
          <a:lstStyle/>
          <a:p>
            <a:pPr algn="ctr"/>
            <a:r>
              <a:rPr lang="en-GB" sz="1385" b="1" dirty="0">
                <a:solidFill>
                  <a:schemeClr val="bg1"/>
                </a:solidFill>
                <a:latin typeface="+mj-lt"/>
              </a:rPr>
              <a:t>DV-</a:t>
            </a:r>
            <a:r>
              <a:rPr lang="en-GB" sz="1385" b="1" dirty="0" err="1">
                <a:solidFill>
                  <a:schemeClr val="bg1"/>
                </a:solidFill>
                <a:latin typeface="+mj-lt"/>
              </a:rPr>
              <a:t>Konzept</a:t>
            </a:r>
            <a:endParaRPr lang="de-DE" sz="1385" b="1" dirty="0">
              <a:solidFill>
                <a:schemeClr val="bg1"/>
              </a:solidFill>
              <a:latin typeface="+mj-lt"/>
            </a:endParaRPr>
          </a:p>
        </p:txBody>
      </p:sp>
      <p:sp>
        <p:nvSpPr>
          <p:cNvPr id="38" name="Textfeld 37"/>
          <p:cNvSpPr txBox="1"/>
          <p:nvPr/>
        </p:nvSpPr>
        <p:spPr>
          <a:xfrm>
            <a:off x="4800360" y="2823210"/>
            <a:ext cx="1516762" cy="305468"/>
          </a:xfrm>
          <a:prstGeom prst="rect">
            <a:avLst/>
          </a:prstGeom>
          <a:noFill/>
        </p:spPr>
        <p:txBody>
          <a:bodyPr wrap="none" rtlCol="0">
            <a:spAutoFit/>
          </a:bodyPr>
          <a:lstStyle/>
          <a:p>
            <a:pPr algn="ctr"/>
            <a:r>
              <a:rPr lang="en-GB" sz="1385" b="1" dirty="0" err="1">
                <a:solidFill>
                  <a:schemeClr val="bg1"/>
                </a:solidFill>
                <a:latin typeface="+mj-lt"/>
              </a:rPr>
              <a:t>Implementierung</a:t>
            </a:r>
            <a:endParaRPr lang="de-DE" sz="1385" b="1" dirty="0">
              <a:solidFill>
                <a:schemeClr val="bg1"/>
              </a:solidFill>
              <a:latin typeface="+mj-lt"/>
            </a:endParaRPr>
          </a:p>
        </p:txBody>
      </p:sp>
      <p:sp>
        <p:nvSpPr>
          <p:cNvPr id="39" name="Textfeld 38"/>
          <p:cNvSpPr txBox="1"/>
          <p:nvPr/>
        </p:nvSpPr>
        <p:spPr>
          <a:xfrm>
            <a:off x="8056819" y="6018382"/>
            <a:ext cx="1882247" cy="319639"/>
          </a:xfrm>
          <a:prstGeom prst="rect">
            <a:avLst/>
          </a:prstGeom>
          <a:noFill/>
        </p:spPr>
        <p:txBody>
          <a:bodyPr wrap="none" rtlCol="0">
            <a:spAutoFit/>
          </a:bodyPr>
          <a:lstStyle/>
          <a:p>
            <a:r>
              <a:rPr lang="de-DE" sz="1477" dirty="0">
                <a:latin typeface="+mj-lt"/>
              </a:rPr>
              <a:t>Quelle: Scheer (2011)</a:t>
            </a:r>
          </a:p>
        </p:txBody>
      </p:sp>
      <p:sp>
        <p:nvSpPr>
          <p:cNvPr id="42" name="Can 8"/>
          <p:cNvSpPr/>
          <p:nvPr/>
        </p:nvSpPr>
        <p:spPr bwMode="auto">
          <a:xfrm>
            <a:off x="2794106" y="4181400"/>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41" name="Can 8"/>
          <p:cNvSpPr/>
          <p:nvPr/>
        </p:nvSpPr>
        <p:spPr bwMode="auto">
          <a:xfrm>
            <a:off x="2794106" y="3762724"/>
            <a:ext cx="1504950" cy="757850"/>
          </a:xfrm>
          <a:prstGeom prst="can">
            <a:avLst/>
          </a:prstGeom>
          <a:solidFill>
            <a:srgbClr val="FFC000"/>
          </a:solidFill>
          <a:ln w="12700" cap="flat" cmpd="sng" algn="ctr">
            <a:solidFill>
              <a:srgbClr val="FF9600"/>
            </a:solidFill>
            <a:prstDash val="solid"/>
            <a:round/>
            <a:headEnd type="none" w="sm" len="sm"/>
            <a:tailEnd type="none" w="sm" len="sm"/>
          </a:ln>
          <a:effectLst/>
        </p:spPr>
        <p:txBody>
          <a:bodyPr anchor="ctr"/>
          <a:lstStyle/>
          <a:p>
            <a:pPr algn="ctr">
              <a:defRPr/>
            </a:pPr>
            <a:endParaRPr lang="en-US" sz="2215" dirty="0">
              <a:solidFill>
                <a:srgbClr val="254061"/>
              </a:solidFill>
              <a:latin typeface="+mj-lt"/>
            </a:endParaRPr>
          </a:p>
        </p:txBody>
      </p:sp>
      <p:sp>
        <p:nvSpPr>
          <p:cNvPr id="40" name="Can 8"/>
          <p:cNvSpPr/>
          <p:nvPr/>
        </p:nvSpPr>
        <p:spPr bwMode="auto">
          <a:xfrm>
            <a:off x="2794106" y="3335555"/>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12" name="Textfeld 11"/>
          <p:cNvSpPr txBox="1"/>
          <p:nvPr/>
        </p:nvSpPr>
        <p:spPr>
          <a:xfrm>
            <a:off x="2999269" y="3658871"/>
            <a:ext cx="1162498" cy="305468"/>
          </a:xfrm>
          <a:prstGeom prst="rect">
            <a:avLst/>
          </a:prstGeom>
          <a:noFill/>
        </p:spPr>
        <p:txBody>
          <a:bodyPr wrap="none" rtlCol="0">
            <a:spAutoFit/>
          </a:bodyPr>
          <a:lstStyle/>
          <a:p>
            <a:pPr algn="ctr"/>
            <a:r>
              <a:rPr lang="en-GB" sz="1385" b="1" dirty="0" err="1">
                <a:solidFill>
                  <a:schemeClr val="bg1"/>
                </a:solidFill>
                <a:latin typeface="+mj-lt"/>
              </a:rPr>
              <a:t>Fachkonzept</a:t>
            </a:r>
            <a:endParaRPr lang="de-DE" sz="1385" b="1" dirty="0">
              <a:solidFill>
                <a:schemeClr val="bg1"/>
              </a:solidFill>
              <a:latin typeface="+mj-lt"/>
            </a:endParaRPr>
          </a:p>
        </p:txBody>
      </p:sp>
      <p:sp>
        <p:nvSpPr>
          <p:cNvPr id="21" name="Textfeld 20"/>
          <p:cNvSpPr txBox="1"/>
          <p:nvPr/>
        </p:nvSpPr>
        <p:spPr>
          <a:xfrm>
            <a:off x="3026520" y="4130634"/>
            <a:ext cx="1107996" cy="305468"/>
          </a:xfrm>
          <a:prstGeom prst="rect">
            <a:avLst/>
          </a:prstGeom>
          <a:noFill/>
        </p:spPr>
        <p:txBody>
          <a:bodyPr wrap="none" rtlCol="0">
            <a:spAutoFit/>
          </a:bodyPr>
          <a:lstStyle/>
          <a:p>
            <a:pPr algn="ctr"/>
            <a:r>
              <a:rPr lang="en-GB" sz="1385" b="1" dirty="0">
                <a:solidFill>
                  <a:srgbClr val="254061"/>
                </a:solidFill>
                <a:latin typeface="+mj-lt"/>
              </a:rPr>
              <a:t>DV-</a:t>
            </a:r>
            <a:r>
              <a:rPr lang="en-GB" sz="1385" b="1" dirty="0" err="1">
                <a:solidFill>
                  <a:srgbClr val="254061"/>
                </a:solidFill>
                <a:latin typeface="+mj-lt"/>
              </a:rPr>
              <a:t>Konzept</a:t>
            </a:r>
            <a:endParaRPr lang="de-DE" sz="1385" b="1" dirty="0">
              <a:solidFill>
                <a:srgbClr val="254061"/>
              </a:solidFill>
              <a:latin typeface="+mj-lt"/>
            </a:endParaRPr>
          </a:p>
        </p:txBody>
      </p:sp>
      <p:sp>
        <p:nvSpPr>
          <p:cNvPr id="22" name="Textfeld 21"/>
          <p:cNvSpPr txBox="1"/>
          <p:nvPr/>
        </p:nvSpPr>
        <p:spPr>
          <a:xfrm>
            <a:off x="2822137" y="4602396"/>
            <a:ext cx="1516762" cy="305468"/>
          </a:xfrm>
          <a:prstGeom prst="rect">
            <a:avLst/>
          </a:prstGeom>
          <a:noFill/>
        </p:spPr>
        <p:txBody>
          <a:bodyPr wrap="none" rtlCol="0">
            <a:spAutoFit/>
          </a:bodyPr>
          <a:lstStyle/>
          <a:p>
            <a:pPr algn="ctr"/>
            <a:r>
              <a:rPr lang="en-GB" sz="1385" b="1" dirty="0" err="1">
                <a:solidFill>
                  <a:schemeClr val="bg1"/>
                </a:solidFill>
                <a:latin typeface="+mj-lt"/>
              </a:rPr>
              <a:t>Implementierung</a:t>
            </a:r>
            <a:endParaRPr lang="de-DE" sz="1385" b="1" dirty="0">
              <a:solidFill>
                <a:schemeClr val="bg1"/>
              </a:solidFill>
              <a:latin typeface="+mj-lt"/>
            </a:endParaRPr>
          </a:p>
        </p:txBody>
      </p:sp>
      <p:sp>
        <p:nvSpPr>
          <p:cNvPr id="43" name="Can 8"/>
          <p:cNvSpPr/>
          <p:nvPr/>
        </p:nvSpPr>
        <p:spPr bwMode="auto">
          <a:xfrm>
            <a:off x="6720127" y="4181400"/>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44" name="Can 8"/>
          <p:cNvSpPr/>
          <p:nvPr/>
        </p:nvSpPr>
        <p:spPr bwMode="auto">
          <a:xfrm>
            <a:off x="6720127" y="3762724"/>
            <a:ext cx="1504950" cy="757850"/>
          </a:xfrm>
          <a:prstGeom prst="can">
            <a:avLst/>
          </a:prstGeom>
          <a:solidFill>
            <a:srgbClr val="FFC000"/>
          </a:solidFill>
          <a:ln w="12700" cap="flat" cmpd="sng" algn="ctr">
            <a:solidFill>
              <a:srgbClr val="FF9600"/>
            </a:solidFill>
            <a:prstDash val="solid"/>
            <a:round/>
            <a:headEnd type="none" w="sm" len="sm"/>
            <a:tailEnd type="none" w="sm" len="sm"/>
          </a:ln>
          <a:effectLst/>
        </p:spPr>
        <p:txBody>
          <a:bodyPr anchor="ctr"/>
          <a:lstStyle/>
          <a:p>
            <a:pPr algn="ctr">
              <a:defRPr/>
            </a:pPr>
            <a:endParaRPr lang="en-US" sz="2215" dirty="0">
              <a:solidFill>
                <a:srgbClr val="254061"/>
              </a:solidFill>
              <a:latin typeface="+mj-lt"/>
            </a:endParaRPr>
          </a:p>
        </p:txBody>
      </p:sp>
      <p:sp>
        <p:nvSpPr>
          <p:cNvPr id="45" name="Can 8"/>
          <p:cNvSpPr/>
          <p:nvPr/>
        </p:nvSpPr>
        <p:spPr bwMode="auto">
          <a:xfrm>
            <a:off x="6720127" y="3335555"/>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46" name="Textfeld 45"/>
          <p:cNvSpPr txBox="1"/>
          <p:nvPr/>
        </p:nvSpPr>
        <p:spPr>
          <a:xfrm>
            <a:off x="6925290" y="3658871"/>
            <a:ext cx="1162498" cy="305468"/>
          </a:xfrm>
          <a:prstGeom prst="rect">
            <a:avLst/>
          </a:prstGeom>
          <a:noFill/>
        </p:spPr>
        <p:txBody>
          <a:bodyPr wrap="none" rtlCol="0">
            <a:spAutoFit/>
          </a:bodyPr>
          <a:lstStyle/>
          <a:p>
            <a:pPr algn="ctr"/>
            <a:r>
              <a:rPr lang="en-GB" sz="1385" b="1" dirty="0" err="1">
                <a:solidFill>
                  <a:schemeClr val="bg1"/>
                </a:solidFill>
                <a:latin typeface="+mj-lt"/>
              </a:rPr>
              <a:t>Fachkonzept</a:t>
            </a:r>
            <a:endParaRPr lang="de-DE" sz="1385" b="1" dirty="0">
              <a:solidFill>
                <a:schemeClr val="bg1"/>
              </a:solidFill>
              <a:latin typeface="+mj-lt"/>
            </a:endParaRPr>
          </a:p>
        </p:txBody>
      </p:sp>
      <p:sp>
        <p:nvSpPr>
          <p:cNvPr id="47" name="Textfeld 46"/>
          <p:cNvSpPr txBox="1"/>
          <p:nvPr/>
        </p:nvSpPr>
        <p:spPr>
          <a:xfrm>
            <a:off x="6952541" y="4130634"/>
            <a:ext cx="1107996" cy="305468"/>
          </a:xfrm>
          <a:prstGeom prst="rect">
            <a:avLst/>
          </a:prstGeom>
          <a:noFill/>
        </p:spPr>
        <p:txBody>
          <a:bodyPr wrap="none" rtlCol="0">
            <a:spAutoFit/>
          </a:bodyPr>
          <a:lstStyle/>
          <a:p>
            <a:pPr algn="ctr"/>
            <a:r>
              <a:rPr lang="en-GB" sz="1385" b="1" dirty="0">
                <a:solidFill>
                  <a:srgbClr val="254061"/>
                </a:solidFill>
                <a:latin typeface="+mj-lt"/>
              </a:rPr>
              <a:t>DV-</a:t>
            </a:r>
            <a:r>
              <a:rPr lang="en-GB" sz="1385" b="1" dirty="0" err="1">
                <a:solidFill>
                  <a:srgbClr val="254061"/>
                </a:solidFill>
                <a:latin typeface="+mj-lt"/>
              </a:rPr>
              <a:t>Konzept</a:t>
            </a:r>
            <a:endParaRPr lang="de-DE" sz="1385" b="1" dirty="0">
              <a:solidFill>
                <a:srgbClr val="254061"/>
              </a:solidFill>
              <a:latin typeface="+mj-lt"/>
            </a:endParaRPr>
          </a:p>
        </p:txBody>
      </p:sp>
      <p:sp>
        <p:nvSpPr>
          <p:cNvPr id="48" name="Textfeld 47"/>
          <p:cNvSpPr txBox="1"/>
          <p:nvPr/>
        </p:nvSpPr>
        <p:spPr>
          <a:xfrm>
            <a:off x="6748158" y="4602396"/>
            <a:ext cx="1516762" cy="305468"/>
          </a:xfrm>
          <a:prstGeom prst="rect">
            <a:avLst/>
          </a:prstGeom>
          <a:noFill/>
        </p:spPr>
        <p:txBody>
          <a:bodyPr wrap="none" rtlCol="0">
            <a:spAutoFit/>
          </a:bodyPr>
          <a:lstStyle/>
          <a:p>
            <a:pPr algn="ctr"/>
            <a:r>
              <a:rPr lang="en-GB" sz="1385" b="1" dirty="0" err="1">
                <a:solidFill>
                  <a:schemeClr val="bg1"/>
                </a:solidFill>
                <a:latin typeface="+mj-lt"/>
              </a:rPr>
              <a:t>Implementierung</a:t>
            </a:r>
            <a:endParaRPr lang="de-DE" sz="1385" b="1" dirty="0">
              <a:solidFill>
                <a:schemeClr val="bg1"/>
              </a:solidFill>
              <a:latin typeface="+mj-lt"/>
            </a:endParaRPr>
          </a:p>
        </p:txBody>
      </p:sp>
      <p:sp>
        <p:nvSpPr>
          <p:cNvPr id="49" name="Textfeld 48"/>
          <p:cNvSpPr txBox="1"/>
          <p:nvPr/>
        </p:nvSpPr>
        <p:spPr>
          <a:xfrm>
            <a:off x="4932044" y="3571113"/>
            <a:ext cx="1162498" cy="305468"/>
          </a:xfrm>
          <a:prstGeom prst="rect">
            <a:avLst/>
          </a:prstGeom>
          <a:solidFill>
            <a:srgbClr val="012656"/>
          </a:solidFill>
        </p:spPr>
        <p:txBody>
          <a:bodyPr wrap="none" rtlCol="0">
            <a:spAutoFit/>
          </a:bodyPr>
          <a:lstStyle/>
          <a:p>
            <a:pPr algn="ctr"/>
            <a:r>
              <a:rPr lang="en-GB" sz="1385" b="1" dirty="0" err="1">
                <a:solidFill>
                  <a:schemeClr val="bg1"/>
                </a:solidFill>
                <a:latin typeface="+mj-lt"/>
              </a:rPr>
              <a:t>Fachkonzept</a:t>
            </a:r>
            <a:endParaRPr lang="de-DE" sz="1385" b="1" dirty="0">
              <a:solidFill>
                <a:schemeClr val="bg1"/>
              </a:solidFill>
              <a:latin typeface="+mj-lt"/>
            </a:endParaRPr>
          </a:p>
        </p:txBody>
      </p:sp>
      <p:sp>
        <p:nvSpPr>
          <p:cNvPr id="9" name="Rectangle 10">
            <a:extLst>
              <a:ext uri="{FF2B5EF4-FFF2-40B4-BE49-F238E27FC236}">
                <a16:creationId xmlns:a16="http://schemas.microsoft.com/office/drawing/2014/main" id="{AE74C682-A27D-F22C-DA78-89672A1BA037}"/>
              </a:ext>
            </a:extLst>
          </p:cNvPr>
          <p:cNvSpPr/>
          <p:nvPr/>
        </p:nvSpPr>
        <p:spPr bwMode="auto">
          <a:xfrm>
            <a:off x="4717958" y="3964339"/>
            <a:ext cx="1552575" cy="520137"/>
          </a:xfrm>
          <a:prstGeom prst="rect">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10" name="Rectangle 10">
            <a:extLst>
              <a:ext uri="{FF2B5EF4-FFF2-40B4-BE49-F238E27FC236}">
                <a16:creationId xmlns:a16="http://schemas.microsoft.com/office/drawing/2014/main" id="{E16C7B8D-6974-3F27-7DDF-869BFFC20375}"/>
              </a:ext>
            </a:extLst>
          </p:cNvPr>
          <p:cNvSpPr/>
          <p:nvPr/>
        </p:nvSpPr>
        <p:spPr bwMode="auto">
          <a:xfrm>
            <a:off x="4717958" y="4387642"/>
            <a:ext cx="1552575" cy="520137"/>
          </a:xfrm>
          <a:prstGeom prst="rect">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50" name="Textfeld 49"/>
          <p:cNvSpPr txBox="1"/>
          <p:nvPr/>
        </p:nvSpPr>
        <p:spPr>
          <a:xfrm>
            <a:off x="4911207" y="4036847"/>
            <a:ext cx="1107996" cy="305468"/>
          </a:xfrm>
          <a:prstGeom prst="rect">
            <a:avLst/>
          </a:prstGeom>
          <a:solidFill>
            <a:srgbClr val="012656"/>
          </a:solidFill>
        </p:spPr>
        <p:txBody>
          <a:bodyPr wrap="none" rtlCol="0">
            <a:spAutoFit/>
          </a:bodyPr>
          <a:lstStyle/>
          <a:p>
            <a:pPr algn="ctr"/>
            <a:r>
              <a:rPr lang="en-GB" sz="1385" b="1" dirty="0">
                <a:solidFill>
                  <a:schemeClr val="bg1"/>
                </a:solidFill>
                <a:latin typeface="+mj-lt"/>
              </a:rPr>
              <a:t>DV-</a:t>
            </a:r>
            <a:r>
              <a:rPr lang="en-GB" sz="1385" b="1" dirty="0" err="1">
                <a:solidFill>
                  <a:schemeClr val="bg1"/>
                </a:solidFill>
                <a:latin typeface="+mj-lt"/>
              </a:rPr>
              <a:t>Konzept</a:t>
            </a:r>
            <a:endParaRPr lang="de-DE" sz="1385" b="1" dirty="0">
              <a:solidFill>
                <a:schemeClr val="bg1"/>
              </a:solidFill>
              <a:latin typeface="+mj-lt"/>
            </a:endParaRPr>
          </a:p>
        </p:txBody>
      </p:sp>
      <p:sp>
        <p:nvSpPr>
          <p:cNvPr id="51" name="Textfeld 50"/>
          <p:cNvSpPr txBox="1"/>
          <p:nvPr/>
        </p:nvSpPr>
        <p:spPr>
          <a:xfrm>
            <a:off x="4722089" y="4491243"/>
            <a:ext cx="1516762" cy="305468"/>
          </a:xfrm>
          <a:prstGeom prst="rect">
            <a:avLst/>
          </a:prstGeom>
          <a:solidFill>
            <a:srgbClr val="012656"/>
          </a:solidFill>
        </p:spPr>
        <p:txBody>
          <a:bodyPr wrap="none" rtlCol="0">
            <a:spAutoFit/>
          </a:bodyPr>
          <a:lstStyle/>
          <a:p>
            <a:pPr algn="ctr"/>
            <a:r>
              <a:rPr lang="en-GB" sz="1385" b="1" dirty="0" err="1">
                <a:solidFill>
                  <a:schemeClr val="bg1"/>
                </a:solidFill>
                <a:latin typeface="+mj-lt"/>
              </a:rPr>
              <a:t>Implementierung</a:t>
            </a:r>
            <a:endParaRPr lang="de-DE" sz="1385" b="1" dirty="0">
              <a:solidFill>
                <a:schemeClr val="bg1"/>
              </a:solidFill>
              <a:latin typeface="+mj-lt"/>
            </a:endParaRPr>
          </a:p>
        </p:txBody>
      </p:sp>
      <p:sp>
        <p:nvSpPr>
          <p:cNvPr id="11278" name="TextBox 11277"/>
          <p:cNvSpPr txBox="1"/>
          <p:nvPr/>
        </p:nvSpPr>
        <p:spPr>
          <a:xfrm>
            <a:off x="932688" y="4041648"/>
            <a:ext cx="1645920" cy="502920"/>
          </a:xfrm>
          <a:prstGeom prst="rect">
            <a:avLst/>
          </a:prstGeom>
          <a:noFill/>
        </p:spPr>
        <p:txBody>
          <a:bodyPr wrap="square" anchor="ctr" lIns="0" rIns="0" tIns="0" bIns="0">
            <a:spAutoFit/>
          </a:bodyPr>
          <a:lstStyle/>
          <a:p>
            <a:pPr algn="r"/>
            <a:r>
              <a:rPr sz="1385" b="1">
                <a:solidFill>
                  <a:srgbClr val="002C58"/>
                </a:solidFill>
                <a:latin typeface="+mj-lt"/>
              </a:rPr>
              <a:t>UML-
Klassendiagramm</a:t>
            </a:r>
          </a:p>
        </p:txBody>
      </p:sp>
      <p:cxnSp>
        <p:nvCxnSpPr>
          <p:cNvPr id="11279" name="Connector 11278"/>
          <p:cNvCxnSpPr/>
          <p:nvPr/>
        </p:nvCxnSpPr>
        <p:spPr>
          <a:xfrm>
            <a:off x="2651760" y="4288536"/>
            <a:ext cx="320040" cy="0"/>
          </a:xfrm>
          <a:prstGeom prst="line">
            <a:avLst/>
          </a:prstGeom>
          <a:ln w="25400">
            <a:solidFill>
              <a:srgbClr val="002C58"/>
            </a:solidFill>
          </a:ln>
        </p:spPr>
        <p:style>
          <a:lnRef idx="2">
            <a:schemeClr val="accent1"/>
          </a:lnRef>
          <a:fillRef idx="0">
            <a:schemeClr val="accent1"/>
          </a:fillRef>
          <a:effectRef idx="1">
            <a:schemeClr val="accent1"/>
          </a:effectRef>
          <a:fontRef idx="minor">
            <a:schemeClr val="tx1"/>
          </a:fontRef>
        </p:style>
      </p:cxnSp>
      <p:sp>
        <p:nvSpPr>
          <p:cNvPr id="11280" name="TextBox 11279"/>
          <p:cNvSpPr txBox="1"/>
          <p:nvPr/>
        </p:nvSpPr>
        <p:spPr>
          <a:xfrm>
            <a:off x="8522208" y="4041648"/>
            <a:ext cx="1645920" cy="502920"/>
          </a:xfrm>
          <a:prstGeom prst="rect">
            <a:avLst/>
          </a:prstGeom>
          <a:noFill/>
        </p:spPr>
        <p:txBody>
          <a:bodyPr wrap="square" anchor="ctr" lIns="0" rIns="0" tIns="0" bIns="0">
            <a:spAutoFit/>
          </a:bodyPr>
          <a:lstStyle/>
          <a:p>
            <a:pPr algn="l"/>
            <a:r>
              <a:rPr sz="1385" b="1">
                <a:solidFill>
                  <a:srgbClr val="002C58"/>
                </a:solidFill>
                <a:latin typeface="+mj-lt"/>
              </a:rPr>
              <a:t>UML-
Klassendiagramm</a:t>
            </a:r>
          </a:p>
        </p:txBody>
      </p:sp>
      <p:cxnSp>
        <p:nvCxnSpPr>
          <p:cNvPr id="11281" name="Connector 11280"/>
          <p:cNvCxnSpPr/>
          <p:nvPr/>
        </p:nvCxnSpPr>
        <p:spPr>
          <a:xfrm>
            <a:off x="8247888" y="4288536"/>
            <a:ext cx="237744" cy="0"/>
          </a:xfrm>
          <a:prstGeom prst="line">
            <a:avLst/>
          </a:prstGeom>
          <a:ln w="25400">
            <a:solidFill>
              <a:srgbClr val="002C58"/>
            </a:solidFill>
          </a:ln>
        </p:spPr>
        <p:style>
          <a:lnRef idx="2">
            <a:schemeClr val="accent1"/>
          </a:lnRef>
          <a:fillRef idx="0">
            <a:schemeClr val="accent1"/>
          </a:fillRef>
          <a:effectRef idx="1">
            <a:schemeClr val="accent1"/>
          </a:effectRef>
          <a:fontRef idx="minor">
            <a:schemeClr val="tx1"/>
          </a:fontRef>
        </p:style>
      </p:cxnSp>
      <p:sp>
        <p:nvSpPr>
          <p:cNvPr id="11282" name="TextBox 11281"/>
          <p:cNvSpPr txBox="1"/>
          <p:nvPr/>
        </p:nvSpPr>
        <p:spPr>
          <a:xfrm>
            <a:off x="841248" y="5504688"/>
            <a:ext cx="6766560" cy="603504"/>
          </a:xfrm>
          <a:prstGeom prst="rect">
            <a:avLst/>
          </a:prstGeom>
          <a:noFill/>
        </p:spPr>
        <p:txBody>
          <a:bodyPr wrap="square" lIns="0" rIns="0">
            <a:spAutoFit/>
          </a:bodyPr>
          <a:lstStyle/>
          <a:p>
            <a:r>
              <a:rPr sz="1500" b="1">
                <a:solidFill>
                  <a:srgbClr val="002C58"/>
                </a:solidFill>
                <a:latin typeface="+mj-lt"/>
              </a:rPr>
              <a:t>Struktur statt Ablauf – deshalb Datensicht. Weil Klassen auch Methoden tragen, führt der Modulüberblick das Klassendiagramm zusätzlich in der Funktionssicht.</a:t>
            </a:r>
          </a:p>
        </p:txBody>
      </p:sp>
      <p:sp>
        <p:nvSpPr>
          <p:cNvPr id="11283" name="TextBox 11282"/>
          <p:cNvSpPr txBox="1"/>
          <p:nvPr/>
        </p:nvSpPr>
        <p:spPr>
          <a:xfrm>
            <a:off x="841248" y="6327648"/>
            <a:ext cx="6766560" cy="301752"/>
          </a:xfrm>
          <a:prstGeom prst="rect">
            <a:avLst/>
          </a:prstGeom>
          <a:noFill/>
        </p:spPr>
        <p:txBody>
          <a:bodyPr wrap="square" lIns="0" rIns="0">
            <a:spAutoFit/>
          </a:bodyPr>
          <a:lstStyle/>
          <a:p>
            <a:r>
              <a:rPr sz="1200">
                <a:solidFill>
                  <a:srgbClr val="595959"/>
                </a:solidFill>
                <a:latin typeface="+mj-lt"/>
              </a:rPr>
              <a:t>Folie aus der Vorlesung von Prof. Dr. Kamyar Sarshar · Ergänzung: Einordnung des Klassendiagramms</a:t>
            </a:r>
          </a:p>
        </p:txBody>
      </p:sp>
    </p:spTree>
    <p:extLst>
      <p:ext uri="{BB962C8B-B14F-4D97-AF65-F5344CB8AC3E}">
        <p14:creationId xmlns:p14="http://schemas.microsoft.com/office/powerpoint/2010/main" val="13264127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vJr_Tu69ToKPPD9J0huL5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7F284FB0-A6D7-41EF-A3D0-E53309018530}"/>
    </a:ext>
  </a:extLst>
</a:theme>
</file>

<file path=ppt/theme/theme2.xml><?xml version="1.0" encoding="utf-8"?>
<a:theme xmlns:a="http://schemas.openxmlformats.org/drawingml/2006/main" name="Integral Lehre (mit Quellenachweis)">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92C0EEF3-0EC4-48CF-8E4E-134DA39DFD5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6183c5d-4bb5-4dd9-861a-fea4b0b788ce">
      <Terms xmlns="http://schemas.microsoft.com/office/infopath/2007/PartnerControls"/>
    </lcf76f155ced4ddcb4097134ff3c332f>
    <TaxCatchAll xmlns="53822d5e-3e43-47eb-b91e-29f03c4b9fb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54D4A0A58BB96343933857DE26A0C561" ma:contentTypeVersion="9" ma:contentTypeDescription="Ein neues Dokument erstellen." ma:contentTypeScope="" ma:versionID="8857149a5edcdcb7806621ab405ebd0e">
  <xsd:schema xmlns:xsd="http://www.w3.org/2001/XMLSchema" xmlns:xs="http://www.w3.org/2001/XMLSchema" xmlns:p="http://schemas.microsoft.com/office/2006/metadata/properties" xmlns:ns2="16183c5d-4bb5-4dd9-861a-fea4b0b788ce" xmlns:ns3="53822d5e-3e43-47eb-b91e-29f03c4b9fbd" targetNamespace="http://schemas.microsoft.com/office/2006/metadata/properties" ma:root="true" ma:fieldsID="3a0ace5fe28fb83385ef877a5be5837c" ns2:_="" ns3:_="">
    <xsd:import namespace="16183c5d-4bb5-4dd9-861a-fea4b0b788ce"/>
    <xsd:import namespace="53822d5e-3e43-47eb-b91e-29f03c4b9fb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183c5d-4bb5-4dd9-861a-fea4b0b788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2c0c2608-5975-437b-b687-8bfb9081a52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822d5e-3e43-47eb-b91e-29f03c4b9fb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246fcd3-f950-4f31-bf9c-82ce2acd5ab7}" ma:internalName="TaxCatchAll" ma:showField="CatchAllData" ma:web="53822d5e-3e43-47eb-b91e-29f03c4b9f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4EE790-06CB-47E0-AC92-F4CECFDEE4F7}">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infopath/2007/PartnerControls"/>
    <ds:schemaRef ds:uri="46b1d6da-b66f-4d0a-857b-f03e41d5a80d"/>
    <ds:schemaRef ds:uri="6f9b0b37-1df7-4f3a-9e96-73e075d24493"/>
    <ds:schemaRef ds:uri="http://schemas.microsoft.com/office/2006/metadata/properties"/>
    <ds:schemaRef ds:uri="http://www.w3.org/XML/1998/namespace"/>
    <ds:schemaRef ds:uri="43d6076c-ee84-46c7-82a9-82fe684b47c4"/>
    <ds:schemaRef ds:uri="0d8f828d-5cf2-4278-b77f-3444bd0ec885"/>
  </ds:schemaRefs>
</ds:datastoreItem>
</file>

<file path=customXml/itemProps2.xml><?xml version="1.0" encoding="utf-8"?>
<ds:datastoreItem xmlns:ds="http://schemas.openxmlformats.org/officeDocument/2006/customXml" ds:itemID="{37AC0D6E-39C2-4D65-9684-651AA42911CB}">
  <ds:schemaRefs>
    <ds:schemaRef ds:uri="http://schemas.microsoft.com/sharepoint/v3/contenttype/forms"/>
  </ds:schemaRefs>
</ds:datastoreItem>
</file>

<file path=customXml/itemProps3.xml><?xml version="1.0" encoding="utf-8"?>
<ds:datastoreItem xmlns:ds="http://schemas.openxmlformats.org/officeDocument/2006/customXml" ds:itemID="{EE2A5091-5DAF-42E4-9910-97904F315A06}"/>
</file>

<file path=docProps/app.xml><?xml version="1.0" encoding="utf-8"?>
<Properties xmlns="http://schemas.openxmlformats.org/officeDocument/2006/extended-properties" xmlns:vt="http://schemas.openxmlformats.org/officeDocument/2006/docPropsVTypes">
  <Template>HSBA Folienmastervorlage (5)</Template>
  <TotalTime>0</TotalTime>
  <Words>1087</Words>
  <Application>Microsoft Office PowerPoint</Application>
  <PresentationFormat>Breitbild</PresentationFormat>
  <Paragraphs>306</Paragraphs>
  <Slides>25</Slides>
  <Notes>1</Notes>
  <HiddenSlides>0</HiddenSlides>
  <MMClips>0</MMClips>
  <ScaleCrop>false</ScaleCrop>
  <HeadingPairs>
    <vt:vector size="8" baseType="variant">
      <vt:variant>
        <vt:lpstr>Verwendete Schriftarten</vt:lpstr>
      </vt:variant>
      <vt:variant>
        <vt:i4>6</vt:i4>
      </vt:variant>
      <vt:variant>
        <vt:lpstr>Design</vt:lpstr>
      </vt:variant>
      <vt:variant>
        <vt:i4>2</vt:i4>
      </vt:variant>
      <vt:variant>
        <vt:lpstr>Eingebettete OLE-Server</vt:lpstr>
      </vt:variant>
      <vt:variant>
        <vt:i4>1</vt:i4>
      </vt:variant>
      <vt:variant>
        <vt:lpstr>Folientitel</vt:lpstr>
      </vt:variant>
      <vt:variant>
        <vt:i4>25</vt:i4>
      </vt:variant>
    </vt:vector>
  </HeadingPairs>
  <TitlesOfParts>
    <vt:vector size="34" baseType="lpstr">
      <vt:lpstr>Titillium Web</vt:lpstr>
      <vt:lpstr>TitilliumText25L</vt:lpstr>
      <vt:lpstr>Arial</vt:lpstr>
      <vt:lpstr>Wingdings 3</vt:lpstr>
      <vt:lpstr>Wingdings</vt:lpstr>
      <vt:lpstr>Courier New</vt:lpstr>
      <vt:lpstr>Integral</vt:lpstr>
      <vt:lpstr>Integral Lehre (mit Quellenachweis)</vt:lpstr>
      <vt:lpstr>think-cell Slide</vt:lpstr>
      <vt:lpstr>UML-Klassendiagramm</vt:lpstr>
      <vt:lpstr>Agenda</vt:lpstr>
      <vt:lpstr>Historie</vt:lpstr>
      <vt:lpstr>Einsatzzweck</vt:lpstr>
      <vt:lpstr>Einordnung in ARIS</vt:lpstr>
      <vt:lpstr>Sprachkonstrukte (Überblick)</vt:lpstr>
      <vt:lpstr>Sprachkonstrukte: Klassendiagramm</vt:lpstr>
      <vt:lpstr>Beispiel: Klassen</vt:lpstr>
      <vt:lpstr>Beispiel: Klassen</vt:lpstr>
      <vt:lpstr>Sprachkonstrukte: Assoziation</vt:lpstr>
      <vt:lpstr>Beispiel: Assoziation</vt:lpstr>
      <vt:lpstr>Beispiel: Assoziation</vt:lpstr>
      <vt:lpstr>Sprachkonstrukte: Komposition </vt:lpstr>
      <vt:lpstr>Beispiel: Komposition</vt:lpstr>
      <vt:lpstr>Beispiel: Komposition</vt:lpstr>
      <vt:lpstr>Sprachkonstrukte: Aggregation</vt:lpstr>
      <vt:lpstr>Beispiel: Aggregation</vt:lpstr>
      <vt:lpstr>Beispiel: Aggregation</vt:lpstr>
      <vt:lpstr>Sprachkonstrukte: Vererbung</vt:lpstr>
      <vt:lpstr>Beispiel: Vererbung</vt:lpstr>
      <vt:lpstr>Beispiel: Vererbung</vt:lpstr>
      <vt:lpstr>Beispiel: Vererbung</vt:lpstr>
      <vt:lpstr>Beispiel: Klassendiagramm</vt:lpstr>
      <vt:lpstr>Bewertung</vt:lpstr>
      <vt:lpstr>Literatur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Kamyar Sarshar</dc:creator>
  <cp:lastModifiedBy>Kamyar Sarshar</cp:lastModifiedBy>
  <cp:revision>70</cp:revision>
  <cp:lastPrinted>2018-12-21T13:35:12Z</cp:lastPrinted>
  <dcterms:created xsi:type="dcterms:W3CDTF">2026-07-16T07:13:15Z</dcterms:created>
  <dcterms:modified xsi:type="dcterms:W3CDTF">2026-08-01T07:57:12Z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0x01010054D4A0A58BB96343933857DE26A0C561</vt:lpwstr>
  </property>
  <property fmtid="{D5CDD505-2E9C-101B-9397-08002B2CF9AE}" pid="3" name="Order">
    <vt:r8>133019900</vt:r8>
  </property>
  <property fmtid="{D5CDD505-2E9C-101B-9397-08002B2CF9AE}" pid="4" name="_dlc_DocIdItemGuid">
    <vt:lpwstr>d8fa4255-351a-40f9-a9c3-60096afe2e9d</vt:lpwstr>
  </property>
  <property fmtid="{D5CDD505-2E9C-101B-9397-08002B2CF9AE}" pid="5" name="MediaServiceImageTags">
    <vt:lpwstr/>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Der Folienmaster definiert wichtige Gestaltungselemente wie das Layout, Farben, Schriftarten, Logos und Platzhalter für Texte und Bilder. Dadurch wird vermieden, dass einzelne Folien unterschiedlich aussehen, und es spart gleichzeitig Zeit, da die Formatierung automatisch angewendet wird.</vt:lpwstr>
  </property>
  <property fmtid="{D5CDD505-2E9C-101B-9397-08002B2CF9AE}" pid="13" name="TriggerFlowInfo">
    <vt:lpwstr/>
  </property>
</Properties>
</file>