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68" r:id="rId2"/>
    <p:sldId id="481" r:id="rId3"/>
    <p:sldId id="263" r:id="rId4"/>
    <p:sldId id="482" r:id="rId5"/>
    <p:sldId id="266" r:id="rId6"/>
    <p:sldId id="495" r:id="rId7"/>
    <p:sldId id="269" r:id="rId8"/>
    <p:sldId id="511" r:id="rId9"/>
    <p:sldId id="510" r:id="rId10"/>
    <p:sldId id="512" r:id="rId11"/>
    <p:sldId id="514" r:id="rId12"/>
    <p:sldId id="419" r:id="rId1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699" autoAdjust="0"/>
    <p:restoredTop sz="94660"/>
  </p:normalViewPr>
  <p:slideViewPr>
    <p:cSldViewPr snapToGrid="0">
      <p:cViewPr varScale="1">
        <p:scale>
          <a:sx n="80" d="100"/>
          <a:sy n="80" d="100"/>
        </p:scale>
        <p:origin x="51" y="209"/>
      </p:cViewPr>
      <p:guideLst/>
    </p:cSldViewPr>
  </p:slideViewPr>
  <p:notesTextViewPr>
    <p:cViewPr>
      <p:scale>
        <a:sx n="1" d="1"/>
        <a:sy n="1" d="1"/>
      </p:scale>
      <p:origin x="0" y="-123"/>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F59E08-AE4E-4A69-8057-2B93027DA629}" type="datetimeFigureOut">
              <a:rPr lang="de-DE" smtClean="0"/>
              <a:t>02.09.2026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829E3F-6F27-4423-8E9E-B934BDA8AC1F}" type="slidenum">
              <a:rPr lang="de-DE" smtClean="0"/>
              <a:t>‹Nr.›</a:t>
            </a:fld>
            <a:endParaRPr lang="de-DE"/>
          </a:p>
        </p:txBody>
      </p:sp>
    </p:spTree>
    <p:extLst>
      <p:ext uri="{BB962C8B-B14F-4D97-AF65-F5344CB8AC3E}">
        <p14:creationId xmlns:p14="http://schemas.microsoft.com/office/powerpoint/2010/main" val="21797344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xfrm>
            <a:off x="5641707" y="6474725"/>
            <a:ext cx="4316008" cy="3408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lvl1pPr>
              <a:defRPr sz="1600">
                <a:solidFill>
                  <a:schemeClr val="tx1"/>
                </a:solidFill>
                <a:latin typeface="Arial" charset="0"/>
                <a:cs typeface="Arial" charset="0"/>
              </a:defRPr>
            </a:lvl1pPr>
            <a:lvl2pPr marL="745627" indent="-286779">
              <a:defRPr sz="1600">
                <a:solidFill>
                  <a:schemeClr val="tx1"/>
                </a:solidFill>
                <a:latin typeface="Arial" charset="0"/>
                <a:cs typeface="Arial" charset="0"/>
              </a:defRPr>
            </a:lvl2pPr>
            <a:lvl3pPr marL="1147118" indent="-229423">
              <a:defRPr sz="1600">
                <a:solidFill>
                  <a:schemeClr val="tx1"/>
                </a:solidFill>
                <a:latin typeface="Arial" charset="0"/>
                <a:cs typeface="Arial" charset="0"/>
              </a:defRPr>
            </a:lvl3pPr>
            <a:lvl4pPr marL="1605966" indent="-229423">
              <a:defRPr sz="1600">
                <a:solidFill>
                  <a:schemeClr val="tx1"/>
                </a:solidFill>
                <a:latin typeface="Arial" charset="0"/>
                <a:cs typeface="Arial" charset="0"/>
              </a:defRPr>
            </a:lvl4pPr>
            <a:lvl5pPr marL="2064813" indent="-229423">
              <a:defRPr sz="1600">
                <a:solidFill>
                  <a:schemeClr val="tx1"/>
                </a:solidFill>
                <a:latin typeface="Arial" charset="0"/>
                <a:cs typeface="Arial" charset="0"/>
              </a:defRPr>
            </a:lvl5pPr>
            <a:lvl6pPr marL="2523660" indent="-229423" algn="ctr" eaLnBrk="0" fontAlgn="base" hangingPunct="0">
              <a:spcBef>
                <a:spcPct val="0"/>
              </a:spcBef>
              <a:spcAft>
                <a:spcPct val="0"/>
              </a:spcAft>
              <a:defRPr sz="1600">
                <a:solidFill>
                  <a:schemeClr val="tx1"/>
                </a:solidFill>
                <a:latin typeface="Arial" charset="0"/>
                <a:cs typeface="Arial" charset="0"/>
              </a:defRPr>
            </a:lvl6pPr>
            <a:lvl7pPr marL="2982508" indent="-229423" algn="ctr" eaLnBrk="0" fontAlgn="base" hangingPunct="0">
              <a:spcBef>
                <a:spcPct val="0"/>
              </a:spcBef>
              <a:spcAft>
                <a:spcPct val="0"/>
              </a:spcAft>
              <a:defRPr sz="1600">
                <a:solidFill>
                  <a:schemeClr val="tx1"/>
                </a:solidFill>
                <a:latin typeface="Arial" charset="0"/>
                <a:cs typeface="Arial" charset="0"/>
              </a:defRPr>
            </a:lvl7pPr>
            <a:lvl8pPr marL="3441355" indent="-229423" algn="ctr" eaLnBrk="0" fontAlgn="base" hangingPunct="0">
              <a:spcBef>
                <a:spcPct val="0"/>
              </a:spcBef>
              <a:spcAft>
                <a:spcPct val="0"/>
              </a:spcAft>
              <a:defRPr sz="1600">
                <a:solidFill>
                  <a:schemeClr val="tx1"/>
                </a:solidFill>
                <a:latin typeface="Arial" charset="0"/>
                <a:cs typeface="Arial" charset="0"/>
              </a:defRPr>
            </a:lvl8pPr>
            <a:lvl9pPr marL="3900203" indent="-229423" algn="ctr" eaLnBrk="0" fontAlgn="base" hangingPunct="0">
              <a:spcBef>
                <a:spcPct val="0"/>
              </a:spcBef>
              <a:spcAft>
                <a:spcPct val="0"/>
              </a:spcAft>
              <a:defRPr sz="1600">
                <a:solidFill>
                  <a:schemeClr val="tx1"/>
                </a:solidFill>
                <a:latin typeface="Arial" charset="0"/>
                <a:cs typeface="Arial" charset="0"/>
              </a:defRPr>
            </a:lvl9pPr>
          </a:lstStyle>
          <a:p>
            <a:fld id="{34B2CE11-54ED-499D-8C36-BA321BB06A8F}" type="slidenum">
              <a:rPr lang="de-DE" sz="1200"/>
              <a:pPr/>
              <a:t>12</a:t>
            </a:fld>
            <a:endParaRPr lang="de-DE" sz="120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xfrm>
            <a:off x="1328003" y="3237954"/>
            <a:ext cx="7304014" cy="306753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770" tIns="45884" rIns="91770" bIns="45884"/>
          <a:lstStyle/>
          <a:p>
            <a:r>
              <a:rPr lang="en-US" sz="1200" b="0" i="0" u="none" strike="noStrike" kern="1200" dirty="0" err="1">
                <a:solidFill>
                  <a:schemeClr val="tx1"/>
                </a:solidFill>
                <a:effectLst/>
                <a:latin typeface="+mn-lt"/>
                <a:ea typeface="+mn-ea"/>
                <a:cs typeface="+mn-cs"/>
              </a:rPr>
              <a:t>Seitdem</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zählt</a:t>
            </a:r>
            <a:r>
              <a:rPr lang="en-US" sz="1200" b="0" i="0" u="none" strike="noStrike" kern="1200" dirty="0">
                <a:solidFill>
                  <a:schemeClr val="tx1"/>
                </a:solidFill>
                <a:effectLst/>
                <a:latin typeface="+mn-lt"/>
                <a:ea typeface="+mn-ea"/>
                <a:cs typeface="+mn-cs"/>
              </a:rPr>
              <a:t> das </a:t>
            </a:r>
            <a:r>
              <a:rPr lang="en-US" sz="1200" b="0" i="0" u="none" strike="noStrike" kern="1200" dirty="0" err="1">
                <a:solidFill>
                  <a:schemeClr val="tx1"/>
                </a:solidFill>
                <a:effectLst/>
                <a:latin typeface="+mn-lt"/>
                <a:ea typeface="+mn-ea"/>
                <a:cs typeface="+mn-cs"/>
              </a:rPr>
              <a:t>Klassendiagramm</a:t>
            </a:r>
            <a:r>
              <a:rPr lang="en-US" sz="1200" b="0" i="0" u="none" strike="noStrike" kern="1200" dirty="0">
                <a:solidFill>
                  <a:schemeClr val="tx1"/>
                </a:solidFill>
                <a:effectLst/>
                <a:latin typeface="+mn-lt"/>
                <a:ea typeface="+mn-ea"/>
                <a:cs typeface="+mn-cs"/>
              </a:rPr>
              <a:t> </a:t>
            </a:r>
            <a:r>
              <a:rPr lang="en-US" sz="1200" b="0" i="0" u="none" strike="noStrike" kern="1200" dirty="0" err="1">
                <a:solidFill>
                  <a:schemeClr val="tx1"/>
                </a:solidFill>
                <a:effectLst/>
                <a:latin typeface="+mn-lt"/>
                <a:ea typeface="+mn-ea"/>
                <a:cs typeface="+mn-cs"/>
              </a:rPr>
              <a:t>zu</a:t>
            </a:r>
            <a:r>
              <a:rPr lang="en-US" sz="1200" b="0" i="0" u="none" strike="noStrike" kern="1200" dirty="0">
                <a:solidFill>
                  <a:schemeClr val="tx1"/>
                </a:solidFill>
                <a:effectLst/>
                <a:latin typeface="+mn-lt"/>
                <a:ea typeface="+mn-ea"/>
                <a:cs typeface="+mn-cs"/>
              </a:rPr>
              <a:t> den </a:t>
            </a:r>
            <a:r>
              <a:rPr lang="en-US" sz="1200" b="0" i="0" u="none" strike="noStrike" kern="1200" dirty="0" err="1">
                <a:solidFill>
                  <a:schemeClr val="tx1"/>
                </a:solidFill>
                <a:effectLst/>
                <a:latin typeface="+mn-lt"/>
                <a:ea typeface="+mn-ea"/>
                <a:cs typeface="+mn-cs"/>
              </a:rPr>
              <a:t>Strukturdiagrammen</a:t>
            </a:r>
            <a:r>
              <a:rPr lang="en-US" sz="1200" b="0" i="0" u="none" strike="noStrike" kern="1200" dirty="0">
                <a:solidFill>
                  <a:schemeClr val="tx1"/>
                </a:solidFill>
                <a:effectLst/>
                <a:latin typeface="+mn-lt"/>
                <a:ea typeface="+mn-ea"/>
                <a:cs typeface="+mn-cs"/>
              </a:rPr>
              <a:t> – nicht </a:t>
            </a:r>
            <a:r>
              <a:rPr lang="en-US" sz="1200" b="0" i="0" u="none" strike="noStrike" kern="1200" dirty="0" err="1">
                <a:solidFill>
                  <a:schemeClr val="tx1"/>
                </a:solidFill>
                <a:effectLst/>
                <a:latin typeface="+mn-lt"/>
                <a:ea typeface="+mn-ea"/>
                <a:cs typeface="+mn-cs"/>
              </a:rPr>
              <a:t>zu</a:t>
            </a:r>
            <a:r>
              <a:rPr lang="en-US" sz="1200" b="0" i="0" u="none" strike="noStrike" kern="1200" dirty="0">
                <a:solidFill>
                  <a:schemeClr val="tx1"/>
                </a:solidFill>
                <a:effectLst/>
                <a:latin typeface="+mn-lt"/>
                <a:ea typeface="+mn-ea"/>
                <a:cs typeface="+mn-cs"/>
              </a:rPr>
              <a:t> den </a:t>
            </a:r>
            <a:r>
              <a:rPr lang="en-US" sz="1200" b="0" i="0" u="none" strike="noStrike" kern="1200" dirty="0" err="1">
                <a:solidFill>
                  <a:schemeClr val="tx1"/>
                </a:solidFill>
                <a:effectLst/>
                <a:latin typeface="+mn-lt"/>
                <a:ea typeface="+mn-ea"/>
                <a:cs typeface="+mn-cs"/>
              </a:rPr>
              <a:t>Verhaltensdiagrammen</a:t>
            </a:r>
            <a:r>
              <a:rPr lang="en-US" sz="1200" b="0" i="0" u="none" strike="noStrike" kern="1200">
                <a:solidFill>
                  <a:schemeClr val="tx1"/>
                </a:solidFill>
                <a:effectLst/>
                <a:latin typeface="+mn-lt"/>
                <a:ea typeface="+mn-ea"/>
                <a:cs typeface="+mn-cs"/>
              </a:rPr>
              <a:t>.“</a:t>
            </a:r>
            <a:br>
              <a:rPr lang="en-US" sz="1200" b="0" i="0" u="none" strike="noStrike" kern="1200">
                <a:solidFill>
                  <a:schemeClr val="tx1"/>
                </a:solidFill>
                <a:effectLst/>
                <a:latin typeface="+mn-lt"/>
                <a:ea typeface="+mn-ea"/>
                <a:cs typeface="+mn-cs"/>
              </a:rPr>
            </a:br>
            <a:br>
              <a:rPr lang="en-US" sz="1200" b="0" i="0" u="none" strike="noStrike" kern="1200">
                <a:solidFill>
                  <a:schemeClr val="tx1"/>
                </a:solidFill>
                <a:effectLst/>
                <a:latin typeface="+mn-lt"/>
                <a:ea typeface="+mn-ea"/>
                <a:cs typeface="+mn-cs"/>
              </a:rPr>
            </a:br>
            <a:r>
              <a:t>Roter </a:t>
            </a:r>
            <a:r>
              <a:rPr dirty="0"/>
              <a:t>Faden:</a:t>
            </a:r>
          </a:p>
          <a:p>
            <a:r>
              <a:rPr dirty="0"/>
              <a:t>1. „Aufgabe 3 hat </a:t>
            </a:r>
            <a:r>
              <a:rPr dirty="0" err="1"/>
              <a:t>gezeigt</a:t>
            </a:r>
            <a:r>
              <a:rPr dirty="0"/>
              <a:t>, was das </a:t>
            </a:r>
            <a:r>
              <a:rPr dirty="0" err="1"/>
              <a:t>Klassendiagramm</a:t>
            </a:r>
            <a:r>
              <a:rPr dirty="0"/>
              <a:t> </a:t>
            </a:r>
            <a:r>
              <a:rPr dirty="0" err="1"/>
              <a:t>kann</a:t>
            </a:r>
            <a:r>
              <a:rPr dirty="0"/>
              <a:t> und was nicht. </a:t>
            </a:r>
            <a:r>
              <a:rPr dirty="0" err="1"/>
              <a:t>Jetzt</a:t>
            </a:r>
            <a:r>
              <a:rPr dirty="0"/>
              <a:t>: wo </a:t>
            </a:r>
            <a:r>
              <a:rPr dirty="0" err="1"/>
              <a:t>steht</a:t>
            </a:r>
            <a:r>
              <a:rPr dirty="0"/>
              <a:t> es </a:t>
            </a:r>
            <a:r>
              <a:rPr dirty="0" err="1"/>
              <a:t>im</a:t>
            </a:r>
            <a:r>
              <a:rPr dirty="0"/>
              <a:t> </a:t>
            </a:r>
            <a:r>
              <a:rPr dirty="0" err="1"/>
              <a:t>Werkzeugkasten</a:t>
            </a:r>
            <a:r>
              <a:rPr dirty="0"/>
              <a:t>?“</a:t>
            </a:r>
          </a:p>
          <a:p>
            <a:r>
              <a:rPr dirty="0"/>
              <a:t>2. ARIS </a:t>
            </a:r>
            <a:r>
              <a:rPr dirty="0" err="1"/>
              <a:t>gliedert</a:t>
            </a:r>
            <a:r>
              <a:rPr dirty="0"/>
              <a:t> Modelle in vier </a:t>
            </a:r>
            <a:r>
              <a:rPr dirty="0" err="1"/>
              <a:t>Sichten</a:t>
            </a:r>
            <a:r>
              <a:rPr dirty="0"/>
              <a:t> – </a:t>
            </a:r>
            <a:r>
              <a:rPr dirty="0" err="1"/>
              <a:t>Organisations</a:t>
            </a:r>
            <a:r>
              <a:rPr dirty="0"/>
              <a:t>-, </a:t>
            </a:r>
            <a:r>
              <a:rPr dirty="0" err="1"/>
              <a:t>Daten</a:t>
            </a:r>
            <a:r>
              <a:rPr dirty="0"/>
              <a:t>-, </a:t>
            </a:r>
            <a:r>
              <a:rPr dirty="0" err="1"/>
              <a:t>Funktions</a:t>
            </a:r>
            <a:r>
              <a:rPr dirty="0"/>
              <a:t>- und </a:t>
            </a:r>
            <a:r>
              <a:rPr dirty="0" err="1"/>
              <a:t>Prozesssicht</a:t>
            </a:r>
            <a:r>
              <a:rPr dirty="0"/>
              <a:t> – auf </a:t>
            </a:r>
            <a:r>
              <a:rPr dirty="0" err="1"/>
              <a:t>drei</a:t>
            </a:r>
            <a:r>
              <a:rPr dirty="0"/>
              <a:t> </a:t>
            </a:r>
            <a:r>
              <a:rPr dirty="0" err="1"/>
              <a:t>Ebenen</a:t>
            </a:r>
            <a:r>
              <a:rPr dirty="0"/>
              <a:t>: </a:t>
            </a:r>
            <a:r>
              <a:rPr dirty="0" err="1"/>
              <a:t>Fachkonzept</a:t>
            </a:r>
            <a:r>
              <a:rPr dirty="0"/>
              <a:t>, DV-</a:t>
            </a:r>
            <a:r>
              <a:rPr dirty="0" err="1"/>
              <a:t>Konzept</a:t>
            </a:r>
            <a:r>
              <a:rPr dirty="0"/>
              <a:t>, </a:t>
            </a:r>
            <a:r>
              <a:rPr dirty="0" err="1"/>
              <a:t>Implementierung</a:t>
            </a:r>
            <a:r>
              <a:rPr dirty="0"/>
              <a:t> (</a:t>
            </a:r>
            <a:r>
              <a:rPr dirty="0" err="1"/>
              <a:t>Vorlesung</a:t>
            </a:r>
            <a:r>
              <a:rPr dirty="0"/>
              <a:t>, Folie 5, </a:t>
            </a:r>
            <a:r>
              <a:rPr dirty="0" err="1"/>
              <a:t>nach</a:t>
            </a:r>
            <a:r>
              <a:rPr dirty="0"/>
              <a:t> Scheer 2011).</a:t>
            </a:r>
          </a:p>
          <a:p>
            <a:r>
              <a:rPr dirty="0"/>
              <a:t>3. Das </a:t>
            </a:r>
            <a:r>
              <a:rPr dirty="0" err="1"/>
              <a:t>Klassendiagramm</a:t>
            </a:r>
            <a:r>
              <a:rPr dirty="0"/>
              <a:t> </a:t>
            </a:r>
            <a:r>
              <a:rPr dirty="0" err="1"/>
              <a:t>steht</a:t>
            </a:r>
            <a:r>
              <a:rPr dirty="0"/>
              <a:t> in der </a:t>
            </a:r>
            <a:r>
              <a:rPr dirty="0" err="1"/>
              <a:t>Datensicht</a:t>
            </a:r>
            <a:r>
              <a:rPr dirty="0"/>
              <a:t>: es </a:t>
            </a:r>
            <a:r>
              <a:rPr dirty="0" err="1"/>
              <a:t>beschreibt</a:t>
            </a:r>
            <a:r>
              <a:rPr dirty="0"/>
              <a:t>, </a:t>
            </a:r>
            <a:r>
              <a:rPr dirty="0" err="1"/>
              <a:t>welche</a:t>
            </a:r>
            <a:r>
              <a:rPr dirty="0"/>
              <a:t> </a:t>
            </a:r>
            <a:r>
              <a:rPr dirty="0" err="1"/>
              <a:t>Daten</a:t>
            </a:r>
            <a:r>
              <a:rPr dirty="0"/>
              <a:t> das System </a:t>
            </a:r>
            <a:r>
              <a:rPr dirty="0" err="1"/>
              <a:t>führt</a:t>
            </a:r>
            <a:r>
              <a:rPr dirty="0"/>
              <a:t> und </a:t>
            </a:r>
            <a:r>
              <a:rPr dirty="0" err="1"/>
              <a:t>wie</a:t>
            </a:r>
            <a:r>
              <a:rPr dirty="0"/>
              <a:t> </a:t>
            </a:r>
            <a:r>
              <a:rPr dirty="0" err="1"/>
              <a:t>sie</a:t>
            </a:r>
            <a:r>
              <a:rPr dirty="0"/>
              <a:t> </a:t>
            </a:r>
            <a:r>
              <a:rPr dirty="0" err="1"/>
              <a:t>strukturiert</a:t>
            </a:r>
            <a:r>
              <a:rPr dirty="0"/>
              <a:t> </a:t>
            </a:r>
            <a:r>
              <a:rPr dirty="0" err="1"/>
              <a:t>sind</a:t>
            </a:r>
            <a:r>
              <a:rPr dirty="0"/>
              <a:t>.</a:t>
            </a:r>
          </a:p>
          <a:p>
            <a:r>
              <a:rPr dirty="0"/>
              <a:t>4. Der </a:t>
            </a:r>
            <a:r>
              <a:rPr dirty="0" err="1"/>
              <a:t>Modulüberblick</a:t>
            </a:r>
            <a:r>
              <a:rPr dirty="0"/>
              <a:t> </a:t>
            </a:r>
            <a:r>
              <a:rPr dirty="0" err="1"/>
              <a:t>führt</a:t>
            </a:r>
            <a:r>
              <a:rPr dirty="0"/>
              <a:t> es </a:t>
            </a:r>
            <a:r>
              <a:rPr dirty="0" err="1"/>
              <a:t>zusätzlich</a:t>
            </a:r>
            <a:r>
              <a:rPr dirty="0"/>
              <a:t> in der </a:t>
            </a:r>
            <a:r>
              <a:rPr dirty="0" err="1"/>
              <a:t>Funktionssicht</a:t>
            </a:r>
            <a:r>
              <a:rPr dirty="0"/>
              <a:t>, </a:t>
            </a:r>
            <a:r>
              <a:rPr dirty="0" err="1"/>
              <a:t>weil</a:t>
            </a:r>
            <a:r>
              <a:rPr dirty="0"/>
              <a:t> Klassen </a:t>
            </a:r>
            <a:r>
              <a:rPr dirty="0" err="1"/>
              <a:t>neben</a:t>
            </a:r>
            <a:r>
              <a:rPr dirty="0"/>
              <a:t> </a:t>
            </a:r>
            <a:r>
              <a:rPr dirty="0" err="1"/>
              <a:t>Attributen</a:t>
            </a:r>
            <a:r>
              <a:rPr dirty="0"/>
              <a:t> </a:t>
            </a:r>
            <a:r>
              <a:rPr dirty="0" err="1"/>
              <a:t>auch</a:t>
            </a:r>
            <a:r>
              <a:rPr dirty="0"/>
              <a:t> </a:t>
            </a:r>
            <a:r>
              <a:rPr dirty="0" err="1"/>
              <a:t>Methoden</a:t>
            </a:r>
            <a:r>
              <a:rPr dirty="0"/>
              <a:t> </a:t>
            </a:r>
            <a:r>
              <a:rPr dirty="0" err="1"/>
              <a:t>tragen</a:t>
            </a:r>
            <a:r>
              <a:rPr dirty="0"/>
              <a:t>. </a:t>
            </a:r>
            <a:r>
              <a:rPr dirty="0" err="1"/>
              <a:t>Beide</a:t>
            </a:r>
            <a:r>
              <a:rPr dirty="0"/>
              <a:t> </a:t>
            </a:r>
            <a:r>
              <a:rPr dirty="0" err="1"/>
              <a:t>Nennungen</a:t>
            </a:r>
            <a:r>
              <a:rPr dirty="0"/>
              <a:t> </a:t>
            </a:r>
            <a:r>
              <a:rPr dirty="0" err="1"/>
              <a:t>stehen</a:t>
            </a:r>
            <a:r>
              <a:rPr dirty="0"/>
              <a:t> </a:t>
            </a:r>
            <a:r>
              <a:rPr dirty="0" err="1"/>
              <a:t>dort</a:t>
            </a:r>
            <a:r>
              <a:rPr dirty="0"/>
              <a:t> auf der Ebene DV-</a:t>
            </a:r>
            <a:r>
              <a:rPr dirty="0" err="1"/>
              <a:t>Konzept</a:t>
            </a:r>
            <a:r>
              <a:rPr dirty="0"/>
              <a:t>.</a:t>
            </a:r>
          </a:p>
          <a:p>
            <a:r>
              <a:rPr dirty="0"/>
              <a:t>5. Nicht </a:t>
            </a:r>
            <a:r>
              <a:rPr dirty="0" err="1"/>
              <a:t>Prozesssicht</a:t>
            </a:r>
            <a:r>
              <a:rPr dirty="0"/>
              <a:t> – </a:t>
            </a:r>
            <a:r>
              <a:rPr dirty="0" err="1"/>
              <a:t>Abläufe</a:t>
            </a:r>
            <a:r>
              <a:rPr dirty="0"/>
              <a:t> </a:t>
            </a:r>
            <a:r>
              <a:rPr dirty="0" err="1"/>
              <a:t>zeigt</a:t>
            </a:r>
            <a:r>
              <a:rPr dirty="0"/>
              <a:t> es nicht. Das </a:t>
            </a:r>
            <a:r>
              <a:rPr dirty="0" err="1"/>
              <a:t>ist</a:t>
            </a:r>
            <a:r>
              <a:rPr dirty="0"/>
              <a:t> </a:t>
            </a:r>
            <a:r>
              <a:rPr dirty="0" err="1"/>
              <a:t>genau</a:t>
            </a:r>
            <a:r>
              <a:rPr dirty="0"/>
              <a:t> das </a:t>
            </a:r>
            <a:r>
              <a:rPr dirty="0" err="1"/>
              <a:t>Ergebnis</a:t>
            </a:r>
            <a:r>
              <a:rPr dirty="0"/>
              <a:t> </a:t>
            </a:r>
            <a:r>
              <a:rPr dirty="0" err="1"/>
              <a:t>aus</a:t>
            </a:r>
            <a:r>
              <a:rPr dirty="0"/>
              <a:t> Aufgabe 3.</a:t>
            </a:r>
          </a:p>
          <a:p>
            <a:endParaRPr dirty="0"/>
          </a:p>
          <a:p>
            <a:r>
              <a:rPr dirty="0" err="1"/>
              <a:t>Anschlusssatz</a:t>
            </a:r>
            <a:r>
              <a:rPr dirty="0"/>
              <a:t> für die </a:t>
            </a:r>
            <a:r>
              <a:rPr dirty="0" err="1"/>
              <a:t>Historie</a:t>
            </a:r>
            <a:r>
              <a:rPr dirty="0"/>
              <a:t> (</a:t>
            </a:r>
            <a:r>
              <a:rPr dirty="0" err="1"/>
              <a:t>Vorlesungsfolie</a:t>
            </a:r>
            <a:r>
              <a:rPr dirty="0"/>
              <a:t> 3), falls </a:t>
            </a:r>
            <a:r>
              <a:rPr dirty="0" err="1"/>
              <a:t>sie</a:t>
            </a:r>
            <a:r>
              <a:rPr dirty="0"/>
              <a:t> </a:t>
            </a:r>
            <a:r>
              <a:rPr dirty="0" err="1"/>
              <a:t>sonst</a:t>
            </a:r>
            <a:r>
              <a:rPr dirty="0"/>
              <a:t> </a:t>
            </a:r>
            <a:r>
              <a:rPr dirty="0" err="1"/>
              <a:t>nirgends</a:t>
            </a:r>
            <a:r>
              <a:rPr dirty="0"/>
              <a:t> </a:t>
            </a:r>
            <a:r>
              <a:rPr dirty="0" err="1"/>
              <a:t>vorkommt</a:t>
            </a:r>
            <a:r>
              <a:rPr dirty="0"/>
              <a:t>:</a:t>
            </a:r>
          </a:p>
          <a:p>
            <a:r>
              <a:rPr dirty="0"/>
              <a:t>„</a:t>
            </a:r>
            <a:r>
              <a:rPr dirty="0" err="1"/>
              <a:t>Genormt</a:t>
            </a:r>
            <a:r>
              <a:rPr dirty="0"/>
              <a:t> </a:t>
            </a:r>
            <a:r>
              <a:rPr dirty="0" err="1"/>
              <a:t>ist</a:t>
            </a:r>
            <a:r>
              <a:rPr dirty="0"/>
              <a:t> das Ganze </a:t>
            </a:r>
            <a:r>
              <a:rPr dirty="0" err="1"/>
              <a:t>seit</a:t>
            </a:r>
            <a:r>
              <a:rPr dirty="0"/>
              <a:t> 1997, </a:t>
            </a:r>
            <a:r>
              <a:rPr dirty="0" err="1"/>
              <a:t>als</a:t>
            </a:r>
            <a:r>
              <a:rPr dirty="0"/>
              <a:t> die OMG UML 1.0 </a:t>
            </a:r>
            <a:r>
              <a:rPr dirty="0" err="1"/>
              <a:t>verabschiedet</a:t>
            </a:r>
            <a:r>
              <a:rPr dirty="0"/>
              <a:t> hat; 2005 </a:t>
            </a:r>
            <a:r>
              <a:rPr dirty="0" err="1"/>
              <a:t>kam</a:t>
            </a:r>
            <a:r>
              <a:rPr dirty="0"/>
              <a:t> UML 2.0. </a:t>
            </a:r>
            <a:r>
              <a:rPr dirty="0" err="1"/>
              <a:t>Seitdem</a:t>
            </a:r>
            <a:r>
              <a:rPr dirty="0"/>
              <a:t> </a:t>
            </a:r>
            <a:r>
              <a:rPr dirty="0" err="1"/>
              <a:t>zählt</a:t>
            </a:r>
            <a:r>
              <a:rPr dirty="0"/>
              <a:t> das </a:t>
            </a:r>
            <a:r>
              <a:rPr dirty="0" err="1"/>
              <a:t>Klassendiagramm</a:t>
            </a:r>
            <a:r>
              <a:rPr dirty="0"/>
              <a:t> </a:t>
            </a:r>
            <a:r>
              <a:rPr dirty="0" err="1"/>
              <a:t>zu</a:t>
            </a:r>
            <a:r>
              <a:rPr dirty="0"/>
              <a:t> den </a:t>
            </a:r>
            <a:r>
              <a:rPr dirty="0" err="1"/>
              <a:t>Strukturdiagrammen</a:t>
            </a:r>
            <a:r>
              <a:rPr dirty="0"/>
              <a:t> – nicht </a:t>
            </a:r>
            <a:r>
              <a:rPr dirty="0" err="1"/>
              <a:t>zu</a:t>
            </a:r>
            <a:r>
              <a:rPr dirty="0"/>
              <a:t> den </a:t>
            </a:r>
            <a:r>
              <a:rPr dirty="0" err="1"/>
              <a:t>Verhaltensdiagrammen</a:t>
            </a:r>
            <a:r>
              <a:rPr dirty="0"/>
              <a:t>.“</a:t>
            </a:r>
          </a:p>
          <a:p>
            <a:endParaRPr dirty="0"/>
          </a:p>
          <a:p>
            <a:r>
              <a:rPr dirty="0"/>
              <a:t>Wenn </a:t>
            </a:r>
            <a:r>
              <a:rPr dirty="0" err="1"/>
              <a:t>jemand</a:t>
            </a:r>
            <a:r>
              <a:rPr dirty="0"/>
              <a:t> </a:t>
            </a:r>
            <a:r>
              <a:rPr dirty="0" err="1"/>
              <a:t>fragt</a:t>
            </a:r>
            <a:r>
              <a:rPr dirty="0"/>
              <a:t> „</a:t>
            </a:r>
            <a:r>
              <a:rPr dirty="0" err="1"/>
              <a:t>Fachkonzept</a:t>
            </a:r>
            <a:r>
              <a:rPr dirty="0"/>
              <a:t> </a:t>
            </a:r>
            <a:r>
              <a:rPr dirty="0" err="1"/>
              <a:t>oder</a:t>
            </a:r>
            <a:r>
              <a:rPr dirty="0"/>
              <a:t> DV-</a:t>
            </a:r>
            <a:r>
              <a:rPr dirty="0" err="1"/>
              <a:t>Konzept</a:t>
            </a:r>
            <a:r>
              <a:rPr dirty="0"/>
              <a:t>?“: Der </a:t>
            </a:r>
            <a:r>
              <a:rPr dirty="0" err="1"/>
              <a:t>Modulüberblick</a:t>
            </a:r>
            <a:r>
              <a:rPr dirty="0"/>
              <a:t> </a:t>
            </a:r>
            <a:r>
              <a:rPr dirty="0" err="1"/>
              <a:t>setzt</a:t>
            </a:r>
            <a:r>
              <a:rPr dirty="0"/>
              <a:t> es auf DV-</a:t>
            </a:r>
            <a:r>
              <a:rPr dirty="0" err="1"/>
              <a:t>Konzept</a:t>
            </a:r>
            <a:r>
              <a:rPr dirty="0"/>
              <a:t>. </a:t>
            </a:r>
            <a:r>
              <a:rPr dirty="0" err="1"/>
              <a:t>Wer</a:t>
            </a:r>
            <a:r>
              <a:rPr dirty="0"/>
              <a:t> </a:t>
            </a:r>
            <a:r>
              <a:rPr dirty="0" err="1"/>
              <a:t>Fachkonzept</a:t>
            </a:r>
            <a:r>
              <a:rPr dirty="0"/>
              <a:t> </a:t>
            </a:r>
            <a:r>
              <a:rPr dirty="0" err="1"/>
              <a:t>nennt</a:t>
            </a:r>
            <a:r>
              <a:rPr dirty="0"/>
              <a:t> und </a:t>
            </a:r>
            <a:r>
              <a:rPr dirty="0" err="1"/>
              <a:t>mit</a:t>
            </a:r>
            <a:r>
              <a:rPr dirty="0"/>
              <a:t> „</a:t>
            </a:r>
            <a:r>
              <a:rPr dirty="0" err="1"/>
              <a:t>fachliche</a:t>
            </a:r>
            <a:r>
              <a:rPr dirty="0"/>
              <a:t> </a:t>
            </a:r>
            <a:r>
              <a:rPr dirty="0" err="1"/>
              <a:t>Struktur</a:t>
            </a:r>
            <a:r>
              <a:rPr dirty="0"/>
              <a:t>, </a:t>
            </a:r>
            <a:r>
              <a:rPr dirty="0" err="1"/>
              <a:t>noch</a:t>
            </a:r>
            <a:r>
              <a:rPr dirty="0"/>
              <a:t> </a:t>
            </a:r>
            <a:r>
              <a:rPr dirty="0" err="1"/>
              <a:t>keine</a:t>
            </a:r>
            <a:r>
              <a:rPr dirty="0"/>
              <a:t> Technik“ </a:t>
            </a:r>
            <a:r>
              <a:rPr dirty="0" err="1"/>
              <a:t>begründet</a:t>
            </a:r>
            <a:r>
              <a:rPr dirty="0"/>
              <a:t>, </a:t>
            </a:r>
            <a:r>
              <a:rPr dirty="0" err="1"/>
              <a:t>liegt</a:t>
            </a:r>
            <a:r>
              <a:rPr dirty="0"/>
              <a:t> </a:t>
            </a:r>
            <a:r>
              <a:rPr dirty="0" err="1"/>
              <a:t>ebenfalls</a:t>
            </a:r>
            <a:r>
              <a:rPr dirty="0"/>
              <a:t> </a:t>
            </a:r>
            <a:r>
              <a:rPr dirty="0" err="1"/>
              <a:t>richtig</a:t>
            </a:r>
            <a:r>
              <a:rPr dirty="0"/>
              <a:t>.</a:t>
            </a:r>
          </a:p>
          <a:p>
            <a:endParaRPr dirty="0"/>
          </a:p>
          <a:p>
            <a:r>
              <a:rPr dirty="0"/>
              <a:t>Belege: 7-UML-KD.pptx </a:t>
            </a:r>
            <a:r>
              <a:rPr dirty="0" err="1"/>
              <a:t>Folien</a:t>
            </a:r>
            <a:r>
              <a:rPr dirty="0"/>
              <a:t> 3 und 5 · Konzept.pptx Folie 2 „</a:t>
            </a:r>
            <a:r>
              <a:rPr dirty="0" err="1"/>
              <a:t>Behandelte</a:t>
            </a:r>
            <a:r>
              <a:rPr dirty="0"/>
              <a:t> </a:t>
            </a:r>
            <a:r>
              <a:rPr dirty="0" err="1"/>
              <a:t>Modellierungsprachen</a:t>
            </a:r>
            <a:r>
              <a:rPr dirty="0"/>
              <a:t>“, </a:t>
            </a:r>
            <a:r>
              <a:rPr dirty="0" err="1"/>
              <a:t>dort</a:t>
            </a:r>
            <a:r>
              <a:rPr dirty="0"/>
              <a:t> </a:t>
            </a:r>
            <a:r>
              <a:rPr dirty="0" err="1"/>
              <a:t>steht</a:t>
            </a:r>
            <a:r>
              <a:rPr dirty="0"/>
              <a:t> UML-</a:t>
            </a:r>
            <a:r>
              <a:rPr dirty="0" err="1"/>
              <a:t>Klassendiagramm</a:t>
            </a:r>
            <a:r>
              <a:rPr dirty="0"/>
              <a:t> </a:t>
            </a:r>
            <a:r>
              <a:rPr dirty="0" err="1"/>
              <a:t>zweimal</a:t>
            </a:r>
            <a:r>
              <a:rPr dirty="0"/>
              <a:t>, links </a:t>
            </a:r>
            <a:r>
              <a:rPr dirty="0" err="1"/>
              <a:t>neben</a:t>
            </a:r>
            <a:r>
              <a:rPr dirty="0"/>
              <a:t> der </a:t>
            </a:r>
            <a:r>
              <a:rPr dirty="0" err="1"/>
              <a:t>Datensicht</a:t>
            </a:r>
            <a:r>
              <a:rPr dirty="0"/>
              <a:t> und </a:t>
            </a:r>
            <a:r>
              <a:rPr dirty="0" err="1"/>
              <a:t>rechts</a:t>
            </a:r>
            <a:r>
              <a:rPr dirty="0"/>
              <a:t> </a:t>
            </a:r>
            <a:r>
              <a:rPr dirty="0" err="1"/>
              <a:t>neben</a:t>
            </a:r>
            <a:r>
              <a:rPr dirty="0"/>
              <a:t> der </a:t>
            </a:r>
            <a:r>
              <a:rPr dirty="0" err="1"/>
              <a:t>Funktionssicht</a:t>
            </a:r>
            <a:r>
              <a:rPr dirty="0"/>
              <a:t>.</a:t>
            </a:r>
          </a:p>
        </p:txBody>
      </p:sp>
    </p:spTree>
    <p:extLst>
      <p:ext uri="{BB962C8B-B14F-4D97-AF65-F5344CB8AC3E}">
        <p14:creationId xmlns:p14="http://schemas.microsoft.com/office/powerpoint/2010/main" val="2433840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5" Type="http://schemas.openxmlformats.org/officeDocument/2006/relationships/image" Target="../media/image2.sv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4B81EA-FAD0-4618-E36E-68861CD8499F}"/>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0B163245-73AA-8B34-1C85-C6643C8C9B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C2CD209F-7FD5-F9DF-FEDB-1DD3C467A6A0}"/>
              </a:ext>
            </a:extLst>
          </p:cNvPr>
          <p:cNvSpPr>
            <a:spLocks noGrp="1"/>
          </p:cNvSpPr>
          <p:nvPr>
            <p:ph type="dt" sz="half" idx="10"/>
          </p:nvPr>
        </p:nvSpPr>
        <p:spPr/>
        <p:txBody>
          <a:bodyPr/>
          <a:lstStyle/>
          <a:p>
            <a:fld id="{80F2FFF2-4751-4BE2-8586-A3C1F17AD2E3}" type="datetimeFigureOut">
              <a:rPr lang="de-DE" smtClean="0"/>
              <a:t>02.09.2026</a:t>
            </a:fld>
            <a:endParaRPr lang="de-DE"/>
          </a:p>
        </p:txBody>
      </p:sp>
      <p:sp>
        <p:nvSpPr>
          <p:cNvPr id="5" name="Fußzeilenplatzhalter 4">
            <a:extLst>
              <a:ext uri="{FF2B5EF4-FFF2-40B4-BE49-F238E27FC236}">
                <a16:creationId xmlns:a16="http://schemas.microsoft.com/office/drawing/2014/main" id="{DB37564C-776D-579C-922F-1DD72917E4B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27A9861-EA2A-D697-9E36-EB851AF28B27}"/>
              </a:ext>
            </a:extLst>
          </p:cNvPr>
          <p:cNvSpPr>
            <a:spLocks noGrp="1"/>
          </p:cNvSpPr>
          <p:nvPr>
            <p:ph type="sldNum" sz="quarter" idx="12"/>
          </p:nvPr>
        </p:nvSpPr>
        <p:spPr/>
        <p:txBody>
          <a:bodyPr/>
          <a:lstStyle/>
          <a:p>
            <a:fld id="{D1FC6F3C-F22C-4482-95EA-2F7C5C30AF96}" type="slidenum">
              <a:rPr lang="de-DE" smtClean="0"/>
              <a:t>‹Nr.›</a:t>
            </a:fld>
            <a:endParaRPr lang="de-DE"/>
          </a:p>
        </p:txBody>
      </p:sp>
    </p:spTree>
    <p:extLst>
      <p:ext uri="{BB962C8B-B14F-4D97-AF65-F5344CB8AC3E}">
        <p14:creationId xmlns:p14="http://schemas.microsoft.com/office/powerpoint/2010/main" val="138190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F55ED0-F38B-2FC5-BF83-778C606D5F5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D0A4B1E8-19F1-1E28-0F38-4AB32F7D8645}"/>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0508386-DE83-D0AE-4FF3-C5D08ADA46E6}"/>
              </a:ext>
            </a:extLst>
          </p:cNvPr>
          <p:cNvSpPr>
            <a:spLocks noGrp="1"/>
          </p:cNvSpPr>
          <p:nvPr>
            <p:ph type="dt" sz="half" idx="10"/>
          </p:nvPr>
        </p:nvSpPr>
        <p:spPr/>
        <p:txBody>
          <a:bodyPr/>
          <a:lstStyle/>
          <a:p>
            <a:fld id="{80F2FFF2-4751-4BE2-8586-A3C1F17AD2E3}" type="datetimeFigureOut">
              <a:rPr lang="de-DE" smtClean="0"/>
              <a:t>02.09.2026</a:t>
            </a:fld>
            <a:endParaRPr lang="de-DE"/>
          </a:p>
        </p:txBody>
      </p:sp>
      <p:sp>
        <p:nvSpPr>
          <p:cNvPr id="5" name="Fußzeilenplatzhalter 4">
            <a:extLst>
              <a:ext uri="{FF2B5EF4-FFF2-40B4-BE49-F238E27FC236}">
                <a16:creationId xmlns:a16="http://schemas.microsoft.com/office/drawing/2014/main" id="{F9492DB8-8171-ED73-D556-C04E1F56834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6730D79A-0F97-A67E-8370-182311745BBF}"/>
              </a:ext>
            </a:extLst>
          </p:cNvPr>
          <p:cNvSpPr>
            <a:spLocks noGrp="1"/>
          </p:cNvSpPr>
          <p:nvPr>
            <p:ph type="sldNum" sz="quarter" idx="12"/>
          </p:nvPr>
        </p:nvSpPr>
        <p:spPr/>
        <p:txBody>
          <a:bodyPr/>
          <a:lstStyle/>
          <a:p>
            <a:fld id="{D1FC6F3C-F22C-4482-95EA-2F7C5C30AF96}" type="slidenum">
              <a:rPr lang="de-DE" smtClean="0"/>
              <a:t>‹Nr.›</a:t>
            </a:fld>
            <a:endParaRPr lang="de-DE"/>
          </a:p>
        </p:txBody>
      </p:sp>
    </p:spTree>
    <p:extLst>
      <p:ext uri="{BB962C8B-B14F-4D97-AF65-F5344CB8AC3E}">
        <p14:creationId xmlns:p14="http://schemas.microsoft.com/office/powerpoint/2010/main" val="3561572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9917A5-C851-E491-CCC7-281B0F9DA862}"/>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409380BA-1EFE-2B51-2EDC-9AC8F43114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AD17A078-2A78-0796-03E3-DCCBE98177E0}"/>
              </a:ext>
            </a:extLst>
          </p:cNvPr>
          <p:cNvSpPr>
            <a:spLocks noGrp="1"/>
          </p:cNvSpPr>
          <p:nvPr>
            <p:ph type="dt" sz="half" idx="10"/>
          </p:nvPr>
        </p:nvSpPr>
        <p:spPr/>
        <p:txBody>
          <a:bodyPr/>
          <a:lstStyle/>
          <a:p>
            <a:fld id="{80F2FFF2-4751-4BE2-8586-A3C1F17AD2E3}" type="datetimeFigureOut">
              <a:rPr lang="de-DE" smtClean="0"/>
              <a:t>02.09.2026</a:t>
            </a:fld>
            <a:endParaRPr lang="de-DE"/>
          </a:p>
        </p:txBody>
      </p:sp>
      <p:sp>
        <p:nvSpPr>
          <p:cNvPr id="5" name="Fußzeilenplatzhalter 4">
            <a:extLst>
              <a:ext uri="{FF2B5EF4-FFF2-40B4-BE49-F238E27FC236}">
                <a16:creationId xmlns:a16="http://schemas.microsoft.com/office/drawing/2014/main" id="{29AD2312-F607-20C1-59F5-6E4012BE19A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D238AE6E-1977-410D-DCF3-1FCF4185B45D}"/>
              </a:ext>
            </a:extLst>
          </p:cNvPr>
          <p:cNvSpPr>
            <a:spLocks noGrp="1"/>
          </p:cNvSpPr>
          <p:nvPr>
            <p:ph type="sldNum" sz="quarter" idx="12"/>
          </p:nvPr>
        </p:nvSpPr>
        <p:spPr/>
        <p:txBody>
          <a:bodyPr/>
          <a:lstStyle/>
          <a:p>
            <a:fld id="{D1FC6F3C-F22C-4482-95EA-2F7C5C30AF96}" type="slidenum">
              <a:rPr lang="de-DE" smtClean="0"/>
              <a:t>‹Nr.›</a:t>
            </a:fld>
            <a:endParaRPr lang="de-DE"/>
          </a:p>
        </p:txBody>
      </p:sp>
    </p:spTree>
    <p:extLst>
      <p:ext uri="{BB962C8B-B14F-4D97-AF65-F5344CB8AC3E}">
        <p14:creationId xmlns:p14="http://schemas.microsoft.com/office/powerpoint/2010/main" val="3063526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A78CF3-9481-8609-505F-92E629CCE57A}"/>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AB2836AE-9D80-1913-B912-A58F750D0DC1}"/>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11561BF2-2C2C-9236-5EAE-710A75F125D4}"/>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82D37030-20B0-3A83-B90C-F16C42540EE7}"/>
              </a:ext>
            </a:extLst>
          </p:cNvPr>
          <p:cNvSpPr>
            <a:spLocks noGrp="1"/>
          </p:cNvSpPr>
          <p:nvPr>
            <p:ph type="dt" sz="half" idx="10"/>
          </p:nvPr>
        </p:nvSpPr>
        <p:spPr/>
        <p:txBody>
          <a:bodyPr/>
          <a:lstStyle/>
          <a:p>
            <a:fld id="{80F2FFF2-4751-4BE2-8586-A3C1F17AD2E3}" type="datetimeFigureOut">
              <a:rPr lang="de-DE" smtClean="0"/>
              <a:t>02.09.2026</a:t>
            </a:fld>
            <a:endParaRPr lang="de-DE"/>
          </a:p>
        </p:txBody>
      </p:sp>
      <p:sp>
        <p:nvSpPr>
          <p:cNvPr id="6" name="Fußzeilenplatzhalter 5">
            <a:extLst>
              <a:ext uri="{FF2B5EF4-FFF2-40B4-BE49-F238E27FC236}">
                <a16:creationId xmlns:a16="http://schemas.microsoft.com/office/drawing/2014/main" id="{E8C80C63-0AD1-A684-8271-B5BC7C12E065}"/>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232E9B94-C238-DBCF-F9AE-BF6D891B5A77}"/>
              </a:ext>
            </a:extLst>
          </p:cNvPr>
          <p:cNvSpPr>
            <a:spLocks noGrp="1"/>
          </p:cNvSpPr>
          <p:nvPr>
            <p:ph type="sldNum" sz="quarter" idx="12"/>
          </p:nvPr>
        </p:nvSpPr>
        <p:spPr/>
        <p:txBody>
          <a:bodyPr/>
          <a:lstStyle/>
          <a:p>
            <a:fld id="{D1FC6F3C-F22C-4482-95EA-2F7C5C30AF96}" type="slidenum">
              <a:rPr lang="de-DE" smtClean="0"/>
              <a:t>‹Nr.›</a:t>
            </a:fld>
            <a:endParaRPr lang="de-DE"/>
          </a:p>
        </p:txBody>
      </p:sp>
    </p:spTree>
    <p:extLst>
      <p:ext uri="{BB962C8B-B14F-4D97-AF65-F5344CB8AC3E}">
        <p14:creationId xmlns:p14="http://schemas.microsoft.com/office/powerpoint/2010/main" val="112935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EC427C-7FDA-3BB5-BB46-76168688F0BB}"/>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8B3E29B5-3A1B-674E-ECF9-8D2469EBB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6D54D207-D3E6-42B4-CD03-2E3769279F8D}"/>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84ABE4A4-BEEA-03B1-059F-93CB90AFB1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2E54777C-8007-9038-FDA4-F0CD7A85049D}"/>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C1A01DA2-4A97-409E-CA04-121A55585A00}"/>
              </a:ext>
            </a:extLst>
          </p:cNvPr>
          <p:cNvSpPr>
            <a:spLocks noGrp="1"/>
          </p:cNvSpPr>
          <p:nvPr>
            <p:ph type="dt" sz="half" idx="10"/>
          </p:nvPr>
        </p:nvSpPr>
        <p:spPr/>
        <p:txBody>
          <a:bodyPr/>
          <a:lstStyle/>
          <a:p>
            <a:fld id="{80F2FFF2-4751-4BE2-8586-A3C1F17AD2E3}" type="datetimeFigureOut">
              <a:rPr lang="de-DE" smtClean="0"/>
              <a:t>02.09.2026</a:t>
            </a:fld>
            <a:endParaRPr lang="de-DE"/>
          </a:p>
        </p:txBody>
      </p:sp>
      <p:sp>
        <p:nvSpPr>
          <p:cNvPr id="8" name="Fußzeilenplatzhalter 7">
            <a:extLst>
              <a:ext uri="{FF2B5EF4-FFF2-40B4-BE49-F238E27FC236}">
                <a16:creationId xmlns:a16="http://schemas.microsoft.com/office/drawing/2014/main" id="{C0F15FA3-D311-5847-DE52-A376D81F96E4}"/>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AFE5F475-33AF-F3D6-7474-572F6B248FBF}"/>
              </a:ext>
            </a:extLst>
          </p:cNvPr>
          <p:cNvSpPr>
            <a:spLocks noGrp="1"/>
          </p:cNvSpPr>
          <p:nvPr>
            <p:ph type="sldNum" sz="quarter" idx="12"/>
          </p:nvPr>
        </p:nvSpPr>
        <p:spPr/>
        <p:txBody>
          <a:bodyPr/>
          <a:lstStyle/>
          <a:p>
            <a:fld id="{D1FC6F3C-F22C-4482-95EA-2F7C5C30AF96}" type="slidenum">
              <a:rPr lang="de-DE" smtClean="0"/>
              <a:t>‹Nr.›</a:t>
            </a:fld>
            <a:endParaRPr lang="de-DE"/>
          </a:p>
        </p:txBody>
      </p:sp>
    </p:spTree>
    <p:extLst>
      <p:ext uri="{BB962C8B-B14F-4D97-AF65-F5344CB8AC3E}">
        <p14:creationId xmlns:p14="http://schemas.microsoft.com/office/powerpoint/2010/main" val="1559306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1ECE66-4042-AAB1-478A-7743F2E1F8A0}"/>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9FEB3619-9522-D258-E0BE-30991ED6C755}"/>
              </a:ext>
            </a:extLst>
          </p:cNvPr>
          <p:cNvSpPr>
            <a:spLocks noGrp="1"/>
          </p:cNvSpPr>
          <p:nvPr>
            <p:ph type="dt" sz="half" idx="10"/>
          </p:nvPr>
        </p:nvSpPr>
        <p:spPr/>
        <p:txBody>
          <a:bodyPr/>
          <a:lstStyle/>
          <a:p>
            <a:fld id="{80F2FFF2-4751-4BE2-8586-A3C1F17AD2E3}" type="datetimeFigureOut">
              <a:rPr lang="de-DE" smtClean="0"/>
              <a:t>02.09.2026</a:t>
            </a:fld>
            <a:endParaRPr lang="de-DE"/>
          </a:p>
        </p:txBody>
      </p:sp>
      <p:sp>
        <p:nvSpPr>
          <p:cNvPr id="4" name="Fußzeilenplatzhalter 3">
            <a:extLst>
              <a:ext uri="{FF2B5EF4-FFF2-40B4-BE49-F238E27FC236}">
                <a16:creationId xmlns:a16="http://schemas.microsoft.com/office/drawing/2014/main" id="{A940BF41-1E45-41FD-3871-05023FA30199}"/>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1C142665-0418-2FD7-6000-CFC723769EED}"/>
              </a:ext>
            </a:extLst>
          </p:cNvPr>
          <p:cNvSpPr>
            <a:spLocks noGrp="1"/>
          </p:cNvSpPr>
          <p:nvPr>
            <p:ph type="sldNum" sz="quarter" idx="12"/>
          </p:nvPr>
        </p:nvSpPr>
        <p:spPr/>
        <p:txBody>
          <a:bodyPr/>
          <a:lstStyle/>
          <a:p>
            <a:fld id="{D1FC6F3C-F22C-4482-95EA-2F7C5C30AF96}" type="slidenum">
              <a:rPr lang="de-DE" smtClean="0"/>
              <a:t>‹Nr.›</a:t>
            </a:fld>
            <a:endParaRPr lang="de-DE"/>
          </a:p>
        </p:txBody>
      </p:sp>
    </p:spTree>
    <p:extLst>
      <p:ext uri="{BB962C8B-B14F-4D97-AF65-F5344CB8AC3E}">
        <p14:creationId xmlns:p14="http://schemas.microsoft.com/office/powerpoint/2010/main" val="62716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16001D74-ABA7-C427-2B14-CACED4768AD2}"/>
              </a:ext>
            </a:extLst>
          </p:cNvPr>
          <p:cNvSpPr>
            <a:spLocks noGrp="1"/>
          </p:cNvSpPr>
          <p:nvPr>
            <p:ph type="dt" sz="half" idx="10"/>
          </p:nvPr>
        </p:nvSpPr>
        <p:spPr/>
        <p:txBody>
          <a:bodyPr/>
          <a:lstStyle/>
          <a:p>
            <a:fld id="{80F2FFF2-4751-4BE2-8586-A3C1F17AD2E3}" type="datetimeFigureOut">
              <a:rPr lang="de-DE" smtClean="0"/>
              <a:t>02.09.2026</a:t>
            </a:fld>
            <a:endParaRPr lang="de-DE"/>
          </a:p>
        </p:txBody>
      </p:sp>
      <p:sp>
        <p:nvSpPr>
          <p:cNvPr id="3" name="Fußzeilenplatzhalter 2">
            <a:extLst>
              <a:ext uri="{FF2B5EF4-FFF2-40B4-BE49-F238E27FC236}">
                <a16:creationId xmlns:a16="http://schemas.microsoft.com/office/drawing/2014/main" id="{1C593B5A-8D87-587C-82DF-F3C9835C9169}"/>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1122B06D-D5D4-0E47-1132-9F1CD1CA9D4C}"/>
              </a:ext>
            </a:extLst>
          </p:cNvPr>
          <p:cNvSpPr>
            <a:spLocks noGrp="1"/>
          </p:cNvSpPr>
          <p:nvPr>
            <p:ph type="sldNum" sz="quarter" idx="12"/>
          </p:nvPr>
        </p:nvSpPr>
        <p:spPr/>
        <p:txBody>
          <a:bodyPr/>
          <a:lstStyle/>
          <a:p>
            <a:fld id="{D1FC6F3C-F22C-4482-95EA-2F7C5C30AF96}" type="slidenum">
              <a:rPr lang="de-DE" smtClean="0"/>
              <a:t>‹Nr.›</a:t>
            </a:fld>
            <a:endParaRPr lang="de-DE"/>
          </a:p>
        </p:txBody>
      </p:sp>
    </p:spTree>
    <p:extLst>
      <p:ext uri="{BB962C8B-B14F-4D97-AF65-F5344CB8AC3E}">
        <p14:creationId xmlns:p14="http://schemas.microsoft.com/office/powerpoint/2010/main" val="54071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161F53-12C9-521A-1BA6-82F1FE1EB3A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14465333-878B-1916-365B-DEF925D2EED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FF9537CA-EF5B-F0B6-EED3-AB19BB0922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160ABBC-4FA1-CD93-5D40-503DB95E2D3C}"/>
              </a:ext>
            </a:extLst>
          </p:cNvPr>
          <p:cNvSpPr>
            <a:spLocks noGrp="1"/>
          </p:cNvSpPr>
          <p:nvPr>
            <p:ph type="dt" sz="half" idx="10"/>
          </p:nvPr>
        </p:nvSpPr>
        <p:spPr/>
        <p:txBody>
          <a:bodyPr/>
          <a:lstStyle/>
          <a:p>
            <a:fld id="{80F2FFF2-4751-4BE2-8586-A3C1F17AD2E3}" type="datetimeFigureOut">
              <a:rPr lang="de-DE" smtClean="0"/>
              <a:t>02.09.2026</a:t>
            </a:fld>
            <a:endParaRPr lang="de-DE"/>
          </a:p>
        </p:txBody>
      </p:sp>
      <p:sp>
        <p:nvSpPr>
          <p:cNvPr id="6" name="Fußzeilenplatzhalter 5">
            <a:extLst>
              <a:ext uri="{FF2B5EF4-FFF2-40B4-BE49-F238E27FC236}">
                <a16:creationId xmlns:a16="http://schemas.microsoft.com/office/drawing/2014/main" id="{4FB3B513-B321-DF10-F8E7-BD41D97111A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6E3CD1AA-66A3-BD2E-42C5-A3BA43CAC6FA}"/>
              </a:ext>
            </a:extLst>
          </p:cNvPr>
          <p:cNvSpPr>
            <a:spLocks noGrp="1"/>
          </p:cNvSpPr>
          <p:nvPr>
            <p:ph type="sldNum" sz="quarter" idx="12"/>
          </p:nvPr>
        </p:nvSpPr>
        <p:spPr/>
        <p:txBody>
          <a:bodyPr/>
          <a:lstStyle/>
          <a:p>
            <a:fld id="{D1FC6F3C-F22C-4482-95EA-2F7C5C30AF96}" type="slidenum">
              <a:rPr lang="de-DE" smtClean="0"/>
              <a:t>‹Nr.›</a:t>
            </a:fld>
            <a:endParaRPr lang="de-DE"/>
          </a:p>
        </p:txBody>
      </p:sp>
    </p:spTree>
    <p:extLst>
      <p:ext uri="{BB962C8B-B14F-4D97-AF65-F5344CB8AC3E}">
        <p14:creationId xmlns:p14="http://schemas.microsoft.com/office/powerpoint/2010/main" val="2500997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296F25-54AD-DD68-E96F-2F78911CC32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3FD2EDB4-1183-237C-B699-7C09AF397E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A242241C-0334-CE3C-2CB4-9F937D1B8E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AB122375-75FA-9E99-861D-38D26F412F22}"/>
              </a:ext>
            </a:extLst>
          </p:cNvPr>
          <p:cNvSpPr>
            <a:spLocks noGrp="1"/>
          </p:cNvSpPr>
          <p:nvPr>
            <p:ph type="dt" sz="half" idx="10"/>
          </p:nvPr>
        </p:nvSpPr>
        <p:spPr/>
        <p:txBody>
          <a:bodyPr/>
          <a:lstStyle/>
          <a:p>
            <a:fld id="{80F2FFF2-4751-4BE2-8586-A3C1F17AD2E3}" type="datetimeFigureOut">
              <a:rPr lang="de-DE" smtClean="0"/>
              <a:t>02.09.2026</a:t>
            </a:fld>
            <a:endParaRPr lang="de-DE"/>
          </a:p>
        </p:txBody>
      </p:sp>
      <p:sp>
        <p:nvSpPr>
          <p:cNvPr id="6" name="Fußzeilenplatzhalter 5">
            <a:extLst>
              <a:ext uri="{FF2B5EF4-FFF2-40B4-BE49-F238E27FC236}">
                <a16:creationId xmlns:a16="http://schemas.microsoft.com/office/drawing/2014/main" id="{E60126B0-9350-DD79-B1B4-592BF43FBF22}"/>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2EDB68A3-7286-9A4E-77D7-9CDBC84922DD}"/>
              </a:ext>
            </a:extLst>
          </p:cNvPr>
          <p:cNvSpPr>
            <a:spLocks noGrp="1"/>
          </p:cNvSpPr>
          <p:nvPr>
            <p:ph type="sldNum" sz="quarter" idx="12"/>
          </p:nvPr>
        </p:nvSpPr>
        <p:spPr/>
        <p:txBody>
          <a:bodyPr/>
          <a:lstStyle/>
          <a:p>
            <a:fld id="{D1FC6F3C-F22C-4482-95EA-2F7C5C30AF96}" type="slidenum">
              <a:rPr lang="de-DE" smtClean="0"/>
              <a:t>‹Nr.›</a:t>
            </a:fld>
            <a:endParaRPr lang="de-DE"/>
          </a:p>
        </p:txBody>
      </p:sp>
    </p:spTree>
    <p:extLst>
      <p:ext uri="{BB962C8B-B14F-4D97-AF65-F5344CB8AC3E}">
        <p14:creationId xmlns:p14="http://schemas.microsoft.com/office/powerpoint/2010/main" val="373854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3EFE8D-1C77-6874-9361-E674070D9A5E}"/>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AC99F264-A108-C528-46E0-AA4615C4F739}"/>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411476F-F68E-0DB2-32AD-64BC3359D609}"/>
              </a:ext>
            </a:extLst>
          </p:cNvPr>
          <p:cNvSpPr>
            <a:spLocks noGrp="1"/>
          </p:cNvSpPr>
          <p:nvPr>
            <p:ph type="dt" sz="half" idx="10"/>
          </p:nvPr>
        </p:nvSpPr>
        <p:spPr/>
        <p:txBody>
          <a:bodyPr/>
          <a:lstStyle/>
          <a:p>
            <a:fld id="{80F2FFF2-4751-4BE2-8586-A3C1F17AD2E3}" type="datetimeFigureOut">
              <a:rPr lang="de-DE" smtClean="0"/>
              <a:t>02.09.2026</a:t>
            </a:fld>
            <a:endParaRPr lang="de-DE"/>
          </a:p>
        </p:txBody>
      </p:sp>
      <p:sp>
        <p:nvSpPr>
          <p:cNvPr id="5" name="Fußzeilenplatzhalter 4">
            <a:extLst>
              <a:ext uri="{FF2B5EF4-FFF2-40B4-BE49-F238E27FC236}">
                <a16:creationId xmlns:a16="http://schemas.microsoft.com/office/drawing/2014/main" id="{F6C73DAC-636B-9993-38C1-47C664DAF474}"/>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6B7AD70-AB62-E627-D5E7-45DB8BD3F465}"/>
              </a:ext>
            </a:extLst>
          </p:cNvPr>
          <p:cNvSpPr>
            <a:spLocks noGrp="1"/>
          </p:cNvSpPr>
          <p:nvPr>
            <p:ph type="sldNum" sz="quarter" idx="12"/>
          </p:nvPr>
        </p:nvSpPr>
        <p:spPr/>
        <p:txBody>
          <a:bodyPr/>
          <a:lstStyle/>
          <a:p>
            <a:fld id="{D1FC6F3C-F22C-4482-95EA-2F7C5C30AF96}" type="slidenum">
              <a:rPr lang="de-DE" smtClean="0"/>
              <a:t>‹Nr.›</a:t>
            </a:fld>
            <a:endParaRPr lang="de-DE"/>
          </a:p>
        </p:txBody>
      </p:sp>
    </p:spTree>
    <p:extLst>
      <p:ext uri="{BB962C8B-B14F-4D97-AF65-F5344CB8AC3E}">
        <p14:creationId xmlns:p14="http://schemas.microsoft.com/office/powerpoint/2010/main" val="10139431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58E8A97E-8041-83AA-D8ED-A44F82C6CCEB}"/>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08BC28F3-9FCF-C831-E28D-D7E5FC1D3646}"/>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3E744715-9079-5ECD-425D-32D5F8A4CD3A}"/>
              </a:ext>
            </a:extLst>
          </p:cNvPr>
          <p:cNvSpPr>
            <a:spLocks noGrp="1"/>
          </p:cNvSpPr>
          <p:nvPr>
            <p:ph type="dt" sz="half" idx="10"/>
          </p:nvPr>
        </p:nvSpPr>
        <p:spPr/>
        <p:txBody>
          <a:bodyPr/>
          <a:lstStyle/>
          <a:p>
            <a:fld id="{80F2FFF2-4751-4BE2-8586-A3C1F17AD2E3}" type="datetimeFigureOut">
              <a:rPr lang="de-DE" smtClean="0"/>
              <a:t>02.09.2026</a:t>
            </a:fld>
            <a:endParaRPr lang="de-DE"/>
          </a:p>
        </p:txBody>
      </p:sp>
      <p:sp>
        <p:nvSpPr>
          <p:cNvPr id="5" name="Fußzeilenplatzhalter 4">
            <a:extLst>
              <a:ext uri="{FF2B5EF4-FFF2-40B4-BE49-F238E27FC236}">
                <a16:creationId xmlns:a16="http://schemas.microsoft.com/office/drawing/2014/main" id="{EE387098-9658-09BD-920C-EA4F00B63E87}"/>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B93612A-0B61-60CA-C091-B24E6ACBAF4E}"/>
              </a:ext>
            </a:extLst>
          </p:cNvPr>
          <p:cNvSpPr>
            <a:spLocks noGrp="1"/>
          </p:cNvSpPr>
          <p:nvPr>
            <p:ph type="sldNum" sz="quarter" idx="12"/>
          </p:nvPr>
        </p:nvSpPr>
        <p:spPr/>
        <p:txBody>
          <a:bodyPr/>
          <a:lstStyle/>
          <a:p>
            <a:fld id="{D1FC6F3C-F22C-4482-95EA-2F7C5C30AF96}" type="slidenum">
              <a:rPr lang="de-DE" smtClean="0"/>
              <a:t>‹Nr.›</a:t>
            </a:fld>
            <a:endParaRPr lang="de-DE"/>
          </a:p>
        </p:txBody>
      </p:sp>
    </p:spTree>
    <p:extLst>
      <p:ext uri="{BB962C8B-B14F-4D97-AF65-F5344CB8AC3E}">
        <p14:creationId xmlns:p14="http://schemas.microsoft.com/office/powerpoint/2010/main" val="37733318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Headline only">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1190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59" imgH="360" progId="TCLayout.ActiveDocument.1">
                  <p:embed/>
                </p:oleObj>
              </mc:Choice>
              <mc:Fallback>
                <p:oleObj name="think-cell Slide" r:id="rId3" imgW="359" imgH="360" progId="TCLayout.ActiveDocument.1">
                  <p:embed/>
                  <p:pic>
                    <p:nvPicPr>
                      <p:cNvPr id="4" name="Object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Title 1">
            <a:extLst>
              <a:ext uri="{FF2B5EF4-FFF2-40B4-BE49-F238E27FC236}">
                <a16:creationId xmlns:a16="http://schemas.microsoft.com/office/drawing/2014/main" id="{C3A4B30F-CB54-4958-AA03-FA9D00951BB3}"/>
              </a:ext>
            </a:extLst>
          </p:cNvPr>
          <p:cNvSpPr>
            <a:spLocks noGrp="1"/>
          </p:cNvSpPr>
          <p:nvPr>
            <p:ph type="title"/>
          </p:nvPr>
        </p:nvSpPr>
        <p:spPr>
          <a:xfrm>
            <a:off x="251999" y="125973"/>
            <a:ext cx="11688001" cy="900000"/>
          </a:xfrm>
          <a:prstGeom prst="rect">
            <a:avLst/>
          </a:prstGeom>
        </p:spPr>
        <p:txBody>
          <a:bodyPr lIns="0" tIns="0" rIns="0" bIns="0">
            <a:noAutofit/>
          </a:bodyPr>
          <a:lstStyle>
            <a:lvl1pPr>
              <a:defRPr sz="3200" b="1">
                <a:latin typeface="+mj-lt"/>
              </a:defRPr>
            </a:lvl1pPr>
          </a:lstStyle>
          <a:p>
            <a:r>
              <a:rPr lang="de-DE"/>
              <a:t>Mastertitelformat bearbeiten</a:t>
            </a:r>
            <a:endParaRPr lang="en-US" dirty="0"/>
          </a:p>
        </p:txBody>
      </p:sp>
      <p:sp>
        <p:nvSpPr>
          <p:cNvPr id="14" name="Textfeld 14">
            <a:extLst>
              <a:ext uri="{FF2B5EF4-FFF2-40B4-BE49-F238E27FC236}">
                <a16:creationId xmlns:a16="http://schemas.microsoft.com/office/drawing/2014/main" id="{6D943558-3506-4F85-B733-47581F5662C7}"/>
              </a:ext>
            </a:extLst>
          </p:cNvPr>
          <p:cNvSpPr txBox="1"/>
          <p:nvPr userDrawn="1"/>
        </p:nvSpPr>
        <p:spPr>
          <a:xfrm>
            <a:off x="251322" y="6540673"/>
            <a:ext cx="351746" cy="304627"/>
          </a:xfrm>
          <a:prstGeom prst="rect">
            <a:avLst/>
          </a:prstGeom>
          <a:noFill/>
        </p:spPr>
        <p:txBody>
          <a:bodyPr wrap="none" lIns="0" tIns="0" rIns="0" bIns="0" rtlCol="0">
            <a:noAutofit/>
          </a:bodyPr>
          <a:lstStyle/>
          <a:p>
            <a:fld id="{2606D6E4-7A48-4190-B649-F3AD422062DD}" type="slidenum">
              <a:rPr lang="de-DE" sz="1000" smtClean="0">
                <a:solidFill>
                  <a:schemeClr val="accent1"/>
                </a:solidFill>
                <a:latin typeface="+mj-lt"/>
              </a:rPr>
              <a:t>‹Nr.›</a:t>
            </a:fld>
            <a:endParaRPr lang="de-DE" sz="1000" dirty="0">
              <a:solidFill>
                <a:schemeClr val="accent1"/>
              </a:solidFill>
              <a:latin typeface="+mj-lt"/>
            </a:endParaRPr>
          </a:p>
        </p:txBody>
      </p:sp>
      <p:pic>
        <p:nvPicPr>
          <p:cNvPr id="3" name="Grafik 2">
            <a:extLst>
              <a:ext uri="{FF2B5EF4-FFF2-40B4-BE49-F238E27FC236}">
                <a16:creationId xmlns:a16="http://schemas.microsoft.com/office/drawing/2014/main" id="{6E015888-9A5F-8494-A23E-1A1099C77F81}"/>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11095268" y="151916"/>
            <a:ext cx="886095" cy="303548"/>
          </a:xfrm>
          <a:prstGeom prst="rect">
            <a:avLst/>
          </a:prstGeom>
        </p:spPr>
      </p:pic>
    </p:spTree>
    <p:extLst>
      <p:ext uri="{BB962C8B-B14F-4D97-AF65-F5344CB8AC3E}">
        <p14:creationId xmlns:p14="http://schemas.microsoft.com/office/powerpoint/2010/main" val="3217660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D483D92F-8E03-DD8D-4A26-4F35ACCB3C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861FB00B-C8FB-B05A-4EF3-2DB713A064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0356722-BA6D-B686-1E99-0B267CFC04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F2FFF2-4751-4BE2-8586-A3C1F17AD2E3}" type="datetimeFigureOut">
              <a:rPr lang="de-DE" smtClean="0"/>
              <a:t>02.09.2026</a:t>
            </a:fld>
            <a:endParaRPr lang="de-DE"/>
          </a:p>
        </p:txBody>
      </p:sp>
      <p:sp>
        <p:nvSpPr>
          <p:cNvPr id="5" name="Fußzeilenplatzhalter 4">
            <a:extLst>
              <a:ext uri="{FF2B5EF4-FFF2-40B4-BE49-F238E27FC236}">
                <a16:creationId xmlns:a16="http://schemas.microsoft.com/office/drawing/2014/main" id="{8F434873-EE2E-A889-17D5-2B0BF01773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14687FE3-0AC7-EDED-B407-CA8A37A089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FC6F3C-F22C-4482-95EA-2F7C5C30AF96}" type="slidenum">
              <a:rPr lang="de-DE" smtClean="0"/>
              <a:t>‹Nr.›</a:t>
            </a:fld>
            <a:endParaRPr lang="de-DE"/>
          </a:p>
        </p:txBody>
      </p:sp>
      <p:grpSp>
        <p:nvGrpSpPr>
          <p:cNvPr id="900" name="Deko"/>
          <p:cNvGrpSpPr/>
          <p:nvPr/>
        </p:nvGrpSpPr>
        <p:grpSpPr>
          <a:xfrm>
            <a:off x="0" y="6781800"/>
            <a:ext cx="12192000" cy="76200"/>
            <a:chOff x="0" y="6781800"/>
            <a:chExt cx="12192000" cy="76200"/>
          </a:xfrm>
        </p:grpSpPr>
        <p:sp>
          <p:nvSpPr>
            <p:cNvPr id="901" name="Linie hell"/>
            <p:cNvSpPr/>
            <p:nvPr/>
          </p:nvSpPr>
          <p:spPr>
            <a:xfrm>
              <a:off x="0" y="6781800"/>
              <a:ext cx="12192000" cy="76200"/>
            </a:xfrm>
            <a:prstGeom prst="rect">
              <a:avLst/>
            </a:prstGeom>
            <a:solidFill>
              <a:srgbClr val="DEE8F2"/>
            </a:solidFill>
            <a:ln>
              <a:noFill/>
            </a:ln>
          </p:spPr>
          <p:txBody>
            <a:bodyPr/>
            <a:lstStyle/>
            <a:p>
              <a:endParaRPr lang="de-DE"/>
            </a:p>
          </p:txBody>
        </p:sp>
        <p:sp>
          <p:nvSpPr>
            <p:cNvPr id="902" name="Akzentblock"/>
            <p:cNvSpPr/>
            <p:nvPr/>
          </p:nvSpPr>
          <p:spPr>
            <a:xfrm>
              <a:off x="0" y="6781800"/>
              <a:ext cx="2286000" cy="76200"/>
            </a:xfrm>
            <a:prstGeom prst="rect">
              <a:avLst/>
            </a:prstGeom>
            <a:solidFill>
              <a:srgbClr val="548ECB"/>
            </a:solidFill>
            <a:ln>
              <a:noFill/>
            </a:ln>
          </p:spPr>
          <p:txBody>
            <a:bodyPr/>
            <a:lstStyle/>
            <a:p>
              <a:endParaRPr lang="de-DE"/>
            </a:p>
          </p:txBody>
        </p:sp>
      </p:grpSp>
    </p:spTree>
    <p:extLst>
      <p:ext uri="{BB962C8B-B14F-4D97-AF65-F5344CB8AC3E}">
        <p14:creationId xmlns:p14="http://schemas.microsoft.com/office/powerpoint/2010/main" val="79997758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rgbClr val="002C58"/>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1212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1212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1212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1212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1212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21212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21212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21212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21212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AE7F47-1F75-3764-67EF-81856DFDBD17}"/>
              </a:ext>
            </a:extLst>
          </p:cNvPr>
          <p:cNvSpPr>
            <a:spLocks noGrp="1"/>
          </p:cNvSpPr>
          <p:nvPr>
            <p:ph type="ctrTitle"/>
          </p:nvPr>
        </p:nvSpPr>
        <p:spPr>
          <a:xfrm>
            <a:off x="1524000" y="2413000"/>
            <a:ext cx="9144000" cy="1524000"/>
          </a:xfrm>
        </p:spPr>
        <p:txBody>
          <a:bodyPr anchor="ctr" anchorCtr="0">
            <a:normAutofit/>
          </a:bodyPr>
          <a:lstStyle/>
          <a:p>
            <a:r>
              <a:rPr lang="de-DE" sz="4000" b="1" dirty="0"/>
              <a:t>Modellierung betrieblicher Informationssysteme</a:t>
            </a:r>
          </a:p>
        </p:txBody>
      </p:sp>
      <p:sp>
        <p:nvSpPr>
          <p:cNvPr id="3" name="Untertitel 2">
            <a:extLst>
              <a:ext uri="{FF2B5EF4-FFF2-40B4-BE49-F238E27FC236}">
                <a16:creationId xmlns:a16="http://schemas.microsoft.com/office/drawing/2014/main" id="{3FFBD7B1-BBBD-921C-9C8F-46352BE8894A}"/>
              </a:ext>
            </a:extLst>
          </p:cNvPr>
          <p:cNvSpPr>
            <a:spLocks noGrp="1"/>
          </p:cNvSpPr>
          <p:nvPr>
            <p:ph type="subTitle" idx="1"/>
          </p:nvPr>
        </p:nvSpPr>
        <p:spPr>
          <a:xfrm>
            <a:off x="1524000" y="4000500"/>
            <a:ext cx="9144000" cy="1905000"/>
          </a:xfrm>
        </p:spPr>
        <p:txBody>
          <a:bodyPr anchor="t" anchorCtr="0">
            <a:normAutofit/>
          </a:bodyPr>
          <a:lstStyle/>
          <a:p>
            <a:pPr algn="ctr">
              <a:spcAft>
                <a:spcPts val="600"/>
              </a:spcAft>
              <a:buNone/>
            </a:pPr>
            <a:r>
              <a:rPr lang="de-DE" sz="1800" b="1" dirty="0">
                <a:solidFill>
                  <a:srgbClr val="002C58"/>
                </a:solidFill>
              </a:rPr>
              <a:t>UML-Klassendiagramm — Vertiefungsübung</a:t>
            </a:r>
          </a:p>
          <a:p>
            <a:pPr algn="ctr">
              <a:spcAft>
                <a:spcPts val="200"/>
              </a:spcAft>
              <a:buNone/>
            </a:pPr>
            <a:r>
              <a:rPr lang="de-DE" sz="1400" dirty="0">
                <a:solidFill>
                  <a:srgbClr val="212121"/>
                </a:solidFill>
              </a:rPr>
              <a:t>Modul: Modellierung betrieblicher Informationssysteme</a:t>
            </a:r>
          </a:p>
          <a:p>
            <a:pPr algn="ctr">
              <a:spcAft>
                <a:spcPts val="200"/>
              </a:spcAft>
              <a:buNone/>
            </a:pPr>
            <a:r>
              <a:rPr lang="de-DE" sz="1400" dirty="0">
                <a:solidFill>
                  <a:srgbClr val="212121"/>
                </a:solidFill>
              </a:rPr>
              <a:t>Kurs: BI-2   ·   Datum: 02.09.2026</a:t>
            </a:r>
          </a:p>
          <a:p>
            <a:pPr algn="ctr">
              <a:spcAft>
                <a:spcPts val="200"/>
              </a:spcAft>
              <a:buNone/>
            </a:pPr>
            <a:r>
              <a:rPr lang="de-DE" sz="1400" dirty="0">
                <a:solidFill>
                  <a:srgbClr val="212121"/>
                </a:solidFill>
              </a:rPr>
              <a:t>Von: Felix Heinsius, Timo Menzel</a:t>
            </a:r>
          </a:p>
          <a:p>
            <a:pPr algn="ctr">
              <a:buNone/>
            </a:pPr>
            <a:r>
              <a:rPr lang="de-DE" sz="1400" dirty="0">
                <a:solidFill>
                  <a:srgbClr val="212121"/>
                </a:solidFill>
              </a:rPr>
              <a:t>Dozent: Prof. Dr. Kamyar Sarshar</a:t>
            </a:r>
          </a:p>
        </p:txBody>
      </p:sp>
      <p:pic>
        <p:nvPicPr>
          <p:cNvPr id="4" name="Grafik 3">
            <a:extLst>
              <a:ext uri="{FF2B5EF4-FFF2-40B4-BE49-F238E27FC236}">
                <a16:creationId xmlns:a16="http://schemas.microsoft.com/office/drawing/2014/main" id="{A0641B20-85BB-E81E-9F34-529FF7D9B567}"/>
              </a:ext>
            </a:extLst>
          </p:cNvPr>
          <p:cNvPicPr>
            <a:picLocks noChangeAspect="1"/>
          </p:cNvPicPr>
          <p:nvPr/>
        </p:nvPicPr>
        <p:blipFill>
          <a:blip r:embed="rId2"/>
          <a:stretch>
            <a:fillRect/>
          </a:stretch>
        </p:blipFill>
        <p:spPr>
          <a:xfrm>
            <a:off x="4445000" y="838200"/>
            <a:ext cx="3302000" cy="1136713"/>
          </a:xfrm>
          <a:prstGeom prst="rect">
            <a:avLst/>
          </a:prstGeom>
        </p:spPr>
      </p:pic>
    </p:spTree>
    <p:extLst>
      <p:ext uri="{BB962C8B-B14F-4D97-AF65-F5344CB8AC3E}">
        <p14:creationId xmlns:p14="http://schemas.microsoft.com/office/powerpoint/2010/main" val="3861753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DC8E53-2E98-F8A2-BEDC-33742CF8DFCE}"/>
              </a:ext>
            </a:extLst>
          </p:cNvPr>
          <p:cNvSpPr>
            <a:spLocks noGrp="1"/>
          </p:cNvSpPr>
          <p:nvPr>
            <p:ph type="title"/>
          </p:nvPr>
        </p:nvSpPr>
        <p:spPr/>
        <p:txBody>
          <a:bodyPr/>
          <a:lstStyle/>
          <a:p>
            <a:r>
              <a:rPr lang="de-DE" dirty="0" err="1">
                <a:latin typeface="+mn-lt"/>
              </a:rPr>
              <a:t>Sprachkonstrukte</a:t>
            </a:r>
            <a:r>
              <a:rPr lang="de-DE" dirty="0">
                <a:latin typeface="+mn-lt"/>
              </a:rPr>
              <a:t> (Überblick)</a:t>
            </a:r>
          </a:p>
        </p:txBody>
      </p:sp>
      <p:grpSp>
        <p:nvGrpSpPr>
          <p:cNvPr id="76" name="Gruppieren 75">
            <a:extLst>
              <a:ext uri="{FF2B5EF4-FFF2-40B4-BE49-F238E27FC236}">
                <a16:creationId xmlns:a16="http://schemas.microsoft.com/office/drawing/2014/main" id="{8BAB5CC8-B8B2-9A2B-A132-58462F52FA4C}"/>
              </a:ext>
            </a:extLst>
          </p:cNvPr>
          <p:cNvGrpSpPr/>
          <p:nvPr/>
        </p:nvGrpSpPr>
        <p:grpSpPr>
          <a:xfrm>
            <a:off x="5318357" y="3033181"/>
            <a:ext cx="2076452" cy="541852"/>
            <a:chOff x="6332904" y="3945177"/>
            <a:chExt cx="2076452" cy="541852"/>
          </a:xfrm>
        </p:grpSpPr>
        <p:sp>
          <p:nvSpPr>
            <p:cNvPr id="14" name="Textfeld 13">
              <a:extLst>
                <a:ext uri="{FF2B5EF4-FFF2-40B4-BE49-F238E27FC236}">
                  <a16:creationId xmlns:a16="http://schemas.microsoft.com/office/drawing/2014/main" id="{E99C1E28-192F-470E-8FE0-06132E34D18F}"/>
                </a:ext>
              </a:extLst>
            </p:cNvPr>
            <p:cNvSpPr txBox="1"/>
            <p:nvPr/>
          </p:nvSpPr>
          <p:spPr>
            <a:xfrm>
              <a:off x="6332904" y="4117697"/>
              <a:ext cx="1772457" cy="369332"/>
            </a:xfrm>
            <a:prstGeom prst="rect">
              <a:avLst/>
            </a:prstGeom>
            <a:noFill/>
          </p:spPr>
          <p:txBody>
            <a:bodyPr wrap="square">
              <a:spAutoFit/>
            </a:bodyPr>
            <a:lstStyle/>
            <a:p>
              <a:pPr marL="0" marR="0" indent="0" algn="l">
                <a:buNone/>
              </a:pPr>
              <a:r>
                <a:rPr lang="de-DE" b="1" i="0" dirty="0">
                  <a:solidFill>
                    <a:srgbClr val="101418"/>
                  </a:solidFill>
                  <a:effectLst/>
                </a:rPr>
                <a:t>Vererbung</a:t>
              </a:r>
            </a:p>
          </p:txBody>
        </p:sp>
        <p:cxnSp>
          <p:nvCxnSpPr>
            <p:cNvPr id="16" name="Gerader Verbinder 15">
              <a:extLst>
                <a:ext uri="{FF2B5EF4-FFF2-40B4-BE49-F238E27FC236}">
                  <a16:creationId xmlns:a16="http://schemas.microsoft.com/office/drawing/2014/main" id="{B445D965-D907-2B89-B45F-F0CFDB69ACD0}"/>
                </a:ext>
              </a:extLst>
            </p:cNvPr>
            <p:cNvCxnSpPr/>
            <p:nvPr/>
          </p:nvCxnSpPr>
          <p:spPr>
            <a:xfrm>
              <a:off x="6428155" y="4117697"/>
              <a:ext cx="1677206"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7" name="Gleichschenkliges Dreieck 16">
              <a:extLst>
                <a:ext uri="{FF2B5EF4-FFF2-40B4-BE49-F238E27FC236}">
                  <a16:creationId xmlns:a16="http://schemas.microsoft.com/office/drawing/2014/main" id="{A7A4BABD-6671-43DA-664E-A58B0363623A}"/>
                </a:ext>
              </a:extLst>
            </p:cNvPr>
            <p:cNvSpPr/>
            <p:nvPr/>
          </p:nvSpPr>
          <p:spPr>
            <a:xfrm rot="5400000">
              <a:off x="8085909" y="3964630"/>
              <a:ext cx="342900" cy="303994"/>
            </a:xfrm>
            <a:prstGeom prst="triangle">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79" name="Gruppieren 78">
            <a:extLst>
              <a:ext uri="{FF2B5EF4-FFF2-40B4-BE49-F238E27FC236}">
                <a16:creationId xmlns:a16="http://schemas.microsoft.com/office/drawing/2014/main" id="{383DE7C1-4BAE-EC25-4CC4-F8BB3386014B}"/>
              </a:ext>
            </a:extLst>
          </p:cNvPr>
          <p:cNvGrpSpPr/>
          <p:nvPr/>
        </p:nvGrpSpPr>
        <p:grpSpPr>
          <a:xfrm>
            <a:off x="5357678" y="4994707"/>
            <a:ext cx="1996294" cy="596863"/>
            <a:chOff x="6372225" y="5135705"/>
            <a:chExt cx="1996294" cy="596863"/>
          </a:xfrm>
        </p:grpSpPr>
        <p:sp>
          <p:nvSpPr>
            <p:cNvPr id="26" name="Textfeld 25">
              <a:extLst>
                <a:ext uri="{FF2B5EF4-FFF2-40B4-BE49-F238E27FC236}">
                  <a16:creationId xmlns:a16="http://schemas.microsoft.com/office/drawing/2014/main" id="{77BFA57D-C21A-3CED-1769-69D1A30F98A7}"/>
                </a:ext>
              </a:extLst>
            </p:cNvPr>
            <p:cNvSpPr txBox="1"/>
            <p:nvPr/>
          </p:nvSpPr>
          <p:spPr>
            <a:xfrm>
              <a:off x="6372225" y="5135705"/>
              <a:ext cx="1733137" cy="369332"/>
            </a:xfrm>
            <a:prstGeom prst="rect">
              <a:avLst/>
            </a:prstGeom>
            <a:noFill/>
          </p:spPr>
          <p:txBody>
            <a:bodyPr wrap="square">
              <a:spAutoFit/>
            </a:bodyPr>
            <a:lstStyle/>
            <a:p>
              <a:pPr marL="0" marR="0" indent="0" algn="l">
                <a:buNone/>
              </a:pPr>
              <a:r>
                <a:rPr lang="de-DE" b="1" i="0" dirty="0">
                  <a:solidFill>
                    <a:srgbClr val="101418"/>
                  </a:solidFill>
                  <a:effectLst/>
                </a:rPr>
                <a:t>Komposition </a:t>
              </a:r>
            </a:p>
          </p:txBody>
        </p:sp>
        <p:cxnSp>
          <p:nvCxnSpPr>
            <p:cNvPr id="30" name="Gerader Verbinder 29">
              <a:extLst>
                <a:ext uri="{FF2B5EF4-FFF2-40B4-BE49-F238E27FC236}">
                  <a16:creationId xmlns:a16="http://schemas.microsoft.com/office/drawing/2014/main" id="{F87E8AF6-B720-8D99-A92B-B1A60E69FC26}"/>
                </a:ext>
              </a:extLst>
            </p:cNvPr>
            <p:cNvCxnSpPr/>
            <p:nvPr/>
          </p:nvCxnSpPr>
          <p:spPr>
            <a:xfrm>
              <a:off x="6467476" y="5578989"/>
              <a:ext cx="1677206"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4" name="Raute 33">
              <a:extLst>
                <a:ext uri="{FF2B5EF4-FFF2-40B4-BE49-F238E27FC236}">
                  <a16:creationId xmlns:a16="http://schemas.microsoft.com/office/drawing/2014/main" id="{B0E4D4A7-99F0-A16B-47C0-FDD41B20B007}"/>
                </a:ext>
              </a:extLst>
            </p:cNvPr>
            <p:cNvSpPr/>
            <p:nvPr/>
          </p:nvSpPr>
          <p:spPr>
            <a:xfrm>
              <a:off x="7920844" y="5437188"/>
              <a:ext cx="447675" cy="295380"/>
            </a:xfrm>
            <a:prstGeom prst="diamond">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77" name="Gruppieren 76">
            <a:extLst>
              <a:ext uri="{FF2B5EF4-FFF2-40B4-BE49-F238E27FC236}">
                <a16:creationId xmlns:a16="http://schemas.microsoft.com/office/drawing/2014/main" id="{3B26BD4F-D553-C2AE-293C-75EE43471B40}"/>
              </a:ext>
            </a:extLst>
          </p:cNvPr>
          <p:cNvGrpSpPr/>
          <p:nvPr/>
        </p:nvGrpSpPr>
        <p:grpSpPr>
          <a:xfrm>
            <a:off x="5357678" y="4023415"/>
            <a:ext cx="1996294" cy="522911"/>
            <a:chOff x="6372225" y="4627113"/>
            <a:chExt cx="1996294" cy="522911"/>
          </a:xfrm>
        </p:grpSpPr>
        <p:sp>
          <p:nvSpPr>
            <p:cNvPr id="39" name="Textfeld 38">
              <a:extLst>
                <a:ext uri="{FF2B5EF4-FFF2-40B4-BE49-F238E27FC236}">
                  <a16:creationId xmlns:a16="http://schemas.microsoft.com/office/drawing/2014/main" id="{279530F2-DBE3-37D9-037E-3C4DCA377CAE}"/>
                </a:ext>
              </a:extLst>
            </p:cNvPr>
            <p:cNvSpPr txBox="1"/>
            <p:nvPr/>
          </p:nvSpPr>
          <p:spPr>
            <a:xfrm>
              <a:off x="6372225" y="4627113"/>
              <a:ext cx="1733137" cy="369332"/>
            </a:xfrm>
            <a:prstGeom prst="rect">
              <a:avLst/>
            </a:prstGeom>
            <a:noFill/>
          </p:spPr>
          <p:txBody>
            <a:bodyPr wrap="square">
              <a:spAutoFit/>
            </a:bodyPr>
            <a:lstStyle/>
            <a:p>
              <a:pPr marL="0" marR="0" indent="0" algn="l">
                <a:buNone/>
              </a:pPr>
              <a:r>
                <a:rPr lang="de-DE" b="1" i="0" dirty="0">
                  <a:solidFill>
                    <a:srgbClr val="101418"/>
                  </a:solidFill>
                  <a:effectLst/>
                </a:rPr>
                <a:t>Aggregation </a:t>
              </a:r>
            </a:p>
          </p:txBody>
        </p:sp>
        <p:cxnSp>
          <p:nvCxnSpPr>
            <p:cNvPr id="40" name="Gerader Verbinder 39">
              <a:extLst>
                <a:ext uri="{FF2B5EF4-FFF2-40B4-BE49-F238E27FC236}">
                  <a16:creationId xmlns:a16="http://schemas.microsoft.com/office/drawing/2014/main" id="{D6BCFB52-5EBE-FA3E-A272-2BBC1F96CB78}"/>
                </a:ext>
              </a:extLst>
            </p:cNvPr>
            <p:cNvCxnSpPr/>
            <p:nvPr/>
          </p:nvCxnSpPr>
          <p:spPr>
            <a:xfrm>
              <a:off x="6467476" y="4996445"/>
              <a:ext cx="1677206"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1" name="Raute 40">
              <a:extLst>
                <a:ext uri="{FF2B5EF4-FFF2-40B4-BE49-F238E27FC236}">
                  <a16:creationId xmlns:a16="http://schemas.microsoft.com/office/drawing/2014/main" id="{19396D5F-81EF-35B6-F053-2A4396C464C8}"/>
                </a:ext>
              </a:extLst>
            </p:cNvPr>
            <p:cNvSpPr/>
            <p:nvPr/>
          </p:nvSpPr>
          <p:spPr>
            <a:xfrm>
              <a:off x="7920844" y="4854644"/>
              <a:ext cx="447675" cy="295380"/>
            </a:xfrm>
            <a:prstGeom prst="diamond">
              <a:avLst/>
            </a:prstGeom>
            <a:solidFill>
              <a:schemeClr val="bg1"/>
            </a:solidFill>
            <a:ln w="28575">
              <a:solidFill>
                <a:srgbClr val="2540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grpSp>
        <p:nvGrpSpPr>
          <p:cNvPr id="75" name="Gruppieren 74">
            <a:extLst>
              <a:ext uri="{FF2B5EF4-FFF2-40B4-BE49-F238E27FC236}">
                <a16:creationId xmlns:a16="http://schemas.microsoft.com/office/drawing/2014/main" id="{4B27F03F-C59D-02B2-9559-2EFED57A437E}"/>
              </a:ext>
            </a:extLst>
          </p:cNvPr>
          <p:cNvGrpSpPr/>
          <p:nvPr/>
        </p:nvGrpSpPr>
        <p:grpSpPr>
          <a:xfrm>
            <a:off x="5318356" y="2330153"/>
            <a:ext cx="1772457" cy="411179"/>
            <a:chOff x="6372225" y="3435592"/>
            <a:chExt cx="1772457" cy="411179"/>
          </a:xfrm>
        </p:grpSpPr>
        <p:cxnSp>
          <p:nvCxnSpPr>
            <p:cNvPr id="42" name="Gerader Verbinder 41">
              <a:extLst>
                <a:ext uri="{FF2B5EF4-FFF2-40B4-BE49-F238E27FC236}">
                  <a16:creationId xmlns:a16="http://schemas.microsoft.com/office/drawing/2014/main" id="{9B318A5C-27E7-A6B8-ECD5-63E71DEC0976}"/>
                </a:ext>
              </a:extLst>
            </p:cNvPr>
            <p:cNvCxnSpPr/>
            <p:nvPr/>
          </p:nvCxnSpPr>
          <p:spPr>
            <a:xfrm>
              <a:off x="6467476" y="3435592"/>
              <a:ext cx="1677206" cy="0"/>
            </a:xfrm>
            <a:prstGeom prst="line">
              <a:avLst/>
            </a:prstGeom>
            <a:ln w="34925">
              <a:headEnd type="none" w="med" len="med"/>
              <a:tailEnd type="none" w="lg" len="lg"/>
            </a:ln>
          </p:spPr>
          <p:style>
            <a:lnRef idx="1">
              <a:schemeClr val="accent1"/>
            </a:lnRef>
            <a:fillRef idx="0">
              <a:schemeClr val="accent1"/>
            </a:fillRef>
            <a:effectRef idx="0">
              <a:schemeClr val="accent1"/>
            </a:effectRef>
            <a:fontRef idx="minor">
              <a:schemeClr val="tx1"/>
            </a:fontRef>
          </p:style>
        </p:cxnSp>
        <p:sp>
          <p:nvSpPr>
            <p:cNvPr id="45" name="Textfeld 44">
              <a:extLst>
                <a:ext uri="{FF2B5EF4-FFF2-40B4-BE49-F238E27FC236}">
                  <a16:creationId xmlns:a16="http://schemas.microsoft.com/office/drawing/2014/main" id="{95C9CAE0-8C33-3DE5-FE05-755F60B56566}"/>
                </a:ext>
              </a:extLst>
            </p:cNvPr>
            <p:cNvSpPr txBox="1"/>
            <p:nvPr/>
          </p:nvSpPr>
          <p:spPr>
            <a:xfrm>
              <a:off x="6372225" y="3477439"/>
              <a:ext cx="1548619" cy="369332"/>
            </a:xfrm>
            <a:prstGeom prst="rect">
              <a:avLst/>
            </a:prstGeom>
            <a:noFill/>
          </p:spPr>
          <p:txBody>
            <a:bodyPr wrap="square">
              <a:spAutoFit/>
            </a:bodyPr>
            <a:lstStyle/>
            <a:p>
              <a:pPr marL="0" marR="0" indent="0" algn="l">
                <a:buNone/>
              </a:pPr>
              <a:r>
                <a:rPr lang="de-DE" b="1" i="0" dirty="0">
                  <a:solidFill>
                    <a:srgbClr val="012656"/>
                  </a:solidFill>
                  <a:effectLst/>
                </a:rPr>
                <a:t>Assoziation</a:t>
              </a:r>
              <a:r>
                <a:rPr lang="de-DE" b="1" i="0" dirty="0">
                  <a:solidFill>
                    <a:srgbClr val="101418"/>
                  </a:solidFill>
                  <a:effectLst/>
                </a:rPr>
                <a:t> </a:t>
              </a:r>
            </a:p>
          </p:txBody>
        </p:sp>
      </p:grpSp>
      <p:sp>
        <p:nvSpPr>
          <p:cNvPr id="70" name="Rechteck 69">
            <a:extLst>
              <a:ext uri="{FF2B5EF4-FFF2-40B4-BE49-F238E27FC236}">
                <a16:creationId xmlns:a16="http://schemas.microsoft.com/office/drawing/2014/main" id="{ECF8C7BE-1F2E-1628-DE6F-1F8279C3CE56}"/>
              </a:ext>
            </a:extLst>
          </p:cNvPr>
          <p:cNvSpPr/>
          <p:nvPr/>
        </p:nvSpPr>
        <p:spPr>
          <a:xfrm>
            <a:off x="944186" y="2372000"/>
            <a:ext cx="3389376" cy="623142"/>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sz="2400" b="1" dirty="0">
                <a:solidFill>
                  <a:srgbClr val="254061"/>
                </a:solidFill>
              </a:rPr>
              <a:t>Klassenname</a:t>
            </a:r>
            <a:endParaRPr lang="de-DE" sz="2800" b="1" dirty="0">
              <a:solidFill>
                <a:srgbClr val="254061"/>
              </a:solidFill>
            </a:endParaRPr>
          </a:p>
        </p:txBody>
      </p:sp>
      <p:sp>
        <p:nvSpPr>
          <p:cNvPr id="71" name="Rechteck 70">
            <a:extLst>
              <a:ext uri="{FF2B5EF4-FFF2-40B4-BE49-F238E27FC236}">
                <a16:creationId xmlns:a16="http://schemas.microsoft.com/office/drawing/2014/main" id="{9E336E86-B2B8-03FD-7DF3-D92ED8C8B57F}"/>
              </a:ext>
            </a:extLst>
          </p:cNvPr>
          <p:cNvSpPr/>
          <p:nvPr/>
        </p:nvSpPr>
        <p:spPr>
          <a:xfrm>
            <a:off x="944186" y="2986096"/>
            <a:ext cx="3389376" cy="1680465"/>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b="1" dirty="0">
                <a:solidFill>
                  <a:srgbClr val="254061"/>
                </a:solidFill>
              </a:rPr>
              <a:t>Attribut1</a:t>
            </a:r>
          </a:p>
          <a:p>
            <a:r>
              <a:rPr lang="de-DE" b="1" dirty="0">
                <a:solidFill>
                  <a:srgbClr val="254061"/>
                </a:solidFill>
              </a:rPr>
              <a:t>Attribut2</a:t>
            </a:r>
          </a:p>
          <a:p>
            <a:r>
              <a:rPr lang="de-DE" b="1" dirty="0">
                <a:solidFill>
                  <a:srgbClr val="254061"/>
                </a:solidFill>
              </a:rPr>
              <a:t>Attribut3</a:t>
            </a:r>
          </a:p>
        </p:txBody>
      </p:sp>
      <p:sp>
        <p:nvSpPr>
          <p:cNvPr id="73" name="Rechteck 72">
            <a:extLst>
              <a:ext uri="{FF2B5EF4-FFF2-40B4-BE49-F238E27FC236}">
                <a16:creationId xmlns:a16="http://schemas.microsoft.com/office/drawing/2014/main" id="{83644123-839D-D606-3357-A62FCA9AD40A}"/>
              </a:ext>
            </a:extLst>
          </p:cNvPr>
          <p:cNvSpPr/>
          <p:nvPr/>
        </p:nvSpPr>
        <p:spPr>
          <a:xfrm>
            <a:off x="944186" y="4640921"/>
            <a:ext cx="3389376" cy="1076903"/>
          </a:xfrm>
          <a:prstGeom prst="rect">
            <a:avLst/>
          </a:prstGeom>
          <a:solidFill>
            <a:schemeClr val="bg1">
              <a:lumMod val="95000"/>
            </a:schemeClr>
          </a:solidFill>
          <a:ln w="38100">
            <a:solidFill>
              <a:srgbClr val="01265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de-DE" b="1" dirty="0">
                <a:solidFill>
                  <a:srgbClr val="254061"/>
                </a:solidFill>
              </a:rPr>
              <a:t>Methode1</a:t>
            </a:r>
          </a:p>
          <a:p>
            <a:r>
              <a:rPr lang="de-DE" b="1" dirty="0">
                <a:solidFill>
                  <a:srgbClr val="254061"/>
                </a:solidFill>
              </a:rPr>
              <a:t>Methode2</a:t>
            </a:r>
          </a:p>
          <a:p>
            <a:r>
              <a:rPr lang="de-DE" b="1" dirty="0">
                <a:solidFill>
                  <a:srgbClr val="254061"/>
                </a:solidFill>
              </a:rPr>
              <a:t>Methode3</a:t>
            </a:r>
          </a:p>
        </p:txBody>
      </p:sp>
      <p:sp>
        <p:nvSpPr>
          <p:cNvPr id="74" name="Textfeld 73">
            <a:extLst>
              <a:ext uri="{FF2B5EF4-FFF2-40B4-BE49-F238E27FC236}">
                <a16:creationId xmlns:a16="http://schemas.microsoft.com/office/drawing/2014/main" id="{C8D928A9-1A31-04D9-E1D9-9A331C91207D}"/>
              </a:ext>
            </a:extLst>
          </p:cNvPr>
          <p:cNvSpPr txBox="1"/>
          <p:nvPr/>
        </p:nvSpPr>
        <p:spPr>
          <a:xfrm>
            <a:off x="1236794" y="1616356"/>
            <a:ext cx="2735966" cy="461665"/>
          </a:xfrm>
          <a:prstGeom prst="rect">
            <a:avLst/>
          </a:prstGeom>
          <a:noFill/>
        </p:spPr>
        <p:txBody>
          <a:bodyPr wrap="square">
            <a:spAutoFit/>
          </a:bodyPr>
          <a:lstStyle/>
          <a:p>
            <a:pPr marL="0" marR="0" indent="0" algn="l">
              <a:buNone/>
            </a:pPr>
            <a:r>
              <a:rPr lang="de-DE" sz="2400" b="1" dirty="0">
                <a:solidFill>
                  <a:srgbClr val="012656"/>
                </a:solidFill>
              </a:rPr>
              <a:t>Klassendiagramm</a:t>
            </a:r>
            <a:r>
              <a:rPr lang="de-DE" sz="2400" b="1" i="0" dirty="0">
                <a:solidFill>
                  <a:srgbClr val="FFC000"/>
                </a:solidFill>
                <a:effectLst/>
              </a:rPr>
              <a:t> </a:t>
            </a:r>
          </a:p>
        </p:txBody>
      </p:sp>
      <p:sp>
        <p:nvSpPr>
          <p:cNvPr id="80" name="Textfeld 79">
            <a:extLst>
              <a:ext uri="{FF2B5EF4-FFF2-40B4-BE49-F238E27FC236}">
                <a16:creationId xmlns:a16="http://schemas.microsoft.com/office/drawing/2014/main" id="{60EB4FE1-B9D9-5FAE-7444-D45F48FE8AFA}"/>
              </a:ext>
            </a:extLst>
          </p:cNvPr>
          <p:cNvSpPr txBox="1"/>
          <p:nvPr/>
        </p:nvSpPr>
        <p:spPr>
          <a:xfrm>
            <a:off x="5318356" y="1330354"/>
            <a:ext cx="2535936" cy="830997"/>
          </a:xfrm>
          <a:prstGeom prst="rect">
            <a:avLst/>
          </a:prstGeom>
          <a:noFill/>
        </p:spPr>
        <p:txBody>
          <a:bodyPr wrap="square">
            <a:spAutoFit/>
          </a:bodyPr>
          <a:lstStyle/>
          <a:p>
            <a:pPr marL="0" marR="0" indent="0" algn="l">
              <a:buNone/>
            </a:pPr>
            <a:r>
              <a:rPr lang="de-DE" sz="2400" b="1" dirty="0">
                <a:solidFill>
                  <a:srgbClr val="012656"/>
                </a:solidFill>
              </a:rPr>
              <a:t>Beziehungen zwischen Klassen</a:t>
            </a:r>
            <a:r>
              <a:rPr lang="de-DE" sz="2400" b="1" i="0" dirty="0">
                <a:solidFill>
                  <a:srgbClr val="012656"/>
                </a:solidFill>
                <a:effectLst/>
              </a:rPr>
              <a:t> </a:t>
            </a:r>
          </a:p>
        </p:txBody>
      </p:sp>
      <p:sp>
        <p:nvSpPr>
          <p:cNvPr id="82" name="Geschweifte Klammer rechts 81">
            <a:extLst>
              <a:ext uri="{FF2B5EF4-FFF2-40B4-BE49-F238E27FC236}">
                <a16:creationId xmlns:a16="http://schemas.microsoft.com/office/drawing/2014/main" id="{7FA6995B-C203-79CC-DC71-05710F1152DB}"/>
              </a:ext>
            </a:extLst>
          </p:cNvPr>
          <p:cNvSpPr/>
          <p:nvPr/>
        </p:nvSpPr>
        <p:spPr>
          <a:xfrm>
            <a:off x="2216187" y="4812867"/>
            <a:ext cx="219456" cy="778703"/>
          </a:xfrm>
          <a:prstGeom prst="rightBrace">
            <a:avLst>
              <a:gd name="adj1" fmla="val 43056"/>
              <a:gd name="adj2" fmla="val 4943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83" name="Textfeld 82">
            <a:extLst>
              <a:ext uri="{FF2B5EF4-FFF2-40B4-BE49-F238E27FC236}">
                <a16:creationId xmlns:a16="http://schemas.microsoft.com/office/drawing/2014/main" id="{688F9072-359B-8DD1-A306-1F43CBA8A67B}"/>
              </a:ext>
            </a:extLst>
          </p:cNvPr>
          <p:cNvSpPr txBox="1"/>
          <p:nvPr/>
        </p:nvSpPr>
        <p:spPr>
          <a:xfrm>
            <a:off x="2455994" y="5002163"/>
            <a:ext cx="1877568" cy="400110"/>
          </a:xfrm>
          <a:prstGeom prst="rect">
            <a:avLst/>
          </a:prstGeom>
          <a:noFill/>
        </p:spPr>
        <p:txBody>
          <a:bodyPr wrap="square">
            <a:spAutoFit/>
          </a:bodyPr>
          <a:lstStyle/>
          <a:p>
            <a:pPr marL="0" marR="0" indent="0" algn="l">
              <a:buNone/>
            </a:pPr>
            <a:r>
              <a:rPr lang="de-DE" sz="2000" b="1" dirty="0">
                <a:solidFill>
                  <a:srgbClr val="012656"/>
                </a:solidFill>
              </a:rPr>
              <a:t>Operationen</a:t>
            </a:r>
            <a:r>
              <a:rPr lang="de-DE" sz="2000" b="1" i="0" dirty="0">
                <a:solidFill>
                  <a:srgbClr val="FFC000"/>
                </a:solidFill>
                <a:effectLst/>
              </a:rPr>
              <a:t> </a:t>
            </a:r>
          </a:p>
        </p:txBody>
      </p:sp>
      <p:sp>
        <p:nvSpPr>
          <p:cNvPr id="84" name="Textfeld 83">
            <a:extLst>
              <a:ext uri="{FF2B5EF4-FFF2-40B4-BE49-F238E27FC236}">
                <a16:creationId xmlns:a16="http://schemas.microsoft.com/office/drawing/2014/main" id="{8CEB6422-5B10-1EAF-7C50-7FDD39A4A604}"/>
              </a:ext>
            </a:extLst>
          </p:cNvPr>
          <p:cNvSpPr txBox="1"/>
          <p:nvPr/>
        </p:nvSpPr>
        <p:spPr>
          <a:xfrm>
            <a:off x="2455994" y="3675423"/>
            <a:ext cx="1877568" cy="400110"/>
          </a:xfrm>
          <a:prstGeom prst="rect">
            <a:avLst/>
          </a:prstGeom>
          <a:noFill/>
        </p:spPr>
        <p:txBody>
          <a:bodyPr wrap="square">
            <a:spAutoFit/>
          </a:bodyPr>
          <a:lstStyle/>
          <a:p>
            <a:pPr marL="0" marR="0" indent="0" algn="l">
              <a:buNone/>
            </a:pPr>
            <a:r>
              <a:rPr lang="de-DE" sz="2000" b="1" dirty="0">
                <a:solidFill>
                  <a:srgbClr val="012656"/>
                </a:solidFill>
              </a:rPr>
              <a:t>Eigenschaften</a:t>
            </a:r>
            <a:r>
              <a:rPr lang="de-DE" sz="2000" b="1" i="0" dirty="0">
                <a:solidFill>
                  <a:srgbClr val="FFC000"/>
                </a:solidFill>
                <a:effectLst/>
              </a:rPr>
              <a:t> </a:t>
            </a:r>
          </a:p>
        </p:txBody>
      </p:sp>
      <p:sp>
        <p:nvSpPr>
          <p:cNvPr id="85" name="Geschweifte Klammer rechts 84">
            <a:extLst>
              <a:ext uri="{FF2B5EF4-FFF2-40B4-BE49-F238E27FC236}">
                <a16:creationId xmlns:a16="http://schemas.microsoft.com/office/drawing/2014/main" id="{3776DB06-5E7A-0F7F-1F87-43C928098D7C}"/>
              </a:ext>
            </a:extLst>
          </p:cNvPr>
          <p:cNvSpPr/>
          <p:nvPr/>
        </p:nvSpPr>
        <p:spPr>
          <a:xfrm>
            <a:off x="2216187" y="3472243"/>
            <a:ext cx="219456" cy="778703"/>
          </a:xfrm>
          <a:prstGeom prst="rightBrace">
            <a:avLst>
              <a:gd name="adj1" fmla="val 43056"/>
              <a:gd name="adj2" fmla="val 4943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87" name="Textfeld 86">
            <a:extLst>
              <a:ext uri="{FF2B5EF4-FFF2-40B4-BE49-F238E27FC236}">
                <a16:creationId xmlns:a16="http://schemas.microsoft.com/office/drawing/2014/main" id="{CD100EBD-1001-A121-8F25-E0B20930711B}"/>
              </a:ext>
            </a:extLst>
          </p:cNvPr>
          <p:cNvSpPr txBox="1"/>
          <p:nvPr/>
        </p:nvSpPr>
        <p:spPr>
          <a:xfrm>
            <a:off x="8602212" y="3204631"/>
            <a:ext cx="2840488" cy="1077218"/>
          </a:xfrm>
          <a:prstGeom prst="rect">
            <a:avLst/>
          </a:prstGeom>
          <a:noFill/>
        </p:spPr>
        <p:txBody>
          <a:bodyPr wrap="square">
            <a:spAutoFit/>
          </a:bodyPr>
          <a:lstStyle/>
          <a:p>
            <a:pPr lvl="0"/>
            <a:r>
              <a:rPr lang="de-DE" sz="1600" b="1" dirty="0">
                <a:latin typeface="Courier New" panose="02070309020205020404" pitchFamily="49" charset="0"/>
              </a:rPr>
              <a:t>1</a:t>
            </a:r>
            <a:r>
              <a:rPr lang="de-DE" sz="1600" b="1" dirty="0"/>
              <a:t> = genau eins </a:t>
            </a:r>
          </a:p>
          <a:p>
            <a:pPr lvl="0"/>
            <a:r>
              <a:rPr lang="de-DE" sz="1600" b="1" dirty="0">
                <a:latin typeface="Courier New" panose="02070309020205020404" pitchFamily="49" charset="0"/>
              </a:rPr>
              <a:t>0..1</a:t>
            </a:r>
            <a:r>
              <a:rPr lang="de-DE" sz="1600" b="1" dirty="0"/>
              <a:t> = null oder eins </a:t>
            </a:r>
          </a:p>
          <a:p>
            <a:pPr lvl="0"/>
            <a:r>
              <a:rPr lang="de-DE" sz="1600" b="1" dirty="0">
                <a:latin typeface="Courier New" panose="02070309020205020404" pitchFamily="49" charset="0"/>
              </a:rPr>
              <a:t>*</a:t>
            </a:r>
            <a:r>
              <a:rPr lang="de-DE" sz="1600" b="1" dirty="0"/>
              <a:t> bzw. </a:t>
            </a:r>
            <a:r>
              <a:rPr lang="de-DE" sz="1600" b="1" dirty="0">
                <a:latin typeface="Courier New" panose="02070309020205020404" pitchFamily="49" charset="0"/>
              </a:rPr>
              <a:t>0..*</a:t>
            </a:r>
            <a:r>
              <a:rPr lang="de-DE" sz="1600" b="1" dirty="0"/>
              <a:t> = beliebig viele </a:t>
            </a:r>
          </a:p>
          <a:p>
            <a:pPr lvl="0"/>
            <a:r>
              <a:rPr lang="de-DE" sz="1600" b="1" dirty="0">
                <a:latin typeface="Courier New" panose="02070309020205020404" pitchFamily="49" charset="0"/>
              </a:rPr>
              <a:t>1..*</a:t>
            </a:r>
            <a:r>
              <a:rPr lang="de-DE" sz="1600" b="1" dirty="0"/>
              <a:t> = mindestens eins</a:t>
            </a:r>
          </a:p>
        </p:txBody>
      </p:sp>
      <p:sp>
        <p:nvSpPr>
          <p:cNvPr id="88" name="Textfeld 87">
            <a:extLst>
              <a:ext uri="{FF2B5EF4-FFF2-40B4-BE49-F238E27FC236}">
                <a16:creationId xmlns:a16="http://schemas.microsoft.com/office/drawing/2014/main" id="{7266F249-954A-97D3-60F0-CCF4783A59CF}"/>
              </a:ext>
            </a:extLst>
          </p:cNvPr>
          <p:cNvSpPr txBox="1"/>
          <p:nvPr/>
        </p:nvSpPr>
        <p:spPr>
          <a:xfrm>
            <a:off x="8256245" y="2755263"/>
            <a:ext cx="2735966" cy="461665"/>
          </a:xfrm>
          <a:prstGeom prst="rect">
            <a:avLst/>
          </a:prstGeom>
          <a:noFill/>
        </p:spPr>
        <p:txBody>
          <a:bodyPr wrap="square">
            <a:spAutoFit/>
          </a:bodyPr>
          <a:lstStyle/>
          <a:p>
            <a:pPr marL="0" marR="0" indent="0" algn="l">
              <a:buNone/>
            </a:pPr>
            <a:r>
              <a:rPr lang="de-DE" sz="2400" b="1" dirty="0">
                <a:solidFill>
                  <a:srgbClr val="012656"/>
                </a:solidFill>
              </a:rPr>
              <a:t>Kardinalität</a:t>
            </a:r>
            <a:r>
              <a:rPr lang="de-DE" sz="2400" b="1" i="0" dirty="0">
                <a:solidFill>
                  <a:srgbClr val="FFC000"/>
                </a:solidFill>
                <a:effectLst/>
              </a:rPr>
              <a:t> </a:t>
            </a:r>
          </a:p>
        </p:txBody>
      </p:sp>
      <p:sp>
        <p:nvSpPr>
          <p:cNvPr id="5" name="Fusszeile">
            <a:extLst>
              <a:ext uri="{FF2B5EF4-FFF2-40B4-BE49-F238E27FC236}">
                <a16:creationId xmlns:a16="http://schemas.microsoft.com/office/drawing/2014/main" id="{AFBAF9B5-2E1F-4AB6-A4BE-78B87F74ED19}"/>
              </a:ext>
            </a:extLst>
          </p:cNvPr>
          <p:cNvSpPr txBox="1"/>
          <p:nvPr/>
        </p:nvSpPr>
        <p:spPr>
          <a:xfrm>
            <a:off x="838200" y="6324600"/>
            <a:ext cx="10515600" cy="304800"/>
          </a:xfrm>
          <a:prstGeom prst="rect">
            <a:avLst/>
          </a:prstGeom>
          <a:noFill/>
        </p:spPr>
        <p:txBody>
          <a:bodyPr vertOverflow="overflow" vert="horz" wrap="square" rtlCol="0" anchor="ctr" anchorCtr="0">
            <a:noAutofit/>
          </a:bodyPr>
          <a:lstStyle/>
          <a:p>
            <a:pPr algn="l"/>
            <a:r>
              <a:rPr lang="de-DE" sz="1400">
                <a:solidFill>
                  <a:srgbClr val="55677A"/>
                </a:solidFill>
              </a:rPr>
              <a:t>Folie aus der Vorlesung von Prof. Dr. Kamyar Sarshar</a:t>
            </a:r>
          </a:p>
        </p:txBody>
      </p:sp>
    </p:spTree>
    <p:extLst>
      <p:ext uri="{BB962C8B-B14F-4D97-AF65-F5344CB8AC3E}">
        <p14:creationId xmlns:p14="http://schemas.microsoft.com/office/powerpoint/2010/main" val="2083900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04E489-FB76-943F-096F-AF57E79C16F2}"/>
              </a:ext>
            </a:extLst>
          </p:cNvPr>
          <p:cNvSpPr>
            <a:spLocks noGrp="1"/>
          </p:cNvSpPr>
          <p:nvPr>
            <p:ph type="title"/>
          </p:nvPr>
        </p:nvSpPr>
        <p:spPr>
          <a:xfrm>
            <a:off x="838200" y="381000"/>
            <a:ext cx="10515600" cy="787400"/>
          </a:xfrm>
        </p:spPr>
        <p:txBody>
          <a:bodyPr lIns="0" tIns="0" rIns="0" bIns="0" anchor="b">
            <a:normAutofit/>
          </a:bodyPr>
          <a:lstStyle/>
          <a:p>
            <a:r>
              <a:rPr lang="de-DE" sz="3200" b="1" dirty="0">
                <a:solidFill>
                  <a:srgbClr val="002C58"/>
                </a:solidFill>
              </a:rPr>
              <a:t>Aufgabe 1: Szenario Hochschulverwaltung</a:t>
            </a:r>
          </a:p>
        </p:txBody>
      </p:sp>
      <p:sp>
        <p:nvSpPr>
          <p:cNvPr id="3" name="Inhaltsplatzhalter 2">
            <a:extLst>
              <a:ext uri="{FF2B5EF4-FFF2-40B4-BE49-F238E27FC236}">
                <a16:creationId xmlns:a16="http://schemas.microsoft.com/office/drawing/2014/main" id="{F326E8F4-EAD6-9806-93FA-CEBB4286E02F}"/>
              </a:ext>
            </a:extLst>
          </p:cNvPr>
          <p:cNvSpPr>
            <a:spLocks noGrp="1"/>
          </p:cNvSpPr>
          <p:nvPr>
            <p:ph idx="1"/>
          </p:nvPr>
        </p:nvSpPr>
        <p:spPr>
          <a:xfrm>
            <a:off x="838200" y="1346200"/>
            <a:ext cx="10515600" cy="4902200"/>
          </a:xfrm>
        </p:spPr>
        <p:txBody>
          <a:bodyPr lIns="0" tIns="0" rIns="0" bIns="0" numCol="2" spcCol="342900" anchor="t">
            <a:normAutofit/>
          </a:bodyPr>
          <a:lstStyle/>
          <a:p>
            <a:pPr marL="200025" indent="-200025" algn="l">
              <a:lnSpc>
                <a:spcPct val="104000"/>
              </a:lnSpc>
              <a:spcBef>
                <a:spcPts val="0"/>
              </a:spcBef>
              <a:spcAft>
                <a:spcPts val="1000"/>
              </a:spcAft>
              <a:buClr>
                <a:srgbClr val="548ECB"/>
              </a:buClr>
              <a:buSzPct val="90000"/>
              <a:buFont typeface="Arial"/>
              <a:buChar char="▪"/>
            </a:pPr>
            <a:r>
              <a:rPr lang="de-DE" sz="1400" dirty="0">
                <a:solidFill>
                  <a:srgbClr val="212121"/>
                </a:solidFill>
              </a:rPr>
              <a:t>Eine Hochschule verwaltet ihre Studiengänge, Module und Prüfungen in einem Softwaresystem. Zu einem Studiengang werden Kürzel, Bezeichnung und Regelstudienzeit gespeichert; Module können aufgenommen und der Studienplan gedruckt werden. Ein Modul ist Teil eines Studiengangs und bleibt bestehen, wenn ein Studiengang eingestellt wird.</a:t>
            </a:r>
          </a:p>
          <a:p>
            <a:pPr marL="200025" indent="-200025" algn="l">
              <a:lnSpc>
                <a:spcPct val="104000"/>
              </a:lnSpc>
              <a:spcBef>
                <a:spcPts val="0"/>
              </a:spcBef>
              <a:spcAft>
                <a:spcPts val="1000"/>
              </a:spcAft>
              <a:buClr>
                <a:srgbClr val="548ECB"/>
              </a:buClr>
              <a:buSzPct val="90000"/>
              <a:buFont typeface="Arial"/>
              <a:buChar char="▪"/>
            </a:pPr>
            <a:r>
              <a:rPr lang="de-DE" sz="1400" dirty="0">
                <a:solidFill>
                  <a:srgbClr val="212121"/>
                </a:solidFill>
              </a:rPr>
              <a:t>Zu einem Modul werden Modulnummer, Titel und Credits gespeichert, außerdem kann ein Prüfungstermin angesetzt werden. Zu jedem Modul gehört ein Prüfungstermin, der ohne das Modul nicht existiert. Ein Modul wird von mindestens einem Dozenten gelehrt, ein Dozent lehrt beliebig viele Module. Zu einem Dozenten werden Personalnummer und Name gespeichert, er kann Noten eintragen.</a:t>
            </a:r>
          </a:p>
          <a:p>
            <a:pPr marL="200025" indent="-200025" algn="l">
              <a:lnSpc>
                <a:spcPct val="104000"/>
              </a:lnSpc>
              <a:spcBef>
                <a:spcPts val="0"/>
              </a:spcBef>
              <a:spcAft>
                <a:spcPts val="1000"/>
              </a:spcAft>
              <a:buClr>
                <a:srgbClr val="548ECB"/>
              </a:buClr>
              <a:buSzPct val="90000"/>
              <a:buFont typeface="Arial"/>
              <a:buChar char="▪"/>
            </a:pPr>
            <a:r>
              <a:rPr lang="de-DE" sz="1400" dirty="0">
                <a:solidFill>
                  <a:srgbClr val="212121"/>
                </a:solidFill>
              </a:rPr>
              <a:t>Ein Prüfungstermin besitzt Prüfungsnummer, Datum und Raum; die Anmeldung kann geöffnet und der Termin abgesagt werden. Jeder Termin wird von einem Dozenten beaufsichtigt, ein Dozent beaufsichtigt beliebig viele Termine. Unterschieden werden: Klausuren mit Bearbeitungsdauer, Aufsicht einteilen; mündliche Prüfungen mit Dauer und Beisitzer, Protokoll anlegen; Präsentationen mit Vortragsdauer, Technik prüfen.</a:t>
            </a:r>
          </a:p>
          <a:p>
            <a:pPr marL="200025" indent="-200025" algn="l">
              <a:lnSpc>
                <a:spcPct val="104000"/>
              </a:lnSpc>
              <a:spcBef>
                <a:spcPts val="0"/>
              </a:spcBef>
              <a:spcAft>
                <a:spcPts val="1000"/>
              </a:spcAft>
              <a:buClr>
                <a:srgbClr val="548ECB"/>
              </a:buClr>
              <a:buSzPct val="90000"/>
              <a:buFont typeface="Arial"/>
              <a:buChar char="▪"/>
            </a:pPr>
            <a:r>
              <a:rPr lang="de-DE" sz="1400" dirty="0">
                <a:solidFill>
                  <a:srgbClr val="212121"/>
                </a:solidFill>
              </a:rPr>
              <a:t>Zu einem Studenten werden Matrikelnummer, Name und E-Mail gespeichert, er kann sich zu einer Prüfung anmelden und seinen Notenspiegel abrufen. Jeder Student ist in genau einem Studiengang eingeschrieben, ein Studiengang führt beliebig viele Studierende.</a:t>
            </a:r>
          </a:p>
          <a:p>
            <a:pPr marL="200025" indent="-200025" algn="l">
              <a:lnSpc>
                <a:spcPct val="104000"/>
              </a:lnSpc>
              <a:spcBef>
                <a:spcPts val="0"/>
              </a:spcBef>
              <a:spcAft>
                <a:spcPts val="1000"/>
              </a:spcAft>
              <a:buClr>
                <a:srgbClr val="548ECB"/>
              </a:buClr>
              <a:buSzPct val="90000"/>
              <a:buFont typeface="Arial"/>
              <a:buChar char="▪"/>
            </a:pPr>
            <a:r>
              <a:rPr lang="de-DE" sz="1400" dirty="0">
                <a:solidFill>
                  <a:srgbClr val="212121"/>
                </a:solidFill>
              </a:rPr>
              <a:t>Tritt ein Student zu einem Prüfungstermin an, entsteht ein Prüfungsversuch mit Versuchsnummer, Datum und Note; er kann als bestanden verbucht werden, und es kann von ihm zurückgetreten werden. Ein Prüfungsversuch gehört zu einem Studenten und existiert ohne ihn nicht. Jeder Versuch bezieht sich auf genau einen Prüfungstermin. Ein Termin wird von beliebig vielen Versuchen genutzt.</a:t>
            </a:r>
          </a:p>
        </p:txBody>
      </p:sp>
    </p:spTree>
    <p:extLst>
      <p:ext uri="{BB962C8B-B14F-4D97-AF65-F5344CB8AC3E}">
        <p14:creationId xmlns:p14="http://schemas.microsoft.com/office/powerpoint/2010/main" val="2126563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7EA9D2-7939-F0E2-42E5-3C5F5471D139}"/>
              </a:ext>
            </a:extLst>
          </p:cNvPr>
          <p:cNvSpPr>
            <a:spLocks noGrp="1"/>
          </p:cNvSpPr>
          <p:nvPr>
            <p:ph type="title"/>
          </p:nvPr>
        </p:nvSpPr>
        <p:spPr>
          <a:xfrm>
            <a:off x="838200" y="381000"/>
            <a:ext cx="10515600" cy="787400"/>
          </a:xfrm>
        </p:spPr>
        <p:txBody>
          <a:bodyPr anchor="b" anchorCtr="0">
            <a:normAutofit/>
          </a:bodyPr>
          <a:lstStyle/>
          <a:p>
            <a:r>
              <a:rPr lang="de-DE" sz="3200" b="1" dirty="0"/>
              <a:t>Aufgabe 1: Finden Sie die sechs Fehler</a:t>
            </a:r>
          </a:p>
        </p:txBody>
      </p:sp>
      <p:pic>
        <p:nvPicPr>
          <p:cNvPr id="4" name="Grafik 3">
            <a:extLst>
              <a:ext uri="{FF2B5EF4-FFF2-40B4-BE49-F238E27FC236}">
                <a16:creationId xmlns:a16="http://schemas.microsoft.com/office/drawing/2014/main" id="{8A5CB7DE-7A27-2D11-1705-3CB15F528578}"/>
              </a:ext>
            </a:extLst>
          </p:cNvPr>
          <p:cNvPicPr>
            <a:picLocks noChangeAspect="1"/>
          </p:cNvPicPr>
          <p:nvPr/>
        </p:nvPicPr>
        <p:blipFill>
          <a:blip r:embed="rId2"/>
          <a:stretch>
            <a:fillRect/>
          </a:stretch>
        </p:blipFill>
        <p:spPr>
          <a:xfrm>
            <a:off x="3384349" y="1219200"/>
            <a:ext cx="5423301" cy="5435600"/>
          </a:xfrm>
          <a:prstGeom prst="rect">
            <a:avLst/>
          </a:prstGeom>
        </p:spPr>
      </p:pic>
    </p:spTree>
    <p:extLst>
      <p:ext uri="{BB962C8B-B14F-4D97-AF65-F5344CB8AC3E}">
        <p14:creationId xmlns:p14="http://schemas.microsoft.com/office/powerpoint/2010/main" val="2306306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A6D96F11-1B9E-4CEE-FDF1-53422EFD84A4}"/>
              </a:ext>
            </a:extLst>
          </p:cNvPr>
          <p:cNvPicPr>
            <a:picLocks noChangeAspect="1"/>
          </p:cNvPicPr>
          <p:nvPr/>
        </p:nvPicPr>
        <p:blipFill>
          <a:blip r:embed="rId2"/>
          <a:stretch>
            <a:fillRect/>
          </a:stretch>
        </p:blipFill>
        <p:spPr>
          <a:xfrm>
            <a:off x="5207000" y="1193800"/>
            <a:ext cx="5308600" cy="5320638"/>
          </a:xfrm>
          <a:prstGeom prst="rect">
            <a:avLst/>
          </a:prstGeom>
        </p:spPr>
      </p:pic>
      <p:sp>
        <p:nvSpPr>
          <p:cNvPr id="2" name="Titel 1">
            <a:extLst>
              <a:ext uri="{FF2B5EF4-FFF2-40B4-BE49-F238E27FC236}">
                <a16:creationId xmlns:a16="http://schemas.microsoft.com/office/drawing/2014/main" id="{DB54B54C-BBFC-676B-DD86-9687FC0EA924}"/>
              </a:ext>
            </a:extLst>
          </p:cNvPr>
          <p:cNvSpPr>
            <a:spLocks noGrp="1"/>
          </p:cNvSpPr>
          <p:nvPr>
            <p:ph type="title"/>
          </p:nvPr>
        </p:nvSpPr>
        <p:spPr>
          <a:xfrm>
            <a:off x="838200" y="381000"/>
            <a:ext cx="10515600" cy="787400"/>
          </a:xfrm>
        </p:spPr>
        <p:txBody>
          <a:bodyPr anchor="b" anchorCtr="0">
            <a:normAutofit/>
          </a:bodyPr>
          <a:lstStyle/>
          <a:p>
            <a:r>
              <a:rPr lang="de-DE" sz="3200" b="1" dirty="0"/>
              <a:t>Musterlösung Aufgabe 1</a:t>
            </a:r>
          </a:p>
        </p:txBody>
      </p:sp>
      <p:sp>
        <p:nvSpPr>
          <p:cNvPr id="6" name="FehlerMarker1">
            <a:extLst>
              <a:ext uri="{FF2B5EF4-FFF2-40B4-BE49-F238E27FC236}">
                <a16:creationId xmlns:a16="http://schemas.microsoft.com/office/drawing/2014/main" id="{ABCE5BF1-8ACC-4A6E-9E54-F51F7B23C8C5}"/>
              </a:ext>
            </a:extLst>
          </p:cNvPr>
          <p:cNvSpPr/>
          <p:nvPr/>
        </p:nvSpPr>
        <p:spPr>
          <a:xfrm>
            <a:off x="6753021" y="2231324"/>
            <a:ext cx="254000" cy="254000"/>
          </a:xfrm>
          <a:prstGeom prst="ellipse">
            <a:avLst/>
          </a:prstGeom>
          <a:solidFill>
            <a:srgbClr val="548EC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de-DE" sz="1400" b="1" dirty="0">
                <a:solidFill>
                  <a:srgbClr val="FFFFFF"/>
                </a:solidFill>
              </a:rPr>
              <a:t>1</a:t>
            </a:r>
          </a:p>
        </p:txBody>
      </p:sp>
      <p:sp>
        <p:nvSpPr>
          <p:cNvPr id="7" name="FehlerMarker2">
            <a:extLst>
              <a:ext uri="{FF2B5EF4-FFF2-40B4-BE49-F238E27FC236}">
                <a16:creationId xmlns:a16="http://schemas.microsoft.com/office/drawing/2014/main" id="{ABBDA167-84C4-4829-B76B-3DA8B26A3E54}"/>
              </a:ext>
            </a:extLst>
          </p:cNvPr>
          <p:cNvSpPr/>
          <p:nvPr/>
        </p:nvSpPr>
        <p:spPr>
          <a:xfrm>
            <a:off x="6753021" y="3617698"/>
            <a:ext cx="254000" cy="254000"/>
          </a:xfrm>
          <a:prstGeom prst="ellipse">
            <a:avLst/>
          </a:prstGeom>
          <a:solidFill>
            <a:srgbClr val="548EC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de-DE" sz="1400" b="1">
                <a:solidFill>
                  <a:srgbClr val="FFFFFF"/>
                </a:solidFill>
              </a:rPr>
              <a:t>2</a:t>
            </a:r>
          </a:p>
        </p:txBody>
      </p:sp>
      <p:sp>
        <p:nvSpPr>
          <p:cNvPr id="8" name="FehlerMarker3">
            <a:extLst>
              <a:ext uri="{FF2B5EF4-FFF2-40B4-BE49-F238E27FC236}">
                <a16:creationId xmlns:a16="http://schemas.microsoft.com/office/drawing/2014/main" id="{A70016B1-0990-4B03-8D42-D70D7CEE6FA1}"/>
              </a:ext>
            </a:extLst>
          </p:cNvPr>
          <p:cNvSpPr/>
          <p:nvPr/>
        </p:nvSpPr>
        <p:spPr>
          <a:xfrm>
            <a:off x="7644119" y="3064578"/>
            <a:ext cx="254000" cy="254000"/>
          </a:xfrm>
          <a:prstGeom prst="ellipse">
            <a:avLst/>
          </a:prstGeom>
          <a:solidFill>
            <a:srgbClr val="548EC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de-DE" sz="1400" b="1">
                <a:solidFill>
                  <a:srgbClr val="FFFFFF"/>
                </a:solidFill>
              </a:rPr>
              <a:t>3</a:t>
            </a:r>
          </a:p>
        </p:txBody>
      </p:sp>
      <p:sp>
        <p:nvSpPr>
          <p:cNvPr id="9" name="FehlerMarker4">
            <a:extLst>
              <a:ext uri="{FF2B5EF4-FFF2-40B4-BE49-F238E27FC236}">
                <a16:creationId xmlns:a16="http://schemas.microsoft.com/office/drawing/2014/main" id="{4F75E06F-27B7-48C4-A25F-4BA83BD9712E}"/>
              </a:ext>
            </a:extLst>
          </p:cNvPr>
          <p:cNvSpPr/>
          <p:nvPr/>
        </p:nvSpPr>
        <p:spPr>
          <a:xfrm>
            <a:off x="6702221" y="5149215"/>
            <a:ext cx="254000" cy="254000"/>
          </a:xfrm>
          <a:prstGeom prst="ellipse">
            <a:avLst/>
          </a:prstGeom>
          <a:solidFill>
            <a:srgbClr val="548EC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de-DE" sz="1400" b="1" dirty="0">
                <a:solidFill>
                  <a:srgbClr val="FFFFFF"/>
                </a:solidFill>
              </a:rPr>
              <a:t>4</a:t>
            </a:r>
          </a:p>
        </p:txBody>
      </p:sp>
      <p:sp>
        <p:nvSpPr>
          <p:cNvPr id="10" name="FehlerMarker5">
            <a:extLst>
              <a:ext uri="{FF2B5EF4-FFF2-40B4-BE49-F238E27FC236}">
                <a16:creationId xmlns:a16="http://schemas.microsoft.com/office/drawing/2014/main" id="{A4289460-45D6-488C-BA7F-C5BF1B908378}"/>
              </a:ext>
            </a:extLst>
          </p:cNvPr>
          <p:cNvSpPr/>
          <p:nvPr/>
        </p:nvSpPr>
        <p:spPr>
          <a:xfrm>
            <a:off x="8859723" y="2487410"/>
            <a:ext cx="254000" cy="254000"/>
          </a:xfrm>
          <a:prstGeom prst="ellipse">
            <a:avLst/>
          </a:prstGeom>
          <a:solidFill>
            <a:srgbClr val="548EC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de-DE" sz="1400" b="1" dirty="0">
                <a:solidFill>
                  <a:srgbClr val="FFFFFF"/>
                </a:solidFill>
              </a:rPr>
              <a:t>5</a:t>
            </a:r>
          </a:p>
        </p:txBody>
      </p:sp>
      <p:sp>
        <p:nvSpPr>
          <p:cNvPr id="11" name="FehlerMarker6">
            <a:extLst>
              <a:ext uri="{FF2B5EF4-FFF2-40B4-BE49-F238E27FC236}">
                <a16:creationId xmlns:a16="http://schemas.microsoft.com/office/drawing/2014/main" id="{FC7DAAFE-2E5B-47A1-BAB8-CBFCCE6ABAD3}"/>
              </a:ext>
            </a:extLst>
          </p:cNvPr>
          <p:cNvSpPr/>
          <p:nvPr/>
        </p:nvSpPr>
        <p:spPr>
          <a:xfrm>
            <a:off x="7696733" y="4726008"/>
            <a:ext cx="254000" cy="254000"/>
          </a:xfrm>
          <a:prstGeom prst="ellipse">
            <a:avLst/>
          </a:prstGeom>
          <a:solidFill>
            <a:srgbClr val="548ECB"/>
          </a:solidFill>
          <a:ln w="12700" cap="flat" cmpd="sng" algn="ctr">
            <a:solidFill>
              <a:srgbClr val="FFFFFF"/>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de-DE" sz="1400" b="1">
                <a:solidFill>
                  <a:srgbClr val="FFFFFF"/>
                </a:solidFill>
              </a:rPr>
              <a:t>6</a:t>
            </a:r>
          </a:p>
        </p:txBody>
      </p:sp>
      <p:sp>
        <p:nvSpPr>
          <p:cNvPr id="12" name="FehlerLegende">
            <a:extLst>
              <a:ext uri="{FF2B5EF4-FFF2-40B4-BE49-F238E27FC236}">
                <a16:creationId xmlns:a16="http://schemas.microsoft.com/office/drawing/2014/main" id="{90DE334D-0200-46F9-992A-DBED1C7523DA}"/>
              </a:ext>
            </a:extLst>
          </p:cNvPr>
          <p:cNvSpPr txBox="1"/>
          <p:nvPr/>
        </p:nvSpPr>
        <p:spPr>
          <a:xfrm>
            <a:off x="635000" y="1460500"/>
            <a:ext cx="3073400" cy="4826000"/>
          </a:xfrm>
          <a:prstGeom prst="rect">
            <a:avLst/>
          </a:prstGeom>
          <a:noFill/>
        </p:spPr>
        <p:txBody>
          <a:bodyPr vertOverflow="overflow" vert="horz" wrap="square" rtlCol="0" anchor="t">
            <a:noAutofit/>
          </a:bodyPr>
          <a:lstStyle/>
          <a:p>
            <a:pPr>
              <a:spcAft>
                <a:spcPts val="900"/>
              </a:spcAft>
              <a:buNone/>
            </a:pPr>
            <a:r>
              <a:rPr lang="de-DE" sz="2000" b="1" dirty="0">
                <a:solidFill>
                  <a:srgbClr val="002C58"/>
                </a:solidFill>
              </a:rPr>
              <a:t>Korrigierte Fehler</a:t>
            </a:r>
          </a:p>
          <a:p>
            <a:pPr marL="266700" indent="-266700">
              <a:lnSpc>
                <a:spcPct val="95000"/>
              </a:lnSpc>
              <a:spcAft>
                <a:spcPts val="800"/>
              </a:spcAft>
              <a:buFont typeface="+mn-lt"/>
              <a:buAutoNum type="arabicPeriod"/>
            </a:pPr>
            <a:r>
              <a:rPr lang="de-DE" sz="1600" dirty="0">
                <a:solidFill>
                  <a:srgbClr val="212121"/>
                </a:solidFill>
              </a:rPr>
              <a:t>Studiengang – Modul: Aggregation (Raute an Studiengang)</a:t>
            </a:r>
          </a:p>
          <a:p>
            <a:pPr marL="266700" indent="-266700">
              <a:lnSpc>
                <a:spcPct val="95000"/>
              </a:lnSpc>
              <a:spcAft>
                <a:spcPts val="800"/>
              </a:spcAft>
              <a:buFont typeface="+mn-lt"/>
              <a:buAutoNum type="arabicPeriod"/>
            </a:pPr>
            <a:r>
              <a:rPr lang="de-DE" sz="1600" dirty="0">
                <a:solidFill>
                  <a:srgbClr val="212121"/>
                </a:solidFill>
              </a:rPr>
              <a:t>Prüfungstermin – Modul: Komposition (Raute an Modul)</a:t>
            </a:r>
          </a:p>
          <a:p>
            <a:pPr marL="266700" indent="-266700">
              <a:lnSpc>
                <a:spcPct val="95000"/>
              </a:lnSpc>
              <a:spcAft>
                <a:spcPts val="800"/>
              </a:spcAft>
              <a:buFont typeface="+mn-lt"/>
              <a:buAutoNum type="arabicPeriod"/>
            </a:pPr>
            <a:r>
              <a:rPr lang="de-DE" sz="1600" dirty="0">
                <a:solidFill>
                  <a:srgbClr val="212121"/>
                </a:solidFill>
              </a:rPr>
              <a:t>Dozent – Modul: 0..* statt 1..* (Seite Modul)</a:t>
            </a:r>
          </a:p>
          <a:p>
            <a:pPr marL="266700" indent="-266700">
              <a:lnSpc>
                <a:spcPct val="95000"/>
              </a:lnSpc>
              <a:spcAft>
                <a:spcPts val="800"/>
              </a:spcAft>
              <a:buFont typeface="+mn-lt"/>
              <a:buAutoNum type="arabicPeriod"/>
            </a:pPr>
            <a:r>
              <a:rPr lang="de-DE" sz="1600" dirty="0">
                <a:solidFill>
                  <a:srgbClr val="212121"/>
                </a:solidFill>
              </a:rPr>
              <a:t>Vererbungen umgedreht: Pfeil Richtung Oberklasse</a:t>
            </a:r>
          </a:p>
          <a:p>
            <a:pPr marL="266700" indent="-266700">
              <a:lnSpc>
                <a:spcPct val="95000"/>
              </a:lnSpc>
              <a:spcAft>
                <a:spcPts val="800"/>
              </a:spcAft>
              <a:buFont typeface="+mn-lt"/>
              <a:buAutoNum type="arabicPeriod"/>
            </a:pPr>
            <a:r>
              <a:rPr lang="de-DE" sz="1600" dirty="0">
                <a:solidFill>
                  <a:srgbClr val="212121"/>
                </a:solidFill>
              </a:rPr>
              <a:t>Verbindung Dozent – Student entfällt</a:t>
            </a:r>
          </a:p>
          <a:p>
            <a:pPr marL="266700" indent="-266700">
              <a:lnSpc>
                <a:spcPct val="95000"/>
              </a:lnSpc>
              <a:buFont typeface="+mn-lt"/>
              <a:buAutoNum type="arabicPeriod"/>
            </a:pPr>
            <a:r>
              <a:rPr lang="de-DE" sz="1600" dirty="0">
                <a:solidFill>
                  <a:srgbClr val="212121"/>
                </a:solidFill>
              </a:rPr>
              <a:t>Prüfungsversuch – Prüfungstermin: 1 statt 0..*</a:t>
            </a:r>
            <a:br>
              <a:rPr lang="de-DE" sz="1600" dirty="0">
                <a:solidFill>
                  <a:srgbClr val="212121"/>
                </a:solidFill>
              </a:rPr>
            </a:br>
            <a:r>
              <a:rPr lang="de-DE" sz="1600" dirty="0">
                <a:solidFill>
                  <a:srgbClr val="212121"/>
                </a:solidFill>
              </a:rPr>
              <a:t>(Seite Prüfungstermin)</a:t>
            </a:r>
          </a:p>
        </p:txBody>
      </p:sp>
    </p:spTree>
    <p:extLst>
      <p:ext uri="{BB962C8B-B14F-4D97-AF65-F5344CB8AC3E}">
        <p14:creationId xmlns:p14="http://schemas.microsoft.com/office/powerpoint/2010/main" val="21447079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3BDF59-ECCB-7150-F3A5-7E15B443B78A}"/>
              </a:ext>
            </a:extLst>
          </p:cNvPr>
          <p:cNvSpPr>
            <a:spLocks noGrp="1"/>
          </p:cNvSpPr>
          <p:nvPr>
            <p:ph type="title"/>
          </p:nvPr>
        </p:nvSpPr>
        <p:spPr>
          <a:xfrm>
            <a:off x="838200" y="381000"/>
            <a:ext cx="10515600" cy="787400"/>
          </a:xfrm>
        </p:spPr>
        <p:txBody>
          <a:bodyPr lIns="0" tIns="0" rIns="0" bIns="0" anchor="b">
            <a:normAutofit/>
          </a:bodyPr>
          <a:lstStyle/>
          <a:p>
            <a:pPr algn="l">
              <a:buNone/>
            </a:pPr>
            <a:r>
              <a:rPr lang="de-DE" sz="3200" b="1" dirty="0">
                <a:solidFill>
                  <a:srgbClr val="002C58"/>
                </a:solidFill>
              </a:rPr>
              <a:t>Aufgabe 2: Modellieren Sie das Szenario</a:t>
            </a:r>
          </a:p>
        </p:txBody>
      </p:sp>
      <p:sp>
        <p:nvSpPr>
          <p:cNvPr id="3" name="Inhaltsplatzhalter 2">
            <a:extLst>
              <a:ext uri="{FF2B5EF4-FFF2-40B4-BE49-F238E27FC236}">
                <a16:creationId xmlns:a16="http://schemas.microsoft.com/office/drawing/2014/main" id="{AFBB21B3-7509-10CF-41BD-39F826FB941D}"/>
              </a:ext>
            </a:extLst>
          </p:cNvPr>
          <p:cNvSpPr>
            <a:spLocks noGrp="1"/>
          </p:cNvSpPr>
          <p:nvPr>
            <p:ph idx="1"/>
          </p:nvPr>
        </p:nvSpPr>
        <p:spPr>
          <a:xfrm>
            <a:off x="838200" y="1320800"/>
            <a:ext cx="10515600" cy="4953000"/>
          </a:xfrm>
        </p:spPr>
        <p:txBody>
          <a:bodyPr lIns="0" tIns="0" rIns="0" bIns="0" numCol="2" spcCol="342900" anchor="t">
            <a:normAutofit lnSpcReduction="10000"/>
          </a:bodyPr>
          <a:lstStyle/>
          <a:p>
            <a:pPr marL="0" indent="0" algn="l">
              <a:lnSpc>
                <a:spcPct val="100000"/>
              </a:lnSpc>
              <a:spcAft>
                <a:spcPts val="900"/>
              </a:spcAft>
              <a:buNone/>
            </a:pPr>
            <a:r>
              <a:rPr lang="de-DE" sz="1500" b="1" dirty="0">
                <a:solidFill>
                  <a:srgbClr val="002C58"/>
                </a:solidFill>
              </a:rPr>
              <a:t>Ein Unternehmen möchte eine Software für seine Finanzbuchhaltung entwickeln.</a:t>
            </a:r>
          </a:p>
          <a:p>
            <a:pPr marL="180975" indent="-180975" algn="l">
              <a:lnSpc>
                <a:spcPct val="102000"/>
              </a:lnSpc>
              <a:spcAft>
                <a:spcPts val="700"/>
              </a:spcAft>
              <a:buClr>
                <a:srgbClr val="002C58"/>
              </a:buClr>
              <a:buSzPct val="90000"/>
              <a:buFont typeface="Arial"/>
              <a:buChar char="▪"/>
            </a:pPr>
            <a:r>
              <a:rPr lang="de-DE" sz="1200" dirty="0">
                <a:solidFill>
                  <a:srgbClr val="212121"/>
                </a:solidFill>
              </a:rPr>
              <a:t>In der Software werden Geschäftspartner verwaltet. Ein Geschäftspartner kann entweder ein Kunde oder ein Lieferant sein. Zu jedem Geschäftspartner werden Name, Adresse und Telefonnummer gespeichert. Geschäftspartner können gelöscht und dupliziert werden. Kunden haben zusätzlich ein Attribut Sepa-Mandat und können abgemahnt werden. Lieferanten haben eine IBAN und können bezahlt werden.</a:t>
            </a:r>
          </a:p>
          <a:p>
            <a:pPr marL="180975" indent="-180975" algn="l">
              <a:lnSpc>
                <a:spcPct val="102000"/>
              </a:lnSpc>
              <a:spcAft>
                <a:spcPts val="700"/>
              </a:spcAft>
              <a:buClr>
                <a:srgbClr val="002C58"/>
              </a:buClr>
              <a:buSzPct val="90000"/>
              <a:buFont typeface="Arial"/>
              <a:buChar char="▪"/>
            </a:pPr>
            <a:r>
              <a:rPr lang="de-DE" sz="1200" dirty="0">
                <a:solidFill>
                  <a:srgbClr val="212121"/>
                </a:solidFill>
              </a:rPr>
              <a:t>Ein Kunde kann mehrere Rechnungen erhalten. Ein Lieferant kann mehrere Rechnungen stellen. Eine Rechnung gehört immer genau zu einem Kunden oder einem Lieferanten. Zu jeder Rechnung werden Rechnungsnummer, Rechnungsdatum und Gesamtbetrag gespeichert. Rechnungen können ihren Gesamtbetrag aus den folgenden Rechnungspositionen berechnen.</a:t>
            </a:r>
          </a:p>
          <a:p>
            <a:pPr marL="180975" indent="-180975" algn="l">
              <a:lnSpc>
                <a:spcPct val="102000"/>
              </a:lnSpc>
              <a:spcAft>
                <a:spcPts val="700"/>
              </a:spcAft>
              <a:buClr>
                <a:srgbClr val="002C58"/>
              </a:buClr>
              <a:buSzPct val="90000"/>
              <a:buFont typeface="Arial"/>
              <a:buChar char="▪"/>
            </a:pPr>
            <a:r>
              <a:rPr lang="de-DE" sz="1200" dirty="0">
                <a:solidFill>
                  <a:srgbClr val="212121"/>
                </a:solidFill>
              </a:rPr>
              <a:t>Eine Rechnung besteht aus Rechnungspositionen. Jede Position beschreibt ein Produkt, eine Menge und einen Einzelpreis. Rechnungspositionen können ohne eine Rechnung nicht existieren.</a:t>
            </a:r>
          </a:p>
          <a:p>
            <a:pPr marL="180975" indent="-180975" algn="l">
              <a:lnSpc>
                <a:spcPct val="102000"/>
              </a:lnSpc>
              <a:spcAft>
                <a:spcPts val="700"/>
              </a:spcAft>
              <a:buClr>
                <a:srgbClr val="002C58"/>
              </a:buClr>
              <a:buSzPct val="90000"/>
              <a:buFont typeface="Arial"/>
              <a:buChar char="▪"/>
            </a:pPr>
            <a:r>
              <a:rPr lang="de-DE" sz="1200" dirty="0">
                <a:solidFill>
                  <a:srgbClr val="212121"/>
                </a:solidFill>
              </a:rPr>
              <a:t>Zu einer Rechnung gehören eine oder mehrere Zahlungen. Eine Zahlung besitzt ein Zahlungsdatum und einen Betrag. Zahlungen können wiederholt werden. Eine Zahlung bezieht sich immer auf genau eine Rechnung.</a:t>
            </a:r>
          </a:p>
          <a:p>
            <a:pPr marL="180975" indent="-180975" algn="l">
              <a:lnSpc>
                <a:spcPct val="102000"/>
              </a:lnSpc>
              <a:spcAft>
                <a:spcPts val="700"/>
              </a:spcAft>
              <a:buClr>
                <a:srgbClr val="002C58"/>
              </a:buClr>
              <a:buSzPct val="90000"/>
              <a:buFont typeface="Arial"/>
              <a:buChar char="▪"/>
            </a:pPr>
            <a:r>
              <a:rPr lang="de-DE" sz="1200" dirty="0">
                <a:solidFill>
                  <a:srgbClr val="212121"/>
                </a:solidFill>
              </a:rPr>
              <a:t>Die Finanzbuchhaltung arbeitet mit verschiedenen Sachkonten. Jedes Sachkonto besitzt eine Kontonummer, eine Bezeichnung und einen Kontotyp. Konten können gelöscht und dupliziert werden.</a:t>
            </a:r>
          </a:p>
          <a:p>
            <a:pPr marL="180975" indent="-180975" algn="l">
              <a:lnSpc>
                <a:spcPct val="102000"/>
              </a:lnSpc>
              <a:spcAft>
                <a:spcPts val="700"/>
              </a:spcAft>
              <a:buClr>
                <a:srgbClr val="002C58"/>
              </a:buClr>
              <a:buSzPct val="90000"/>
              <a:buFont typeface="Arial"/>
              <a:buChar char="▪"/>
            </a:pPr>
            <a:r>
              <a:rPr lang="de-DE" sz="1200" dirty="0">
                <a:solidFill>
                  <a:srgbClr val="212121"/>
                </a:solidFill>
              </a:rPr>
              <a:t>Jeder Geschäftsvorfall wird durch einen Buchungssatz erfasst. Ein Buchungssatz besitzt ein Buchungsdatum und einen Buchungstext. Ein Buchungssatz muss immer einer oder mehreren Rechnungen zugeordnet werden. Jede Rechnung kann nur zu einem Buchungssatz gehören.</a:t>
            </a:r>
          </a:p>
          <a:p>
            <a:pPr marL="180975" indent="-180975" algn="l">
              <a:lnSpc>
                <a:spcPct val="102000"/>
              </a:lnSpc>
              <a:spcAft>
                <a:spcPts val="700"/>
              </a:spcAft>
              <a:buClr>
                <a:srgbClr val="002C58"/>
              </a:buClr>
              <a:buSzPct val="90000"/>
              <a:buFont typeface="Arial"/>
              <a:buChar char="▪"/>
            </a:pPr>
            <a:r>
              <a:rPr lang="de-DE" sz="1200" dirty="0">
                <a:solidFill>
                  <a:srgbClr val="212121"/>
                </a:solidFill>
              </a:rPr>
              <a:t>Teil eines Buchungssatzes sind Buchungspositionen, die ohne den Buchungssatz nicht existieren. Jede Buchungsposition enthält einen Betrag und ein zugeordnetes Sachkonto. Ein Sachkonto kann mehreren Buchungspositionen zugeordnet sein.</a:t>
            </a:r>
          </a:p>
          <a:p>
            <a:pPr marL="180975" indent="-180975" algn="l">
              <a:lnSpc>
                <a:spcPct val="102000"/>
              </a:lnSpc>
              <a:spcAft>
                <a:spcPts val="700"/>
              </a:spcAft>
              <a:buClr>
                <a:srgbClr val="002C58"/>
              </a:buClr>
              <a:buSzPct val="90000"/>
              <a:buFont typeface="Arial"/>
              <a:buChar char="▪"/>
            </a:pPr>
            <a:r>
              <a:rPr lang="de-DE" sz="1200" dirty="0">
                <a:solidFill>
                  <a:srgbClr val="212121"/>
                </a:solidFill>
              </a:rPr>
              <a:t>Die Buchhaltung ist in Buchungsperioden unterteilt. Eine Buchungsperiode besitzt einen Beginn, ein Ende und einen Status. Buchungssätze können Teil einer Buchungsperiode sein.</a:t>
            </a:r>
          </a:p>
          <a:p>
            <a:pPr marL="180975" indent="-180975" algn="l">
              <a:lnSpc>
                <a:spcPct val="102000"/>
              </a:lnSpc>
              <a:spcAft>
                <a:spcPts val="700"/>
              </a:spcAft>
              <a:buClr>
                <a:srgbClr val="002C58"/>
              </a:buClr>
              <a:buSzPct val="90000"/>
              <a:buFont typeface="Arial"/>
              <a:buChar char="▪"/>
            </a:pPr>
            <a:r>
              <a:rPr lang="de-DE" sz="1200" dirty="0">
                <a:solidFill>
                  <a:srgbClr val="212121"/>
                </a:solidFill>
              </a:rPr>
              <a:t>Die Software verwaltet außerdem Mitarbeiter, die mit dem System arbeiten. Ein Mitarbeiter besitzt eine Personalnummer, einen Namen und eine E-Mail-Adresse. Je nach Rolle besitzt ein Mitarbeiter unterschiedliche Berechtigungen. Ein Buchhalter kann Buchungen erfassen und ändern, während ein Administrator zusätzlich Benutzer und Systemeinstellungen verwalten darf. Ein Buchhalter kann beliebig viele Buchungssätze anlegen. Jeder Buchungssatz wird von genau einem Buchhalter erstellt.</a:t>
            </a:r>
          </a:p>
          <a:p>
            <a:pPr marL="0" indent="0" algn="l">
              <a:lnSpc>
                <a:spcPct val="100000"/>
              </a:lnSpc>
              <a:spcBef>
                <a:spcPts val="900"/>
              </a:spcBef>
              <a:buNone/>
            </a:pPr>
            <a:r>
              <a:rPr lang="de-DE" sz="1500" b="1" dirty="0">
                <a:solidFill>
                  <a:srgbClr val="002C58"/>
                </a:solidFill>
              </a:rPr>
              <a:t>Auf welche Attribute und Methoden kann ein Objekt der Klasse Administrator zugreifen?</a:t>
            </a:r>
          </a:p>
        </p:txBody>
      </p:sp>
    </p:spTree>
    <p:extLst>
      <p:ext uri="{BB962C8B-B14F-4D97-AF65-F5344CB8AC3E}">
        <p14:creationId xmlns:p14="http://schemas.microsoft.com/office/powerpoint/2010/main" val="1015994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8E5CCF-7C49-5063-62C5-D0E94B1A95D1}"/>
              </a:ext>
            </a:extLst>
          </p:cNvPr>
          <p:cNvSpPr>
            <a:spLocks noGrp="1"/>
          </p:cNvSpPr>
          <p:nvPr>
            <p:ph type="title"/>
          </p:nvPr>
        </p:nvSpPr>
        <p:spPr>
          <a:xfrm>
            <a:off x="838200" y="381000"/>
            <a:ext cx="10515600" cy="787400"/>
          </a:xfrm>
        </p:spPr>
        <p:txBody>
          <a:bodyPr anchor="b" anchorCtr="0">
            <a:normAutofit/>
          </a:bodyPr>
          <a:lstStyle/>
          <a:p>
            <a:r>
              <a:rPr lang="de-DE" sz="3200" b="1" dirty="0"/>
              <a:t>Musterlösung Aufgabe 2</a:t>
            </a:r>
          </a:p>
        </p:txBody>
      </p:sp>
      <p:sp>
        <p:nvSpPr>
          <p:cNvPr id="5" name="AntwortPanel">
            <a:extLst>
              <a:ext uri="{FF2B5EF4-FFF2-40B4-BE49-F238E27FC236}">
                <a16:creationId xmlns:a16="http://schemas.microsoft.com/office/drawing/2014/main" id="{4C217279-6D4C-4BD3-87DF-296C617E8713}"/>
              </a:ext>
            </a:extLst>
          </p:cNvPr>
          <p:cNvSpPr/>
          <p:nvPr/>
        </p:nvSpPr>
        <p:spPr>
          <a:xfrm>
            <a:off x="8585200" y="1905000"/>
            <a:ext cx="2768600" cy="2921000"/>
          </a:xfrm>
          <a:prstGeom prst="roundRect">
            <a:avLst/>
          </a:prstGeom>
          <a:solidFill>
            <a:srgbClr val="DEE8F2"/>
          </a:solidFill>
          <a:ln w="12700" cap="flat" cmpd="sng" algn="ctr">
            <a:solidFill>
              <a:srgbClr val="002C5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spcAft>
                <a:spcPts val="400"/>
              </a:spcAft>
              <a:buNone/>
            </a:pPr>
            <a:r>
              <a:rPr lang="de-DE" sz="1300" b="1" dirty="0">
                <a:solidFill>
                  <a:srgbClr val="002C58"/>
                </a:solidFill>
              </a:rPr>
              <a:t>Zugriff der Klasse Administrator</a:t>
            </a:r>
          </a:p>
          <a:p>
            <a:pPr algn="l">
              <a:spcAft>
                <a:spcPts val="500"/>
              </a:spcAft>
              <a:buNone/>
            </a:pPr>
            <a:r>
              <a:rPr lang="de-DE" sz="1100" dirty="0">
                <a:solidFill>
                  <a:srgbClr val="212121"/>
                </a:solidFill>
              </a:rPr>
              <a:t>Administrator erbt über Buchhalter von Mitarbeiter und verfügt über:</a:t>
            </a:r>
          </a:p>
          <a:p>
            <a:pPr algn="l">
              <a:spcAft>
                <a:spcPts val="100"/>
              </a:spcAft>
              <a:buNone/>
            </a:pPr>
            <a:r>
              <a:rPr lang="de-DE" sz="1100" b="1" dirty="0">
                <a:solidFill>
                  <a:srgbClr val="002C58"/>
                </a:solidFill>
              </a:rPr>
              <a:t>aus Mitarbeiter</a:t>
            </a:r>
          </a:p>
          <a:p>
            <a:pPr marL="142875" indent="-142875" algn="l">
              <a:spcAft>
                <a:spcPts val="400"/>
              </a:spcAft>
              <a:buClr>
                <a:srgbClr val="002C58"/>
              </a:buClr>
              <a:buFont typeface="Arial"/>
              <a:buChar char="▪"/>
            </a:pPr>
            <a:r>
              <a:rPr lang="de-DE" sz="1100" dirty="0">
                <a:solidFill>
                  <a:srgbClr val="212121"/>
                </a:solidFill>
              </a:rPr>
              <a:t>personalnummer, name, e-mail</a:t>
            </a:r>
          </a:p>
          <a:p>
            <a:pPr algn="l">
              <a:spcAft>
                <a:spcPts val="100"/>
              </a:spcAft>
              <a:buNone/>
            </a:pPr>
            <a:r>
              <a:rPr lang="de-DE" sz="1100" b="1" dirty="0">
                <a:solidFill>
                  <a:srgbClr val="002C58"/>
                </a:solidFill>
              </a:rPr>
              <a:t>aus Buchhalter</a:t>
            </a:r>
          </a:p>
          <a:p>
            <a:pPr marL="142875" indent="-142875" algn="l">
              <a:spcAft>
                <a:spcPts val="400"/>
              </a:spcAft>
              <a:buClr>
                <a:srgbClr val="002C58"/>
              </a:buClr>
              <a:buFont typeface="Arial"/>
              <a:buChar char="▪"/>
            </a:pPr>
            <a:r>
              <a:rPr lang="de-DE" sz="1100" dirty="0">
                <a:solidFill>
                  <a:srgbClr val="212121"/>
                </a:solidFill>
              </a:rPr>
              <a:t>buchungErfassen(), buchungÄndern()</a:t>
            </a:r>
          </a:p>
          <a:p>
            <a:pPr algn="l">
              <a:spcAft>
                <a:spcPts val="100"/>
              </a:spcAft>
              <a:buNone/>
            </a:pPr>
            <a:r>
              <a:rPr lang="de-DE" sz="1100" b="1" dirty="0">
                <a:solidFill>
                  <a:srgbClr val="002C58"/>
                </a:solidFill>
              </a:rPr>
              <a:t>eigene</a:t>
            </a:r>
          </a:p>
          <a:p>
            <a:pPr marL="142875" indent="-142875" algn="l">
              <a:buClr>
                <a:srgbClr val="002C58"/>
              </a:buClr>
              <a:buFont typeface="Arial"/>
              <a:buChar char="▪"/>
            </a:pPr>
            <a:r>
              <a:rPr lang="de-DE" sz="1100" dirty="0">
                <a:solidFill>
                  <a:srgbClr val="212121"/>
                </a:solidFill>
              </a:rPr>
              <a:t>benutzerVerwalten(), einstellungenVerwalten()</a:t>
            </a:r>
          </a:p>
        </p:txBody>
      </p:sp>
      <p:pic>
        <p:nvPicPr>
          <p:cNvPr id="3" name="Grafik 2">
            <a:extLst>
              <a:ext uri="{FF2B5EF4-FFF2-40B4-BE49-F238E27FC236}">
                <a16:creationId xmlns:a16="http://schemas.microsoft.com/office/drawing/2014/main" id="{F7EAFEB6-CF1D-240D-95AE-C03034A9620E}"/>
              </a:ext>
            </a:extLst>
          </p:cNvPr>
          <p:cNvPicPr>
            <a:picLocks noChangeAspect="1"/>
          </p:cNvPicPr>
          <p:nvPr/>
        </p:nvPicPr>
        <p:blipFill>
          <a:blip r:embed="rId2"/>
          <a:stretch>
            <a:fillRect/>
          </a:stretch>
        </p:blipFill>
        <p:spPr>
          <a:xfrm>
            <a:off x="1295400" y="1295400"/>
            <a:ext cx="6375400" cy="5023043"/>
          </a:xfrm>
          <a:prstGeom prst="rect">
            <a:avLst/>
          </a:prstGeom>
        </p:spPr>
      </p:pic>
    </p:spTree>
    <p:extLst>
      <p:ext uri="{BB962C8B-B14F-4D97-AF65-F5344CB8AC3E}">
        <p14:creationId xmlns:p14="http://schemas.microsoft.com/office/powerpoint/2010/main" val="22390110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4FFBFF-1F15-681B-F698-E3F4A8A87DEE}"/>
              </a:ext>
            </a:extLst>
          </p:cNvPr>
          <p:cNvSpPr>
            <a:spLocks noGrp="1"/>
          </p:cNvSpPr>
          <p:nvPr>
            <p:ph type="title"/>
          </p:nvPr>
        </p:nvSpPr>
        <p:spPr>
          <a:xfrm>
            <a:off x="838200" y="381000"/>
            <a:ext cx="10515600" cy="787400"/>
          </a:xfrm>
        </p:spPr>
        <p:txBody>
          <a:bodyPr/>
          <a:lstStyle/>
          <a:p>
            <a:r>
              <a:rPr lang="de-DE" sz="3200" b="1" dirty="0"/>
              <a:t>Zusatz- Aufgabe 3: Zweck und Grenzen</a:t>
            </a:r>
          </a:p>
        </p:txBody>
      </p:sp>
      <p:sp>
        <p:nvSpPr>
          <p:cNvPr id="3" name="Inhaltsplatzhalter 2">
            <a:extLst>
              <a:ext uri="{FF2B5EF4-FFF2-40B4-BE49-F238E27FC236}">
                <a16:creationId xmlns:a16="http://schemas.microsoft.com/office/drawing/2014/main" id="{D9320A10-58C8-E2E5-562D-097751130B36}"/>
              </a:ext>
            </a:extLst>
          </p:cNvPr>
          <p:cNvSpPr>
            <a:spLocks noGrp="1"/>
          </p:cNvSpPr>
          <p:nvPr>
            <p:ph idx="1"/>
          </p:nvPr>
        </p:nvSpPr>
        <p:spPr>
          <a:xfrm>
            <a:off x="838200" y="1320800"/>
            <a:ext cx="10515600" cy="4953000"/>
          </a:xfrm>
        </p:spPr>
        <p:txBody>
          <a:bodyPr anchor="ctr"/>
          <a:lstStyle/>
          <a:p>
            <a:pPr algn="ctr">
              <a:lnSpc>
                <a:spcPct val="105000"/>
              </a:lnSpc>
              <a:spcAft>
                <a:spcPts val="1200"/>
              </a:spcAft>
              <a:buNone/>
            </a:pPr>
            <a:r>
              <a:rPr lang="de-DE" sz="3600" b="1" dirty="0">
                <a:solidFill>
                  <a:srgbClr val="002C58"/>
                </a:solidFill>
              </a:rPr>
              <a:t>„Was zeigt ein Klassendiagramm – und was zeigt es nicht?“</a:t>
            </a:r>
          </a:p>
        </p:txBody>
      </p:sp>
    </p:spTree>
    <p:extLst>
      <p:ext uri="{BB962C8B-B14F-4D97-AF65-F5344CB8AC3E}">
        <p14:creationId xmlns:p14="http://schemas.microsoft.com/office/powerpoint/2010/main" val="821701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BEFFCF-1905-DA42-B9A1-2AB55FB5B46B}"/>
              </a:ext>
            </a:extLst>
          </p:cNvPr>
          <p:cNvSpPr>
            <a:spLocks noGrp="1"/>
          </p:cNvSpPr>
          <p:nvPr>
            <p:ph type="title"/>
          </p:nvPr>
        </p:nvSpPr>
        <p:spPr>
          <a:xfrm>
            <a:off x="838200" y="381000"/>
            <a:ext cx="10515600" cy="787400"/>
          </a:xfrm>
        </p:spPr>
        <p:txBody>
          <a:bodyPr/>
          <a:lstStyle/>
          <a:p>
            <a:r>
              <a:rPr lang="de-DE" sz="3200" b="1" dirty="0"/>
              <a:t>Musterlösung Aufgabe 3</a:t>
            </a:r>
          </a:p>
        </p:txBody>
      </p:sp>
      <p:sp>
        <p:nvSpPr>
          <p:cNvPr id="3" name="Inhaltsplatzhalter 2">
            <a:extLst>
              <a:ext uri="{FF2B5EF4-FFF2-40B4-BE49-F238E27FC236}">
                <a16:creationId xmlns:a16="http://schemas.microsoft.com/office/drawing/2014/main" id="{9DE1044F-0F2C-5CE7-6F86-6FACB3E9527A}"/>
              </a:ext>
            </a:extLst>
          </p:cNvPr>
          <p:cNvSpPr>
            <a:spLocks noGrp="1"/>
          </p:cNvSpPr>
          <p:nvPr>
            <p:ph idx="1"/>
          </p:nvPr>
        </p:nvSpPr>
        <p:spPr>
          <a:xfrm>
            <a:off x="838200" y="1320800"/>
            <a:ext cx="10515600" cy="4953000"/>
          </a:xfrm>
        </p:spPr>
        <p:txBody>
          <a:bodyPr>
            <a:normAutofit/>
          </a:bodyPr>
          <a:lstStyle/>
          <a:p>
            <a:pPr algn="l">
              <a:spcAft>
                <a:spcPts val="400"/>
              </a:spcAft>
              <a:buNone/>
            </a:pPr>
            <a:r>
              <a:rPr lang="de-DE" sz="2200" b="1" dirty="0">
                <a:solidFill>
                  <a:srgbClr val="002C58"/>
                </a:solidFill>
              </a:rPr>
              <a:t>Stärken</a:t>
            </a:r>
          </a:p>
          <a:p>
            <a:pPr marL="285750" indent="-285750" algn="l">
              <a:spcAft>
                <a:spcPts val="200"/>
              </a:spcAft>
              <a:buClr>
                <a:srgbClr val="002C58"/>
              </a:buClr>
              <a:buFont typeface="Arial"/>
              <a:buChar char="▪"/>
            </a:pPr>
            <a:r>
              <a:rPr lang="de-DE" sz="1600" dirty="0">
                <a:solidFill>
                  <a:srgbClr val="212121"/>
                </a:solidFill>
              </a:rPr>
              <a:t>Zeigt Klassen, Attribute, Methoden und Beziehungen</a:t>
            </a:r>
          </a:p>
          <a:p>
            <a:pPr marL="285750" indent="-285750" algn="l">
              <a:spcAft>
                <a:spcPts val="200"/>
              </a:spcAft>
              <a:buClr>
                <a:srgbClr val="002C58"/>
              </a:buClr>
              <a:buFont typeface="Arial"/>
              <a:buChar char="▪"/>
            </a:pPr>
            <a:r>
              <a:rPr lang="de-DE" sz="1600" dirty="0">
                <a:solidFill>
                  <a:srgbClr val="212121"/>
                </a:solidFill>
              </a:rPr>
              <a:t>Statische Struktur des Systems</a:t>
            </a:r>
          </a:p>
          <a:p>
            <a:pPr marL="285750" indent="-285750" algn="l">
              <a:spcAft>
                <a:spcPts val="200"/>
              </a:spcAft>
              <a:buClr>
                <a:srgbClr val="002C58"/>
              </a:buClr>
              <a:buFont typeface="Arial"/>
              <a:buChar char="▪"/>
            </a:pPr>
            <a:r>
              <a:rPr lang="de-DE" sz="1600" dirty="0">
                <a:solidFill>
                  <a:srgbClr val="212121"/>
                </a:solidFill>
              </a:rPr>
              <a:t>Objektorientierter Entwurf</a:t>
            </a:r>
          </a:p>
          <a:p>
            <a:pPr marL="285750" indent="-285750" algn="l">
              <a:spcAft>
                <a:spcPts val="200"/>
              </a:spcAft>
              <a:buClr>
                <a:srgbClr val="002C58"/>
              </a:buClr>
              <a:buFont typeface="Arial"/>
              <a:buChar char="▪"/>
            </a:pPr>
            <a:r>
              <a:rPr lang="de-DE" sz="1600" dirty="0">
                <a:solidFill>
                  <a:srgbClr val="212121"/>
                </a:solidFill>
              </a:rPr>
              <a:t>Grundlage für die Implementierung</a:t>
            </a:r>
          </a:p>
          <a:p>
            <a:pPr marL="285750" indent="-285750" algn="l">
              <a:spcAft>
                <a:spcPts val="800"/>
              </a:spcAft>
              <a:buClr>
                <a:srgbClr val="002C58"/>
              </a:buClr>
              <a:buFont typeface="Arial"/>
              <a:buChar char="▪"/>
            </a:pPr>
            <a:r>
              <a:rPr lang="de-DE" sz="1600" dirty="0">
                <a:solidFill>
                  <a:srgbClr val="212121"/>
                </a:solidFill>
              </a:rPr>
              <a:t>Verständigung mit der Fachabteilung</a:t>
            </a:r>
          </a:p>
          <a:p>
            <a:pPr algn="l">
              <a:spcAft>
                <a:spcPts val="400"/>
              </a:spcAft>
              <a:buNone/>
            </a:pPr>
            <a:r>
              <a:rPr lang="de-DE" sz="2200" b="1" dirty="0">
                <a:solidFill>
                  <a:srgbClr val="002C58"/>
                </a:solidFill>
              </a:rPr>
              <a:t>Grenzen</a:t>
            </a:r>
          </a:p>
          <a:p>
            <a:pPr marL="285750" indent="-285750" algn="l">
              <a:spcAft>
                <a:spcPts val="200"/>
              </a:spcAft>
              <a:buClr>
                <a:srgbClr val="002C58"/>
              </a:buClr>
              <a:buFont typeface="Arial"/>
              <a:buChar char="▪"/>
            </a:pPr>
            <a:r>
              <a:rPr lang="de-DE" sz="1600" dirty="0">
                <a:solidFill>
                  <a:srgbClr val="212121"/>
                </a:solidFill>
              </a:rPr>
              <a:t>Abläufe und dynamisches Verhalten zeigt das Klassendiagramm nicht (Vorlesung, Folie 24)</a:t>
            </a:r>
          </a:p>
          <a:p>
            <a:pPr marL="285750" indent="-285750" algn="l">
              <a:spcAft>
                <a:spcPts val="200"/>
              </a:spcAft>
              <a:buClr>
                <a:srgbClr val="002C58"/>
              </a:buClr>
              <a:buFont typeface="Arial"/>
              <a:buChar char="▪"/>
            </a:pPr>
            <a:r>
              <a:rPr lang="de-DE" sz="1600" dirty="0">
                <a:solidFill>
                  <a:srgbClr val="212121"/>
                </a:solidFill>
              </a:rPr>
              <a:t>Große Systeme werden unübersichtlich</a:t>
            </a:r>
          </a:p>
          <a:p>
            <a:pPr marL="285750" indent="-285750" algn="l">
              <a:spcAft>
                <a:spcPts val="200"/>
              </a:spcAft>
              <a:buClr>
                <a:srgbClr val="002C58"/>
              </a:buClr>
              <a:buFont typeface="Arial"/>
              <a:buChar char="▪"/>
            </a:pPr>
            <a:r>
              <a:rPr lang="de-DE" sz="1600" dirty="0">
                <a:solidFill>
                  <a:srgbClr val="212121"/>
                </a:solidFill>
              </a:rPr>
              <a:t>Änderungen am System erfordern eine Aktualisierung des Diagramms</a:t>
            </a:r>
          </a:p>
          <a:p>
            <a:pPr marL="285750" indent="-285750" algn="l">
              <a:spcAft>
                <a:spcPts val="800"/>
              </a:spcAft>
              <a:buClr>
                <a:srgbClr val="002C58"/>
              </a:buClr>
              <a:buFont typeface="Arial"/>
              <a:buChar char="▪"/>
            </a:pPr>
            <a:r>
              <a:rPr lang="de-DE" sz="1600" dirty="0">
                <a:solidFill>
                  <a:srgbClr val="212121"/>
                </a:solidFill>
              </a:rPr>
              <a:t>Für Fachfremde schwerer verständlich als Use-Case- oder Aktivitätsdiagramme</a:t>
            </a:r>
          </a:p>
          <a:p>
            <a:pPr algn="l">
              <a:buNone/>
            </a:pPr>
            <a:r>
              <a:rPr lang="de-DE" sz="1600" b="1" dirty="0">
                <a:solidFill>
                  <a:srgbClr val="002C58"/>
                </a:solidFill>
              </a:rPr>
              <a:t>Es zeigt, welche Methoden es gibt – nicht, wann sie aufgerufen werden.</a:t>
            </a:r>
          </a:p>
        </p:txBody>
      </p:sp>
    </p:spTree>
    <p:extLst>
      <p:ext uri="{BB962C8B-B14F-4D97-AF65-F5344CB8AC3E}">
        <p14:creationId xmlns:p14="http://schemas.microsoft.com/office/powerpoint/2010/main" val="2468668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4FFBFF-1F15-681B-F698-E3F4A8A87DEE}"/>
              </a:ext>
            </a:extLst>
          </p:cNvPr>
          <p:cNvSpPr>
            <a:spLocks noGrp="1"/>
          </p:cNvSpPr>
          <p:nvPr>
            <p:ph type="title"/>
          </p:nvPr>
        </p:nvSpPr>
        <p:spPr>
          <a:xfrm>
            <a:off x="838200" y="381000"/>
            <a:ext cx="10515600" cy="787400"/>
          </a:xfrm>
        </p:spPr>
        <p:txBody>
          <a:bodyPr/>
          <a:lstStyle/>
          <a:p>
            <a:r>
              <a:rPr lang="de-DE" sz="3200" b="1" dirty="0"/>
              <a:t>Zusatz- Aufgabe 4</a:t>
            </a:r>
          </a:p>
        </p:txBody>
      </p:sp>
      <p:sp>
        <p:nvSpPr>
          <p:cNvPr id="3" name="Inhaltsplatzhalter 2">
            <a:extLst>
              <a:ext uri="{FF2B5EF4-FFF2-40B4-BE49-F238E27FC236}">
                <a16:creationId xmlns:a16="http://schemas.microsoft.com/office/drawing/2014/main" id="{D9320A10-58C8-E2E5-562D-097751130B36}"/>
              </a:ext>
            </a:extLst>
          </p:cNvPr>
          <p:cNvSpPr>
            <a:spLocks noGrp="1"/>
          </p:cNvSpPr>
          <p:nvPr>
            <p:ph idx="1"/>
          </p:nvPr>
        </p:nvSpPr>
        <p:spPr>
          <a:xfrm>
            <a:off x="838200" y="1320800"/>
            <a:ext cx="10515600" cy="4953000"/>
          </a:xfrm>
        </p:spPr>
        <p:txBody>
          <a:bodyPr anchor="ctr"/>
          <a:lstStyle/>
          <a:p>
            <a:pPr algn="l">
              <a:lnSpc>
                <a:spcPct val="105000"/>
              </a:lnSpc>
              <a:spcAft>
                <a:spcPts val="1600"/>
              </a:spcAft>
              <a:buNone/>
            </a:pPr>
            <a:r>
              <a:rPr lang="de-DE" sz="1800" dirty="0">
                <a:solidFill>
                  <a:srgbClr val="212121"/>
                </a:solidFill>
              </a:rPr>
              <a:t>In der Musterlösung hat Rechnung das Attribut Gesamtbetrag und die Methode gesamtbetragBerechnen().</a:t>
            </a:r>
          </a:p>
          <a:p>
            <a:pPr algn="ctr">
              <a:lnSpc>
                <a:spcPct val="105000"/>
              </a:lnSpc>
              <a:spcAft>
                <a:spcPts val="1200"/>
              </a:spcAft>
              <a:buNone/>
            </a:pPr>
            <a:r>
              <a:rPr lang="de-DE" sz="3600" b="1" dirty="0">
                <a:solidFill>
                  <a:srgbClr val="002C58"/>
                </a:solidFill>
              </a:rPr>
              <a:t>„Wie verhindert man, dass der Betrag von Hand überschrieben wird?“</a:t>
            </a:r>
          </a:p>
        </p:txBody>
      </p:sp>
    </p:spTree>
    <p:extLst>
      <p:ext uri="{BB962C8B-B14F-4D97-AF65-F5344CB8AC3E}">
        <p14:creationId xmlns:p14="http://schemas.microsoft.com/office/powerpoint/2010/main" val="2820719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BEFFCF-1905-DA42-B9A1-2AB55FB5B46B}"/>
              </a:ext>
            </a:extLst>
          </p:cNvPr>
          <p:cNvSpPr>
            <a:spLocks noGrp="1"/>
          </p:cNvSpPr>
          <p:nvPr>
            <p:ph type="title"/>
          </p:nvPr>
        </p:nvSpPr>
        <p:spPr>
          <a:xfrm>
            <a:off x="838200" y="381000"/>
            <a:ext cx="10515600" cy="787400"/>
          </a:xfrm>
        </p:spPr>
        <p:txBody>
          <a:bodyPr/>
          <a:lstStyle/>
          <a:p>
            <a:r>
              <a:rPr lang="de-DE" sz="3200" b="1" dirty="0"/>
              <a:t>Musterlösung Aufgabe 4</a:t>
            </a:r>
          </a:p>
        </p:txBody>
      </p:sp>
      <p:sp>
        <p:nvSpPr>
          <p:cNvPr id="3" name="Inhaltsplatzhalter 2">
            <a:extLst>
              <a:ext uri="{FF2B5EF4-FFF2-40B4-BE49-F238E27FC236}">
                <a16:creationId xmlns:a16="http://schemas.microsoft.com/office/drawing/2014/main" id="{9DE1044F-0F2C-5CE7-6F86-6FACB3E9527A}"/>
              </a:ext>
            </a:extLst>
          </p:cNvPr>
          <p:cNvSpPr>
            <a:spLocks noGrp="1"/>
          </p:cNvSpPr>
          <p:nvPr>
            <p:ph idx="1"/>
          </p:nvPr>
        </p:nvSpPr>
        <p:spPr>
          <a:xfrm>
            <a:off x="838200" y="1320800"/>
            <a:ext cx="10515600" cy="4953000"/>
          </a:xfrm>
        </p:spPr>
        <p:txBody>
          <a:bodyPr/>
          <a:lstStyle/>
          <a:p>
            <a:pPr algn="l">
              <a:spcAft>
                <a:spcPts val="400"/>
              </a:spcAft>
              <a:buNone/>
            </a:pPr>
            <a:r>
              <a:rPr lang="de-DE" sz="2200" b="1" dirty="0">
                <a:solidFill>
                  <a:srgbClr val="002C58"/>
                </a:solidFill>
              </a:rPr>
              <a:t>Die Sichtbarkeit</a:t>
            </a:r>
          </a:p>
          <a:p>
            <a:pPr marL="285750" indent="-285750" algn="l">
              <a:spcAft>
                <a:spcPts val="200"/>
              </a:spcAft>
              <a:buClr>
                <a:srgbClr val="002C58"/>
              </a:buClr>
              <a:buFont typeface="Arial"/>
              <a:buChar char="▪"/>
            </a:pPr>
            <a:r>
              <a:rPr lang="de-DE" sz="1800" dirty="0">
                <a:solidFill>
                  <a:srgbClr val="212121"/>
                </a:solidFill>
              </a:rPr>
              <a:t>Legt fest, wer auf Attribute und Methoden zugreifen darf</a:t>
            </a:r>
          </a:p>
          <a:p>
            <a:pPr marL="285750" indent="-285750" algn="l">
              <a:spcAft>
                <a:spcPts val="200"/>
              </a:spcAft>
              <a:buClr>
                <a:srgbClr val="002C58"/>
              </a:buClr>
              <a:buFont typeface="Arial"/>
              <a:buChar char="▪"/>
            </a:pPr>
            <a:r>
              <a:rPr lang="de-DE" sz="1800" dirty="0">
                <a:solidFill>
                  <a:srgbClr val="212121"/>
                </a:solidFill>
              </a:rPr>
              <a:t>Attribut gesamtbetrag: nach außen gesperrt (privat)</a:t>
            </a:r>
          </a:p>
          <a:p>
            <a:pPr marL="285750" indent="-285750" algn="l">
              <a:spcAft>
                <a:spcPts val="1000"/>
              </a:spcAft>
              <a:buClr>
                <a:srgbClr val="002C58"/>
              </a:buClr>
              <a:buFont typeface="Arial"/>
              <a:buChar char="▪"/>
            </a:pPr>
            <a:r>
              <a:rPr lang="de-DE" sz="1800" dirty="0">
                <a:solidFill>
                  <a:srgbClr val="212121"/>
                </a:solidFill>
              </a:rPr>
              <a:t>Methode gesamtbetragBerechnen(): bleibt offen (öffentlich)</a:t>
            </a:r>
          </a:p>
          <a:p>
            <a:pPr algn="l">
              <a:spcAft>
                <a:spcPts val="400"/>
              </a:spcAft>
              <a:buNone/>
            </a:pPr>
            <a:r>
              <a:rPr lang="de-DE" sz="2200" b="1" dirty="0">
                <a:solidFill>
                  <a:srgbClr val="002C58"/>
                </a:solidFill>
              </a:rPr>
              <a:t>Wirkung</a:t>
            </a:r>
          </a:p>
          <a:p>
            <a:pPr marL="285750" indent="-285750" algn="l">
              <a:spcAft>
                <a:spcPts val="200"/>
              </a:spcAft>
              <a:buClr>
                <a:srgbClr val="002C58"/>
              </a:buClr>
              <a:buFont typeface="Arial"/>
              <a:buChar char="▪"/>
            </a:pPr>
            <a:r>
              <a:rPr lang="de-DE" sz="1800" dirty="0">
                <a:solidFill>
                  <a:srgbClr val="212121"/>
                </a:solidFill>
              </a:rPr>
              <a:t>Von außen lässt sich der Betrag nur über gesamtbetragBerechnen() erzeugen</a:t>
            </a:r>
          </a:p>
          <a:p>
            <a:pPr marL="285750" indent="-285750" algn="l">
              <a:spcAft>
                <a:spcPts val="600"/>
              </a:spcAft>
              <a:buClr>
                <a:srgbClr val="002C58"/>
              </a:buClr>
              <a:buFont typeface="Arial"/>
              <a:buChar char="▪"/>
            </a:pPr>
            <a:r>
              <a:rPr lang="de-DE" sz="1800" dirty="0">
                <a:solidFill>
                  <a:srgbClr val="212121"/>
                </a:solidFill>
              </a:rPr>
              <a:t>Kein versehentliches Überschreiben durch andere Klassen</a:t>
            </a:r>
          </a:p>
          <a:p>
            <a:pPr algn="l">
              <a:buNone/>
            </a:pPr>
            <a:r>
              <a:rPr lang="de-DE" sz="1800" b="1" dirty="0">
                <a:solidFill>
                  <a:srgbClr val="002C58"/>
                </a:solidFill>
              </a:rPr>
              <a:t>Die Sichtbarkeit gibt an, wer auf Attribute oder Methoden zugreifen darf.</a:t>
            </a:r>
          </a:p>
        </p:txBody>
      </p:sp>
    </p:spTree>
    <p:extLst>
      <p:ext uri="{BB962C8B-B14F-4D97-AF65-F5344CB8AC3E}">
        <p14:creationId xmlns:p14="http://schemas.microsoft.com/office/powerpoint/2010/main" val="7678433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Einordnung in ARIS: Daten- und Funktionssicht</a:t>
            </a:r>
          </a:p>
        </p:txBody>
      </p:sp>
      <p:sp>
        <p:nvSpPr>
          <p:cNvPr id="8" name="Isosceles Triangle 7"/>
          <p:cNvSpPr/>
          <p:nvPr/>
        </p:nvSpPr>
        <p:spPr bwMode="auto">
          <a:xfrm>
            <a:off x="2665319" y="1862079"/>
            <a:ext cx="5695950" cy="1257300"/>
          </a:xfrm>
          <a:prstGeom prst="triangle">
            <a:avLst/>
          </a:prstGeom>
          <a:solidFill>
            <a:srgbClr val="012656"/>
          </a:solidFill>
          <a:ln w="12700" cap="flat" cmpd="sng" algn="ctr">
            <a:noFill/>
            <a:prstDash val="solid"/>
            <a:round/>
            <a:headEnd type="none" w="sm" len="sm"/>
            <a:tailEnd type="none" w="sm" len="sm"/>
          </a:ln>
          <a:effectLst/>
        </p:spPr>
        <p:txBody>
          <a:bodyPr/>
          <a:lstStyle/>
          <a:p>
            <a:pPr algn="ctr">
              <a:defRPr/>
            </a:pPr>
            <a:endParaRPr lang="en-US" sz="2215" dirty="0">
              <a:latin typeface="+mj-lt"/>
            </a:endParaRPr>
          </a:p>
        </p:txBody>
      </p:sp>
      <p:sp>
        <p:nvSpPr>
          <p:cNvPr id="11" name="Rectangle 10"/>
          <p:cNvSpPr/>
          <p:nvPr/>
        </p:nvSpPr>
        <p:spPr bwMode="auto">
          <a:xfrm>
            <a:off x="4717958" y="3453278"/>
            <a:ext cx="1552575" cy="520137"/>
          </a:xfrm>
          <a:prstGeom prst="rect">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cxnSp>
        <p:nvCxnSpPr>
          <p:cNvPr id="11275" name="Straight Arrow Connector 9"/>
          <p:cNvCxnSpPr>
            <a:cxnSpLocks noChangeShapeType="1"/>
            <a:stCxn id="8" idx="3"/>
            <a:endCxn id="11" idx="0"/>
          </p:cNvCxnSpPr>
          <p:nvPr/>
        </p:nvCxnSpPr>
        <p:spPr bwMode="auto">
          <a:xfrm flipH="1">
            <a:off x="5494246" y="3119379"/>
            <a:ext cx="19048" cy="333899"/>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cxnSp>
        <p:nvCxnSpPr>
          <p:cNvPr id="11276" name="Straight Arrow Connector 11"/>
          <p:cNvCxnSpPr>
            <a:cxnSpLocks noChangeShapeType="1"/>
          </p:cNvCxnSpPr>
          <p:nvPr/>
        </p:nvCxnSpPr>
        <p:spPr bwMode="auto">
          <a:xfrm>
            <a:off x="4304148" y="4289519"/>
            <a:ext cx="413811" cy="0"/>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cxnSp>
        <p:nvCxnSpPr>
          <p:cNvPr id="11277" name="Straight Arrow Connector 13"/>
          <p:cNvCxnSpPr>
            <a:cxnSpLocks noChangeShapeType="1"/>
          </p:cNvCxnSpPr>
          <p:nvPr/>
        </p:nvCxnSpPr>
        <p:spPr bwMode="auto">
          <a:xfrm>
            <a:off x="6270533" y="4289519"/>
            <a:ext cx="449595" cy="0"/>
          </a:xfrm>
          <a:prstGeom prst="straightConnector1">
            <a:avLst/>
          </a:prstGeom>
          <a:noFill/>
          <a:ln w="28575" algn="ctr">
            <a:solidFill>
              <a:schemeClr val="tx2">
                <a:lumMod val="60000"/>
                <a:lumOff val="40000"/>
              </a:schemeClr>
            </a:solidFill>
            <a:round/>
            <a:headEnd type="arrow" w="med" len="med"/>
            <a:tailEnd type="arrow" w="med" len="med"/>
          </a:ln>
          <a:extLst>
            <a:ext uri="{909E8E84-426E-40DD-AFC4-6F175D3DCCD1}">
              <a14:hiddenFill xmlns:a14="http://schemas.microsoft.com/office/drawing/2010/main">
                <a:noFill/>
              </a14:hiddenFill>
            </a:ext>
          </a:extLst>
        </p:spPr>
      </p:cxnSp>
      <p:sp>
        <p:nvSpPr>
          <p:cNvPr id="3" name="Textfeld 2"/>
          <p:cNvSpPr txBox="1"/>
          <p:nvPr/>
        </p:nvSpPr>
        <p:spPr>
          <a:xfrm>
            <a:off x="6631355" y="4939251"/>
            <a:ext cx="2016899" cy="376385"/>
          </a:xfrm>
          <a:prstGeom prst="rect">
            <a:avLst/>
          </a:prstGeom>
          <a:noFill/>
        </p:spPr>
        <p:txBody>
          <a:bodyPr wrap="none" rtlCol="0">
            <a:spAutoFit/>
          </a:bodyPr>
          <a:lstStyle/>
          <a:p>
            <a:r>
              <a:rPr lang="de-DE" sz="1846" b="1" dirty="0">
                <a:latin typeface="+mj-lt"/>
              </a:rPr>
              <a:t>FUNKTIONSSICHT</a:t>
            </a:r>
            <a:endParaRPr lang="en-US" sz="1846" b="1" dirty="0">
              <a:latin typeface="+mj-lt"/>
            </a:endParaRPr>
          </a:p>
        </p:txBody>
      </p:sp>
      <p:sp>
        <p:nvSpPr>
          <p:cNvPr id="13" name="Textfeld 12"/>
          <p:cNvSpPr txBox="1"/>
          <p:nvPr/>
        </p:nvSpPr>
        <p:spPr>
          <a:xfrm>
            <a:off x="2856886" y="4939251"/>
            <a:ext cx="1507144" cy="376385"/>
          </a:xfrm>
          <a:prstGeom prst="rect">
            <a:avLst/>
          </a:prstGeom>
          <a:noFill/>
        </p:spPr>
        <p:txBody>
          <a:bodyPr wrap="none" rtlCol="0">
            <a:spAutoFit/>
          </a:bodyPr>
          <a:lstStyle/>
          <a:p>
            <a:r>
              <a:rPr lang="de-DE" sz="1846" b="1" dirty="0">
                <a:latin typeface="+mj-lt"/>
              </a:rPr>
              <a:t>DATENSICHT</a:t>
            </a:r>
            <a:endParaRPr lang="en-US" sz="1846" b="1" dirty="0">
              <a:latin typeface="+mj-lt"/>
            </a:endParaRPr>
          </a:p>
        </p:txBody>
      </p:sp>
      <p:sp>
        <p:nvSpPr>
          <p:cNvPr id="4" name="Textfeld 3"/>
          <p:cNvSpPr txBox="1"/>
          <p:nvPr/>
        </p:nvSpPr>
        <p:spPr>
          <a:xfrm>
            <a:off x="4713151" y="4998434"/>
            <a:ext cx="1749197" cy="376385"/>
          </a:xfrm>
          <a:prstGeom prst="rect">
            <a:avLst/>
          </a:prstGeom>
          <a:noFill/>
        </p:spPr>
        <p:txBody>
          <a:bodyPr wrap="none" rtlCol="0">
            <a:spAutoFit/>
          </a:bodyPr>
          <a:lstStyle/>
          <a:p>
            <a:r>
              <a:rPr lang="de-DE" sz="1846" b="1" dirty="0">
                <a:latin typeface="+mj-lt"/>
              </a:rPr>
              <a:t>PROZESSSICHT</a:t>
            </a:r>
            <a:endParaRPr lang="en-US" sz="1846" b="1" dirty="0">
              <a:latin typeface="+mj-lt"/>
            </a:endParaRPr>
          </a:p>
        </p:txBody>
      </p:sp>
      <p:sp>
        <p:nvSpPr>
          <p:cNvPr id="15" name="Textfeld 14"/>
          <p:cNvSpPr txBox="1"/>
          <p:nvPr/>
        </p:nvSpPr>
        <p:spPr>
          <a:xfrm>
            <a:off x="2909624" y="1862079"/>
            <a:ext cx="2008883" cy="660437"/>
          </a:xfrm>
          <a:prstGeom prst="rect">
            <a:avLst/>
          </a:prstGeom>
          <a:noFill/>
        </p:spPr>
        <p:txBody>
          <a:bodyPr wrap="none" rtlCol="0">
            <a:spAutoFit/>
          </a:bodyPr>
          <a:lstStyle/>
          <a:p>
            <a:r>
              <a:rPr lang="de-DE" sz="1846" b="1" dirty="0">
                <a:latin typeface="+mj-lt"/>
              </a:rPr>
              <a:t>ORGANISATIONS-</a:t>
            </a:r>
          </a:p>
          <a:p>
            <a:r>
              <a:rPr lang="de-DE" sz="1846" b="1" dirty="0">
                <a:latin typeface="+mj-lt"/>
              </a:rPr>
              <a:t>SICHT</a:t>
            </a:r>
            <a:endParaRPr lang="en-US" sz="1846" b="1" dirty="0">
              <a:latin typeface="+mj-lt"/>
            </a:endParaRPr>
          </a:p>
        </p:txBody>
      </p:sp>
      <p:cxnSp>
        <p:nvCxnSpPr>
          <p:cNvPr id="26" name="Gerader Verbinder 25"/>
          <p:cNvCxnSpPr/>
          <p:nvPr/>
        </p:nvCxnSpPr>
        <p:spPr>
          <a:xfrm>
            <a:off x="4704266" y="4520574"/>
            <a:ext cx="156626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Gerader Verbinder 33"/>
          <p:cNvCxnSpPr>
            <a:cxnSpLocks/>
            <a:endCxn id="8" idx="5"/>
          </p:cNvCxnSpPr>
          <p:nvPr/>
        </p:nvCxnSpPr>
        <p:spPr>
          <a:xfrm>
            <a:off x="4122645" y="2480151"/>
            <a:ext cx="2814637" cy="10578"/>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p:cNvCxnSpPr/>
          <p:nvPr/>
        </p:nvCxnSpPr>
        <p:spPr>
          <a:xfrm>
            <a:off x="3435966" y="2785120"/>
            <a:ext cx="408900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6" name="Textfeld 35"/>
          <p:cNvSpPr txBox="1"/>
          <p:nvPr/>
        </p:nvSpPr>
        <p:spPr>
          <a:xfrm>
            <a:off x="4977492" y="2075894"/>
            <a:ext cx="1162498" cy="305468"/>
          </a:xfrm>
          <a:prstGeom prst="rect">
            <a:avLst/>
          </a:prstGeom>
          <a:noFill/>
        </p:spPr>
        <p:txBody>
          <a:bodyPr wrap="none" rtlCol="0">
            <a:spAutoFit/>
          </a:bodyPr>
          <a:lstStyle/>
          <a:p>
            <a:pPr algn="ctr"/>
            <a:r>
              <a:rPr lang="en-GB" sz="1385" b="1" dirty="0" err="1">
                <a:solidFill>
                  <a:schemeClr val="bg1"/>
                </a:solidFill>
                <a:latin typeface="+mj-lt"/>
              </a:rPr>
              <a:t>Fachkonzept</a:t>
            </a:r>
            <a:endParaRPr lang="de-DE" sz="1385" b="1" dirty="0">
              <a:solidFill>
                <a:schemeClr val="bg1"/>
              </a:solidFill>
              <a:latin typeface="+mj-lt"/>
            </a:endParaRPr>
          </a:p>
        </p:txBody>
      </p:sp>
      <p:sp>
        <p:nvSpPr>
          <p:cNvPr id="37" name="Textfeld 36"/>
          <p:cNvSpPr txBox="1"/>
          <p:nvPr/>
        </p:nvSpPr>
        <p:spPr>
          <a:xfrm>
            <a:off x="5004743" y="2482576"/>
            <a:ext cx="1107996" cy="305468"/>
          </a:xfrm>
          <a:prstGeom prst="rect">
            <a:avLst/>
          </a:prstGeom>
          <a:noFill/>
        </p:spPr>
        <p:txBody>
          <a:bodyPr wrap="none" rtlCol="0">
            <a:spAutoFit/>
          </a:bodyPr>
          <a:lstStyle/>
          <a:p>
            <a:pPr algn="ctr"/>
            <a:r>
              <a:rPr lang="en-GB" sz="1385" b="1" dirty="0">
                <a:solidFill>
                  <a:schemeClr val="bg1"/>
                </a:solidFill>
                <a:latin typeface="+mj-lt"/>
              </a:rPr>
              <a:t>DV-</a:t>
            </a:r>
            <a:r>
              <a:rPr lang="en-GB" sz="1385" b="1" dirty="0" err="1">
                <a:solidFill>
                  <a:schemeClr val="bg1"/>
                </a:solidFill>
                <a:latin typeface="+mj-lt"/>
              </a:rPr>
              <a:t>Konzept</a:t>
            </a:r>
            <a:endParaRPr lang="de-DE" sz="1385" b="1" dirty="0">
              <a:solidFill>
                <a:schemeClr val="bg1"/>
              </a:solidFill>
              <a:latin typeface="+mj-lt"/>
            </a:endParaRPr>
          </a:p>
        </p:txBody>
      </p:sp>
      <p:sp>
        <p:nvSpPr>
          <p:cNvPr id="38" name="Textfeld 37"/>
          <p:cNvSpPr txBox="1"/>
          <p:nvPr/>
        </p:nvSpPr>
        <p:spPr>
          <a:xfrm>
            <a:off x="4800360" y="2823210"/>
            <a:ext cx="1516762" cy="305468"/>
          </a:xfrm>
          <a:prstGeom prst="rect">
            <a:avLst/>
          </a:prstGeom>
          <a:noFill/>
        </p:spPr>
        <p:txBody>
          <a:bodyPr wrap="none" rtlCol="0">
            <a:spAutoFit/>
          </a:bodyPr>
          <a:lstStyle/>
          <a:p>
            <a:pPr algn="ctr"/>
            <a:r>
              <a:rPr lang="en-GB" sz="1385" b="1" dirty="0" err="1">
                <a:solidFill>
                  <a:schemeClr val="bg1"/>
                </a:solidFill>
                <a:latin typeface="+mj-lt"/>
              </a:rPr>
              <a:t>Implementierung</a:t>
            </a:r>
            <a:endParaRPr lang="de-DE" sz="1385" b="1" dirty="0">
              <a:solidFill>
                <a:schemeClr val="bg1"/>
              </a:solidFill>
              <a:latin typeface="+mj-lt"/>
            </a:endParaRPr>
          </a:p>
        </p:txBody>
      </p:sp>
      <p:sp>
        <p:nvSpPr>
          <p:cNvPr id="42" name="Can 8"/>
          <p:cNvSpPr/>
          <p:nvPr/>
        </p:nvSpPr>
        <p:spPr bwMode="auto">
          <a:xfrm>
            <a:off x="2794106" y="4181400"/>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41" name="Can 8"/>
          <p:cNvSpPr/>
          <p:nvPr/>
        </p:nvSpPr>
        <p:spPr bwMode="auto">
          <a:xfrm>
            <a:off x="2794106" y="3762724"/>
            <a:ext cx="1504950" cy="757850"/>
          </a:xfrm>
          <a:prstGeom prst="can">
            <a:avLst/>
          </a:prstGeom>
          <a:solidFill>
            <a:srgbClr val="FFC000"/>
          </a:solidFill>
          <a:ln w="12700" cap="flat" cmpd="sng" algn="ctr">
            <a:solidFill>
              <a:srgbClr val="FF9600"/>
            </a:solidFill>
            <a:prstDash val="solid"/>
            <a:round/>
            <a:headEnd type="none" w="sm" len="sm"/>
            <a:tailEnd type="none" w="sm" len="sm"/>
          </a:ln>
          <a:effectLst/>
        </p:spPr>
        <p:txBody>
          <a:bodyPr anchor="ctr"/>
          <a:lstStyle/>
          <a:p>
            <a:pPr algn="ctr">
              <a:defRPr/>
            </a:pPr>
            <a:endParaRPr lang="en-US" sz="2215" dirty="0">
              <a:solidFill>
                <a:srgbClr val="254061"/>
              </a:solidFill>
              <a:latin typeface="+mj-lt"/>
            </a:endParaRPr>
          </a:p>
        </p:txBody>
      </p:sp>
      <p:sp>
        <p:nvSpPr>
          <p:cNvPr id="40" name="Can 8"/>
          <p:cNvSpPr/>
          <p:nvPr/>
        </p:nvSpPr>
        <p:spPr bwMode="auto">
          <a:xfrm>
            <a:off x="2794106" y="3335555"/>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12" name="Textfeld 11"/>
          <p:cNvSpPr txBox="1"/>
          <p:nvPr/>
        </p:nvSpPr>
        <p:spPr>
          <a:xfrm>
            <a:off x="2999269" y="3658871"/>
            <a:ext cx="1162498" cy="305468"/>
          </a:xfrm>
          <a:prstGeom prst="rect">
            <a:avLst/>
          </a:prstGeom>
          <a:noFill/>
        </p:spPr>
        <p:txBody>
          <a:bodyPr wrap="none" rtlCol="0">
            <a:spAutoFit/>
          </a:bodyPr>
          <a:lstStyle/>
          <a:p>
            <a:pPr algn="ctr"/>
            <a:r>
              <a:rPr lang="en-GB" sz="1385" b="1" dirty="0" err="1">
                <a:solidFill>
                  <a:schemeClr val="bg1"/>
                </a:solidFill>
                <a:latin typeface="+mj-lt"/>
              </a:rPr>
              <a:t>Fachkonzept</a:t>
            </a:r>
            <a:endParaRPr lang="de-DE" sz="1385" b="1" dirty="0">
              <a:solidFill>
                <a:schemeClr val="bg1"/>
              </a:solidFill>
              <a:latin typeface="+mj-lt"/>
            </a:endParaRPr>
          </a:p>
        </p:txBody>
      </p:sp>
      <p:sp>
        <p:nvSpPr>
          <p:cNvPr id="21" name="Textfeld 20"/>
          <p:cNvSpPr txBox="1"/>
          <p:nvPr/>
        </p:nvSpPr>
        <p:spPr>
          <a:xfrm>
            <a:off x="3026520" y="4130634"/>
            <a:ext cx="1107996" cy="305468"/>
          </a:xfrm>
          <a:prstGeom prst="rect">
            <a:avLst/>
          </a:prstGeom>
          <a:noFill/>
        </p:spPr>
        <p:txBody>
          <a:bodyPr wrap="none" rtlCol="0">
            <a:spAutoFit/>
          </a:bodyPr>
          <a:lstStyle/>
          <a:p>
            <a:pPr algn="ctr"/>
            <a:r>
              <a:rPr lang="en-GB" sz="1385" b="1" dirty="0">
                <a:solidFill>
                  <a:srgbClr val="254061"/>
                </a:solidFill>
                <a:latin typeface="+mj-lt"/>
              </a:rPr>
              <a:t>DV-</a:t>
            </a:r>
            <a:r>
              <a:rPr lang="en-GB" sz="1385" b="1" dirty="0" err="1">
                <a:solidFill>
                  <a:srgbClr val="254061"/>
                </a:solidFill>
                <a:latin typeface="+mj-lt"/>
              </a:rPr>
              <a:t>Konzept</a:t>
            </a:r>
            <a:endParaRPr lang="de-DE" sz="1385" b="1" dirty="0">
              <a:solidFill>
                <a:srgbClr val="254061"/>
              </a:solidFill>
              <a:latin typeface="+mj-lt"/>
            </a:endParaRPr>
          </a:p>
        </p:txBody>
      </p:sp>
      <p:sp>
        <p:nvSpPr>
          <p:cNvPr id="22" name="Textfeld 21"/>
          <p:cNvSpPr txBox="1"/>
          <p:nvPr/>
        </p:nvSpPr>
        <p:spPr>
          <a:xfrm>
            <a:off x="2822137" y="4602396"/>
            <a:ext cx="1516762" cy="305468"/>
          </a:xfrm>
          <a:prstGeom prst="rect">
            <a:avLst/>
          </a:prstGeom>
          <a:noFill/>
        </p:spPr>
        <p:txBody>
          <a:bodyPr wrap="none" rtlCol="0">
            <a:spAutoFit/>
          </a:bodyPr>
          <a:lstStyle/>
          <a:p>
            <a:pPr algn="ctr"/>
            <a:r>
              <a:rPr lang="en-GB" sz="1385" b="1" dirty="0" err="1">
                <a:solidFill>
                  <a:schemeClr val="bg1"/>
                </a:solidFill>
                <a:latin typeface="+mj-lt"/>
              </a:rPr>
              <a:t>Implementierung</a:t>
            </a:r>
            <a:endParaRPr lang="de-DE" sz="1385" b="1" dirty="0">
              <a:solidFill>
                <a:schemeClr val="bg1"/>
              </a:solidFill>
              <a:latin typeface="+mj-lt"/>
            </a:endParaRPr>
          </a:p>
        </p:txBody>
      </p:sp>
      <p:sp>
        <p:nvSpPr>
          <p:cNvPr id="43" name="Can 8"/>
          <p:cNvSpPr/>
          <p:nvPr/>
        </p:nvSpPr>
        <p:spPr bwMode="auto">
          <a:xfrm>
            <a:off x="6720127" y="4181400"/>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44" name="Can 8"/>
          <p:cNvSpPr/>
          <p:nvPr/>
        </p:nvSpPr>
        <p:spPr bwMode="auto">
          <a:xfrm>
            <a:off x="6720127" y="3762724"/>
            <a:ext cx="1504950" cy="757850"/>
          </a:xfrm>
          <a:prstGeom prst="can">
            <a:avLst/>
          </a:prstGeom>
          <a:solidFill>
            <a:srgbClr val="FFC000"/>
          </a:solidFill>
          <a:ln w="12700" cap="flat" cmpd="sng" algn="ctr">
            <a:solidFill>
              <a:srgbClr val="FF9600"/>
            </a:solidFill>
            <a:prstDash val="solid"/>
            <a:round/>
            <a:headEnd type="none" w="sm" len="sm"/>
            <a:tailEnd type="none" w="sm" len="sm"/>
          </a:ln>
          <a:effectLst/>
        </p:spPr>
        <p:txBody>
          <a:bodyPr anchor="ctr"/>
          <a:lstStyle/>
          <a:p>
            <a:pPr algn="ctr">
              <a:defRPr/>
            </a:pPr>
            <a:endParaRPr lang="en-US" sz="2215" dirty="0">
              <a:solidFill>
                <a:srgbClr val="254061"/>
              </a:solidFill>
              <a:latin typeface="+mj-lt"/>
            </a:endParaRPr>
          </a:p>
        </p:txBody>
      </p:sp>
      <p:sp>
        <p:nvSpPr>
          <p:cNvPr id="45" name="Can 8"/>
          <p:cNvSpPr/>
          <p:nvPr/>
        </p:nvSpPr>
        <p:spPr bwMode="auto">
          <a:xfrm>
            <a:off x="6720127" y="3335555"/>
            <a:ext cx="1504950" cy="757850"/>
          </a:xfrm>
          <a:prstGeom prst="can">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46" name="Textfeld 45"/>
          <p:cNvSpPr txBox="1"/>
          <p:nvPr/>
        </p:nvSpPr>
        <p:spPr>
          <a:xfrm>
            <a:off x="6925290" y="3658871"/>
            <a:ext cx="1162498" cy="305468"/>
          </a:xfrm>
          <a:prstGeom prst="rect">
            <a:avLst/>
          </a:prstGeom>
          <a:noFill/>
        </p:spPr>
        <p:txBody>
          <a:bodyPr wrap="none" rtlCol="0">
            <a:spAutoFit/>
          </a:bodyPr>
          <a:lstStyle/>
          <a:p>
            <a:pPr algn="ctr"/>
            <a:r>
              <a:rPr lang="en-GB" sz="1385" b="1" dirty="0" err="1">
                <a:solidFill>
                  <a:schemeClr val="bg1"/>
                </a:solidFill>
                <a:latin typeface="+mj-lt"/>
              </a:rPr>
              <a:t>Fachkonzept</a:t>
            </a:r>
            <a:endParaRPr lang="de-DE" sz="1385" b="1" dirty="0">
              <a:solidFill>
                <a:schemeClr val="bg1"/>
              </a:solidFill>
              <a:latin typeface="+mj-lt"/>
            </a:endParaRPr>
          </a:p>
        </p:txBody>
      </p:sp>
      <p:sp>
        <p:nvSpPr>
          <p:cNvPr id="47" name="Textfeld 46"/>
          <p:cNvSpPr txBox="1"/>
          <p:nvPr/>
        </p:nvSpPr>
        <p:spPr>
          <a:xfrm>
            <a:off x="6952541" y="4130634"/>
            <a:ext cx="1107996" cy="305468"/>
          </a:xfrm>
          <a:prstGeom prst="rect">
            <a:avLst/>
          </a:prstGeom>
          <a:noFill/>
        </p:spPr>
        <p:txBody>
          <a:bodyPr wrap="none" rtlCol="0">
            <a:spAutoFit/>
          </a:bodyPr>
          <a:lstStyle/>
          <a:p>
            <a:pPr algn="ctr"/>
            <a:r>
              <a:rPr lang="en-GB" sz="1385" b="1" dirty="0">
                <a:solidFill>
                  <a:srgbClr val="254061"/>
                </a:solidFill>
                <a:latin typeface="+mj-lt"/>
              </a:rPr>
              <a:t>DV-</a:t>
            </a:r>
            <a:r>
              <a:rPr lang="en-GB" sz="1385" b="1" dirty="0" err="1">
                <a:solidFill>
                  <a:srgbClr val="254061"/>
                </a:solidFill>
                <a:latin typeface="+mj-lt"/>
              </a:rPr>
              <a:t>Konzept</a:t>
            </a:r>
            <a:endParaRPr lang="de-DE" sz="1385" b="1" dirty="0">
              <a:solidFill>
                <a:srgbClr val="254061"/>
              </a:solidFill>
              <a:latin typeface="+mj-lt"/>
            </a:endParaRPr>
          </a:p>
        </p:txBody>
      </p:sp>
      <p:sp>
        <p:nvSpPr>
          <p:cNvPr id="48" name="Textfeld 47"/>
          <p:cNvSpPr txBox="1"/>
          <p:nvPr/>
        </p:nvSpPr>
        <p:spPr>
          <a:xfrm>
            <a:off x="6748158" y="4602396"/>
            <a:ext cx="1516762" cy="305468"/>
          </a:xfrm>
          <a:prstGeom prst="rect">
            <a:avLst/>
          </a:prstGeom>
          <a:noFill/>
        </p:spPr>
        <p:txBody>
          <a:bodyPr wrap="none" rtlCol="0">
            <a:spAutoFit/>
          </a:bodyPr>
          <a:lstStyle/>
          <a:p>
            <a:pPr algn="ctr"/>
            <a:r>
              <a:rPr lang="en-GB" sz="1385" b="1" dirty="0" err="1">
                <a:solidFill>
                  <a:schemeClr val="bg1"/>
                </a:solidFill>
                <a:latin typeface="+mj-lt"/>
              </a:rPr>
              <a:t>Implementierung</a:t>
            </a:r>
            <a:endParaRPr lang="de-DE" sz="1385" b="1" dirty="0">
              <a:solidFill>
                <a:schemeClr val="bg1"/>
              </a:solidFill>
              <a:latin typeface="+mj-lt"/>
            </a:endParaRPr>
          </a:p>
        </p:txBody>
      </p:sp>
      <p:sp>
        <p:nvSpPr>
          <p:cNvPr id="49" name="Textfeld 48"/>
          <p:cNvSpPr txBox="1"/>
          <p:nvPr/>
        </p:nvSpPr>
        <p:spPr>
          <a:xfrm>
            <a:off x="4932044" y="3571113"/>
            <a:ext cx="1162498" cy="305468"/>
          </a:xfrm>
          <a:prstGeom prst="rect">
            <a:avLst/>
          </a:prstGeom>
          <a:solidFill>
            <a:srgbClr val="012656"/>
          </a:solidFill>
        </p:spPr>
        <p:txBody>
          <a:bodyPr wrap="none" rtlCol="0">
            <a:spAutoFit/>
          </a:bodyPr>
          <a:lstStyle/>
          <a:p>
            <a:pPr algn="ctr"/>
            <a:r>
              <a:rPr lang="en-GB" sz="1385" b="1" dirty="0" err="1">
                <a:solidFill>
                  <a:schemeClr val="bg1"/>
                </a:solidFill>
                <a:latin typeface="+mj-lt"/>
              </a:rPr>
              <a:t>Fachkonzept</a:t>
            </a:r>
            <a:endParaRPr lang="de-DE" sz="1385" b="1" dirty="0">
              <a:solidFill>
                <a:schemeClr val="bg1"/>
              </a:solidFill>
              <a:latin typeface="+mj-lt"/>
            </a:endParaRPr>
          </a:p>
        </p:txBody>
      </p:sp>
      <p:sp>
        <p:nvSpPr>
          <p:cNvPr id="9" name="Rectangle 10">
            <a:extLst>
              <a:ext uri="{FF2B5EF4-FFF2-40B4-BE49-F238E27FC236}">
                <a16:creationId xmlns:a16="http://schemas.microsoft.com/office/drawing/2014/main" id="{AE74C682-A27D-F22C-DA78-89672A1BA037}"/>
              </a:ext>
            </a:extLst>
          </p:cNvPr>
          <p:cNvSpPr/>
          <p:nvPr/>
        </p:nvSpPr>
        <p:spPr bwMode="auto">
          <a:xfrm>
            <a:off x="4717958" y="3964339"/>
            <a:ext cx="1552575" cy="520137"/>
          </a:xfrm>
          <a:prstGeom prst="rect">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10" name="Rectangle 10">
            <a:extLst>
              <a:ext uri="{FF2B5EF4-FFF2-40B4-BE49-F238E27FC236}">
                <a16:creationId xmlns:a16="http://schemas.microsoft.com/office/drawing/2014/main" id="{E16C7B8D-6974-3F27-7DDF-869BFFC20375}"/>
              </a:ext>
            </a:extLst>
          </p:cNvPr>
          <p:cNvSpPr/>
          <p:nvPr/>
        </p:nvSpPr>
        <p:spPr bwMode="auto">
          <a:xfrm>
            <a:off x="4717958" y="4387642"/>
            <a:ext cx="1552575" cy="520137"/>
          </a:xfrm>
          <a:prstGeom prst="rect">
            <a:avLst/>
          </a:prstGeom>
          <a:solidFill>
            <a:srgbClr val="012656"/>
          </a:solidFill>
          <a:ln w="12700" cap="flat" cmpd="sng" algn="ctr">
            <a:solidFill>
              <a:schemeClr val="bg1">
                <a:lumMod val="75000"/>
              </a:schemeClr>
            </a:solidFill>
            <a:prstDash val="solid"/>
            <a:round/>
            <a:headEnd type="none" w="sm" len="sm"/>
            <a:tailEnd type="none" w="sm" len="sm"/>
          </a:ln>
          <a:effectLst/>
        </p:spPr>
        <p:txBody>
          <a:bodyPr anchor="ctr"/>
          <a:lstStyle/>
          <a:p>
            <a:pPr algn="ctr">
              <a:defRPr/>
            </a:pPr>
            <a:endParaRPr lang="en-US" sz="2215" dirty="0">
              <a:latin typeface="+mj-lt"/>
            </a:endParaRPr>
          </a:p>
        </p:txBody>
      </p:sp>
      <p:sp>
        <p:nvSpPr>
          <p:cNvPr id="50" name="Textfeld 49"/>
          <p:cNvSpPr txBox="1"/>
          <p:nvPr/>
        </p:nvSpPr>
        <p:spPr>
          <a:xfrm>
            <a:off x="4911207" y="4036847"/>
            <a:ext cx="1107996" cy="305468"/>
          </a:xfrm>
          <a:prstGeom prst="rect">
            <a:avLst/>
          </a:prstGeom>
          <a:solidFill>
            <a:srgbClr val="012656"/>
          </a:solidFill>
        </p:spPr>
        <p:txBody>
          <a:bodyPr wrap="none" rtlCol="0">
            <a:spAutoFit/>
          </a:bodyPr>
          <a:lstStyle/>
          <a:p>
            <a:pPr algn="ctr"/>
            <a:r>
              <a:rPr lang="en-GB" sz="1385" b="1" dirty="0">
                <a:solidFill>
                  <a:schemeClr val="bg1"/>
                </a:solidFill>
                <a:latin typeface="+mj-lt"/>
              </a:rPr>
              <a:t>DV-</a:t>
            </a:r>
            <a:r>
              <a:rPr lang="en-GB" sz="1385" b="1" dirty="0" err="1">
                <a:solidFill>
                  <a:schemeClr val="bg1"/>
                </a:solidFill>
                <a:latin typeface="+mj-lt"/>
              </a:rPr>
              <a:t>Konzept</a:t>
            </a:r>
            <a:endParaRPr lang="de-DE" sz="1385" b="1" dirty="0">
              <a:solidFill>
                <a:schemeClr val="bg1"/>
              </a:solidFill>
              <a:latin typeface="+mj-lt"/>
            </a:endParaRPr>
          </a:p>
        </p:txBody>
      </p:sp>
      <p:sp>
        <p:nvSpPr>
          <p:cNvPr id="51" name="Textfeld 50"/>
          <p:cNvSpPr txBox="1"/>
          <p:nvPr/>
        </p:nvSpPr>
        <p:spPr>
          <a:xfrm>
            <a:off x="4722089" y="4491243"/>
            <a:ext cx="1516762" cy="305468"/>
          </a:xfrm>
          <a:prstGeom prst="rect">
            <a:avLst/>
          </a:prstGeom>
          <a:solidFill>
            <a:srgbClr val="012656"/>
          </a:solidFill>
        </p:spPr>
        <p:txBody>
          <a:bodyPr wrap="none" rtlCol="0">
            <a:spAutoFit/>
          </a:bodyPr>
          <a:lstStyle/>
          <a:p>
            <a:pPr algn="ctr"/>
            <a:r>
              <a:rPr lang="en-GB" sz="1385" b="1" dirty="0" err="1">
                <a:solidFill>
                  <a:schemeClr val="bg1"/>
                </a:solidFill>
                <a:latin typeface="+mj-lt"/>
              </a:rPr>
              <a:t>Implementierung</a:t>
            </a:r>
            <a:endParaRPr lang="de-DE" sz="1385" b="1" dirty="0">
              <a:solidFill>
                <a:schemeClr val="bg1"/>
              </a:solidFill>
              <a:latin typeface="+mj-lt"/>
            </a:endParaRPr>
          </a:p>
        </p:txBody>
      </p:sp>
      <p:sp>
        <p:nvSpPr>
          <p:cNvPr id="11278" name="TextBox 11277"/>
          <p:cNvSpPr txBox="1"/>
          <p:nvPr/>
        </p:nvSpPr>
        <p:spPr>
          <a:xfrm>
            <a:off x="932688" y="4041648"/>
            <a:ext cx="1645920" cy="502920"/>
          </a:xfrm>
          <a:prstGeom prst="rect">
            <a:avLst/>
          </a:prstGeom>
          <a:noFill/>
        </p:spPr>
        <p:txBody>
          <a:bodyPr wrap="square" lIns="0" tIns="0" rIns="0" bIns="0" anchor="ctr">
            <a:spAutoFit/>
          </a:bodyPr>
          <a:lstStyle/>
          <a:p>
            <a:pPr algn="r"/>
            <a:r>
              <a:rPr sz="1385" b="1">
                <a:solidFill>
                  <a:srgbClr val="002C58"/>
                </a:solidFill>
                <a:latin typeface="+mj-lt"/>
              </a:rPr>
              <a:t>UML-
Klassendiagramm</a:t>
            </a:r>
          </a:p>
        </p:txBody>
      </p:sp>
      <p:cxnSp>
        <p:nvCxnSpPr>
          <p:cNvPr id="11279" name="Connector 11278"/>
          <p:cNvCxnSpPr/>
          <p:nvPr/>
        </p:nvCxnSpPr>
        <p:spPr>
          <a:xfrm>
            <a:off x="2651760" y="4288536"/>
            <a:ext cx="320040" cy="0"/>
          </a:xfrm>
          <a:prstGeom prst="line">
            <a:avLst/>
          </a:prstGeom>
          <a:ln w="25400">
            <a:solidFill>
              <a:srgbClr val="002C58"/>
            </a:solidFill>
          </a:ln>
        </p:spPr>
        <p:style>
          <a:lnRef idx="2">
            <a:schemeClr val="accent1"/>
          </a:lnRef>
          <a:fillRef idx="0">
            <a:schemeClr val="accent1"/>
          </a:fillRef>
          <a:effectRef idx="1">
            <a:schemeClr val="accent1"/>
          </a:effectRef>
          <a:fontRef idx="minor">
            <a:schemeClr val="tx1"/>
          </a:fontRef>
        </p:style>
      </p:cxnSp>
      <p:sp>
        <p:nvSpPr>
          <p:cNvPr id="11280" name="TextBox 11279"/>
          <p:cNvSpPr txBox="1"/>
          <p:nvPr/>
        </p:nvSpPr>
        <p:spPr>
          <a:xfrm>
            <a:off x="8522208" y="4041648"/>
            <a:ext cx="1645920" cy="502920"/>
          </a:xfrm>
          <a:prstGeom prst="rect">
            <a:avLst/>
          </a:prstGeom>
          <a:noFill/>
        </p:spPr>
        <p:txBody>
          <a:bodyPr wrap="square" lIns="0" tIns="0" rIns="0" bIns="0" anchor="ctr">
            <a:spAutoFit/>
          </a:bodyPr>
          <a:lstStyle/>
          <a:p>
            <a:pPr algn="l"/>
            <a:r>
              <a:rPr sz="1385" b="1">
                <a:solidFill>
                  <a:srgbClr val="002C58"/>
                </a:solidFill>
                <a:latin typeface="+mj-lt"/>
              </a:rPr>
              <a:t>UML-
Klassendiagramm</a:t>
            </a:r>
          </a:p>
        </p:txBody>
      </p:sp>
      <p:cxnSp>
        <p:nvCxnSpPr>
          <p:cNvPr id="11281" name="Connector 11280"/>
          <p:cNvCxnSpPr/>
          <p:nvPr/>
        </p:nvCxnSpPr>
        <p:spPr>
          <a:xfrm>
            <a:off x="8247888" y="4288536"/>
            <a:ext cx="237744" cy="0"/>
          </a:xfrm>
          <a:prstGeom prst="line">
            <a:avLst/>
          </a:prstGeom>
          <a:ln w="25400">
            <a:solidFill>
              <a:srgbClr val="002C58"/>
            </a:solidFill>
          </a:ln>
        </p:spPr>
        <p:style>
          <a:lnRef idx="2">
            <a:schemeClr val="accent1"/>
          </a:lnRef>
          <a:fillRef idx="0">
            <a:schemeClr val="accent1"/>
          </a:fillRef>
          <a:effectRef idx="1">
            <a:schemeClr val="accent1"/>
          </a:effectRef>
          <a:fontRef idx="minor">
            <a:schemeClr val="tx1"/>
          </a:fontRef>
        </p:style>
      </p:cxnSp>
      <p:sp>
        <p:nvSpPr>
          <p:cNvPr id="11282" name="TextBox 11281"/>
          <p:cNvSpPr txBox="1"/>
          <p:nvPr/>
        </p:nvSpPr>
        <p:spPr>
          <a:xfrm>
            <a:off x="841248" y="5504688"/>
            <a:ext cx="6766560" cy="603504"/>
          </a:xfrm>
          <a:prstGeom prst="rect">
            <a:avLst/>
          </a:prstGeom>
          <a:noFill/>
        </p:spPr>
        <p:txBody>
          <a:bodyPr wrap="square" lIns="0" rIns="0">
            <a:spAutoFit/>
          </a:bodyPr>
          <a:lstStyle/>
          <a:p>
            <a:r>
              <a:rPr sz="1500" b="1">
                <a:solidFill>
                  <a:srgbClr val="002C58"/>
                </a:solidFill>
                <a:latin typeface="+mj-lt"/>
              </a:rPr>
              <a:t>Struktur statt Ablauf – deshalb Datensicht. Weil Klassen auch Methoden tragen, führt der Modulüberblick das Klassendiagramm zusätzlich in der Funktionssicht.</a:t>
            </a:r>
          </a:p>
        </p:txBody>
      </p:sp>
      <p:sp>
        <p:nvSpPr>
          <p:cNvPr id="11283" name="TextBox 11282"/>
          <p:cNvSpPr txBox="1"/>
          <p:nvPr/>
        </p:nvSpPr>
        <p:spPr>
          <a:xfrm>
            <a:off x="841248" y="6327648"/>
            <a:ext cx="6766560" cy="276999"/>
          </a:xfrm>
          <a:prstGeom prst="rect">
            <a:avLst/>
          </a:prstGeom>
          <a:noFill/>
        </p:spPr>
        <p:txBody>
          <a:bodyPr wrap="square" lIns="0" rIns="0">
            <a:spAutoFit/>
          </a:bodyPr>
          <a:lstStyle/>
          <a:p>
            <a:r>
              <a:rPr sz="1200" dirty="0">
                <a:solidFill>
                  <a:srgbClr val="595959"/>
                </a:solidFill>
                <a:latin typeface="+mj-lt"/>
              </a:rPr>
              <a:t>Folie </a:t>
            </a:r>
            <a:r>
              <a:rPr sz="1200" dirty="0" err="1">
                <a:solidFill>
                  <a:srgbClr val="595959"/>
                </a:solidFill>
                <a:latin typeface="+mj-lt"/>
              </a:rPr>
              <a:t>aus</a:t>
            </a:r>
            <a:r>
              <a:rPr sz="1200" dirty="0">
                <a:solidFill>
                  <a:srgbClr val="595959"/>
                </a:solidFill>
                <a:latin typeface="+mj-lt"/>
              </a:rPr>
              <a:t> der </a:t>
            </a:r>
            <a:r>
              <a:rPr sz="1200" dirty="0" err="1">
                <a:solidFill>
                  <a:srgbClr val="595959"/>
                </a:solidFill>
                <a:latin typeface="+mj-lt"/>
              </a:rPr>
              <a:t>Vorlesung</a:t>
            </a:r>
            <a:r>
              <a:rPr sz="1200" dirty="0">
                <a:solidFill>
                  <a:srgbClr val="595959"/>
                </a:solidFill>
                <a:latin typeface="+mj-lt"/>
              </a:rPr>
              <a:t> von Prof. Dr. Kamyar Sarshar </a:t>
            </a:r>
          </a:p>
        </p:txBody>
      </p:sp>
    </p:spTree>
    <p:extLst>
      <p:ext uri="{BB962C8B-B14F-4D97-AF65-F5344CB8AC3E}">
        <p14:creationId xmlns:p14="http://schemas.microsoft.com/office/powerpoint/2010/main" val="15169598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1788246192383]">
  <a:themeElements>
    <a:clrScheme name="Office">
      <a:dk1>
        <a:srgbClr val="002C58"/>
      </a:dk1>
      <a:lt1>
        <a:srgbClr val="FFFFFF"/>
      </a:lt1>
      <a:dk2>
        <a:srgbClr val="212121"/>
      </a:dk2>
      <a:lt2>
        <a:srgbClr val="DEE8F2"/>
      </a:lt2>
      <a:accent1>
        <a:srgbClr val="002C58"/>
      </a:accent1>
      <a:accent2>
        <a:srgbClr val="548ECB"/>
      </a:accent2>
      <a:accent3>
        <a:srgbClr val="DEE8F2"/>
      </a:accent3>
      <a:accent4>
        <a:srgbClr val="7F98B0"/>
      </a:accent4>
      <a:accent5>
        <a:srgbClr val="9EC2E4"/>
      </a:accent5>
      <a:accent6>
        <a:srgbClr val="212121"/>
      </a:accent6>
      <a:hlink>
        <a:srgbClr val="0563C1"/>
      </a:hlink>
      <a:folHlink>
        <a:srgbClr val="954F72"/>
      </a:folHlink>
    </a:clrScheme>
    <a:fontScheme name="Office">
      <a:majorFont>
        <a:latin typeface="Titillium Web"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tillium Web"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613" row="1">
    <wetp:webextensionref xmlns:r="http://schemas.openxmlformats.org/officeDocument/2006/relationships" r:id="rId1"/>
  </wetp:taskpane>
  <wetp:taskpane dockstate="right" visibility="0" width="613"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43298EC-D853-4F43-A780-C3DAE653539D}">
  <we:reference id="wa200010001" version="1.0.0.1" store="en-US" storeType="OMEX"/>
  <we:alternateReferences>
    <we:reference id="wa200010001" version="1.0.0.1" store="en-US" storeType="OMEX"/>
  </we:alternateReferences>
  <we:properties>
    <we:property name="claude.fileId" value="&quot;a5eb2b94-a7df-4888-a621-b0654a32bfa6&quot;"/>
  </we:properties>
  <we:bindings/>
  <we:snapshot xmlns:r="http://schemas.openxmlformats.org/officeDocument/2006/relationships"/>
</we:webextension>
</file>

<file path=ppt/webextensions/webextension2.xml><?xml version="1.0" encoding="utf-8"?>
<we:webextension xmlns:we="http://schemas.microsoft.com/office/webextensions/webextension/2010/11" id="{02E9F2B8-8945-4547-8363-53F5119A3815}">
  <we:reference id="wa200010725" version="1.0.0.1" store="en-US" storeType="OMEX"/>
  <we:alternateReferences>
    <we:reference id="WA200010725" version="1.0.0.1" store="" storeType="OMEX"/>
  </we:alternateReferences>
  <we:properties>
    <we:property name="claude.fileId" value="&quot;365c5b02-3a29-48b0-9911-bd523d989ab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1376</Words>
  <Application>Microsoft Office PowerPoint</Application>
  <PresentationFormat>Breitbild</PresentationFormat>
  <Paragraphs>133</Paragraphs>
  <Slides>12</Slides>
  <Notes>1</Notes>
  <HiddenSlides>0</HiddenSlides>
  <MMClips>0</MMClips>
  <ScaleCrop>false</ScaleCrop>
  <HeadingPairs>
    <vt:vector size="8" baseType="variant">
      <vt:variant>
        <vt:lpstr>Verwendete Schriftarten</vt:lpstr>
      </vt:variant>
      <vt:variant>
        <vt:i4>4</vt:i4>
      </vt:variant>
      <vt:variant>
        <vt:lpstr>Design</vt:lpstr>
      </vt:variant>
      <vt:variant>
        <vt:i4>1</vt:i4>
      </vt:variant>
      <vt:variant>
        <vt:lpstr>Eingebettete OLE-Server</vt:lpstr>
      </vt:variant>
      <vt:variant>
        <vt:i4>1</vt:i4>
      </vt:variant>
      <vt:variant>
        <vt:lpstr>Folientitel</vt:lpstr>
      </vt:variant>
      <vt:variant>
        <vt:i4>12</vt:i4>
      </vt:variant>
    </vt:vector>
  </HeadingPairs>
  <TitlesOfParts>
    <vt:vector size="18" baseType="lpstr">
      <vt:lpstr>Arial</vt:lpstr>
      <vt:lpstr>Calibri</vt:lpstr>
      <vt:lpstr>Courier New</vt:lpstr>
      <vt:lpstr>Titillium Web</vt:lpstr>
      <vt:lpstr>Office [1788246192383]</vt:lpstr>
      <vt:lpstr>think-cell Slide</vt:lpstr>
      <vt:lpstr>Modellierung betrieblicher Informationssysteme</vt:lpstr>
      <vt:lpstr>Sprachkonstrukte (Überblick)</vt:lpstr>
      <vt:lpstr>Aufgabe 1: Szenario Hochschulverwaltung</vt:lpstr>
      <vt:lpstr>Aufgabe 1: Finden Sie die sechs Fehler</vt:lpstr>
      <vt:lpstr>Musterlösung Aufgabe 1</vt:lpstr>
      <vt:lpstr>Aufgabe 2: Modellieren Sie das Szenario</vt:lpstr>
      <vt:lpstr>Musterlösung Aufgabe 2</vt:lpstr>
      <vt:lpstr>Zusatz- Aufgabe 3: Zweck und Grenzen</vt:lpstr>
      <vt:lpstr>Musterlösung Aufgabe 3</vt:lpstr>
      <vt:lpstr>Zusatz- Aufgabe 4</vt:lpstr>
      <vt:lpstr>Musterlösung Aufgabe 4</vt:lpstr>
      <vt:lpstr>Einordnung in ARIS: Daten- und Funktionssicht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Felix Heinsius</dc:creator>
  <cp:lastModifiedBy>Felix Heinsius</cp:lastModifiedBy>
  <cp:revision>28</cp:revision>
  <dcterms:created xsi:type="dcterms:W3CDTF">2026-09-01T07:03:12Z</dcterms:created>
  <dcterms:modified xsi:type="dcterms:W3CDTF">2026-09-02T07:42:14Z</dcterms:modified>
</cp:coreProperties>
</file>