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39"/>
  </p:notesMasterIdLst>
  <p:handoutMasterIdLst>
    <p:handoutMasterId r:id="rId40"/>
  </p:handoutMasterIdLst>
  <p:sldIdLst>
    <p:sldId id="336" r:id="rId6"/>
    <p:sldId id="715" r:id="rId7"/>
    <p:sldId id="261" r:id="rId8"/>
    <p:sldId id="743" r:id="rId9"/>
    <p:sldId id="744" r:id="rId10"/>
    <p:sldId id="716" r:id="rId11"/>
    <p:sldId id="598" r:id="rId12"/>
    <p:sldId id="717" r:id="rId13"/>
    <p:sldId id="375" r:id="rId14"/>
    <p:sldId id="379" r:id="rId15"/>
    <p:sldId id="688" r:id="rId16"/>
    <p:sldId id="745" r:id="rId17"/>
    <p:sldId id="543" r:id="rId18"/>
    <p:sldId id="582" r:id="rId19"/>
    <p:sldId id="583" r:id="rId20"/>
    <p:sldId id="737" r:id="rId21"/>
    <p:sldId id="750" r:id="rId22"/>
    <p:sldId id="697" r:id="rId23"/>
    <p:sldId id="730" r:id="rId24"/>
    <p:sldId id="698" r:id="rId25"/>
    <p:sldId id="702" r:id="rId26"/>
    <p:sldId id="752" r:id="rId27"/>
    <p:sldId id="720" r:id="rId28"/>
    <p:sldId id="735" r:id="rId29"/>
    <p:sldId id="719" r:id="rId30"/>
    <p:sldId id="721" r:id="rId31"/>
    <p:sldId id="560" r:id="rId32"/>
    <p:sldId id="731" r:id="rId33"/>
    <p:sldId id="734" r:id="rId34"/>
    <p:sldId id="753" r:id="rId35"/>
    <p:sldId id="594" r:id="rId36"/>
    <p:sldId id="739" r:id="rId37"/>
    <p:sldId id="738" r:id="rId38"/>
  </p:sldIdLst>
  <p:sldSz cx="12192000" cy="6858000"/>
  <p:notesSz cx="6797675" cy="9928225"/>
  <p:embeddedFontLst>
    <p:embeddedFont>
      <p:font typeface="Titillium Web" panose="00000500000000000000" pitchFamily="2" charset="0"/>
      <p:regular r:id="rId41"/>
      <p:bold r:id="rId42"/>
      <p:italic r:id="rId43"/>
      <p:boldItalic r:id="rId44"/>
    </p:embeddedFont>
    <p:embeddedFont>
      <p:font typeface="TitilliumText25L" panose="020B0604020202020204" charset="0"/>
      <p:regular r:id="rId45"/>
      <p:bold r:id="rId46"/>
    </p:embeddedFont>
    <p:embeddedFont>
      <p:font typeface="Wingdings 3" panose="05040102010807070707" pitchFamily="18" charset="2"/>
      <p:regular r:id="rId47"/>
    </p:embeddedFont>
  </p:embeddedFontLst>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600"/>
    <a:srgbClr val="254061"/>
    <a:srgbClr val="012656"/>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743" autoAdjust="0"/>
  </p:normalViewPr>
  <p:slideViewPr>
    <p:cSldViewPr snapToGrid="0">
      <p:cViewPr varScale="1">
        <p:scale>
          <a:sx n="107" d="100"/>
          <a:sy n="107" d="100"/>
        </p:scale>
        <p:origin x="660" y="10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3.fntdata"/><Relationship Id="rId48"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6.fntdata"/><Relationship Id="rId20" Type="http://schemas.openxmlformats.org/officeDocument/2006/relationships/slide" Target="slides/slide15.xml"/><Relationship Id="rId41"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7/26/2026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7/26/2026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GB"/>
          </a:p>
        </p:txBody>
      </p:sp>
      <p:sp>
        <p:nvSpPr>
          <p:cNvPr id="4" name="Foliennummernplatzhalter 3"/>
          <p:cNvSpPr>
            <a:spLocks noGrp="1"/>
          </p:cNvSpPr>
          <p:nvPr>
            <p:ph type="sldNum" sz="quarter" idx="5"/>
          </p:nvPr>
        </p:nvSpPr>
        <p:spPr/>
        <p:txBody>
          <a:bodyPr/>
          <a:lstStyle/>
          <a:p>
            <a:fld id="{FBC4C19A-B399-7841-94FC-49C845BD812A}" type="slidenum">
              <a:rPr lang="de-GB" smtClean="0"/>
              <a:t>3</a:t>
            </a:fld>
            <a:endParaRPr lang="de-GB"/>
          </a:p>
        </p:txBody>
      </p:sp>
    </p:spTree>
    <p:extLst>
      <p:ext uri="{BB962C8B-B14F-4D97-AF65-F5344CB8AC3E}">
        <p14:creationId xmlns:p14="http://schemas.microsoft.com/office/powerpoint/2010/main" val="2596706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05100" y="511175"/>
            <a:ext cx="4532313" cy="2551113"/>
          </a:xfrm>
          <a:prstGeom prst="rect">
            <a:avLst/>
          </a:prstGeom>
          <a:noFill/>
          <a:ln w="12700">
            <a:solidFill>
              <a:prstClr val="black"/>
            </a:solidFill>
          </a:ln>
        </p:spPr>
      </p:sp>
      <p:sp>
        <p:nvSpPr>
          <p:cNvPr id="3" name="Notizenplatzhalter 2"/>
          <p:cNvSpPr>
            <a:spLocks noGrp="1"/>
          </p:cNvSpPr>
          <p:nvPr>
            <p:ph type="body" idx="1"/>
          </p:nvPr>
        </p:nvSpPr>
        <p:spPr>
          <a:xfrm>
            <a:off x="994631" y="3232693"/>
            <a:ext cx="7950078" cy="3062037"/>
          </a:xfrm>
          <a:prstGeom prst="rect">
            <a:avLst/>
          </a:prstGeom>
        </p:spPr>
        <p:txBody>
          <a:bodyPr/>
          <a:lstStyle/>
          <a:p>
            <a:endParaRPr lang="en-US"/>
          </a:p>
        </p:txBody>
      </p:sp>
    </p:spTree>
    <p:extLst>
      <p:ext uri="{BB962C8B-B14F-4D97-AF65-F5344CB8AC3E}">
        <p14:creationId xmlns:p14="http://schemas.microsoft.com/office/powerpoint/2010/main" val="1867403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05100" y="511175"/>
            <a:ext cx="4532313" cy="2551113"/>
          </a:xfrm>
          <a:prstGeom prst="rect">
            <a:avLst/>
          </a:prstGeom>
          <a:noFill/>
          <a:ln w="12700">
            <a:solidFill>
              <a:prstClr val="black"/>
            </a:solidFill>
          </a:ln>
        </p:spPr>
      </p:sp>
      <p:sp>
        <p:nvSpPr>
          <p:cNvPr id="3" name="Notizenplatzhalter 2"/>
          <p:cNvSpPr>
            <a:spLocks noGrp="1"/>
          </p:cNvSpPr>
          <p:nvPr>
            <p:ph type="body" idx="1"/>
          </p:nvPr>
        </p:nvSpPr>
        <p:spPr>
          <a:xfrm>
            <a:off x="994631" y="3232693"/>
            <a:ext cx="7950078" cy="3062037"/>
          </a:xfrm>
          <a:prstGeom prst="rect">
            <a:avLst/>
          </a:prstGeom>
        </p:spPr>
        <p:txBody>
          <a:bodyPr/>
          <a:lstStyle/>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744625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xfrm>
            <a:off x="5629993" y="6464152"/>
            <a:ext cx="4307046" cy="34028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05" tIns="45802" rIns="91605" bIns="45802"/>
          <a:lstStyle>
            <a:lvl1pPr>
              <a:defRPr sz="1600">
                <a:solidFill>
                  <a:schemeClr val="tx1"/>
                </a:solidFill>
                <a:latin typeface="Arial" charset="0"/>
                <a:cs typeface="Arial" charset="0"/>
              </a:defRPr>
            </a:lvl1pPr>
            <a:lvl2pPr marL="744287" indent="-286264">
              <a:defRPr sz="1600">
                <a:solidFill>
                  <a:schemeClr val="tx1"/>
                </a:solidFill>
                <a:latin typeface="Arial" charset="0"/>
                <a:cs typeface="Arial" charset="0"/>
              </a:defRPr>
            </a:lvl2pPr>
            <a:lvl3pPr marL="1145057" indent="-229011">
              <a:defRPr sz="1600">
                <a:solidFill>
                  <a:schemeClr val="tx1"/>
                </a:solidFill>
                <a:latin typeface="Arial" charset="0"/>
                <a:cs typeface="Arial" charset="0"/>
              </a:defRPr>
            </a:lvl3pPr>
            <a:lvl4pPr marL="1603080" indent="-229011">
              <a:defRPr sz="1600">
                <a:solidFill>
                  <a:schemeClr val="tx1"/>
                </a:solidFill>
                <a:latin typeface="Arial" charset="0"/>
                <a:cs typeface="Arial" charset="0"/>
              </a:defRPr>
            </a:lvl4pPr>
            <a:lvl5pPr marL="2061103" indent="-229011">
              <a:defRPr sz="1600">
                <a:solidFill>
                  <a:schemeClr val="tx1"/>
                </a:solidFill>
                <a:latin typeface="Arial" charset="0"/>
                <a:cs typeface="Arial" charset="0"/>
              </a:defRPr>
            </a:lvl5pPr>
            <a:lvl6pPr marL="2519126" indent="-229011" algn="ctr" eaLnBrk="0" fontAlgn="base" hangingPunct="0">
              <a:spcBef>
                <a:spcPct val="0"/>
              </a:spcBef>
              <a:spcAft>
                <a:spcPct val="0"/>
              </a:spcAft>
              <a:defRPr sz="1600">
                <a:solidFill>
                  <a:schemeClr val="tx1"/>
                </a:solidFill>
                <a:latin typeface="Arial" charset="0"/>
                <a:cs typeface="Arial" charset="0"/>
              </a:defRPr>
            </a:lvl6pPr>
            <a:lvl7pPr marL="2977149" indent="-229011" algn="ctr" eaLnBrk="0" fontAlgn="base" hangingPunct="0">
              <a:spcBef>
                <a:spcPct val="0"/>
              </a:spcBef>
              <a:spcAft>
                <a:spcPct val="0"/>
              </a:spcAft>
              <a:defRPr sz="1600">
                <a:solidFill>
                  <a:schemeClr val="tx1"/>
                </a:solidFill>
                <a:latin typeface="Arial" charset="0"/>
                <a:cs typeface="Arial" charset="0"/>
              </a:defRPr>
            </a:lvl7pPr>
            <a:lvl8pPr marL="3435172" indent="-229011" algn="ctr" eaLnBrk="0" fontAlgn="base" hangingPunct="0">
              <a:spcBef>
                <a:spcPct val="0"/>
              </a:spcBef>
              <a:spcAft>
                <a:spcPct val="0"/>
              </a:spcAft>
              <a:defRPr sz="1600">
                <a:solidFill>
                  <a:schemeClr val="tx1"/>
                </a:solidFill>
                <a:latin typeface="Arial" charset="0"/>
                <a:cs typeface="Arial" charset="0"/>
              </a:defRPr>
            </a:lvl8pPr>
            <a:lvl9pPr marL="3893195" indent="-229011" algn="ctr" eaLnBrk="0" fontAlgn="base" hangingPunct="0">
              <a:spcBef>
                <a:spcPct val="0"/>
              </a:spcBef>
              <a:spcAft>
                <a:spcPct val="0"/>
              </a:spcAft>
              <a:defRPr sz="1600">
                <a:solidFill>
                  <a:schemeClr val="tx1"/>
                </a:solidFill>
                <a:latin typeface="Arial" charset="0"/>
                <a:cs typeface="Arial" charset="0"/>
              </a:defRPr>
            </a:lvl9pPr>
          </a:lstStyle>
          <a:p>
            <a:fld id="{39F8A7C8-949A-438F-8575-A0C769E020AE}" type="slidenum">
              <a:rPr lang="de-DE" sz="1200"/>
              <a:pPr/>
              <a:t>11</a:t>
            </a:fld>
            <a:endParaRPr lang="de-DE" sz="12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1325246" y="3232667"/>
            <a:ext cx="7288848" cy="306252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05" tIns="45802" rIns="91605" bIns="45802"/>
          <a:lstStyle/>
          <a:p>
            <a:pPr eaLnBrk="1" hangingPunct="1"/>
            <a:endParaRPr lang="en-US"/>
          </a:p>
        </p:txBody>
      </p:sp>
    </p:spTree>
    <p:extLst>
      <p:ext uri="{BB962C8B-B14F-4D97-AF65-F5344CB8AC3E}">
        <p14:creationId xmlns:p14="http://schemas.microsoft.com/office/powerpoint/2010/main" val="692954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18</a:t>
            </a:fld>
            <a:endParaRPr lang="de-DE"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pPr eaLnBrk="1" hangingPunct="1"/>
            <a:endParaRPr lang="en-US"/>
          </a:p>
        </p:txBody>
      </p:sp>
    </p:spTree>
    <p:extLst>
      <p:ext uri="{BB962C8B-B14F-4D97-AF65-F5344CB8AC3E}">
        <p14:creationId xmlns:p14="http://schemas.microsoft.com/office/powerpoint/2010/main" val="2776791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4C2E5040-3DBA-4014-B559-A18CD4099FA5}" type="slidenum">
              <a:rPr lang="de-DE" smtClean="0"/>
              <a:t>19</a:t>
            </a:fld>
            <a:endParaRPr lang="de-DE"/>
          </a:p>
        </p:txBody>
      </p:sp>
    </p:spTree>
    <p:extLst>
      <p:ext uri="{BB962C8B-B14F-4D97-AF65-F5344CB8AC3E}">
        <p14:creationId xmlns:p14="http://schemas.microsoft.com/office/powerpoint/2010/main" val="4142526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AC9D2341-D3BF-47A1-BFC3-AA0A881FD55D}" type="slidenum">
              <a:rPr lang="de-DE" sz="1200"/>
              <a:pPr/>
              <a:t>20</a:t>
            </a:fld>
            <a:endParaRPr lang="de-DE" sz="12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pPr eaLnBrk="1" hangingPunct="1"/>
            <a:endParaRPr lang="en-US"/>
          </a:p>
        </p:txBody>
      </p:sp>
    </p:spTree>
    <p:extLst>
      <p:ext uri="{BB962C8B-B14F-4D97-AF65-F5344CB8AC3E}">
        <p14:creationId xmlns:p14="http://schemas.microsoft.com/office/powerpoint/2010/main" val="2910474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21</a:t>
            </a:fld>
            <a:endParaRPr lang="de-DE"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pPr eaLnBrk="1" hangingPunct="1"/>
            <a:endParaRPr lang="en-US"/>
          </a:p>
        </p:txBody>
      </p:sp>
    </p:spTree>
    <p:extLst>
      <p:ext uri="{BB962C8B-B14F-4D97-AF65-F5344CB8AC3E}">
        <p14:creationId xmlns:p14="http://schemas.microsoft.com/office/powerpoint/2010/main" val="19837856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svg"/><Relationship Id="rId5" Type="http://schemas.openxmlformats.org/officeDocument/2006/relationships/image" Target="../media/image3.svg"/><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sv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4.sv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23392" y="1146558"/>
            <a:ext cx="10945216" cy="5162763"/>
          </a:xfrm>
          <a:prstGeom prst="rect">
            <a:avLst/>
          </a:prstGeom>
        </p:spPr>
        <p:txBody>
          <a:bodyPr/>
          <a:lstStyle>
            <a:lvl1pPr marL="26670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1pPr>
            <a:lvl2pPr marL="62865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2pPr>
            <a:lvl3pPr marL="1076325"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3pPr>
            <a:lvl4pPr marL="14382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4pPr>
            <a:lvl5pPr marL="19716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0" name="Titel 18"/>
          <p:cNvSpPr>
            <a:spLocks noGrp="1"/>
          </p:cNvSpPr>
          <p:nvPr>
            <p:ph type="title"/>
          </p:nvPr>
        </p:nvSpPr>
        <p:spPr>
          <a:xfrm>
            <a:off x="623391" y="193890"/>
            <a:ext cx="10250751" cy="614499"/>
          </a:xfrm>
          <a:prstGeom prst="rect">
            <a:avLst/>
          </a:prstGeom>
        </p:spPr>
        <p:txBody>
          <a:bodyPr anchor="ctr" anchorCtr="0">
            <a:noAutofit/>
          </a:bodyPr>
          <a:lstStyle>
            <a:lvl1pPr marL="0" indent="0" algn="l">
              <a:tabLst/>
              <a:defRPr sz="2000" b="1">
                <a:solidFill>
                  <a:schemeClr val="tx1"/>
                </a:solidFill>
                <a:latin typeface="Arial" pitchFamily="34" charset="0"/>
                <a:cs typeface="Arial" pitchFamily="34" charset="0"/>
              </a:defRPr>
            </a:lvl1pPr>
          </a:lstStyle>
          <a:p>
            <a:r>
              <a:rPr lang="de-DE" dirty="0"/>
              <a:t>Titelmasterformat durch Klicken bearbeiten</a:t>
            </a:r>
          </a:p>
        </p:txBody>
      </p:sp>
      <p:sp>
        <p:nvSpPr>
          <p:cNvPr id="6" name="Textfeld 5"/>
          <p:cNvSpPr txBox="1"/>
          <p:nvPr userDrawn="1"/>
        </p:nvSpPr>
        <p:spPr>
          <a:xfrm>
            <a:off x="623391" y="6444335"/>
            <a:ext cx="8921564" cy="416660"/>
          </a:xfrm>
          <a:prstGeom prst="rect">
            <a:avLst/>
          </a:prstGeom>
          <a:noFill/>
        </p:spPr>
        <p:txBody>
          <a:bodyPr wrap="square" rtlCol="0" anchor="ctr" anchorCtr="0">
            <a:noAutofit/>
          </a:bodyPr>
          <a:lstStyle/>
          <a:p>
            <a:r>
              <a:rPr lang="de-DE" sz="1200" i="1" kern="1200" dirty="0">
                <a:solidFill>
                  <a:schemeClr val="accent1">
                    <a:lumMod val="50000"/>
                  </a:schemeClr>
                </a:solidFill>
                <a:latin typeface="Arial" pitchFamily="34" charset="0"/>
                <a:ea typeface="+mn-ea"/>
                <a:cs typeface="Arial" pitchFamily="34" charset="0"/>
              </a:rPr>
              <a:t>Modellierung betrieblicher Informationssysteme (MOBIS)</a:t>
            </a:r>
          </a:p>
        </p:txBody>
      </p:sp>
      <p:sp>
        <p:nvSpPr>
          <p:cNvPr id="10" name="Textfeld 9"/>
          <p:cNvSpPr txBox="1"/>
          <p:nvPr userDrawn="1"/>
        </p:nvSpPr>
        <p:spPr>
          <a:xfrm>
            <a:off x="10901108" y="6444336"/>
            <a:ext cx="775513" cy="413664"/>
          </a:xfrm>
          <a:prstGeom prst="rect">
            <a:avLst/>
          </a:prstGeom>
          <a:noFill/>
        </p:spPr>
        <p:txBody>
          <a:bodyPr wrap="square" rtlCol="0" anchor="ctr" anchorCtr="0">
            <a:noAutofit/>
          </a:bodyPr>
          <a:lstStyle/>
          <a:p>
            <a:pPr algn="r"/>
            <a:fld id="{03A53B9E-05D4-4AED-A091-042480FFC68F}" type="slidenum">
              <a:rPr lang="de-DE" sz="1200" i="1" kern="1200" smtClean="0">
                <a:solidFill>
                  <a:schemeClr val="accent1">
                    <a:lumMod val="50000"/>
                  </a:schemeClr>
                </a:solidFill>
                <a:latin typeface="Arial" pitchFamily="34" charset="0"/>
                <a:ea typeface="+mn-ea"/>
                <a:cs typeface="Arial" pitchFamily="34" charset="0"/>
              </a:rPr>
              <a:pPr algn="r"/>
              <a:t>‹Nr.›</a:t>
            </a:fld>
            <a:endParaRPr lang="de-DE" sz="1200" i="1" kern="1200" dirty="0">
              <a:solidFill>
                <a:schemeClr val="accent1">
                  <a:lumMod val="50000"/>
                </a:schemeClr>
              </a:solidFill>
              <a:latin typeface="Arial" pitchFamily="34" charset="0"/>
              <a:ea typeface="+mn-ea"/>
              <a:cs typeface="Arial" pitchFamily="34" charset="0"/>
            </a:endParaRPr>
          </a:p>
        </p:txBody>
      </p:sp>
      <p:sp>
        <p:nvSpPr>
          <p:cNvPr id="11" name="Rechteck 10"/>
          <p:cNvSpPr>
            <a:spLocks/>
          </p:cNvSpPr>
          <p:nvPr userDrawn="1"/>
        </p:nvSpPr>
        <p:spPr>
          <a:xfrm>
            <a:off x="9544957" y="6444336"/>
            <a:ext cx="1356151" cy="413664"/>
          </a:xfrm>
          <a:prstGeom prst="rect">
            <a:avLst/>
          </a:prstGeom>
        </p:spPr>
        <p:txBody>
          <a:bodyPr wrap="square" anchor="ctr" anchorCtr="0">
            <a:noAutofit/>
          </a:bodyPr>
          <a:lstStyle/>
          <a:p>
            <a:r>
              <a:rPr lang="de-DE" sz="1200" i="1" kern="1200" dirty="0">
                <a:solidFill>
                  <a:schemeClr val="accent1">
                    <a:lumMod val="50000"/>
                  </a:schemeClr>
                </a:solidFill>
                <a:latin typeface="Arial" pitchFamily="34" charset="0"/>
                <a:ea typeface="+mn-ea"/>
                <a:cs typeface="Arial" pitchFamily="34" charset="0"/>
              </a:rPr>
              <a:t>2024</a:t>
            </a:r>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051987" y="143678"/>
            <a:ext cx="924047" cy="693035"/>
          </a:xfrm>
          <a:prstGeom prst="rect">
            <a:avLst/>
          </a:prstGeom>
        </p:spPr>
      </p:pic>
      <p:cxnSp>
        <p:nvCxnSpPr>
          <p:cNvPr id="15" name="Gerade Verbindung 14"/>
          <p:cNvCxnSpPr/>
          <p:nvPr userDrawn="1"/>
        </p:nvCxnSpPr>
        <p:spPr>
          <a:xfrm>
            <a:off x="0" y="6444335"/>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a:off x="0" y="998730"/>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696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3.sv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em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oleObject" Target="../embeddings/oleObject1.bin"/><Relationship Id="rId5" Type="http://schemas.openxmlformats.org/officeDocument/2006/relationships/slideLayout" Target="../slideLayouts/slideLayout24.xml"/><Relationship Id="rId10" Type="http://schemas.openxmlformats.org/officeDocument/2006/relationships/tags" Target="../tags/tag21.xml"/><Relationship Id="rId4" Type="http://schemas.openxmlformats.org/officeDocument/2006/relationships/slideLayout" Target="../slideLayouts/slideLayout23.xml"/><Relationship Id="rId9"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1"/>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59" imgH="360" progId="TCLayout.ActiveDocument.1">
                  <p:embed/>
                </p:oleObj>
              </mc:Choice>
              <mc:Fallback>
                <p:oleObj name="think-cell Slide" r:id="rId23" imgW="359" imgH="360" progId="TCLayout.ActiveDocument.1">
                  <p:embed/>
                  <p:pic>
                    <p:nvPicPr>
                      <p:cNvPr id="3" name="Object 2" hidden="1"/>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5"/>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 id="2147483709" r:id="rId19"/>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29.png"/><Relationship Id="rId4" Type="http://schemas.openxmlformats.org/officeDocument/2006/relationships/image" Target="../media/image31.png"/><Relationship Id="rId9"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CDC4CB-F37D-F165-0E83-EA99EEB4276B}"/>
              </a:ext>
              <a:ext uri="{C183D7F6-B498-43B3-948B-1728B52AA6E4}">
                <adec:decorative xmlns:adec="http://schemas.microsoft.com/office/drawing/2017/decorative" val="1"/>
              </a:ext>
            </a:extLst>
          </p:cNvPr>
          <p:cNvPicPr>
            <a:picLocks noChangeAspect="1"/>
          </p:cNvPicPr>
          <p:nvPr/>
        </p:nvPicPr>
        <p:blipFill>
          <a:blip r:embed="rId2">
            <a:alphaModFix amt="66000"/>
          </a:blip>
          <a:stretch>
            <a:fillRect/>
          </a:stretch>
        </p:blipFill>
        <p:spPr>
          <a:xfrm>
            <a:off x="0" y="0"/>
            <a:ext cx="12192000" cy="8275562"/>
          </a:xfrm>
          <a:prstGeom prst="rect">
            <a:avLst/>
          </a:prstGeom>
        </p:spPr>
      </p:pic>
      <p:pic>
        <p:nvPicPr>
          <p:cNvPr id="8" name="Grafik 7">
            <a:extLst>
              <a:ext uri="{FF2B5EF4-FFF2-40B4-BE49-F238E27FC236}">
                <a16:creationId xmlns:a16="http://schemas.microsoft.com/office/drawing/2014/main" id="{B57BD6A9-8641-DF15-BE2B-5ECB599FA5D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095268" y="151916"/>
            <a:ext cx="886095" cy="303548"/>
          </a:xfrm>
          <a:prstGeom prst="rect">
            <a:avLst/>
          </a:prstGeom>
        </p:spPr>
      </p:pic>
      <p:sp>
        <p:nvSpPr>
          <p:cNvPr id="9" name="Rechteck 8">
            <a:extLst>
              <a:ext uri="{FF2B5EF4-FFF2-40B4-BE49-F238E27FC236}">
                <a16:creationId xmlns:a16="http://schemas.microsoft.com/office/drawing/2014/main" id="{BA190EBE-54A7-4293-6233-2273FEAE0DBD}"/>
              </a:ext>
            </a:extLst>
          </p:cNvPr>
          <p:cNvSpPr/>
          <p:nvPr/>
        </p:nvSpPr>
        <p:spPr>
          <a:xfrm>
            <a:off x="0" y="5989562"/>
            <a:ext cx="12192000"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p:sp>
        <p:nvSpPr>
          <p:cNvPr id="5" name="Untertitel 4">
            <a:extLst>
              <a:ext uri="{FF2B5EF4-FFF2-40B4-BE49-F238E27FC236}">
                <a16:creationId xmlns:a16="http://schemas.microsoft.com/office/drawing/2014/main" id="{A0056E78-61F5-B076-6F6A-8086BAB5567D}"/>
              </a:ext>
            </a:extLst>
          </p:cNvPr>
          <p:cNvSpPr>
            <a:spLocks noGrp="1"/>
          </p:cNvSpPr>
          <p:nvPr>
            <p:ph type="subTitle" idx="1"/>
          </p:nvPr>
        </p:nvSpPr>
        <p:spPr>
          <a:xfrm>
            <a:off x="8610600" y="6445026"/>
            <a:ext cx="3200400" cy="1463040"/>
          </a:xfrm>
        </p:spPr>
        <p:txBody>
          <a:bodyPr/>
          <a:lstStyle/>
          <a:p>
            <a:r>
              <a:rPr lang="de-DE" sz="2400" b="1" dirty="0">
                <a:latin typeface="Arial" panose="020B0604020202020204" pitchFamily="34" charset="0"/>
                <a:cs typeface="Arial" panose="020B0604020202020204" pitchFamily="34" charset="0"/>
              </a:rPr>
              <a:t>Prof. Dr. </a:t>
            </a:r>
            <a:br>
              <a:rPr lang="de-DE" sz="2400" b="1" dirty="0">
                <a:latin typeface="Arial" panose="020B0604020202020204" pitchFamily="34" charset="0"/>
                <a:cs typeface="Arial" panose="020B0604020202020204" pitchFamily="34" charset="0"/>
              </a:rPr>
            </a:br>
            <a:r>
              <a:rPr lang="de-DE" sz="2400" b="1" dirty="0">
                <a:latin typeface="Arial" panose="020B0604020202020204" pitchFamily="34" charset="0"/>
                <a:cs typeface="Arial" panose="020B0604020202020204" pitchFamily="34" charset="0"/>
              </a:rPr>
              <a:t>Kamyar Sarshar</a:t>
            </a:r>
            <a:br>
              <a:rPr lang="de-DE" sz="2400" b="1" dirty="0">
                <a:latin typeface="Arial" panose="020B0604020202020204" pitchFamily="34" charset="0"/>
                <a:cs typeface="Arial" panose="020B0604020202020204" pitchFamily="34" charset="0"/>
              </a:rPr>
            </a:br>
            <a:r>
              <a:rPr lang="de-DE" sz="2000" dirty="0">
                <a:latin typeface="Arial" panose="020B0604020202020204" pitchFamily="34" charset="0"/>
                <a:cs typeface="Arial" panose="020B0604020202020204" pitchFamily="34" charset="0"/>
              </a:rPr>
              <a:t>HSBA 2026</a:t>
            </a:r>
            <a:endParaRPr lang="de-DE" sz="2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1C74D302-4A5C-409C-82C5-9A6D7D44A8ED}"/>
              </a:ext>
            </a:extLst>
          </p:cNvPr>
          <p:cNvSpPr>
            <a:spLocks noGrp="1"/>
          </p:cNvSpPr>
          <p:nvPr>
            <p:ph type="ctrTitle"/>
          </p:nvPr>
        </p:nvSpPr>
        <p:spPr>
          <a:xfrm>
            <a:off x="457200" y="6401042"/>
            <a:ext cx="7772400" cy="1463040"/>
          </a:xfrm>
        </p:spPr>
        <p:txBody>
          <a:bodyPr>
            <a:noAutofit/>
          </a:bodyPr>
          <a:lstStyle/>
          <a:p>
            <a:r>
              <a:rPr lang="de-DE" sz="3200" dirty="0">
                <a:latin typeface="Arial" panose="020B0604020202020204" pitchFamily="34" charset="0"/>
                <a:cs typeface="Arial" panose="020B0604020202020204" pitchFamily="34" charset="0"/>
              </a:rPr>
              <a:t>Modellierung betrieblicher</a:t>
            </a:r>
            <a:br>
              <a:rPr lang="de-DE" sz="3200" dirty="0">
                <a:latin typeface="Arial" panose="020B0604020202020204" pitchFamily="34" charset="0"/>
                <a:cs typeface="Arial" panose="020B0604020202020204" pitchFamily="34" charset="0"/>
              </a:rPr>
            </a:br>
            <a:r>
              <a:rPr lang="de-DE" sz="3200" dirty="0" err="1">
                <a:latin typeface="Arial" panose="020B0604020202020204" pitchFamily="34" charset="0"/>
                <a:cs typeface="Arial" panose="020B0604020202020204" pitchFamily="34" charset="0"/>
              </a:rPr>
              <a:t>informationssysteme</a:t>
            </a:r>
            <a:r>
              <a:rPr lang="de-DE" sz="3200" dirty="0">
                <a:latin typeface="Arial" panose="020B0604020202020204" pitchFamily="34" charset="0"/>
                <a:cs typeface="Arial" panose="020B0604020202020204" pitchFamily="34" charset="0"/>
              </a:rPr>
              <a:t> (MOBIS)</a:t>
            </a:r>
          </a:p>
        </p:txBody>
      </p:sp>
      <p:cxnSp>
        <p:nvCxnSpPr>
          <p:cNvPr id="10" name="Straight Connector 7">
            <a:extLst>
              <a:ext uri="{FF2B5EF4-FFF2-40B4-BE49-F238E27FC236}">
                <a16:creationId xmlns:a16="http://schemas.microsoft.com/office/drawing/2014/main" id="{178829BC-FC82-3FDE-D04A-465D994920F7}"/>
              </a:ext>
            </a:extLst>
          </p:cNvPr>
          <p:cNvCxnSpPr>
            <a:cxnSpLocks/>
          </p:cNvCxnSpPr>
          <p:nvPr/>
        </p:nvCxnSpPr>
        <p:spPr>
          <a:xfrm flipV="1">
            <a:off x="8420100" y="6401042"/>
            <a:ext cx="0" cy="1252358"/>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631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6F35898-5492-62B8-E977-B01318F14B72}"/>
              </a:ext>
            </a:extLst>
          </p:cNvPr>
          <p:cNvSpPr>
            <a:spLocks noGrp="1"/>
          </p:cNvSpPr>
          <p:nvPr>
            <p:ph type="title"/>
          </p:nvPr>
        </p:nvSpPr>
        <p:spPr/>
        <p:txBody>
          <a:bodyPr/>
          <a:lstStyle/>
          <a:p>
            <a:r>
              <a:rPr lang="de-DE"/>
              <a:t>Einordnung des Moduls</a:t>
            </a:r>
          </a:p>
        </p:txBody>
      </p:sp>
      <p:pic>
        <p:nvPicPr>
          <p:cNvPr id="5" name="Grafik 4" descr="Büromitarbeiter mit einfarbiger Füllung">
            <a:extLst>
              <a:ext uri="{FF2B5EF4-FFF2-40B4-BE49-F238E27FC236}">
                <a16:creationId xmlns:a16="http://schemas.microsoft.com/office/drawing/2014/main" id="{6B46BCA1-5682-F680-B62B-255F21D5BDD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7309" y="1576490"/>
            <a:ext cx="669957" cy="669957"/>
          </a:xfrm>
          <a:prstGeom prst="rect">
            <a:avLst/>
          </a:prstGeom>
        </p:spPr>
      </p:pic>
      <p:sp>
        <p:nvSpPr>
          <p:cNvPr id="6" name="Textfeld 5">
            <a:extLst>
              <a:ext uri="{FF2B5EF4-FFF2-40B4-BE49-F238E27FC236}">
                <a16:creationId xmlns:a16="http://schemas.microsoft.com/office/drawing/2014/main" id="{5F82E6EE-2579-292E-4218-C9E4E761DF9E}"/>
              </a:ext>
            </a:extLst>
          </p:cNvPr>
          <p:cNvSpPr txBox="1"/>
          <p:nvPr/>
        </p:nvSpPr>
        <p:spPr>
          <a:xfrm>
            <a:off x="744966" y="1486636"/>
            <a:ext cx="2299027" cy="738664"/>
          </a:xfrm>
          <a:prstGeom prst="rect">
            <a:avLst/>
          </a:prstGeom>
          <a:noFill/>
        </p:spPr>
        <p:txBody>
          <a:bodyPr wrap="none" rtlCol="0">
            <a:spAutoFit/>
          </a:bodyPr>
          <a:lstStyle/>
          <a:p>
            <a:r>
              <a:rPr lang="de-DE">
                <a:solidFill>
                  <a:schemeClr val="accent1">
                    <a:lumMod val="75000"/>
                  </a:schemeClr>
                </a:solidFill>
              </a:rPr>
              <a:t>Prof. Dr. </a:t>
            </a:r>
            <a:br>
              <a:rPr lang="de-DE">
                <a:solidFill>
                  <a:schemeClr val="accent1">
                    <a:lumMod val="75000"/>
                  </a:schemeClr>
                </a:solidFill>
              </a:rPr>
            </a:br>
            <a:r>
              <a:rPr lang="de-DE" sz="2400" b="1">
                <a:solidFill>
                  <a:schemeClr val="accent1">
                    <a:lumMod val="75000"/>
                  </a:schemeClr>
                </a:solidFill>
              </a:rPr>
              <a:t>Kamyar Sarshar</a:t>
            </a:r>
          </a:p>
        </p:txBody>
      </p:sp>
      <p:pic>
        <p:nvPicPr>
          <p:cNvPr id="8" name="Grafik 7" descr="Uhr mit einfarbiger Füllung">
            <a:extLst>
              <a:ext uri="{FF2B5EF4-FFF2-40B4-BE49-F238E27FC236}">
                <a16:creationId xmlns:a16="http://schemas.microsoft.com/office/drawing/2014/main" id="{8F5AF71F-449C-CDC5-D3EA-01FA0E2A79F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8797" y="2871628"/>
            <a:ext cx="544928" cy="544928"/>
          </a:xfrm>
          <a:prstGeom prst="rect">
            <a:avLst/>
          </a:prstGeom>
        </p:spPr>
      </p:pic>
      <p:sp>
        <p:nvSpPr>
          <p:cNvPr id="9" name="Textfeld 8">
            <a:extLst>
              <a:ext uri="{FF2B5EF4-FFF2-40B4-BE49-F238E27FC236}">
                <a16:creationId xmlns:a16="http://schemas.microsoft.com/office/drawing/2014/main" id="{1664CC6B-9849-074B-FF8C-262830AA866E}"/>
              </a:ext>
            </a:extLst>
          </p:cNvPr>
          <p:cNvSpPr txBox="1"/>
          <p:nvPr/>
        </p:nvSpPr>
        <p:spPr>
          <a:xfrm>
            <a:off x="9787278" y="2847656"/>
            <a:ext cx="1045479" cy="461665"/>
          </a:xfrm>
          <a:prstGeom prst="rect">
            <a:avLst/>
          </a:prstGeom>
          <a:noFill/>
        </p:spPr>
        <p:txBody>
          <a:bodyPr wrap="none" rtlCol="0">
            <a:spAutoFit/>
          </a:bodyPr>
          <a:lstStyle/>
          <a:p>
            <a:r>
              <a:rPr lang="de-DE" sz="2400" b="1">
                <a:solidFill>
                  <a:schemeClr val="tx2">
                    <a:lumMod val="60000"/>
                    <a:lumOff val="40000"/>
                  </a:schemeClr>
                </a:solidFill>
              </a:rPr>
              <a:t>48 Std</a:t>
            </a:r>
          </a:p>
        </p:txBody>
      </p:sp>
      <p:sp>
        <p:nvSpPr>
          <p:cNvPr id="10" name="Textfeld 9">
            <a:extLst>
              <a:ext uri="{FF2B5EF4-FFF2-40B4-BE49-F238E27FC236}">
                <a16:creationId xmlns:a16="http://schemas.microsoft.com/office/drawing/2014/main" id="{BF26F6D9-4D51-E375-E090-605A9D38A5CA}"/>
              </a:ext>
            </a:extLst>
          </p:cNvPr>
          <p:cNvSpPr txBox="1"/>
          <p:nvPr/>
        </p:nvSpPr>
        <p:spPr>
          <a:xfrm>
            <a:off x="9787277" y="3153145"/>
            <a:ext cx="1107996" cy="338554"/>
          </a:xfrm>
          <a:prstGeom prst="rect">
            <a:avLst/>
          </a:prstGeom>
          <a:noFill/>
        </p:spPr>
        <p:txBody>
          <a:bodyPr wrap="none" rtlCol="0">
            <a:spAutoFit/>
          </a:bodyPr>
          <a:lstStyle/>
          <a:p>
            <a:r>
              <a:rPr lang="de-DE" sz="1600" b="1">
                <a:solidFill>
                  <a:schemeClr val="tx2">
                    <a:lumMod val="60000"/>
                    <a:lumOff val="40000"/>
                  </a:schemeClr>
                </a:solidFill>
              </a:rPr>
              <a:t>6 CREDITS</a:t>
            </a:r>
          </a:p>
        </p:txBody>
      </p:sp>
      <p:pic>
        <p:nvPicPr>
          <p:cNvPr id="12" name="Grafik 11" descr="Vertrag mit einfarbiger Füllung">
            <a:extLst>
              <a:ext uri="{FF2B5EF4-FFF2-40B4-BE49-F238E27FC236}">
                <a16:creationId xmlns:a16="http://schemas.microsoft.com/office/drawing/2014/main" id="{118CC17D-FC38-8FF9-7B49-C3952742286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11307" y="4253010"/>
            <a:ext cx="632418" cy="632418"/>
          </a:xfrm>
          <a:prstGeom prst="rect">
            <a:avLst/>
          </a:prstGeom>
        </p:spPr>
      </p:pic>
      <p:sp>
        <p:nvSpPr>
          <p:cNvPr id="13" name="Textfeld 12">
            <a:extLst>
              <a:ext uri="{FF2B5EF4-FFF2-40B4-BE49-F238E27FC236}">
                <a16:creationId xmlns:a16="http://schemas.microsoft.com/office/drawing/2014/main" id="{D85AE0DA-5BB5-870F-03CC-1C1DFA6FF6A6}"/>
              </a:ext>
            </a:extLst>
          </p:cNvPr>
          <p:cNvSpPr txBox="1"/>
          <p:nvPr/>
        </p:nvSpPr>
        <p:spPr>
          <a:xfrm>
            <a:off x="9787277" y="4557662"/>
            <a:ext cx="1330814" cy="338554"/>
          </a:xfrm>
          <a:prstGeom prst="rect">
            <a:avLst/>
          </a:prstGeom>
          <a:noFill/>
        </p:spPr>
        <p:txBody>
          <a:bodyPr wrap="none" rtlCol="0">
            <a:spAutoFit/>
          </a:bodyPr>
          <a:lstStyle/>
          <a:p>
            <a:r>
              <a:rPr lang="de-DE" sz="1600" b="1">
                <a:solidFill>
                  <a:schemeClr val="tx2">
                    <a:lumMod val="60000"/>
                    <a:lumOff val="40000"/>
                  </a:schemeClr>
                </a:solidFill>
              </a:rPr>
              <a:t>Präsentation</a:t>
            </a:r>
          </a:p>
        </p:txBody>
      </p:sp>
      <p:sp>
        <p:nvSpPr>
          <p:cNvPr id="14" name="Textfeld 13">
            <a:extLst>
              <a:ext uri="{FF2B5EF4-FFF2-40B4-BE49-F238E27FC236}">
                <a16:creationId xmlns:a16="http://schemas.microsoft.com/office/drawing/2014/main" id="{CA61ADC0-A2FE-0009-FC1F-0DEF340AD168}"/>
              </a:ext>
            </a:extLst>
          </p:cNvPr>
          <p:cNvSpPr txBox="1"/>
          <p:nvPr/>
        </p:nvSpPr>
        <p:spPr>
          <a:xfrm>
            <a:off x="9787278" y="4244749"/>
            <a:ext cx="875561" cy="461665"/>
          </a:xfrm>
          <a:prstGeom prst="rect">
            <a:avLst/>
          </a:prstGeom>
          <a:noFill/>
        </p:spPr>
        <p:txBody>
          <a:bodyPr wrap="none" rtlCol="0">
            <a:spAutoFit/>
          </a:bodyPr>
          <a:lstStyle/>
          <a:p>
            <a:r>
              <a:rPr lang="de-DE" sz="2400" b="1">
                <a:solidFill>
                  <a:schemeClr val="tx2">
                    <a:lumMod val="60000"/>
                    <a:lumOff val="40000"/>
                  </a:schemeClr>
                </a:solidFill>
              </a:rPr>
              <a:t>100%</a:t>
            </a:r>
          </a:p>
        </p:txBody>
      </p:sp>
      <p:sp>
        <p:nvSpPr>
          <p:cNvPr id="17" name="Textfeld 16">
            <a:extLst>
              <a:ext uri="{FF2B5EF4-FFF2-40B4-BE49-F238E27FC236}">
                <a16:creationId xmlns:a16="http://schemas.microsoft.com/office/drawing/2014/main" id="{9A805D2A-63E7-8E08-9214-E6AA421CD11D}"/>
              </a:ext>
            </a:extLst>
          </p:cNvPr>
          <p:cNvSpPr txBox="1"/>
          <p:nvPr/>
        </p:nvSpPr>
        <p:spPr>
          <a:xfrm>
            <a:off x="9787278" y="5691293"/>
            <a:ext cx="1035861" cy="338554"/>
          </a:xfrm>
          <a:prstGeom prst="rect">
            <a:avLst/>
          </a:prstGeom>
          <a:noFill/>
        </p:spPr>
        <p:txBody>
          <a:bodyPr wrap="none" rtlCol="0">
            <a:spAutoFit/>
          </a:bodyPr>
          <a:lstStyle/>
          <a:p>
            <a:r>
              <a:rPr lang="de-DE" sz="1600" b="1">
                <a:solidFill>
                  <a:schemeClr val="tx2">
                    <a:lumMod val="60000"/>
                    <a:lumOff val="40000"/>
                  </a:schemeClr>
                </a:solidFill>
              </a:rPr>
              <a:t>DEUTSCH</a:t>
            </a:r>
          </a:p>
        </p:txBody>
      </p:sp>
      <p:sp>
        <p:nvSpPr>
          <p:cNvPr id="19" name="Textfeld 18">
            <a:extLst>
              <a:ext uri="{FF2B5EF4-FFF2-40B4-BE49-F238E27FC236}">
                <a16:creationId xmlns:a16="http://schemas.microsoft.com/office/drawing/2014/main" id="{6F5A7200-E57B-1000-6A9A-CC35F4A84C6C}"/>
              </a:ext>
            </a:extLst>
          </p:cNvPr>
          <p:cNvSpPr txBox="1"/>
          <p:nvPr/>
        </p:nvSpPr>
        <p:spPr>
          <a:xfrm>
            <a:off x="523875" y="2750860"/>
            <a:ext cx="7635884" cy="2492990"/>
          </a:xfrm>
          <a:prstGeom prst="rect">
            <a:avLst/>
          </a:prstGeom>
          <a:noFill/>
        </p:spPr>
        <p:txBody>
          <a:bodyPr wrap="square" rtlCol="0">
            <a:spAutoFit/>
          </a:bodyPr>
          <a:lstStyle/>
          <a:p>
            <a:pPr algn="ctr"/>
            <a:br>
              <a:rPr lang="de-DE" sz="2000" dirty="0">
                <a:solidFill>
                  <a:srgbClr val="254061"/>
                </a:solidFill>
                <a:ea typeface="Calibri" panose="020F0502020204030204" pitchFamily="34" charset="0"/>
                <a:cs typeface="Times New Roman" panose="02020603050405020304" pitchFamily="18" charset="0"/>
              </a:rPr>
            </a:br>
            <a:r>
              <a:rPr lang="de-DE" sz="2000" b="1" dirty="0">
                <a:solidFill>
                  <a:srgbClr val="FF9600"/>
                </a:solidFill>
              </a:rPr>
              <a:t>LERNZIEL DES MODULS</a:t>
            </a:r>
            <a:br>
              <a:rPr lang="de-DE" sz="2000" b="1" dirty="0">
                <a:solidFill>
                  <a:srgbClr val="254061"/>
                </a:solidFill>
              </a:rPr>
            </a:br>
            <a:endParaRPr lang="de-DE" sz="2000" b="1" dirty="0">
              <a:solidFill>
                <a:srgbClr val="254061"/>
              </a:solidFill>
            </a:endParaRPr>
          </a:p>
          <a:p>
            <a:r>
              <a:rPr lang="de-DE" sz="2400" dirty="0">
                <a:solidFill>
                  <a:schemeClr val="accent1">
                    <a:lumMod val="75000"/>
                  </a:schemeClr>
                </a:solidFill>
                <a:latin typeface="+mj-lt"/>
              </a:rPr>
              <a:t>Wesentliche Modellierungssprachen zur Prozess-, Daten- und Softwaremodellierung </a:t>
            </a:r>
            <a:r>
              <a:rPr lang="de-DE" sz="2400" b="1" u="sng" dirty="0">
                <a:solidFill>
                  <a:schemeClr val="accent1">
                    <a:lumMod val="75000"/>
                  </a:schemeClr>
                </a:solidFill>
                <a:latin typeface="+mj-lt"/>
              </a:rPr>
              <a:t>kennenlernen, einordnen und anwenden</a:t>
            </a:r>
            <a:r>
              <a:rPr lang="de-DE" sz="2400" dirty="0">
                <a:solidFill>
                  <a:schemeClr val="accent1">
                    <a:lumMod val="75000"/>
                  </a:schemeClr>
                </a:solidFill>
                <a:latin typeface="+mj-lt"/>
              </a:rPr>
              <a:t> können.</a:t>
            </a:r>
            <a:br>
              <a:rPr lang="de-DE" sz="2400" dirty="0">
                <a:solidFill>
                  <a:schemeClr val="accent1">
                    <a:lumMod val="75000"/>
                  </a:schemeClr>
                </a:solidFill>
                <a:latin typeface="+mj-lt"/>
              </a:rPr>
            </a:br>
            <a:endParaRPr lang="de-DE" sz="2400" dirty="0">
              <a:solidFill>
                <a:schemeClr val="accent1">
                  <a:lumMod val="75000"/>
                </a:schemeClr>
              </a:solidFill>
              <a:latin typeface="+mj-lt"/>
            </a:endParaRPr>
          </a:p>
        </p:txBody>
      </p:sp>
      <p:pic>
        <p:nvPicPr>
          <p:cNvPr id="28" name="Grafik 27" descr="Rede mit einfarbiger Füllung">
            <a:extLst>
              <a:ext uri="{FF2B5EF4-FFF2-40B4-BE49-F238E27FC236}">
                <a16:creationId xmlns:a16="http://schemas.microsoft.com/office/drawing/2014/main" id="{9DB90E72-B774-1E56-44A1-B89DC80257F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98797" y="5640869"/>
            <a:ext cx="544928" cy="544928"/>
          </a:xfrm>
          <a:prstGeom prst="rect">
            <a:avLst/>
          </a:prstGeom>
        </p:spPr>
      </p:pic>
      <p:sp>
        <p:nvSpPr>
          <p:cNvPr id="11" name="Textfeld 10">
            <a:extLst>
              <a:ext uri="{FF2B5EF4-FFF2-40B4-BE49-F238E27FC236}">
                <a16:creationId xmlns:a16="http://schemas.microsoft.com/office/drawing/2014/main" id="{5445BA67-B1FF-C813-473F-A357A2CAD473}"/>
              </a:ext>
            </a:extLst>
          </p:cNvPr>
          <p:cNvSpPr txBox="1"/>
          <p:nvPr/>
        </p:nvSpPr>
        <p:spPr>
          <a:xfrm>
            <a:off x="764088" y="2088288"/>
            <a:ext cx="2119491" cy="307777"/>
          </a:xfrm>
          <a:prstGeom prst="rect">
            <a:avLst/>
          </a:prstGeom>
          <a:noFill/>
        </p:spPr>
        <p:txBody>
          <a:bodyPr wrap="none" rtlCol="0">
            <a:spAutoFit/>
          </a:bodyPr>
          <a:lstStyle/>
          <a:p>
            <a:r>
              <a:rPr lang="de-DE" sz="1400" dirty="0">
                <a:solidFill>
                  <a:srgbClr val="254061"/>
                </a:solidFill>
              </a:rPr>
              <a:t>kamyar.sarshar@hsba.de</a:t>
            </a:r>
          </a:p>
        </p:txBody>
      </p:sp>
      <p:pic>
        <p:nvPicPr>
          <p:cNvPr id="20" name="Grafik 19" descr="Besprechung mit einfarbiger Füllung">
            <a:extLst>
              <a:ext uri="{FF2B5EF4-FFF2-40B4-BE49-F238E27FC236}">
                <a16:creationId xmlns:a16="http://schemas.microsoft.com/office/drawing/2014/main" id="{67E5AECB-5058-31F9-71F9-2E0CC1FF2C5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98797" y="1799813"/>
            <a:ext cx="544928" cy="544928"/>
          </a:xfrm>
          <a:prstGeom prst="rect">
            <a:avLst/>
          </a:prstGeom>
        </p:spPr>
      </p:pic>
      <p:sp>
        <p:nvSpPr>
          <p:cNvPr id="22" name="Textfeld 21">
            <a:extLst>
              <a:ext uri="{FF2B5EF4-FFF2-40B4-BE49-F238E27FC236}">
                <a16:creationId xmlns:a16="http://schemas.microsoft.com/office/drawing/2014/main" id="{76FEE29A-FD21-BC85-2633-07193E24EBB8}"/>
              </a:ext>
            </a:extLst>
          </p:cNvPr>
          <p:cNvSpPr txBox="1"/>
          <p:nvPr/>
        </p:nvSpPr>
        <p:spPr>
          <a:xfrm>
            <a:off x="9787277" y="1916327"/>
            <a:ext cx="1600118" cy="338554"/>
          </a:xfrm>
          <a:prstGeom prst="rect">
            <a:avLst/>
          </a:prstGeom>
          <a:noFill/>
        </p:spPr>
        <p:txBody>
          <a:bodyPr wrap="none" rtlCol="0">
            <a:spAutoFit/>
          </a:bodyPr>
          <a:lstStyle/>
          <a:p>
            <a:r>
              <a:rPr lang="de-DE" sz="1600" b="1">
                <a:solidFill>
                  <a:schemeClr val="tx2">
                    <a:lumMod val="60000"/>
                    <a:lumOff val="40000"/>
                  </a:schemeClr>
                </a:solidFill>
              </a:rPr>
              <a:t>PFLICHTMODUL</a:t>
            </a:r>
          </a:p>
        </p:txBody>
      </p:sp>
      <p:cxnSp>
        <p:nvCxnSpPr>
          <p:cNvPr id="32" name="Gerader Verbinder 31">
            <a:extLst>
              <a:ext uri="{FF2B5EF4-FFF2-40B4-BE49-F238E27FC236}">
                <a16:creationId xmlns:a16="http://schemas.microsoft.com/office/drawing/2014/main" id="{42C0DCFF-509B-B3D5-2E32-5CDE749FF81C}"/>
              </a:ext>
            </a:extLst>
          </p:cNvPr>
          <p:cNvCxnSpPr>
            <a:cxnSpLocks/>
          </p:cNvCxnSpPr>
          <p:nvPr/>
        </p:nvCxnSpPr>
        <p:spPr>
          <a:xfrm flipH="1">
            <a:off x="-14326" y="2641781"/>
            <a:ext cx="8764627" cy="0"/>
          </a:xfrm>
          <a:prstGeom prst="line">
            <a:avLst/>
          </a:prstGeom>
          <a:ln w="28575">
            <a:solidFill>
              <a:srgbClr val="254061"/>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A024BDCD-E0C0-171E-57A9-E6633C7DCFC7}"/>
              </a:ext>
            </a:extLst>
          </p:cNvPr>
          <p:cNvSpPr txBox="1"/>
          <p:nvPr/>
        </p:nvSpPr>
        <p:spPr>
          <a:xfrm>
            <a:off x="436530" y="5574034"/>
            <a:ext cx="7447599" cy="1015663"/>
          </a:xfrm>
          <a:prstGeom prst="rect">
            <a:avLst/>
          </a:prstGeom>
          <a:noFill/>
        </p:spPr>
        <p:txBody>
          <a:bodyPr wrap="square" rtlCol="0">
            <a:spAutoFit/>
          </a:bodyPr>
          <a:lstStyle/>
          <a:p>
            <a:r>
              <a:rPr lang="de-DE" sz="1000" dirty="0">
                <a:solidFill>
                  <a:srgbClr val="254061"/>
                </a:solidFill>
                <a:ea typeface="Calibri" panose="020F0502020204030204" pitchFamily="34" charset="0"/>
                <a:cs typeface="Times New Roman" panose="02020603050405020304" pitchFamily="18" charset="0"/>
              </a:rPr>
              <a:t>Freund, J., Rücker, B. (2025), Praxishandbuch BPMN: Mit Einführung in DMN, Carl Hanser Verlag GmbH &amp; Co. KG</a:t>
            </a:r>
          </a:p>
          <a:p>
            <a:br>
              <a:rPr lang="en-US" sz="1000" dirty="0">
                <a:solidFill>
                  <a:srgbClr val="254061"/>
                </a:solidFill>
                <a:ea typeface="Calibri" panose="020F0502020204030204" pitchFamily="34" charset="0"/>
                <a:cs typeface="Times New Roman" panose="02020603050405020304" pitchFamily="18" charset="0"/>
              </a:rPr>
            </a:br>
            <a:r>
              <a:rPr lang="en-US" sz="1000" dirty="0">
                <a:solidFill>
                  <a:srgbClr val="254061"/>
                </a:solidFill>
                <a:ea typeface="Calibri" panose="020F0502020204030204" pitchFamily="34" charset="0"/>
                <a:cs typeface="Times New Roman" panose="02020603050405020304" pitchFamily="18" charset="0"/>
              </a:rPr>
              <a:t>Hill, D. (2026), UML Mastery for Beginners: A Hands-On Guide to Unified Modeling Language, Software Design, System Analysis, and Object-Oriented Modeling</a:t>
            </a:r>
            <a:br>
              <a:rPr lang="en-US" sz="1000" dirty="0">
                <a:solidFill>
                  <a:srgbClr val="254061"/>
                </a:solidFill>
                <a:ea typeface="Calibri" panose="020F0502020204030204" pitchFamily="34" charset="0"/>
                <a:cs typeface="Times New Roman" panose="02020603050405020304" pitchFamily="18" charset="0"/>
              </a:rPr>
            </a:br>
            <a:endParaRPr lang="de-DE" sz="1000" dirty="0">
              <a:solidFill>
                <a:srgbClr val="254061"/>
              </a:solidFill>
              <a:ea typeface="Calibri" panose="020F0502020204030204" pitchFamily="34" charset="0"/>
              <a:cs typeface="Times New Roman" panose="02020603050405020304" pitchFamily="18" charset="0"/>
            </a:endParaRPr>
          </a:p>
          <a:p>
            <a:r>
              <a:rPr lang="de-DE" sz="1000" dirty="0">
                <a:solidFill>
                  <a:srgbClr val="254061"/>
                </a:solidFill>
                <a:ea typeface="Calibri" panose="020F0502020204030204" pitchFamily="34" charset="0"/>
                <a:cs typeface="Times New Roman" panose="02020603050405020304" pitchFamily="18" charset="0"/>
              </a:rPr>
              <a:t>Kofler, </a:t>
            </a:r>
            <a:r>
              <a:rPr lang="de-DE" sz="1000" dirty="0" err="1">
                <a:solidFill>
                  <a:srgbClr val="254061"/>
                </a:solidFill>
                <a:ea typeface="Calibri" panose="020F0502020204030204" pitchFamily="34" charset="0"/>
                <a:cs typeface="Times New Roman" panose="02020603050405020304" pitchFamily="18" charset="0"/>
              </a:rPr>
              <a:t>v.M</a:t>
            </a:r>
            <a:r>
              <a:rPr lang="de-DE" sz="1000" dirty="0">
                <a:solidFill>
                  <a:srgbClr val="254061"/>
                </a:solidFill>
                <a:ea typeface="Calibri" panose="020F0502020204030204" pitchFamily="34" charset="0"/>
                <a:cs typeface="Times New Roman" panose="02020603050405020304" pitchFamily="18" charset="0"/>
              </a:rPr>
              <a:t>, (2024) Datenbanksysteme: Das umfassende Lehrbuch für Ausbildung, Beruf und Studium 2. Auflage, Rheinwerk Computing</a:t>
            </a:r>
          </a:p>
        </p:txBody>
      </p:sp>
      <p:sp>
        <p:nvSpPr>
          <p:cNvPr id="38" name="Textfeld 37">
            <a:extLst>
              <a:ext uri="{FF2B5EF4-FFF2-40B4-BE49-F238E27FC236}">
                <a16:creationId xmlns:a16="http://schemas.microsoft.com/office/drawing/2014/main" id="{3D1AE339-8E54-6E65-00F3-0E7D2CC99C22}"/>
              </a:ext>
            </a:extLst>
          </p:cNvPr>
          <p:cNvSpPr txBox="1"/>
          <p:nvPr/>
        </p:nvSpPr>
        <p:spPr>
          <a:xfrm>
            <a:off x="436530" y="5263657"/>
            <a:ext cx="3068469" cy="307777"/>
          </a:xfrm>
          <a:prstGeom prst="rect">
            <a:avLst/>
          </a:prstGeom>
          <a:noFill/>
        </p:spPr>
        <p:txBody>
          <a:bodyPr wrap="none" rtlCol="0">
            <a:spAutoFit/>
          </a:bodyPr>
          <a:lstStyle/>
          <a:p>
            <a:r>
              <a:rPr lang="de-DE" sz="1400" b="1" dirty="0">
                <a:solidFill>
                  <a:srgbClr val="254061"/>
                </a:solidFill>
              </a:rPr>
              <a:t>WICHTIGE BASISLITERATUR (Auszug)</a:t>
            </a:r>
          </a:p>
        </p:txBody>
      </p:sp>
      <p:cxnSp>
        <p:nvCxnSpPr>
          <p:cNvPr id="40" name="Gerader Verbinder 39">
            <a:extLst>
              <a:ext uri="{FF2B5EF4-FFF2-40B4-BE49-F238E27FC236}">
                <a16:creationId xmlns:a16="http://schemas.microsoft.com/office/drawing/2014/main" id="{7B3A9EF5-A99A-9E47-48E5-AFED05440211}"/>
              </a:ext>
            </a:extLst>
          </p:cNvPr>
          <p:cNvCxnSpPr>
            <a:cxnSpLocks/>
          </p:cNvCxnSpPr>
          <p:nvPr/>
        </p:nvCxnSpPr>
        <p:spPr>
          <a:xfrm flipH="1">
            <a:off x="0" y="5243346"/>
            <a:ext cx="8764627" cy="0"/>
          </a:xfrm>
          <a:prstGeom prst="line">
            <a:avLst/>
          </a:prstGeom>
          <a:ln w="28575">
            <a:solidFill>
              <a:srgbClr val="2540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6750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el 32">
            <a:extLst>
              <a:ext uri="{FF2B5EF4-FFF2-40B4-BE49-F238E27FC236}">
                <a16:creationId xmlns:a16="http://schemas.microsoft.com/office/drawing/2014/main" id="{F316463A-37C9-DA3B-A977-143E0C91BC10}"/>
              </a:ext>
            </a:extLst>
          </p:cNvPr>
          <p:cNvSpPr>
            <a:spLocks noGrp="1"/>
          </p:cNvSpPr>
          <p:nvPr>
            <p:ph type="title"/>
          </p:nvPr>
        </p:nvSpPr>
        <p:spPr/>
        <p:txBody>
          <a:bodyPr/>
          <a:lstStyle/>
          <a:p>
            <a:r>
              <a:rPr lang="de-DE"/>
              <a:t>Einordnung des Moduls</a:t>
            </a:r>
          </a:p>
        </p:txBody>
      </p:sp>
      <p:grpSp>
        <p:nvGrpSpPr>
          <p:cNvPr id="2" name="Gruppieren 1">
            <a:extLst>
              <a:ext uri="{FF2B5EF4-FFF2-40B4-BE49-F238E27FC236}">
                <a16:creationId xmlns:a16="http://schemas.microsoft.com/office/drawing/2014/main" id="{875F4E25-DE5D-280A-BF42-1232C9CE21FE}"/>
              </a:ext>
            </a:extLst>
          </p:cNvPr>
          <p:cNvGrpSpPr/>
          <p:nvPr/>
        </p:nvGrpSpPr>
        <p:grpSpPr>
          <a:xfrm>
            <a:off x="927100" y="1384300"/>
            <a:ext cx="10617200" cy="5347727"/>
            <a:chOff x="2200010" y="1728208"/>
            <a:chExt cx="7739575" cy="4212421"/>
          </a:xfrm>
        </p:grpSpPr>
        <p:sp>
          <p:nvSpPr>
            <p:cNvPr id="10" name="Textfeld 9">
              <a:extLst>
                <a:ext uri="{FF2B5EF4-FFF2-40B4-BE49-F238E27FC236}">
                  <a16:creationId xmlns:a16="http://schemas.microsoft.com/office/drawing/2014/main" id="{15473BA0-059A-EC45-AD5F-A6AA120DF0F0}"/>
                </a:ext>
              </a:extLst>
            </p:cNvPr>
            <p:cNvSpPr txBox="1"/>
            <p:nvPr/>
          </p:nvSpPr>
          <p:spPr>
            <a:xfrm>
              <a:off x="2216607" y="2123722"/>
              <a:ext cx="1207872" cy="230832"/>
            </a:xfrm>
            <a:prstGeom prst="rect">
              <a:avLst/>
            </a:prstGeom>
            <a:solidFill>
              <a:schemeClr val="accent1">
                <a:lumMod val="75000"/>
              </a:schemeClr>
            </a:solidFill>
            <a:ln>
              <a:solidFill>
                <a:srgbClr val="254061"/>
              </a:solidFill>
            </a:ln>
          </p:spPr>
          <p:txBody>
            <a:bodyPr wrap="square" rtlCol="0">
              <a:spAutoFit/>
            </a:bodyPr>
            <a:lstStyle/>
            <a:p>
              <a:pPr algn="ctr"/>
              <a:r>
                <a:rPr lang="de-GB" sz="900">
                  <a:solidFill>
                    <a:schemeClr val="bg1"/>
                  </a:solidFill>
                </a:rPr>
                <a:t>1. Semester</a:t>
              </a:r>
            </a:p>
          </p:txBody>
        </p:sp>
        <p:sp>
          <p:nvSpPr>
            <p:cNvPr id="11" name="Rechteck 10">
              <a:extLst>
                <a:ext uri="{FF2B5EF4-FFF2-40B4-BE49-F238E27FC236}">
                  <a16:creationId xmlns:a16="http://schemas.microsoft.com/office/drawing/2014/main" id="{6A8DDCCD-BFBF-9D48-AE47-5F3A9D3538B8}"/>
                </a:ext>
              </a:extLst>
            </p:cNvPr>
            <p:cNvSpPr/>
            <p:nvPr/>
          </p:nvSpPr>
          <p:spPr>
            <a:xfrm>
              <a:off x="2210803" y="3108532"/>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Rechnungswesen</a:t>
              </a:r>
            </a:p>
          </p:txBody>
        </p:sp>
        <p:sp>
          <p:nvSpPr>
            <p:cNvPr id="12" name="Rechteck 11">
              <a:extLst>
                <a:ext uri="{FF2B5EF4-FFF2-40B4-BE49-F238E27FC236}">
                  <a16:creationId xmlns:a16="http://schemas.microsoft.com/office/drawing/2014/main" id="{CC99B88E-33DD-764E-83D6-E29692D0A5C7}"/>
                </a:ext>
              </a:extLst>
            </p:cNvPr>
            <p:cNvSpPr/>
            <p:nvPr/>
          </p:nvSpPr>
          <p:spPr>
            <a:xfrm>
              <a:off x="2200010" y="3688351"/>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Personal und Führung</a:t>
              </a:r>
            </a:p>
          </p:txBody>
        </p:sp>
        <p:sp>
          <p:nvSpPr>
            <p:cNvPr id="13" name="Rechteck 12">
              <a:extLst>
                <a:ext uri="{FF2B5EF4-FFF2-40B4-BE49-F238E27FC236}">
                  <a16:creationId xmlns:a16="http://schemas.microsoft.com/office/drawing/2014/main" id="{4FED2D7E-515C-DF45-A322-34BAC966759D}"/>
                </a:ext>
              </a:extLst>
            </p:cNvPr>
            <p:cNvSpPr/>
            <p:nvPr/>
          </p:nvSpPr>
          <p:spPr>
            <a:xfrm>
              <a:off x="2205422" y="4268170"/>
              <a:ext cx="1207871" cy="509714"/>
            </a:xfrm>
            <a:prstGeom prst="rect">
              <a:avLst/>
            </a:prstGeom>
            <a:solidFill>
              <a:schemeClr val="accent1">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accent1">
                      <a:lumMod val="50000"/>
                    </a:schemeClr>
                  </a:solidFill>
                </a:rPr>
                <a:t>Grundlagen der Wirtschafts-informatik</a:t>
              </a:r>
              <a:endParaRPr lang="de-GB" sz="900">
                <a:solidFill>
                  <a:schemeClr val="accent1">
                    <a:lumMod val="50000"/>
                  </a:schemeClr>
                </a:solidFill>
              </a:endParaRPr>
            </a:p>
          </p:txBody>
        </p:sp>
        <p:sp>
          <p:nvSpPr>
            <p:cNvPr id="14" name="Rechteck 13">
              <a:extLst>
                <a:ext uri="{FF2B5EF4-FFF2-40B4-BE49-F238E27FC236}">
                  <a16:creationId xmlns:a16="http://schemas.microsoft.com/office/drawing/2014/main" id="{C552542C-AD2E-3745-86A4-BF0A1C1D8DB5}"/>
                </a:ext>
              </a:extLst>
            </p:cNvPr>
            <p:cNvSpPr/>
            <p:nvPr/>
          </p:nvSpPr>
          <p:spPr>
            <a:xfrm>
              <a:off x="2216609" y="4844210"/>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Wissenschaft und Trends</a:t>
              </a:r>
            </a:p>
          </p:txBody>
        </p:sp>
        <p:sp>
          <p:nvSpPr>
            <p:cNvPr id="15" name="Rechteck 14">
              <a:extLst>
                <a:ext uri="{FF2B5EF4-FFF2-40B4-BE49-F238E27FC236}">
                  <a16:creationId xmlns:a16="http://schemas.microsoft.com/office/drawing/2014/main" id="{65442DA1-6689-3246-AE78-F64566085CD4}"/>
                </a:ext>
              </a:extLst>
            </p:cNvPr>
            <p:cNvSpPr/>
            <p:nvPr/>
          </p:nvSpPr>
          <p:spPr>
            <a:xfrm>
              <a:off x="2212371" y="2528713"/>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Mathematik</a:t>
              </a:r>
            </a:p>
          </p:txBody>
        </p:sp>
        <p:sp>
          <p:nvSpPr>
            <p:cNvPr id="16" name="Richtungspfeil 15">
              <a:extLst>
                <a:ext uri="{FF2B5EF4-FFF2-40B4-BE49-F238E27FC236}">
                  <a16:creationId xmlns:a16="http://schemas.microsoft.com/office/drawing/2014/main" id="{CF59CDFF-A529-E045-BC2F-8798F68D876E}"/>
                </a:ext>
              </a:extLst>
            </p:cNvPr>
            <p:cNvSpPr/>
            <p:nvPr/>
          </p:nvSpPr>
          <p:spPr>
            <a:xfrm>
              <a:off x="2216607" y="1728208"/>
              <a:ext cx="7722978" cy="301152"/>
            </a:xfrm>
            <a:prstGeom prst="homePlate">
              <a:avLst/>
            </a:prstGeom>
            <a:solidFill>
              <a:schemeClr val="accent1">
                <a:lumMod val="5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75"/>
                <a:t>BSc Business Informatics</a:t>
              </a:r>
            </a:p>
          </p:txBody>
        </p:sp>
        <p:sp>
          <p:nvSpPr>
            <p:cNvPr id="17" name="Textfeld 16">
              <a:extLst>
                <a:ext uri="{FF2B5EF4-FFF2-40B4-BE49-F238E27FC236}">
                  <a16:creationId xmlns:a16="http://schemas.microsoft.com/office/drawing/2014/main" id="{253675E4-35D6-7248-AA8E-74D065971D49}"/>
                </a:ext>
              </a:extLst>
            </p:cNvPr>
            <p:cNvSpPr txBox="1"/>
            <p:nvPr/>
          </p:nvSpPr>
          <p:spPr>
            <a:xfrm>
              <a:off x="3515237" y="2123722"/>
              <a:ext cx="1207872" cy="230832"/>
            </a:xfrm>
            <a:prstGeom prst="rect">
              <a:avLst/>
            </a:prstGeom>
            <a:solidFill>
              <a:schemeClr val="accent1">
                <a:lumMod val="75000"/>
              </a:schemeClr>
            </a:solidFill>
            <a:ln>
              <a:solidFill>
                <a:srgbClr val="254061"/>
              </a:solidFill>
            </a:ln>
          </p:spPr>
          <p:txBody>
            <a:bodyPr wrap="square" rtlCol="0">
              <a:spAutoFit/>
            </a:bodyPr>
            <a:lstStyle/>
            <a:p>
              <a:pPr algn="ctr"/>
              <a:r>
                <a:rPr lang="de-GB" sz="900">
                  <a:solidFill>
                    <a:schemeClr val="bg1"/>
                  </a:solidFill>
                </a:rPr>
                <a:t>2. Semester</a:t>
              </a:r>
            </a:p>
          </p:txBody>
        </p:sp>
        <p:sp>
          <p:nvSpPr>
            <p:cNvPr id="23" name="Textfeld 22">
              <a:extLst>
                <a:ext uri="{FF2B5EF4-FFF2-40B4-BE49-F238E27FC236}">
                  <a16:creationId xmlns:a16="http://schemas.microsoft.com/office/drawing/2014/main" id="{CEC078D6-E01F-FF4A-9714-07CFAC6EB37A}"/>
                </a:ext>
              </a:extLst>
            </p:cNvPr>
            <p:cNvSpPr txBox="1"/>
            <p:nvPr/>
          </p:nvSpPr>
          <p:spPr>
            <a:xfrm>
              <a:off x="4816546" y="2127029"/>
              <a:ext cx="1207872" cy="230832"/>
            </a:xfrm>
            <a:prstGeom prst="rect">
              <a:avLst/>
            </a:prstGeom>
            <a:solidFill>
              <a:schemeClr val="accent1">
                <a:lumMod val="75000"/>
              </a:schemeClr>
            </a:solidFill>
            <a:ln>
              <a:solidFill>
                <a:srgbClr val="254061"/>
              </a:solidFill>
            </a:ln>
          </p:spPr>
          <p:txBody>
            <a:bodyPr wrap="square" rtlCol="0">
              <a:spAutoFit/>
            </a:bodyPr>
            <a:lstStyle/>
            <a:p>
              <a:pPr algn="ctr"/>
              <a:r>
                <a:rPr lang="de-GB" sz="900">
                  <a:solidFill>
                    <a:schemeClr val="bg1"/>
                  </a:solidFill>
                </a:rPr>
                <a:t>3. Semester</a:t>
              </a:r>
            </a:p>
          </p:txBody>
        </p:sp>
        <p:sp>
          <p:nvSpPr>
            <p:cNvPr id="29" name="Textfeld 28">
              <a:extLst>
                <a:ext uri="{FF2B5EF4-FFF2-40B4-BE49-F238E27FC236}">
                  <a16:creationId xmlns:a16="http://schemas.microsoft.com/office/drawing/2014/main" id="{CBF2F531-136F-5643-A0BD-CD29147CF77C}"/>
                </a:ext>
              </a:extLst>
            </p:cNvPr>
            <p:cNvSpPr txBox="1"/>
            <p:nvPr/>
          </p:nvSpPr>
          <p:spPr>
            <a:xfrm>
              <a:off x="6123266" y="2127029"/>
              <a:ext cx="1207872" cy="230832"/>
            </a:xfrm>
            <a:prstGeom prst="rect">
              <a:avLst/>
            </a:prstGeom>
            <a:solidFill>
              <a:schemeClr val="accent1">
                <a:lumMod val="75000"/>
              </a:schemeClr>
            </a:solidFill>
            <a:ln>
              <a:solidFill>
                <a:srgbClr val="254061"/>
              </a:solidFill>
            </a:ln>
          </p:spPr>
          <p:txBody>
            <a:bodyPr wrap="square" rtlCol="0">
              <a:spAutoFit/>
            </a:bodyPr>
            <a:lstStyle/>
            <a:p>
              <a:pPr algn="ctr"/>
              <a:r>
                <a:rPr lang="de-GB" sz="900">
                  <a:solidFill>
                    <a:schemeClr val="bg1"/>
                  </a:solidFill>
                </a:rPr>
                <a:t>4. Semester</a:t>
              </a:r>
            </a:p>
          </p:txBody>
        </p:sp>
        <p:sp>
          <p:nvSpPr>
            <p:cNvPr id="35" name="Textfeld 34">
              <a:extLst>
                <a:ext uri="{FF2B5EF4-FFF2-40B4-BE49-F238E27FC236}">
                  <a16:creationId xmlns:a16="http://schemas.microsoft.com/office/drawing/2014/main" id="{CCD63DBD-2A81-594F-B31A-EA868E13D957}"/>
                </a:ext>
              </a:extLst>
            </p:cNvPr>
            <p:cNvSpPr txBox="1"/>
            <p:nvPr/>
          </p:nvSpPr>
          <p:spPr>
            <a:xfrm>
              <a:off x="7429986" y="2127029"/>
              <a:ext cx="1207872" cy="230832"/>
            </a:xfrm>
            <a:prstGeom prst="rect">
              <a:avLst/>
            </a:prstGeom>
            <a:solidFill>
              <a:schemeClr val="accent1">
                <a:lumMod val="75000"/>
              </a:schemeClr>
            </a:solidFill>
            <a:ln>
              <a:solidFill>
                <a:srgbClr val="254061"/>
              </a:solidFill>
            </a:ln>
          </p:spPr>
          <p:txBody>
            <a:bodyPr wrap="square" rtlCol="0">
              <a:spAutoFit/>
            </a:bodyPr>
            <a:lstStyle/>
            <a:p>
              <a:pPr algn="ctr"/>
              <a:r>
                <a:rPr lang="de-GB" sz="900">
                  <a:solidFill>
                    <a:schemeClr val="bg1"/>
                  </a:solidFill>
                </a:rPr>
                <a:t>5. Semester</a:t>
              </a:r>
            </a:p>
          </p:txBody>
        </p:sp>
        <p:sp>
          <p:nvSpPr>
            <p:cNvPr id="41" name="Textfeld 40">
              <a:extLst>
                <a:ext uri="{FF2B5EF4-FFF2-40B4-BE49-F238E27FC236}">
                  <a16:creationId xmlns:a16="http://schemas.microsoft.com/office/drawing/2014/main" id="{5D405630-27BF-9E43-83BE-2F39F8FD7BB1}"/>
                </a:ext>
              </a:extLst>
            </p:cNvPr>
            <p:cNvSpPr txBox="1"/>
            <p:nvPr/>
          </p:nvSpPr>
          <p:spPr>
            <a:xfrm>
              <a:off x="8715114" y="2123722"/>
              <a:ext cx="1207872" cy="230832"/>
            </a:xfrm>
            <a:prstGeom prst="rect">
              <a:avLst/>
            </a:prstGeom>
            <a:solidFill>
              <a:schemeClr val="accent1">
                <a:lumMod val="75000"/>
              </a:schemeClr>
            </a:solidFill>
            <a:ln>
              <a:solidFill>
                <a:srgbClr val="254061"/>
              </a:solidFill>
            </a:ln>
          </p:spPr>
          <p:txBody>
            <a:bodyPr wrap="square" rtlCol="0">
              <a:spAutoFit/>
            </a:bodyPr>
            <a:lstStyle/>
            <a:p>
              <a:pPr algn="ctr"/>
              <a:r>
                <a:rPr lang="de-GB" sz="900">
                  <a:solidFill>
                    <a:schemeClr val="bg1"/>
                  </a:solidFill>
                </a:rPr>
                <a:t>6. Semester</a:t>
              </a:r>
            </a:p>
          </p:txBody>
        </p:sp>
        <p:sp>
          <p:nvSpPr>
            <p:cNvPr id="47" name="Rechteck 46">
              <a:extLst>
                <a:ext uri="{FF2B5EF4-FFF2-40B4-BE49-F238E27FC236}">
                  <a16:creationId xmlns:a16="http://schemas.microsoft.com/office/drawing/2014/main" id="{E9AC0E6F-0A21-A042-A065-D68442E9E04A}"/>
                </a:ext>
              </a:extLst>
            </p:cNvPr>
            <p:cNvSpPr/>
            <p:nvPr/>
          </p:nvSpPr>
          <p:spPr>
            <a:xfrm>
              <a:off x="6108625" y="4271284"/>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Microeconomics</a:t>
              </a:r>
            </a:p>
          </p:txBody>
        </p:sp>
        <p:sp>
          <p:nvSpPr>
            <p:cNvPr id="48" name="Rechteck 47">
              <a:extLst>
                <a:ext uri="{FF2B5EF4-FFF2-40B4-BE49-F238E27FC236}">
                  <a16:creationId xmlns:a16="http://schemas.microsoft.com/office/drawing/2014/main" id="{7609CAC1-ACAD-6044-B5D4-F82857DCD95B}"/>
                </a:ext>
              </a:extLst>
            </p:cNvPr>
            <p:cNvSpPr/>
            <p:nvPr/>
          </p:nvSpPr>
          <p:spPr>
            <a:xfrm>
              <a:off x="3509827" y="3688351"/>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Principles of Finance</a:t>
              </a:r>
            </a:p>
          </p:txBody>
        </p:sp>
        <p:sp>
          <p:nvSpPr>
            <p:cNvPr id="49" name="Rechteck 48">
              <a:extLst>
                <a:ext uri="{FF2B5EF4-FFF2-40B4-BE49-F238E27FC236}">
                  <a16:creationId xmlns:a16="http://schemas.microsoft.com/office/drawing/2014/main" id="{D095F0BB-3842-634A-8A3D-F6848FBBD2E3}"/>
                </a:ext>
              </a:extLst>
            </p:cNvPr>
            <p:cNvSpPr/>
            <p:nvPr/>
          </p:nvSpPr>
          <p:spPr>
            <a:xfrm>
              <a:off x="3515239" y="4268170"/>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Marketing Management</a:t>
              </a:r>
            </a:p>
          </p:txBody>
        </p:sp>
        <p:sp>
          <p:nvSpPr>
            <p:cNvPr id="51" name="Rechteck 50">
              <a:extLst>
                <a:ext uri="{FF2B5EF4-FFF2-40B4-BE49-F238E27FC236}">
                  <a16:creationId xmlns:a16="http://schemas.microsoft.com/office/drawing/2014/main" id="{622FBA5E-E080-884A-B48C-871944ED01E3}"/>
                </a:ext>
              </a:extLst>
            </p:cNvPr>
            <p:cNvSpPr/>
            <p:nvPr/>
          </p:nvSpPr>
          <p:spPr>
            <a:xfrm>
              <a:off x="3522189" y="2528713"/>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Statistik</a:t>
              </a:r>
            </a:p>
          </p:txBody>
        </p:sp>
        <p:sp>
          <p:nvSpPr>
            <p:cNvPr id="52" name="Rechteck 51">
              <a:extLst>
                <a:ext uri="{FF2B5EF4-FFF2-40B4-BE49-F238E27FC236}">
                  <a16:creationId xmlns:a16="http://schemas.microsoft.com/office/drawing/2014/main" id="{35AAE936-EA9E-9D4E-83E9-84C68A4BBE6B}"/>
                </a:ext>
              </a:extLst>
            </p:cNvPr>
            <p:cNvSpPr/>
            <p:nvPr/>
          </p:nvSpPr>
          <p:spPr>
            <a:xfrm>
              <a:off x="4830437" y="3108532"/>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Strategie and Innovation</a:t>
              </a:r>
            </a:p>
          </p:txBody>
        </p:sp>
        <p:sp>
          <p:nvSpPr>
            <p:cNvPr id="55" name="Rechteck 54">
              <a:extLst>
                <a:ext uri="{FF2B5EF4-FFF2-40B4-BE49-F238E27FC236}">
                  <a16:creationId xmlns:a16="http://schemas.microsoft.com/office/drawing/2014/main" id="{605E5C05-7107-4747-8FC2-5D4780C2C4BB}"/>
                </a:ext>
              </a:extLst>
            </p:cNvPr>
            <p:cNvSpPr/>
            <p:nvPr/>
          </p:nvSpPr>
          <p:spPr>
            <a:xfrm>
              <a:off x="3508263" y="4847989"/>
              <a:ext cx="1207871" cy="509714"/>
            </a:xfrm>
            <a:prstGeom prst="rect">
              <a:avLst/>
            </a:prstGeom>
            <a:solidFill>
              <a:schemeClr val="accent6">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GB" sz="900">
                <a:solidFill>
                  <a:schemeClr val="accent1">
                    <a:lumMod val="50000"/>
                  </a:schemeClr>
                </a:solidFill>
              </a:endParaRPr>
            </a:p>
          </p:txBody>
        </p:sp>
        <p:sp>
          <p:nvSpPr>
            <p:cNvPr id="57" name="Rechteck 56">
              <a:extLst>
                <a:ext uri="{FF2B5EF4-FFF2-40B4-BE49-F238E27FC236}">
                  <a16:creationId xmlns:a16="http://schemas.microsoft.com/office/drawing/2014/main" id="{5D31A7F8-FE1B-2A40-81E6-C1A7D0E14094}"/>
                </a:ext>
              </a:extLst>
            </p:cNvPr>
            <p:cNvSpPr/>
            <p:nvPr/>
          </p:nvSpPr>
          <p:spPr>
            <a:xfrm>
              <a:off x="6121700" y="3108532"/>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Projektmanagement</a:t>
              </a:r>
            </a:p>
          </p:txBody>
        </p:sp>
        <p:sp>
          <p:nvSpPr>
            <p:cNvPr id="58" name="Rechteck 57">
              <a:extLst>
                <a:ext uri="{FF2B5EF4-FFF2-40B4-BE49-F238E27FC236}">
                  <a16:creationId xmlns:a16="http://schemas.microsoft.com/office/drawing/2014/main" id="{BA4B14C2-D861-8B42-9AB5-01E6B2E368BE}"/>
                </a:ext>
              </a:extLst>
            </p:cNvPr>
            <p:cNvSpPr/>
            <p:nvPr/>
          </p:nvSpPr>
          <p:spPr>
            <a:xfrm>
              <a:off x="6121699" y="3688350"/>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Organisation and Organisational Behaviour</a:t>
              </a:r>
            </a:p>
          </p:txBody>
        </p:sp>
        <p:sp>
          <p:nvSpPr>
            <p:cNvPr id="59" name="Rechteck 58">
              <a:extLst>
                <a:ext uri="{FF2B5EF4-FFF2-40B4-BE49-F238E27FC236}">
                  <a16:creationId xmlns:a16="http://schemas.microsoft.com/office/drawing/2014/main" id="{E91D9175-82FB-7C40-B5AA-75E728C3B52B}"/>
                </a:ext>
              </a:extLst>
            </p:cNvPr>
            <p:cNvSpPr/>
            <p:nvPr/>
          </p:nvSpPr>
          <p:spPr>
            <a:xfrm>
              <a:off x="7436928" y="4268166"/>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Minor</a:t>
              </a:r>
            </a:p>
          </p:txBody>
        </p:sp>
        <p:sp>
          <p:nvSpPr>
            <p:cNvPr id="60" name="Rechteck 59">
              <a:extLst>
                <a:ext uri="{FF2B5EF4-FFF2-40B4-BE49-F238E27FC236}">
                  <a16:creationId xmlns:a16="http://schemas.microsoft.com/office/drawing/2014/main" id="{63FA8D0A-B33E-1E4F-918C-39F0E979E4D6}"/>
                </a:ext>
              </a:extLst>
            </p:cNvPr>
            <p:cNvSpPr/>
            <p:nvPr/>
          </p:nvSpPr>
          <p:spPr>
            <a:xfrm>
              <a:off x="3522188" y="5430915"/>
              <a:ext cx="5128029" cy="509714"/>
            </a:xfrm>
            <a:prstGeom prst="rect">
              <a:avLst/>
            </a:prstGeom>
            <a:solidFill>
              <a:schemeClr val="accent2">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WBÜ/Study Trip</a:t>
              </a:r>
            </a:p>
          </p:txBody>
        </p:sp>
        <p:sp>
          <p:nvSpPr>
            <p:cNvPr id="61" name="Rechteck 60">
              <a:extLst>
                <a:ext uri="{FF2B5EF4-FFF2-40B4-BE49-F238E27FC236}">
                  <a16:creationId xmlns:a16="http://schemas.microsoft.com/office/drawing/2014/main" id="{E4F82CFC-A155-8A43-B49F-8D9D8FFDEBC2}"/>
                </a:ext>
              </a:extLst>
            </p:cNvPr>
            <p:cNvSpPr/>
            <p:nvPr/>
          </p:nvSpPr>
          <p:spPr>
            <a:xfrm>
              <a:off x="6123268" y="2528713"/>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Operations</a:t>
              </a:r>
              <a:r>
                <a:rPr lang="de-DE" sz="900">
                  <a:solidFill>
                    <a:schemeClr val="accent1">
                      <a:lumMod val="50000"/>
                    </a:schemeClr>
                  </a:solidFill>
                </a:rPr>
                <a:t> Management and</a:t>
              </a:r>
              <a:r>
                <a:rPr lang="de-GB" sz="900">
                  <a:solidFill>
                    <a:schemeClr val="accent1">
                      <a:lumMod val="50000"/>
                    </a:schemeClr>
                  </a:solidFill>
                </a:rPr>
                <a:t> </a:t>
              </a:r>
              <a:r>
                <a:rPr lang="de-DE" sz="900" err="1">
                  <a:solidFill>
                    <a:schemeClr val="accent1">
                      <a:lumMod val="50000"/>
                    </a:schemeClr>
                  </a:solidFill>
                </a:rPr>
                <a:t>Operations</a:t>
              </a:r>
              <a:r>
                <a:rPr lang="de-DE" sz="900">
                  <a:solidFill>
                    <a:schemeClr val="accent1">
                      <a:lumMod val="50000"/>
                    </a:schemeClr>
                  </a:solidFill>
                </a:rPr>
                <a:t> Reseach</a:t>
              </a:r>
              <a:endParaRPr lang="de-GB" sz="900">
                <a:solidFill>
                  <a:schemeClr val="accent1">
                    <a:lumMod val="50000"/>
                  </a:schemeClr>
                </a:solidFill>
              </a:endParaRPr>
            </a:p>
          </p:txBody>
        </p:sp>
        <p:sp>
          <p:nvSpPr>
            <p:cNvPr id="63" name="Rechteck 62">
              <a:extLst>
                <a:ext uri="{FF2B5EF4-FFF2-40B4-BE49-F238E27FC236}">
                  <a16:creationId xmlns:a16="http://schemas.microsoft.com/office/drawing/2014/main" id="{7D8D7925-3553-5D49-A056-DC1BEBA9F4F7}"/>
                </a:ext>
              </a:extLst>
            </p:cNvPr>
            <p:cNvSpPr/>
            <p:nvPr/>
          </p:nvSpPr>
          <p:spPr>
            <a:xfrm>
              <a:off x="4835850" y="4268166"/>
              <a:ext cx="1207871" cy="509714"/>
            </a:xfrm>
            <a:prstGeom prst="rect">
              <a:avLst/>
            </a:prstGeom>
            <a:solidFill>
              <a:schemeClr val="accent6">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GB" sz="900">
                <a:solidFill>
                  <a:schemeClr val="accent1">
                    <a:lumMod val="50000"/>
                  </a:schemeClr>
                </a:solidFill>
              </a:endParaRPr>
            </a:p>
          </p:txBody>
        </p:sp>
        <p:sp>
          <p:nvSpPr>
            <p:cNvPr id="65" name="Rechteck 64">
              <a:extLst>
                <a:ext uri="{FF2B5EF4-FFF2-40B4-BE49-F238E27FC236}">
                  <a16:creationId xmlns:a16="http://schemas.microsoft.com/office/drawing/2014/main" id="{5A6CD838-6088-1E41-A0C6-DA9BD674293B}"/>
                </a:ext>
              </a:extLst>
            </p:cNvPr>
            <p:cNvSpPr/>
            <p:nvPr/>
          </p:nvSpPr>
          <p:spPr>
            <a:xfrm>
              <a:off x="7429988" y="4847985"/>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err="1">
                  <a:solidFill>
                    <a:schemeClr val="accent1">
                      <a:lumMod val="50000"/>
                    </a:schemeClr>
                  </a:solidFill>
                </a:rPr>
                <a:t>Elective</a:t>
              </a:r>
              <a:r>
                <a:rPr lang="de-DE" sz="900">
                  <a:solidFill>
                    <a:schemeClr val="accent1">
                      <a:lumMod val="50000"/>
                    </a:schemeClr>
                  </a:solidFill>
                </a:rPr>
                <a:t> 3</a:t>
              </a:r>
              <a:endParaRPr lang="de-GB" sz="900">
                <a:solidFill>
                  <a:schemeClr val="accent1">
                    <a:lumMod val="50000"/>
                  </a:schemeClr>
                </a:solidFill>
              </a:endParaRPr>
            </a:p>
          </p:txBody>
        </p:sp>
        <p:sp>
          <p:nvSpPr>
            <p:cNvPr id="66" name="Rechteck 65">
              <a:extLst>
                <a:ext uri="{FF2B5EF4-FFF2-40B4-BE49-F238E27FC236}">
                  <a16:creationId xmlns:a16="http://schemas.microsoft.com/office/drawing/2014/main" id="{D8C7F6E4-F9E2-7940-8FE8-DDDE5381DD40}"/>
                </a:ext>
              </a:extLst>
            </p:cNvPr>
            <p:cNvSpPr/>
            <p:nvPr/>
          </p:nvSpPr>
          <p:spPr>
            <a:xfrm>
              <a:off x="7442346" y="2528713"/>
              <a:ext cx="1207871" cy="509714"/>
            </a:xfrm>
            <a:prstGeom prst="rect">
              <a:avLst/>
            </a:prstGeom>
            <a:solidFill>
              <a:schemeClr val="accent1">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Wirtschaftsrecht</a:t>
              </a:r>
            </a:p>
          </p:txBody>
        </p:sp>
        <p:sp>
          <p:nvSpPr>
            <p:cNvPr id="69" name="Rechteck 68">
              <a:extLst>
                <a:ext uri="{FF2B5EF4-FFF2-40B4-BE49-F238E27FC236}">
                  <a16:creationId xmlns:a16="http://schemas.microsoft.com/office/drawing/2014/main" id="{A715DFEF-6AFB-0D41-9984-A22A2C2A04CF}"/>
                </a:ext>
              </a:extLst>
            </p:cNvPr>
            <p:cNvSpPr/>
            <p:nvPr/>
          </p:nvSpPr>
          <p:spPr>
            <a:xfrm>
              <a:off x="8725909" y="2528713"/>
              <a:ext cx="1207871" cy="1089533"/>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B</a:t>
              </a:r>
              <a:r>
                <a:rPr lang="de-DE" sz="900">
                  <a:solidFill>
                    <a:schemeClr val="accent1">
                      <a:lumMod val="50000"/>
                    </a:schemeClr>
                  </a:solidFill>
                </a:rPr>
                <a:t>a</a:t>
              </a:r>
              <a:r>
                <a:rPr lang="de-GB" sz="900">
                  <a:solidFill>
                    <a:schemeClr val="accent1">
                      <a:lumMod val="50000"/>
                    </a:schemeClr>
                  </a:solidFill>
                </a:rPr>
                <a:t>chelorarbeit</a:t>
              </a:r>
            </a:p>
          </p:txBody>
        </p:sp>
        <p:sp>
          <p:nvSpPr>
            <p:cNvPr id="71" name="Rechteck 70">
              <a:extLst>
                <a:ext uri="{FF2B5EF4-FFF2-40B4-BE49-F238E27FC236}">
                  <a16:creationId xmlns:a16="http://schemas.microsoft.com/office/drawing/2014/main" id="{3DB4EC67-692E-1648-8E15-E748A54CEEE5}"/>
                </a:ext>
              </a:extLst>
            </p:cNvPr>
            <p:cNvSpPr/>
            <p:nvPr/>
          </p:nvSpPr>
          <p:spPr>
            <a:xfrm>
              <a:off x="7436928" y="3685237"/>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Minor</a:t>
              </a:r>
              <a:r>
                <a:rPr lang="de-DE" sz="900">
                  <a:solidFill>
                    <a:schemeClr val="accent1">
                      <a:lumMod val="50000"/>
                    </a:schemeClr>
                  </a:solidFill>
                </a:rPr>
                <a:t>*</a:t>
              </a:r>
              <a:endParaRPr lang="de-GB" sz="900">
                <a:solidFill>
                  <a:schemeClr val="accent1">
                    <a:lumMod val="50000"/>
                  </a:schemeClr>
                </a:solidFill>
              </a:endParaRPr>
            </a:p>
          </p:txBody>
        </p:sp>
        <p:sp>
          <p:nvSpPr>
            <p:cNvPr id="72" name="Rechteck 71">
              <a:extLst>
                <a:ext uri="{FF2B5EF4-FFF2-40B4-BE49-F238E27FC236}">
                  <a16:creationId xmlns:a16="http://schemas.microsoft.com/office/drawing/2014/main" id="{1101374C-65AE-124D-8D07-0A896D87B549}"/>
                </a:ext>
              </a:extLst>
            </p:cNvPr>
            <p:cNvSpPr/>
            <p:nvPr/>
          </p:nvSpPr>
          <p:spPr>
            <a:xfrm>
              <a:off x="8715117" y="4260612"/>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GB" sz="900">
                  <a:solidFill>
                    <a:schemeClr val="accent1">
                      <a:lumMod val="50000"/>
                    </a:schemeClr>
                  </a:solidFill>
                </a:rPr>
                <a:t>Minor</a:t>
              </a:r>
            </a:p>
          </p:txBody>
        </p:sp>
        <p:sp>
          <p:nvSpPr>
            <p:cNvPr id="39" name="Rechteck 38">
              <a:extLst>
                <a:ext uri="{FF2B5EF4-FFF2-40B4-BE49-F238E27FC236}">
                  <a16:creationId xmlns:a16="http://schemas.microsoft.com/office/drawing/2014/main" id="{C59445E5-ECC7-48AE-A6D3-D2331F8946E9}"/>
                </a:ext>
              </a:extLst>
            </p:cNvPr>
            <p:cNvSpPr/>
            <p:nvPr/>
          </p:nvSpPr>
          <p:spPr>
            <a:xfrm>
              <a:off x="4816548" y="4851103"/>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bg1"/>
                  </a:solidFill>
                </a:rPr>
                <a:t>Grundlagen der Programmierung &amp; Frontend Design</a:t>
              </a:r>
              <a:endParaRPr lang="de-GB" sz="900">
                <a:solidFill>
                  <a:schemeClr val="bg1"/>
                </a:solidFill>
              </a:endParaRPr>
            </a:p>
          </p:txBody>
        </p:sp>
        <p:sp>
          <p:nvSpPr>
            <p:cNvPr id="40" name="Rechteck 39">
              <a:extLst>
                <a:ext uri="{FF2B5EF4-FFF2-40B4-BE49-F238E27FC236}">
                  <a16:creationId xmlns:a16="http://schemas.microsoft.com/office/drawing/2014/main" id="{6210F08A-9511-4D04-A96F-40B9AC69FEDA}"/>
                </a:ext>
              </a:extLst>
            </p:cNvPr>
            <p:cNvSpPr/>
            <p:nvPr/>
          </p:nvSpPr>
          <p:spPr>
            <a:xfrm>
              <a:off x="4830437" y="4254850"/>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bg1"/>
                  </a:solidFill>
                </a:rPr>
                <a:t>Programmierung I</a:t>
              </a:r>
              <a:endParaRPr lang="de-GB" sz="900">
                <a:solidFill>
                  <a:schemeClr val="bg1"/>
                </a:solidFill>
              </a:endParaRPr>
            </a:p>
          </p:txBody>
        </p:sp>
        <p:sp>
          <p:nvSpPr>
            <p:cNvPr id="42" name="Rechteck 41">
              <a:extLst>
                <a:ext uri="{FF2B5EF4-FFF2-40B4-BE49-F238E27FC236}">
                  <a16:creationId xmlns:a16="http://schemas.microsoft.com/office/drawing/2014/main" id="{6142AF91-9466-4CAD-A891-7F7A30B5D406}"/>
                </a:ext>
              </a:extLst>
            </p:cNvPr>
            <p:cNvSpPr/>
            <p:nvPr/>
          </p:nvSpPr>
          <p:spPr>
            <a:xfrm>
              <a:off x="4837381" y="3684568"/>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bg1"/>
                  </a:solidFill>
                </a:rPr>
                <a:t>Datenbanksysteme</a:t>
              </a:r>
              <a:endParaRPr lang="de-GB" sz="900">
                <a:solidFill>
                  <a:schemeClr val="bg1"/>
                </a:solidFill>
              </a:endParaRPr>
            </a:p>
          </p:txBody>
        </p:sp>
        <p:sp>
          <p:nvSpPr>
            <p:cNvPr id="43" name="Rechteck 42">
              <a:extLst>
                <a:ext uri="{FF2B5EF4-FFF2-40B4-BE49-F238E27FC236}">
                  <a16:creationId xmlns:a16="http://schemas.microsoft.com/office/drawing/2014/main" id="{48FB7225-7A75-4600-9A46-E330AE7F2B5F}"/>
                </a:ext>
              </a:extLst>
            </p:cNvPr>
            <p:cNvSpPr/>
            <p:nvPr/>
          </p:nvSpPr>
          <p:spPr>
            <a:xfrm>
              <a:off x="7436928" y="3108525"/>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bg1"/>
                  </a:solidFill>
                </a:rPr>
                <a:t>Architecture of Operational Information Systems</a:t>
              </a:r>
              <a:endParaRPr lang="de-DE" sz="900">
                <a:solidFill>
                  <a:schemeClr val="bg1"/>
                </a:solidFill>
              </a:endParaRPr>
            </a:p>
          </p:txBody>
        </p:sp>
        <p:sp>
          <p:nvSpPr>
            <p:cNvPr id="44" name="Rechteck 43">
              <a:extLst>
                <a:ext uri="{FF2B5EF4-FFF2-40B4-BE49-F238E27FC236}">
                  <a16:creationId xmlns:a16="http://schemas.microsoft.com/office/drawing/2014/main" id="{62E37679-5A7F-4B55-B4B2-EF3B2BDEBBFC}"/>
                </a:ext>
              </a:extLst>
            </p:cNvPr>
            <p:cNvSpPr/>
            <p:nvPr/>
          </p:nvSpPr>
          <p:spPr>
            <a:xfrm>
              <a:off x="6123268" y="4847985"/>
              <a:ext cx="1207871" cy="509714"/>
            </a:xfrm>
            <a:prstGeom prst="rect">
              <a:avLst/>
            </a:prstGeom>
            <a:solidFill>
              <a:schemeClr val="accent6">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err="1">
                  <a:solidFill>
                    <a:schemeClr val="accent1">
                      <a:lumMod val="50000"/>
                    </a:schemeClr>
                  </a:solidFill>
                </a:rPr>
                <a:t>Elective</a:t>
              </a:r>
              <a:r>
                <a:rPr lang="de-DE" sz="900">
                  <a:solidFill>
                    <a:schemeClr val="accent1">
                      <a:lumMod val="50000"/>
                    </a:schemeClr>
                  </a:solidFill>
                </a:rPr>
                <a:t> 2</a:t>
              </a:r>
              <a:endParaRPr lang="de-GB" sz="900">
                <a:solidFill>
                  <a:schemeClr val="accent1">
                    <a:lumMod val="50000"/>
                  </a:schemeClr>
                </a:solidFill>
              </a:endParaRPr>
            </a:p>
          </p:txBody>
        </p:sp>
        <p:sp>
          <p:nvSpPr>
            <p:cNvPr id="45" name="Rechteck 44">
              <a:extLst>
                <a:ext uri="{FF2B5EF4-FFF2-40B4-BE49-F238E27FC236}">
                  <a16:creationId xmlns:a16="http://schemas.microsoft.com/office/drawing/2014/main" id="{C7096830-3F32-476A-A90D-F8E2F3B6DC3A}"/>
                </a:ext>
              </a:extLst>
            </p:cNvPr>
            <p:cNvSpPr/>
            <p:nvPr/>
          </p:nvSpPr>
          <p:spPr>
            <a:xfrm>
              <a:off x="8715116" y="4847985"/>
              <a:ext cx="1207871" cy="509714"/>
            </a:xfrm>
            <a:prstGeom prst="rect">
              <a:avLst/>
            </a:prstGeom>
            <a:solidFill>
              <a:schemeClr val="accent6">
                <a:lumMod val="20000"/>
                <a:lumOff val="80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err="1">
                  <a:solidFill>
                    <a:schemeClr val="accent1">
                      <a:lumMod val="50000"/>
                    </a:schemeClr>
                  </a:solidFill>
                </a:rPr>
                <a:t>Elective</a:t>
              </a:r>
              <a:r>
                <a:rPr lang="de-DE" sz="900">
                  <a:solidFill>
                    <a:schemeClr val="accent1">
                      <a:lumMod val="50000"/>
                    </a:schemeClr>
                  </a:solidFill>
                </a:rPr>
                <a:t> 4</a:t>
              </a:r>
              <a:endParaRPr lang="de-GB" sz="900">
                <a:solidFill>
                  <a:schemeClr val="accent1">
                    <a:lumMod val="50000"/>
                  </a:schemeClr>
                </a:solidFill>
              </a:endParaRPr>
            </a:p>
          </p:txBody>
        </p:sp>
        <p:sp>
          <p:nvSpPr>
            <p:cNvPr id="46" name="Rechteck 45">
              <a:extLst>
                <a:ext uri="{FF2B5EF4-FFF2-40B4-BE49-F238E27FC236}">
                  <a16:creationId xmlns:a16="http://schemas.microsoft.com/office/drawing/2014/main" id="{70D66D4E-FC65-4BF2-A391-2B0BD979B79E}"/>
                </a:ext>
              </a:extLst>
            </p:cNvPr>
            <p:cNvSpPr/>
            <p:nvPr/>
          </p:nvSpPr>
          <p:spPr>
            <a:xfrm>
              <a:off x="3515239" y="3095214"/>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de-DE" sz="900">
                  <a:solidFill>
                    <a:schemeClr val="bg1"/>
                  </a:solidFill>
                </a:rPr>
                <a:t>Software Engineering</a:t>
              </a:r>
              <a:endParaRPr lang="de-GB" sz="900">
                <a:solidFill>
                  <a:schemeClr val="bg1"/>
                </a:solidFill>
              </a:endParaRPr>
            </a:p>
          </p:txBody>
        </p:sp>
        <p:sp>
          <p:nvSpPr>
            <p:cNvPr id="67" name="Rechteck 66">
              <a:extLst>
                <a:ext uri="{FF2B5EF4-FFF2-40B4-BE49-F238E27FC236}">
                  <a16:creationId xmlns:a16="http://schemas.microsoft.com/office/drawing/2014/main" id="{CA8D8084-51FA-4BD9-97E4-596D4CC3D852}"/>
                </a:ext>
              </a:extLst>
            </p:cNvPr>
            <p:cNvSpPr/>
            <p:nvPr/>
          </p:nvSpPr>
          <p:spPr>
            <a:xfrm>
              <a:off x="6115446" y="4858807"/>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de-DE" sz="900">
                  <a:solidFill>
                    <a:schemeClr val="bg1"/>
                  </a:solidFill>
                </a:rPr>
                <a:t>Programmierung II</a:t>
              </a:r>
              <a:endParaRPr lang="de-GB" sz="900">
                <a:solidFill>
                  <a:schemeClr val="bg1"/>
                </a:solidFill>
              </a:endParaRPr>
            </a:p>
          </p:txBody>
        </p:sp>
        <p:sp>
          <p:nvSpPr>
            <p:cNvPr id="70" name="Rechteck 69">
              <a:extLst>
                <a:ext uri="{FF2B5EF4-FFF2-40B4-BE49-F238E27FC236}">
                  <a16:creationId xmlns:a16="http://schemas.microsoft.com/office/drawing/2014/main" id="{726D4A0B-8D15-455D-B24E-042455E27973}"/>
                </a:ext>
              </a:extLst>
            </p:cNvPr>
            <p:cNvSpPr/>
            <p:nvPr/>
          </p:nvSpPr>
          <p:spPr>
            <a:xfrm>
              <a:off x="8709703" y="4861308"/>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de-DE" sz="900">
                  <a:solidFill>
                    <a:schemeClr val="bg1"/>
                  </a:solidFill>
                </a:rPr>
                <a:t>Workshop Digitales Labor</a:t>
              </a:r>
              <a:endParaRPr lang="de-GB" sz="900">
                <a:solidFill>
                  <a:schemeClr val="bg1"/>
                </a:solidFill>
              </a:endParaRPr>
            </a:p>
          </p:txBody>
        </p:sp>
        <p:sp>
          <p:nvSpPr>
            <p:cNvPr id="73" name="Rechteck 72">
              <a:extLst>
                <a:ext uri="{FF2B5EF4-FFF2-40B4-BE49-F238E27FC236}">
                  <a16:creationId xmlns:a16="http://schemas.microsoft.com/office/drawing/2014/main" id="{25F989D3-411D-40C4-AC06-9927CF51E2B6}"/>
                </a:ext>
              </a:extLst>
            </p:cNvPr>
            <p:cNvSpPr/>
            <p:nvPr/>
          </p:nvSpPr>
          <p:spPr>
            <a:xfrm>
              <a:off x="7442346" y="2522053"/>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bg1"/>
                  </a:solidFill>
                </a:rPr>
                <a:t>Recht für WI</a:t>
              </a:r>
              <a:endParaRPr lang="de-GB" sz="900">
                <a:solidFill>
                  <a:schemeClr val="bg1"/>
                </a:solidFill>
              </a:endParaRPr>
            </a:p>
          </p:txBody>
        </p:sp>
        <p:sp>
          <p:nvSpPr>
            <p:cNvPr id="74" name="Rechteck 73">
              <a:extLst>
                <a:ext uri="{FF2B5EF4-FFF2-40B4-BE49-F238E27FC236}">
                  <a16:creationId xmlns:a16="http://schemas.microsoft.com/office/drawing/2014/main" id="{2CFAF8C2-1836-4BC5-8C14-C742E66116CA}"/>
                </a:ext>
              </a:extLst>
            </p:cNvPr>
            <p:cNvSpPr/>
            <p:nvPr/>
          </p:nvSpPr>
          <p:spPr>
            <a:xfrm>
              <a:off x="2212371" y="4275699"/>
              <a:ext cx="1207871" cy="509714"/>
            </a:xfrm>
            <a:prstGeom prst="rect">
              <a:avLst/>
            </a:prstGeom>
            <a:solidFill>
              <a:schemeClr val="accent1">
                <a:lumMod val="7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bg1"/>
                  </a:solidFill>
                </a:rPr>
                <a:t>Grundlagen der Informatik</a:t>
              </a:r>
              <a:endParaRPr lang="de-GB" sz="900">
                <a:solidFill>
                  <a:schemeClr val="bg1"/>
                </a:solidFill>
              </a:endParaRPr>
            </a:p>
          </p:txBody>
        </p:sp>
        <p:sp>
          <p:nvSpPr>
            <p:cNvPr id="50" name="Rechteck 49">
              <a:extLst>
                <a:ext uri="{FF2B5EF4-FFF2-40B4-BE49-F238E27FC236}">
                  <a16:creationId xmlns:a16="http://schemas.microsoft.com/office/drawing/2014/main" id="{AD6254EB-32E3-4184-BFA2-01142968AD07}"/>
                </a:ext>
              </a:extLst>
            </p:cNvPr>
            <p:cNvSpPr/>
            <p:nvPr/>
          </p:nvSpPr>
          <p:spPr>
            <a:xfrm>
              <a:off x="4814019" y="2528713"/>
              <a:ext cx="1207871" cy="509714"/>
            </a:xfrm>
            <a:prstGeom prst="rect">
              <a:avLst/>
            </a:prstGeom>
            <a:solidFill>
              <a:schemeClr val="bg1">
                <a:lumMod val="95000"/>
              </a:schemeClr>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a:solidFill>
                    <a:schemeClr val="accent1">
                      <a:lumMod val="50000"/>
                    </a:schemeClr>
                  </a:solidFill>
                </a:rPr>
                <a:t>Quantitative Methoden</a:t>
              </a:r>
              <a:endParaRPr lang="de-GB" sz="900">
                <a:solidFill>
                  <a:schemeClr val="accent1">
                    <a:lumMod val="50000"/>
                  </a:schemeClr>
                </a:solidFill>
              </a:endParaRPr>
            </a:p>
          </p:txBody>
        </p:sp>
        <p:cxnSp>
          <p:nvCxnSpPr>
            <p:cNvPr id="5" name="Gerade Verbindung mit Pfeil 4">
              <a:extLst>
                <a:ext uri="{FF2B5EF4-FFF2-40B4-BE49-F238E27FC236}">
                  <a16:creationId xmlns:a16="http://schemas.microsoft.com/office/drawing/2014/main" id="{B1EC47F4-3760-F6AD-AC88-287CA31A713D}"/>
                </a:ext>
              </a:extLst>
            </p:cNvPr>
            <p:cNvCxnSpPr>
              <a:cxnSpLocks/>
              <a:endCxn id="57" idx="1"/>
            </p:cNvCxnSpPr>
            <p:nvPr/>
          </p:nvCxnSpPr>
          <p:spPr>
            <a:xfrm flipV="1">
              <a:off x="3651565" y="3363389"/>
              <a:ext cx="2470135" cy="1634124"/>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Gerade Verbindung mit Pfeil 8">
              <a:extLst>
                <a:ext uri="{FF2B5EF4-FFF2-40B4-BE49-F238E27FC236}">
                  <a16:creationId xmlns:a16="http://schemas.microsoft.com/office/drawing/2014/main" id="{92F1D0C0-B8D5-EDBC-1A7D-943D3CAD860A}"/>
                </a:ext>
              </a:extLst>
            </p:cNvPr>
            <p:cNvCxnSpPr>
              <a:cxnSpLocks/>
            </p:cNvCxnSpPr>
            <p:nvPr/>
          </p:nvCxnSpPr>
          <p:spPr>
            <a:xfrm flipV="1">
              <a:off x="4340533" y="4513430"/>
              <a:ext cx="653047" cy="350966"/>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4A6B3546-CABB-4A19-938B-DA86FFBD924A}"/>
                </a:ext>
              </a:extLst>
            </p:cNvPr>
            <p:cNvCxnSpPr>
              <a:cxnSpLocks/>
            </p:cNvCxnSpPr>
            <p:nvPr/>
          </p:nvCxnSpPr>
          <p:spPr>
            <a:xfrm flipV="1">
              <a:off x="4026918" y="4996734"/>
              <a:ext cx="1016387" cy="244844"/>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089AF3EB-D7D6-5FE2-33DA-0606E6320401}"/>
                </a:ext>
              </a:extLst>
            </p:cNvPr>
            <p:cNvCxnSpPr>
              <a:cxnSpLocks/>
            </p:cNvCxnSpPr>
            <p:nvPr/>
          </p:nvCxnSpPr>
          <p:spPr>
            <a:xfrm flipV="1">
              <a:off x="4182868" y="5122274"/>
              <a:ext cx="2112309" cy="151356"/>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90DB816C-C5A2-178A-03B3-001AEF0F3F29}"/>
                </a:ext>
              </a:extLst>
            </p:cNvPr>
            <p:cNvCxnSpPr>
              <a:cxnSpLocks/>
            </p:cNvCxnSpPr>
            <p:nvPr/>
          </p:nvCxnSpPr>
          <p:spPr>
            <a:xfrm flipV="1">
              <a:off x="4211741" y="5200994"/>
              <a:ext cx="4890011" cy="130136"/>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CEE25BBB-6B81-485F-AEA5-A7D91F5546D8}"/>
                </a:ext>
              </a:extLst>
            </p:cNvPr>
            <p:cNvCxnSpPr>
              <a:cxnSpLocks/>
            </p:cNvCxnSpPr>
            <p:nvPr/>
          </p:nvCxnSpPr>
          <p:spPr>
            <a:xfrm flipV="1">
              <a:off x="4119711" y="4027498"/>
              <a:ext cx="1321604" cy="828617"/>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2BB1B0AE-7E23-4CE5-BBD3-8A26FB875F10}"/>
                </a:ext>
              </a:extLst>
            </p:cNvPr>
            <p:cNvSpPr/>
            <p:nvPr/>
          </p:nvSpPr>
          <p:spPr>
            <a:xfrm>
              <a:off x="3515776" y="4844209"/>
              <a:ext cx="1207871" cy="509714"/>
            </a:xfrm>
            <a:prstGeom prst="rect">
              <a:avLst/>
            </a:prstGeom>
            <a:solidFill>
              <a:srgbClr val="FF9600"/>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bg1"/>
                  </a:solidFill>
                </a:rPr>
                <a:t>Modellierung betrieblicher Informationssysteme</a:t>
              </a:r>
              <a:endParaRPr lang="de-GB" sz="900" b="1" dirty="0">
                <a:solidFill>
                  <a:schemeClr val="bg1"/>
                </a:solidFill>
              </a:endParaRPr>
            </a:p>
          </p:txBody>
        </p:sp>
        <p:cxnSp>
          <p:nvCxnSpPr>
            <p:cNvPr id="18" name="Gerade Verbindung mit Pfeil 17">
              <a:extLst>
                <a:ext uri="{FF2B5EF4-FFF2-40B4-BE49-F238E27FC236}">
                  <a16:creationId xmlns:a16="http://schemas.microsoft.com/office/drawing/2014/main" id="{633B9E40-C2F1-674C-9E83-9B48F042AED6}"/>
                </a:ext>
              </a:extLst>
            </p:cNvPr>
            <p:cNvCxnSpPr>
              <a:cxnSpLocks/>
            </p:cNvCxnSpPr>
            <p:nvPr/>
          </p:nvCxnSpPr>
          <p:spPr>
            <a:xfrm flipV="1">
              <a:off x="3771461" y="3498681"/>
              <a:ext cx="217590" cy="1341748"/>
            </a:xfrm>
            <a:prstGeom prst="straightConnector1">
              <a:avLst/>
            </a:prstGeom>
            <a:ln w="57150">
              <a:solidFill>
                <a:srgbClr val="FF96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0647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A5BF7-3D05-C9EC-8D71-8418E7F61AA3}"/>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9E419B58-2A77-6024-11AD-D6E0F4F28AB4}"/>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9A1765BD-5522-8B04-0DFF-D2D55B40DDBC}"/>
              </a:ext>
            </a:extLst>
          </p:cNvPr>
          <p:cNvSpPr>
            <a:spLocks noGrp="1"/>
          </p:cNvSpPr>
          <p:nvPr>
            <p:ph type="body" sz="half" idx="2"/>
          </p:nvPr>
        </p:nvSpPr>
        <p:spPr>
          <a:xfrm>
            <a:off x="251998" y="2255216"/>
            <a:ext cx="10846308" cy="599993"/>
          </a:xfrm>
          <a:solidFill>
            <a:srgbClr val="254061"/>
          </a:solidFill>
        </p:spPr>
        <p:txBody>
          <a:bodyPr/>
          <a:lstStyle/>
          <a:p>
            <a:r>
              <a:rPr lang="de-DE" sz="2400" b="1" dirty="0"/>
              <a:t>Informationsmodelle und Modellierungssprachen</a:t>
            </a:r>
          </a:p>
        </p:txBody>
      </p:sp>
      <p:sp>
        <p:nvSpPr>
          <p:cNvPr id="13" name="Textplatzhalter 12">
            <a:extLst>
              <a:ext uri="{FF2B5EF4-FFF2-40B4-BE49-F238E27FC236}">
                <a16:creationId xmlns:a16="http://schemas.microsoft.com/office/drawing/2014/main" id="{9EC6A3F9-B604-A464-05A7-BBE0FB7645BD}"/>
              </a:ext>
            </a:extLst>
          </p:cNvPr>
          <p:cNvSpPr>
            <a:spLocks noGrp="1"/>
          </p:cNvSpPr>
          <p:nvPr>
            <p:ph type="body" sz="half" idx="13"/>
          </p:nvPr>
        </p:nvSpPr>
        <p:spPr>
          <a:xfrm>
            <a:off x="251998" y="2964220"/>
            <a:ext cx="10846308" cy="599993"/>
          </a:xfrm>
          <a:solidFill>
            <a:srgbClr val="254061"/>
          </a:solidFill>
        </p:spPr>
        <p:txBody>
          <a:bodyPr/>
          <a:lstStyle/>
          <a:p>
            <a:r>
              <a:rPr lang="de-DE" sz="2400" b="1" dirty="0"/>
              <a:t>Einordnung in ARIS</a:t>
            </a:r>
          </a:p>
        </p:txBody>
      </p:sp>
      <p:sp>
        <p:nvSpPr>
          <p:cNvPr id="14" name="Textplatzhalter 13">
            <a:extLst>
              <a:ext uri="{FF2B5EF4-FFF2-40B4-BE49-F238E27FC236}">
                <a16:creationId xmlns:a16="http://schemas.microsoft.com/office/drawing/2014/main" id="{068CE492-CECB-077E-6E41-9B53A5767C3C}"/>
              </a:ext>
            </a:extLst>
          </p:cNvPr>
          <p:cNvSpPr>
            <a:spLocks noGrp="1"/>
          </p:cNvSpPr>
          <p:nvPr>
            <p:ph type="body" sz="half" idx="14"/>
          </p:nvPr>
        </p:nvSpPr>
        <p:spPr>
          <a:xfrm>
            <a:off x="251998" y="3673224"/>
            <a:ext cx="10846308" cy="599993"/>
          </a:xfrm>
          <a:solidFill>
            <a:srgbClr val="254061"/>
          </a:solidFill>
        </p:spPr>
        <p:txBody>
          <a:bodyPr/>
          <a:lstStyle/>
          <a:p>
            <a:r>
              <a:rPr lang="de-DE" sz="2400" b="1" dirty="0"/>
              <a:t>Wesentliche Merkmale von Informationsmodelle</a:t>
            </a:r>
          </a:p>
        </p:txBody>
      </p:sp>
      <p:sp>
        <p:nvSpPr>
          <p:cNvPr id="16" name="Textplatzhalter 15">
            <a:extLst>
              <a:ext uri="{FF2B5EF4-FFF2-40B4-BE49-F238E27FC236}">
                <a16:creationId xmlns:a16="http://schemas.microsoft.com/office/drawing/2014/main" id="{F49C9182-73E4-9F8D-36A4-DDCD5DBBAF9F}"/>
              </a:ext>
            </a:extLst>
          </p:cNvPr>
          <p:cNvSpPr>
            <a:spLocks noGrp="1"/>
          </p:cNvSpPr>
          <p:nvPr>
            <p:ph type="body" sz="half" idx="16"/>
          </p:nvPr>
        </p:nvSpPr>
        <p:spPr>
          <a:xfrm>
            <a:off x="251998" y="1546212"/>
            <a:ext cx="10846308" cy="599993"/>
          </a:xfrm>
          <a:solidFill>
            <a:srgbClr val="254061"/>
          </a:solidFill>
        </p:spPr>
        <p:txBody>
          <a:bodyPr/>
          <a:lstStyle/>
          <a:p>
            <a:r>
              <a:rPr lang="de-DE" sz="2400" b="1" dirty="0"/>
              <a:t>Informationssysteme und ihre Komplexität</a:t>
            </a:r>
          </a:p>
        </p:txBody>
      </p:sp>
      <p:sp>
        <p:nvSpPr>
          <p:cNvPr id="17" name="Textplatzhalter 16">
            <a:extLst>
              <a:ext uri="{FF2B5EF4-FFF2-40B4-BE49-F238E27FC236}">
                <a16:creationId xmlns:a16="http://schemas.microsoft.com/office/drawing/2014/main" id="{CE9BA237-A6E2-4932-6D23-909CAB76D874}"/>
              </a:ext>
            </a:extLst>
          </p:cNvPr>
          <p:cNvSpPr>
            <a:spLocks noGrp="1"/>
          </p:cNvSpPr>
          <p:nvPr>
            <p:ph type="body" sz="half" idx="17"/>
          </p:nvPr>
        </p:nvSpPr>
        <p:spPr>
          <a:xfrm>
            <a:off x="251998" y="4382228"/>
            <a:ext cx="10846308" cy="599993"/>
          </a:xfrm>
          <a:solidFill>
            <a:srgbClr val="254061"/>
          </a:solidFill>
        </p:spPr>
        <p:txBody>
          <a:bodyPr/>
          <a:lstStyle/>
          <a:p>
            <a:r>
              <a:rPr lang="de-DE" sz="2400" b="1" dirty="0"/>
              <a:t>Methoden-Engineering &amp; Methodenhandbuch</a:t>
            </a:r>
          </a:p>
        </p:txBody>
      </p:sp>
    </p:spTree>
    <p:extLst>
      <p:ext uri="{BB962C8B-B14F-4D97-AF65-F5344CB8AC3E}">
        <p14:creationId xmlns:p14="http://schemas.microsoft.com/office/powerpoint/2010/main" val="2555806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640AF-0150-0B77-292F-A3BAE272A845}"/>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F805FAFD-0A14-50B6-8345-0D65706AB31F}"/>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BE2B48F6-7AF9-BB09-2484-197B69E9CB42}"/>
              </a:ext>
            </a:extLst>
          </p:cNvPr>
          <p:cNvSpPr>
            <a:spLocks noGrp="1"/>
          </p:cNvSpPr>
          <p:nvPr>
            <p:ph type="body" sz="half" idx="2"/>
          </p:nvPr>
        </p:nvSpPr>
        <p:spPr>
          <a:xfrm>
            <a:off x="251998" y="2255216"/>
            <a:ext cx="10846308" cy="599993"/>
          </a:xfrm>
          <a:solidFill>
            <a:srgbClr val="254061"/>
          </a:solidFill>
        </p:spPr>
        <p:txBody>
          <a:bodyPr/>
          <a:lstStyle/>
          <a:p>
            <a:r>
              <a:rPr lang="de-DE" sz="2400" b="1" dirty="0"/>
              <a:t>Informationsmodelle und Modellierungssprachen</a:t>
            </a:r>
          </a:p>
        </p:txBody>
      </p:sp>
      <p:sp>
        <p:nvSpPr>
          <p:cNvPr id="13" name="Textplatzhalter 12">
            <a:extLst>
              <a:ext uri="{FF2B5EF4-FFF2-40B4-BE49-F238E27FC236}">
                <a16:creationId xmlns:a16="http://schemas.microsoft.com/office/drawing/2014/main" id="{E42518DE-C4DB-DE3D-07D4-22F570459E35}"/>
              </a:ext>
            </a:extLst>
          </p:cNvPr>
          <p:cNvSpPr>
            <a:spLocks noGrp="1"/>
          </p:cNvSpPr>
          <p:nvPr>
            <p:ph type="body" sz="half" idx="13"/>
          </p:nvPr>
        </p:nvSpPr>
        <p:spPr>
          <a:xfrm>
            <a:off x="251998" y="2964220"/>
            <a:ext cx="10846308" cy="599993"/>
          </a:xfrm>
          <a:solidFill>
            <a:srgbClr val="254061"/>
          </a:solidFill>
        </p:spPr>
        <p:txBody>
          <a:bodyPr/>
          <a:lstStyle/>
          <a:p>
            <a:r>
              <a:rPr lang="de-DE" sz="2400" b="1" dirty="0"/>
              <a:t>Einordnung in ARIS</a:t>
            </a:r>
          </a:p>
        </p:txBody>
      </p:sp>
      <p:sp>
        <p:nvSpPr>
          <p:cNvPr id="14" name="Textplatzhalter 13">
            <a:extLst>
              <a:ext uri="{FF2B5EF4-FFF2-40B4-BE49-F238E27FC236}">
                <a16:creationId xmlns:a16="http://schemas.microsoft.com/office/drawing/2014/main" id="{E56016E2-300B-1E20-30B0-26904BE9E1F2}"/>
              </a:ext>
            </a:extLst>
          </p:cNvPr>
          <p:cNvSpPr>
            <a:spLocks noGrp="1"/>
          </p:cNvSpPr>
          <p:nvPr>
            <p:ph type="body" sz="half" idx="14"/>
          </p:nvPr>
        </p:nvSpPr>
        <p:spPr>
          <a:xfrm>
            <a:off x="251998" y="3673224"/>
            <a:ext cx="10846308" cy="599993"/>
          </a:xfrm>
          <a:solidFill>
            <a:srgbClr val="254061"/>
          </a:solidFill>
        </p:spPr>
        <p:txBody>
          <a:bodyPr/>
          <a:lstStyle/>
          <a:p>
            <a:r>
              <a:rPr lang="de-DE" sz="2400" b="1" dirty="0"/>
              <a:t>Wesentliche Merkmale von Informationsmodelle</a:t>
            </a:r>
          </a:p>
        </p:txBody>
      </p:sp>
      <p:sp>
        <p:nvSpPr>
          <p:cNvPr id="16" name="Textplatzhalter 15">
            <a:extLst>
              <a:ext uri="{FF2B5EF4-FFF2-40B4-BE49-F238E27FC236}">
                <a16:creationId xmlns:a16="http://schemas.microsoft.com/office/drawing/2014/main" id="{33BC24F0-96EC-1F1F-5490-C289E5E6AB31}"/>
              </a:ext>
            </a:extLst>
          </p:cNvPr>
          <p:cNvSpPr>
            <a:spLocks noGrp="1"/>
          </p:cNvSpPr>
          <p:nvPr>
            <p:ph type="body" sz="half" idx="16"/>
          </p:nvPr>
        </p:nvSpPr>
        <p:spPr>
          <a:xfrm>
            <a:off x="251998" y="1546212"/>
            <a:ext cx="10846308" cy="599993"/>
          </a:xfrm>
          <a:solidFill>
            <a:srgbClr val="FF9600"/>
          </a:solidFill>
        </p:spPr>
        <p:txBody>
          <a:bodyPr/>
          <a:lstStyle/>
          <a:p>
            <a:r>
              <a:rPr lang="de-DE" sz="2400" b="1" dirty="0"/>
              <a:t>Informationssysteme und ihre Komplexität</a:t>
            </a:r>
          </a:p>
        </p:txBody>
      </p:sp>
      <p:sp>
        <p:nvSpPr>
          <p:cNvPr id="17" name="Textplatzhalter 16">
            <a:extLst>
              <a:ext uri="{FF2B5EF4-FFF2-40B4-BE49-F238E27FC236}">
                <a16:creationId xmlns:a16="http://schemas.microsoft.com/office/drawing/2014/main" id="{46145F0F-1278-A56D-DD8D-98FE58F757A3}"/>
              </a:ext>
            </a:extLst>
          </p:cNvPr>
          <p:cNvSpPr>
            <a:spLocks noGrp="1"/>
          </p:cNvSpPr>
          <p:nvPr>
            <p:ph type="body" sz="half" idx="17"/>
          </p:nvPr>
        </p:nvSpPr>
        <p:spPr>
          <a:xfrm>
            <a:off x="251998" y="4382228"/>
            <a:ext cx="10846308" cy="599993"/>
          </a:xfrm>
          <a:solidFill>
            <a:srgbClr val="254061"/>
          </a:solidFill>
        </p:spPr>
        <p:txBody>
          <a:bodyPr/>
          <a:lstStyle/>
          <a:p>
            <a:r>
              <a:rPr lang="de-DE" sz="2400" b="1" dirty="0"/>
              <a:t>Methoden-Engineering &amp; Methodenhandbuch</a:t>
            </a:r>
          </a:p>
        </p:txBody>
      </p:sp>
    </p:spTree>
    <p:extLst>
      <p:ext uri="{BB962C8B-B14F-4D97-AF65-F5344CB8AC3E}">
        <p14:creationId xmlns:p14="http://schemas.microsoft.com/office/powerpoint/2010/main" val="267982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p:cNvSpPr>
            <a:spLocks noGrp="1"/>
          </p:cNvSpPr>
          <p:nvPr>
            <p:ph type="title"/>
          </p:nvPr>
        </p:nvSpPr>
        <p:spPr/>
        <p:txBody>
          <a:bodyPr/>
          <a:lstStyle/>
          <a:p>
            <a:r>
              <a:rPr lang="de-DE"/>
              <a:t>Entwicklung von IT-Systemen als Gegenstand der Informatik</a:t>
            </a:r>
            <a:endParaRPr lang="en-US"/>
          </a:p>
        </p:txBody>
      </p:sp>
      <p:grpSp>
        <p:nvGrpSpPr>
          <p:cNvPr id="3" name="Gruppieren 2"/>
          <p:cNvGrpSpPr/>
          <p:nvPr/>
        </p:nvGrpSpPr>
        <p:grpSpPr>
          <a:xfrm>
            <a:off x="1104901" y="1837030"/>
            <a:ext cx="3730380" cy="3579356"/>
            <a:chOff x="3603144" y="3422211"/>
            <a:chExt cx="2263130" cy="2930750"/>
          </a:xfrm>
          <a:solidFill>
            <a:srgbClr val="254061"/>
          </a:solidFill>
        </p:grpSpPr>
        <p:sp>
          <p:nvSpPr>
            <p:cNvPr id="4" name="Zylinder 5"/>
            <p:cNvSpPr/>
            <p:nvPr/>
          </p:nvSpPr>
          <p:spPr>
            <a:xfrm>
              <a:off x="4374669" y="4463698"/>
              <a:ext cx="720080" cy="864096"/>
            </a:xfrm>
            <a:prstGeom prst="can">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Daten-bank</a:t>
              </a:r>
            </a:p>
          </p:txBody>
        </p:sp>
        <p:sp>
          <p:nvSpPr>
            <p:cNvPr id="5" name="Zylinder 4"/>
            <p:cNvSpPr/>
            <p:nvPr/>
          </p:nvSpPr>
          <p:spPr>
            <a:xfrm>
              <a:off x="5146194" y="4463698"/>
              <a:ext cx="720080" cy="864096"/>
            </a:xfrm>
            <a:prstGeom prst="can">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Daten-bank</a:t>
              </a:r>
            </a:p>
          </p:txBody>
        </p:sp>
        <p:sp>
          <p:nvSpPr>
            <p:cNvPr id="6" name="Zylinder 5"/>
            <p:cNvSpPr/>
            <p:nvPr/>
          </p:nvSpPr>
          <p:spPr>
            <a:xfrm>
              <a:off x="3603144" y="4463698"/>
              <a:ext cx="720080" cy="864096"/>
            </a:xfrm>
            <a:prstGeom prst="can">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Daten-bank</a:t>
              </a:r>
            </a:p>
          </p:txBody>
        </p:sp>
        <p:sp>
          <p:nvSpPr>
            <p:cNvPr id="7" name="Rechteck 6"/>
            <p:cNvSpPr/>
            <p:nvPr/>
          </p:nvSpPr>
          <p:spPr>
            <a:xfrm>
              <a:off x="3603144" y="4036411"/>
              <a:ext cx="2260722" cy="288032"/>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Kommunikationssysteme</a:t>
              </a:r>
            </a:p>
          </p:txBody>
        </p:sp>
        <p:sp>
          <p:nvSpPr>
            <p:cNvPr id="8" name="Rechteck 7"/>
            <p:cNvSpPr/>
            <p:nvPr/>
          </p:nvSpPr>
          <p:spPr>
            <a:xfrm>
              <a:off x="3603144" y="3422211"/>
              <a:ext cx="2260722" cy="504056"/>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Anwendungssysteme</a:t>
              </a:r>
            </a:p>
          </p:txBody>
        </p:sp>
        <p:sp>
          <p:nvSpPr>
            <p:cNvPr id="9" name="Rechteck 8"/>
            <p:cNvSpPr/>
            <p:nvPr/>
          </p:nvSpPr>
          <p:spPr>
            <a:xfrm>
              <a:off x="3603144" y="5848905"/>
              <a:ext cx="2260722" cy="504056"/>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Hardware (CPU)</a:t>
              </a:r>
            </a:p>
          </p:txBody>
        </p:sp>
        <p:sp>
          <p:nvSpPr>
            <p:cNvPr id="10" name="Rechteck 9"/>
            <p:cNvSpPr/>
            <p:nvPr/>
          </p:nvSpPr>
          <p:spPr>
            <a:xfrm>
              <a:off x="3603144" y="5437425"/>
              <a:ext cx="2260722" cy="288032"/>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solidFill>
                    <a:schemeClr val="bg1"/>
                  </a:solidFill>
                </a:rPr>
                <a:t>Betriebssystemplattform</a:t>
              </a:r>
            </a:p>
          </p:txBody>
        </p:sp>
      </p:grpSp>
      <p:sp>
        <p:nvSpPr>
          <p:cNvPr id="15" name="Textfeld 14"/>
          <p:cNvSpPr txBox="1"/>
          <p:nvPr/>
        </p:nvSpPr>
        <p:spPr>
          <a:xfrm>
            <a:off x="6095835" y="1921938"/>
            <a:ext cx="4095280" cy="3160096"/>
          </a:xfrm>
          <a:prstGeom prst="rect">
            <a:avLst/>
          </a:prstGeom>
          <a:noFill/>
        </p:spPr>
        <p:txBody>
          <a:bodyPr wrap="square" rtlCol="0">
            <a:spAutoFit/>
          </a:bodyPr>
          <a:lstStyle/>
          <a:p>
            <a:r>
              <a:rPr lang="de-DE" sz="2215"/>
              <a:t>Unter</a:t>
            </a:r>
            <a:r>
              <a:rPr lang="de-DE" sz="2215" b="1"/>
              <a:t> IT (Informationstechnischen)- Systemen </a:t>
            </a:r>
            <a:r>
              <a:rPr lang="de-DE" sz="2215"/>
              <a:t>werden alle Techniken zusammengefasst, die der </a:t>
            </a:r>
          </a:p>
          <a:p>
            <a:pPr marL="316531" indent="-316531">
              <a:buFontTx/>
              <a:buChar char="-"/>
            </a:pPr>
            <a:r>
              <a:rPr lang="de-DE" sz="2215"/>
              <a:t>Verarbeitung</a:t>
            </a:r>
          </a:p>
          <a:p>
            <a:pPr marL="316531" indent="-316531">
              <a:buFontTx/>
              <a:buChar char="-"/>
            </a:pPr>
            <a:r>
              <a:rPr lang="de-DE" sz="2215"/>
              <a:t>Speicherung </a:t>
            </a:r>
          </a:p>
          <a:p>
            <a:pPr marL="316531" indent="-316531">
              <a:buFontTx/>
              <a:buChar char="-"/>
            </a:pPr>
            <a:r>
              <a:rPr lang="de-DE" sz="2215"/>
              <a:t>und Übermittlung </a:t>
            </a:r>
          </a:p>
          <a:p>
            <a:r>
              <a:rPr lang="de-DE" sz="2215"/>
              <a:t>von Daten und Informationen dienen.</a:t>
            </a:r>
          </a:p>
        </p:txBody>
      </p:sp>
      <p:sp>
        <p:nvSpPr>
          <p:cNvPr id="13" name="Textfeld 12"/>
          <p:cNvSpPr txBox="1"/>
          <p:nvPr/>
        </p:nvSpPr>
        <p:spPr>
          <a:xfrm>
            <a:off x="8584133" y="6109224"/>
            <a:ext cx="2007281" cy="276999"/>
          </a:xfrm>
          <a:prstGeom prst="rect">
            <a:avLst/>
          </a:prstGeom>
          <a:noFill/>
        </p:spPr>
        <p:txBody>
          <a:bodyPr wrap="none" rtlCol="0">
            <a:spAutoFit/>
          </a:bodyPr>
          <a:lstStyle/>
          <a:p>
            <a:r>
              <a:rPr lang="de-DE" sz="1200"/>
              <a:t>Quelle: Abts / Mülder (2017)</a:t>
            </a:r>
          </a:p>
        </p:txBody>
      </p:sp>
      <p:sp>
        <p:nvSpPr>
          <p:cNvPr id="17" name="Gleichschenkliges Dreieck 16">
            <a:extLst>
              <a:ext uri="{FF2B5EF4-FFF2-40B4-BE49-F238E27FC236}">
                <a16:creationId xmlns:a16="http://schemas.microsoft.com/office/drawing/2014/main" id="{1380309F-49BB-48CF-81B4-4531F03A2923}"/>
              </a:ext>
            </a:extLst>
          </p:cNvPr>
          <p:cNvSpPr/>
          <p:nvPr/>
        </p:nvSpPr>
        <p:spPr>
          <a:xfrm rot="5400000">
            <a:off x="3754522" y="3169998"/>
            <a:ext cx="3697577" cy="795201"/>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701046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pieren 2"/>
          <p:cNvGrpSpPr/>
          <p:nvPr/>
        </p:nvGrpSpPr>
        <p:grpSpPr>
          <a:xfrm>
            <a:off x="2002952" y="1863114"/>
            <a:ext cx="3672779" cy="3942624"/>
            <a:chOff x="518864" y="1732624"/>
            <a:chExt cx="3978844" cy="4271176"/>
          </a:xfrm>
        </p:grpSpPr>
        <p:grpSp>
          <p:nvGrpSpPr>
            <p:cNvPr id="23" name="Gruppieren 22"/>
            <p:cNvGrpSpPr/>
            <p:nvPr/>
          </p:nvGrpSpPr>
          <p:grpSpPr>
            <a:xfrm>
              <a:off x="518864" y="1736273"/>
              <a:ext cx="3978844" cy="4267527"/>
              <a:chOff x="565997" y="1576015"/>
              <a:chExt cx="3978844" cy="4267527"/>
            </a:xfrm>
          </p:grpSpPr>
          <p:sp>
            <p:nvSpPr>
              <p:cNvPr id="22" name="Abgerundetes Rechteck 3"/>
              <p:cNvSpPr/>
              <p:nvPr/>
            </p:nvSpPr>
            <p:spPr>
              <a:xfrm>
                <a:off x="565997" y="1576015"/>
                <a:ext cx="3978844" cy="4267527"/>
              </a:xfrm>
              <a:prstGeom prst="roundRect">
                <a:avLst/>
              </a:prstGeom>
              <a:solidFill>
                <a:schemeClr val="bg1">
                  <a:lumMod val="8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62"/>
              </a:p>
            </p:txBody>
          </p:sp>
          <p:sp>
            <p:nvSpPr>
              <p:cNvPr id="13" name="Abgerundetes Rechteck 3"/>
              <p:cNvSpPr/>
              <p:nvPr/>
            </p:nvSpPr>
            <p:spPr>
              <a:xfrm>
                <a:off x="1084082" y="2092751"/>
                <a:ext cx="2988298" cy="3205113"/>
              </a:xfrm>
              <a:prstGeom prst="round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62"/>
              </a:p>
            </p:txBody>
          </p:sp>
        </p:grpSp>
        <p:sp>
          <p:nvSpPr>
            <p:cNvPr id="24" name="Textfeld 16"/>
            <p:cNvSpPr txBox="1"/>
            <p:nvPr/>
          </p:nvSpPr>
          <p:spPr>
            <a:xfrm>
              <a:off x="1795287" y="1732624"/>
              <a:ext cx="1613636" cy="469296"/>
            </a:xfrm>
            <a:prstGeom prst="rect">
              <a:avLst/>
            </a:prstGeom>
            <a:noFill/>
            <a:ln>
              <a:noFill/>
            </a:ln>
          </p:spPr>
          <p:txBody>
            <a:bodyPr wrap="none" rtlCol="0">
              <a:spAutoFit/>
            </a:bodyPr>
            <a:lstStyle/>
            <a:p>
              <a:r>
                <a:rPr lang="de-DE" sz="2215"/>
                <a:t>PROZESSE</a:t>
              </a:r>
              <a:endParaRPr lang="de-DE" sz="1477"/>
            </a:p>
          </p:txBody>
        </p:sp>
        <p:sp>
          <p:nvSpPr>
            <p:cNvPr id="25" name="Textfeld 16"/>
            <p:cNvSpPr txBox="1"/>
            <p:nvPr/>
          </p:nvSpPr>
          <p:spPr>
            <a:xfrm>
              <a:off x="1719871" y="5480580"/>
              <a:ext cx="1757773" cy="469296"/>
            </a:xfrm>
            <a:prstGeom prst="rect">
              <a:avLst/>
            </a:prstGeom>
            <a:noFill/>
            <a:ln>
              <a:noFill/>
            </a:ln>
          </p:spPr>
          <p:txBody>
            <a:bodyPr wrap="none" rtlCol="0">
              <a:spAutoFit/>
            </a:bodyPr>
            <a:lstStyle/>
            <a:p>
              <a:r>
                <a:rPr lang="de-DE" sz="2215"/>
                <a:t>MENSCHEN</a:t>
              </a:r>
              <a:endParaRPr lang="de-DE" sz="1477"/>
            </a:p>
          </p:txBody>
        </p:sp>
        <p:sp>
          <p:nvSpPr>
            <p:cNvPr id="26" name="Textfeld 16"/>
            <p:cNvSpPr txBox="1"/>
            <p:nvPr/>
          </p:nvSpPr>
          <p:spPr>
            <a:xfrm rot="16200000">
              <a:off x="-513193" y="3594620"/>
              <a:ext cx="2629540" cy="469296"/>
            </a:xfrm>
            <a:prstGeom prst="rect">
              <a:avLst/>
            </a:prstGeom>
            <a:noFill/>
            <a:ln>
              <a:noFill/>
            </a:ln>
          </p:spPr>
          <p:txBody>
            <a:bodyPr wrap="none" rtlCol="0">
              <a:spAutoFit/>
            </a:bodyPr>
            <a:lstStyle/>
            <a:p>
              <a:r>
                <a:rPr lang="de-DE" sz="2215"/>
                <a:t>ORGANISATIONEN</a:t>
              </a:r>
              <a:endParaRPr lang="de-DE" sz="1477"/>
            </a:p>
          </p:txBody>
        </p:sp>
        <p:sp>
          <p:nvSpPr>
            <p:cNvPr id="27" name="Textfeld 16"/>
            <p:cNvSpPr txBox="1"/>
            <p:nvPr/>
          </p:nvSpPr>
          <p:spPr>
            <a:xfrm rot="5400000">
              <a:off x="3771385" y="3620916"/>
              <a:ext cx="929421" cy="469296"/>
            </a:xfrm>
            <a:prstGeom prst="rect">
              <a:avLst/>
            </a:prstGeom>
            <a:noFill/>
            <a:ln>
              <a:noFill/>
            </a:ln>
          </p:spPr>
          <p:txBody>
            <a:bodyPr wrap="none" rtlCol="0">
              <a:spAutoFit/>
            </a:bodyPr>
            <a:lstStyle/>
            <a:p>
              <a:r>
                <a:rPr lang="de-DE" sz="2215"/>
                <a:t>ZIELE</a:t>
              </a:r>
              <a:endParaRPr lang="de-DE" sz="1477"/>
            </a:p>
          </p:txBody>
        </p:sp>
      </p:grpSp>
      <p:grpSp>
        <p:nvGrpSpPr>
          <p:cNvPr id="4" name="Gruppieren 3"/>
          <p:cNvGrpSpPr/>
          <p:nvPr/>
        </p:nvGrpSpPr>
        <p:grpSpPr>
          <a:xfrm>
            <a:off x="2700031" y="2569713"/>
            <a:ext cx="2269830" cy="2497739"/>
            <a:chOff x="3603144" y="3422211"/>
            <a:chExt cx="2263130" cy="2930750"/>
          </a:xfrm>
          <a:solidFill>
            <a:srgbClr val="254061"/>
          </a:solidFill>
        </p:grpSpPr>
        <p:sp>
          <p:nvSpPr>
            <p:cNvPr id="5" name="Zylinder 5"/>
            <p:cNvSpPr/>
            <p:nvPr/>
          </p:nvSpPr>
          <p:spPr>
            <a:xfrm>
              <a:off x="4374669" y="4044058"/>
              <a:ext cx="720080" cy="864096"/>
            </a:xfrm>
            <a:prstGeom prst="can">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Daten-bank</a:t>
              </a:r>
            </a:p>
          </p:txBody>
        </p:sp>
        <p:sp>
          <p:nvSpPr>
            <p:cNvPr id="6" name="Zylinder 5"/>
            <p:cNvSpPr/>
            <p:nvPr/>
          </p:nvSpPr>
          <p:spPr>
            <a:xfrm>
              <a:off x="5146194" y="4044058"/>
              <a:ext cx="720080" cy="864096"/>
            </a:xfrm>
            <a:prstGeom prst="can">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Daten-bank</a:t>
              </a:r>
            </a:p>
          </p:txBody>
        </p:sp>
        <p:sp>
          <p:nvSpPr>
            <p:cNvPr id="7" name="Zylinder 6"/>
            <p:cNvSpPr/>
            <p:nvPr/>
          </p:nvSpPr>
          <p:spPr>
            <a:xfrm>
              <a:off x="3603144" y="4044058"/>
              <a:ext cx="720080" cy="864096"/>
            </a:xfrm>
            <a:prstGeom prst="can">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Daten-bank</a:t>
              </a:r>
            </a:p>
          </p:txBody>
        </p:sp>
        <p:sp>
          <p:nvSpPr>
            <p:cNvPr id="8" name="Rechteck 7"/>
            <p:cNvSpPr/>
            <p:nvPr/>
          </p:nvSpPr>
          <p:spPr>
            <a:xfrm>
              <a:off x="3603144" y="5025945"/>
              <a:ext cx="2260722" cy="288032"/>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Kommunikationssysteme</a:t>
              </a:r>
            </a:p>
          </p:txBody>
        </p:sp>
        <p:sp>
          <p:nvSpPr>
            <p:cNvPr id="9" name="Rechteck 8"/>
            <p:cNvSpPr/>
            <p:nvPr/>
          </p:nvSpPr>
          <p:spPr>
            <a:xfrm>
              <a:off x="3603144" y="3422211"/>
              <a:ext cx="2260722" cy="504056"/>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Anwendungssysteme</a:t>
              </a:r>
            </a:p>
          </p:txBody>
        </p:sp>
        <p:sp>
          <p:nvSpPr>
            <p:cNvPr id="10" name="Rechteck 9"/>
            <p:cNvSpPr/>
            <p:nvPr/>
          </p:nvSpPr>
          <p:spPr>
            <a:xfrm>
              <a:off x="3603144" y="5848905"/>
              <a:ext cx="2260722" cy="504056"/>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Hardware (CPU)</a:t>
              </a:r>
            </a:p>
          </p:txBody>
        </p:sp>
        <p:sp>
          <p:nvSpPr>
            <p:cNvPr id="11" name="Rechteck 10"/>
            <p:cNvSpPr/>
            <p:nvPr/>
          </p:nvSpPr>
          <p:spPr>
            <a:xfrm>
              <a:off x="3603144" y="5437425"/>
              <a:ext cx="2260722" cy="288032"/>
            </a:xfrm>
            <a:prstGeom prst="rect">
              <a:avLst/>
            </a:prstGeom>
            <a:grp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77">
                  <a:solidFill>
                    <a:schemeClr val="bg1"/>
                  </a:solidFill>
                </a:rPr>
                <a:t>Betriebssystemplattform</a:t>
              </a:r>
            </a:p>
          </p:txBody>
        </p:sp>
      </p:grpSp>
      <p:sp>
        <p:nvSpPr>
          <p:cNvPr id="29" name="Textfeld 28"/>
          <p:cNvSpPr txBox="1"/>
          <p:nvPr/>
        </p:nvSpPr>
        <p:spPr>
          <a:xfrm>
            <a:off x="6784352" y="2377350"/>
            <a:ext cx="3624048" cy="3160096"/>
          </a:xfrm>
          <a:prstGeom prst="rect">
            <a:avLst/>
          </a:prstGeom>
          <a:noFill/>
        </p:spPr>
        <p:txBody>
          <a:bodyPr wrap="square" rtlCol="0">
            <a:spAutoFit/>
          </a:bodyPr>
          <a:lstStyle/>
          <a:p>
            <a:r>
              <a:rPr lang="de-DE" sz="2215" b="1"/>
              <a:t>„Informationssysteme </a:t>
            </a:r>
            <a:r>
              <a:rPr lang="de-DE" sz="2215"/>
              <a:t>sind sozio-technische Systeme, die menschliche und maschinelle Teilkomponenten umfassen.</a:t>
            </a:r>
          </a:p>
          <a:p>
            <a:r>
              <a:rPr lang="de-DE" sz="2215"/>
              <a:t>Sie werden eingesetzt, um das wirtschaftliche Handeln in Unternehmen zu unterstützen.“</a:t>
            </a:r>
          </a:p>
        </p:txBody>
      </p:sp>
      <p:sp>
        <p:nvSpPr>
          <p:cNvPr id="31" name="Textfeld 30"/>
          <p:cNvSpPr txBox="1"/>
          <p:nvPr/>
        </p:nvSpPr>
        <p:spPr>
          <a:xfrm>
            <a:off x="7691503" y="6054796"/>
            <a:ext cx="2831224" cy="319639"/>
          </a:xfrm>
          <a:prstGeom prst="rect">
            <a:avLst/>
          </a:prstGeom>
          <a:noFill/>
        </p:spPr>
        <p:txBody>
          <a:bodyPr wrap="none" rtlCol="0">
            <a:spAutoFit/>
          </a:bodyPr>
          <a:lstStyle/>
          <a:p>
            <a:r>
              <a:rPr lang="de-DE" sz="1477"/>
              <a:t>Quelle: Schwarzer/Krcmar (2010)</a:t>
            </a:r>
          </a:p>
        </p:txBody>
      </p:sp>
      <p:sp>
        <p:nvSpPr>
          <p:cNvPr id="12" name="Titel 11"/>
          <p:cNvSpPr>
            <a:spLocks noGrp="1"/>
          </p:cNvSpPr>
          <p:nvPr>
            <p:ph type="title"/>
          </p:nvPr>
        </p:nvSpPr>
        <p:spPr/>
        <p:txBody>
          <a:bodyPr/>
          <a:lstStyle/>
          <a:p>
            <a:r>
              <a:rPr lang="de-DE"/>
              <a:t>Entwicklung von Informationssystemen als Gegenstand der Wirtschaftsinformatik</a:t>
            </a:r>
            <a:endParaRPr lang="en-US"/>
          </a:p>
        </p:txBody>
      </p:sp>
      <p:sp>
        <p:nvSpPr>
          <p:cNvPr id="28" name="Gleichschenkliges Dreieck 27">
            <a:extLst>
              <a:ext uri="{FF2B5EF4-FFF2-40B4-BE49-F238E27FC236}">
                <a16:creationId xmlns:a16="http://schemas.microsoft.com/office/drawing/2014/main" id="{C180D7BB-BCC9-4D5B-982F-FCAA6F05E67D}"/>
              </a:ext>
            </a:extLst>
          </p:cNvPr>
          <p:cNvSpPr/>
          <p:nvPr/>
        </p:nvSpPr>
        <p:spPr>
          <a:xfrm rot="5400000">
            <a:off x="4449889" y="3369267"/>
            <a:ext cx="3697577" cy="795201"/>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41169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2A5ACE4-5B8E-46F4-9BCA-A3A4F992DA3C}"/>
              </a:ext>
            </a:extLst>
          </p:cNvPr>
          <p:cNvSpPr>
            <a:spLocks noGrp="1"/>
          </p:cNvSpPr>
          <p:nvPr>
            <p:ph type="title"/>
          </p:nvPr>
        </p:nvSpPr>
        <p:spPr/>
        <p:txBody>
          <a:bodyPr/>
          <a:lstStyle/>
          <a:p>
            <a:r>
              <a:rPr lang="de-DE"/>
              <a:t>Beispiele für Informationssysteme</a:t>
            </a:r>
          </a:p>
        </p:txBody>
      </p:sp>
      <p:cxnSp>
        <p:nvCxnSpPr>
          <p:cNvPr id="6" name="Verbinder: gewinkelt 5">
            <a:extLst>
              <a:ext uri="{FF2B5EF4-FFF2-40B4-BE49-F238E27FC236}">
                <a16:creationId xmlns:a16="http://schemas.microsoft.com/office/drawing/2014/main" id="{F34D7101-1755-421A-8C5F-808127F0A454}"/>
              </a:ext>
            </a:extLst>
          </p:cNvPr>
          <p:cNvCxnSpPr>
            <a:cxnSpLocks/>
          </p:cNvCxnSpPr>
          <p:nvPr/>
        </p:nvCxnSpPr>
        <p:spPr>
          <a:xfrm rot="10800000">
            <a:off x="3549863" y="3102605"/>
            <a:ext cx="1689743" cy="925841"/>
          </a:xfrm>
          <a:prstGeom prst="bentConnector3">
            <a:avLst>
              <a:gd name="adj1" fmla="val 1122"/>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cxnSp>
        <p:nvCxnSpPr>
          <p:cNvPr id="7" name="Verbinder: gewinkelt 6">
            <a:extLst>
              <a:ext uri="{FF2B5EF4-FFF2-40B4-BE49-F238E27FC236}">
                <a16:creationId xmlns:a16="http://schemas.microsoft.com/office/drawing/2014/main" id="{D3C77D4D-F68F-4972-947D-04C5CFD4303B}"/>
              </a:ext>
            </a:extLst>
          </p:cNvPr>
          <p:cNvCxnSpPr>
            <a:cxnSpLocks/>
          </p:cNvCxnSpPr>
          <p:nvPr/>
        </p:nvCxnSpPr>
        <p:spPr>
          <a:xfrm rot="10800000" flipV="1">
            <a:off x="3016288" y="3633766"/>
            <a:ext cx="2579040" cy="592642"/>
          </a:xfrm>
          <a:prstGeom prst="bentConnector3">
            <a:avLst>
              <a:gd name="adj1" fmla="val 50000"/>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cxnSp>
        <p:nvCxnSpPr>
          <p:cNvPr id="10" name="Verbinder: gewinkelt 9">
            <a:extLst>
              <a:ext uri="{FF2B5EF4-FFF2-40B4-BE49-F238E27FC236}">
                <a16:creationId xmlns:a16="http://schemas.microsoft.com/office/drawing/2014/main" id="{2062579B-7AD2-4139-88AB-0AA7050D3D6F}"/>
              </a:ext>
            </a:extLst>
          </p:cNvPr>
          <p:cNvCxnSpPr>
            <a:cxnSpLocks/>
          </p:cNvCxnSpPr>
          <p:nvPr/>
        </p:nvCxnSpPr>
        <p:spPr>
          <a:xfrm rot="5400000" flipH="1" flipV="1">
            <a:off x="6476275" y="1981279"/>
            <a:ext cx="1253290" cy="993061"/>
          </a:xfrm>
          <a:prstGeom prst="bentConnector3">
            <a:avLst>
              <a:gd name="adj1" fmla="val 100006"/>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cxnSp>
        <p:nvCxnSpPr>
          <p:cNvPr id="11" name="Verbinder: gewinkelt 10">
            <a:extLst>
              <a:ext uri="{FF2B5EF4-FFF2-40B4-BE49-F238E27FC236}">
                <a16:creationId xmlns:a16="http://schemas.microsoft.com/office/drawing/2014/main" id="{AF13B078-811F-4C48-A23B-357B6FB74B00}"/>
              </a:ext>
            </a:extLst>
          </p:cNvPr>
          <p:cNvCxnSpPr>
            <a:cxnSpLocks/>
          </p:cNvCxnSpPr>
          <p:nvPr/>
        </p:nvCxnSpPr>
        <p:spPr>
          <a:xfrm>
            <a:off x="6606390" y="3596067"/>
            <a:ext cx="2199162" cy="658467"/>
          </a:xfrm>
          <a:prstGeom prst="bentConnector3">
            <a:avLst>
              <a:gd name="adj1" fmla="val 50000"/>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cxnSp>
        <p:nvCxnSpPr>
          <p:cNvPr id="16" name="Verbinder: gewinkelt 15">
            <a:extLst>
              <a:ext uri="{FF2B5EF4-FFF2-40B4-BE49-F238E27FC236}">
                <a16:creationId xmlns:a16="http://schemas.microsoft.com/office/drawing/2014/main" id="{FABD9404-3777-4D67-8C4F-794F2291B367}"/>
              </a:ext>
            </a:extLst>
          </p:cNvPr>
          <p:cNvCxnSpPr>
            <a:cxnSpLocks/>
          </p:cNvCxnSpPr>
          <p:nvPr/>
        </p:nvCxnSpPr>
        <p:spPr>
          <a:xfrm>
            <a:off x="6075451" y="4176172"/>
            <a:ext cx="2024932" cy="1340490"/>
          </a:xfrm>
          <a:prstGeom prst="bentConnector3">
            <a:avLst>
              <a:gd name="adj1" fmla="val 50000"/>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cxnSp>
        <p:nvCxnSpPr>
          <p:cNvPr id="18" name="Verbinder: gewinkelt 17">
            <a:extLst>
              <a:ext uri="{FF2B5EF4-FFF2-40B4-BE49-F238E27FC236}">
                <a16:creationId xmlns:a16="http://schemas.microsoft.com/office/drawing/2014/main" id="{8196C69B-71F2-43FD-B0C0-541A92C2D6B0}"/>
              </a:ext>
            </a:extLst>
          </p:cNvPr>
          <p:cNvCxnSpPr>
            <a:cxnSpLocks/>
          </p:cNvCxnSpPr>
          <p:nvPr/>
        </p:nvCxnSpPr>
        <p:spPr>
          <a:xfrm rot="10800000" flipV="1">
            <a:off x="4050515" y="3861540"/>
            <a:ext cx="1493992" cy="1215833"/>
          </a:xfrm>
          <a:prstGeom prst="bentConnector3">
            <a:avLst>
              <a:gd name="adj1" fmla="val 1957"/>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1B9C4315-E5CE-4E20-AEA9-96E3E6A161CB}"/>
              </a:ext>
            </a:extLst>
          </p:cNvPr>
          <p:cNvSpPr txBox="1"/>
          <p:nvPr/>
        </p:nvSpPr>
        <p:spPr>
          <a:xfrm>
            <a:off x="2439282" y="2676503"/>
            <a:ext cx="1048685" cy="738664"/>
          </a:xfrm>
          <a:prstGeom prst="rect">
            <a:avLst/>
          </a:prstGeom>
          <a:noFill/>
        </p:spPr>
        <p:txBody>
          <a:bodyPr wrap="none" rtlCol="0">
            <a:spAutoFit/>
          </a:bodyPr>
          <a:lstStyle/>
          <a:p>
            <a:pPr algn="r"/>
            <a:r>
              <a:rPr lang="de-DE" sz="1400" err="1"/>
              <a:t>Production</a:t>
            </a:r>
            <a:r>
              <a:rPr lang="de-DE" sz="1400"/>
              <a:t> </a:t>
            </a:r>
          </a:p>
          <a:p>
            <a:pPr algn="r"/>
            <a:r>
              <a:rPr lang="de-DE" sz="1400" err="1"/>
              <a:t>Planing</a:t>
            </a:r>
            <a:r>
              <a:rPr lang="de-DE" sz="1400"/>
              <a:t> </a:t>
            </a:r>
            <a:br>
              <a:rPr lang="de-DE" sz="1400"/>
            </a:br>
            <a:r>
              <a:rPr lang="de-DE" sz="1400"/>
              <a:t>Systems</a:t>
            </a:r>
          </a:p>
        </p:txBody>
      </p:sp>
      <p:sp>
        <p:nvSpPr>
          <p:cNvPr id="23" name="Textfeld 22">
            <a:extLst>
              <a:ext uri="{FF2B5EF4-FFF2-40B4-BE49-F238E27FC236}">
                <a16:creationId xmlns:a16="http://schemas.microsoft.com/office/drawing/2014/main" id="{A2D0DF8D-ADF9-40C0-A840-B8ADF74BB54A}"/>
              </a:ext>
            </a:extLst>
          </p:cNvPr>
          <p:cNvSpPr txBox="1"/>
          <p:nvPr/>
        </p:nvSpPr>
        <p:spPr>
          <a:xfrm>
            <a:off x="1741857" y="3857076"/>
            <a:ext cx="1236236" cy="738664"/>
          </a:xfrm>
          <a:prstGeom prst="rect">
            <a:avLst/>
          </a:prstGeom>
          <a:noFill/>
        </p:spPr>
        <p:txBody>
          <a:bodyPr wrap="none" rtlCol="0">
            <a:spAutoFit/>
          </a:bodyPr>
          <a:lstStyle/>
          <a:p>
            <a:pPr algn="r"/>
            <a:r>
              <a:rPr lang="de-DE" sz="1400"/>
              <a:t>Warehouse </a:t>
            </a:r>
            <a:br>
              <a:rPr lang="de-DE" sz="1400"/>
            </a:br>
            <a:r>
              <a:rPr lang="de-DE" sz="1400"/>
              <a:t>Management </a:t>
            </a:r>
          </a:p>
          <a:p>
            <a:pPr algn="r"/>
            <a:r>
              <a:rPr lang="de-DE" sz="1400"/>
              <a:t>Systems</a:t>
            </a:r>
          </a:p>
        </p:txBody>
      </p:sp>
      <p:sp>
        <p:nvSpPr>
          <p:cNvPr id="25" name="Textfeld 24">
            <a:extLst>
              <a:ext uri="{FF2B5EF4-FFF2-40B4-BE49-F238E27FC236}">
                <a16:creationId xmlns:a16="http://schemas.microsoft.com/office/drawing/2014/main" id="{04B53C9C-A21B-4E0C-A15C-113D0ADBF2F1}"/>
              </a:ext>
            </a:extLst>
          </p:cNvPr>
          <p:cNvSpPr txBox="1"/>
          <p:nvPr/>
        </p:nvSpPr>
        <p:spPr>
          <a:xfrm>
            <a:off x="8156095" y="5131992"/>
            <a:ext cx="1410964" cy="738664"/>
          </a:xfrm>
          <a:prstGeom prst="rect">
            <a:avLst/>
          </a:prstGeom>
          <a:noFill/>
        </p:spPr>
        <p:txBody>
          <a:bodyPr wrap="none" rtlCol="0">
            <a:spAutoFit/>
          </a:bodyPr>
          <a:lstStyle/>
          <a:p>
            <a:r>
              <a:rPr lang="de-DE" sz="1400"/>
              <a:t>Office</a:t>
            </a:r>
          </a:p>
          <a:p>
            <a:r>
              <a:rPr lang="de-DE" sz="1400"/>
              <a:t> Communication</a:t>
            </a:r>
          </a:p>
          <a:p>
            <a:r>
              <a:rPr lang="de-DE" sz="1400"/>
              <a:t>Systems</a:t>
            </a:r>
          </a:p>
        </p:txBody>
      </p:sp>
      <p:sp>
        <p:nvSpPr>
          <p:cNvPr id="26" name="Textfeld 25">
            <a:extLst>
              <a:ext uri="{FF2B5EF4-FFF2-40B4-BE49-F238E27FC236}">
                <a16:creationId xmlns:a16="http://schemas.microsoft.com/office/drawing/2014/main" id="{C8F6FDC0-C5D8-41C2-B4D3-0A93250BC1D6}"/>
              </a:ext>
            </a:extLst>
          </p:cNvPr>
          <p:cNvSpPr txBox="1"/>
          <p:nvPr/>
        </p:nvSpPr>
        <p:spPr>
          <a:xfrm>
            <a:off x="8904763" y="3777480"/>
            <a:ext cx="1236236" cy="954107"/>
          </a:xfrm>
          <a:prstGeom prst="rect">
            <a:avLst/>
          </a:prstGeom>
          <a:noFill/>
        </p:spPr>
        <p:txBody>
          <a:bodyPr wrap="none" rtlCol="0">
            <a:spAutoFit/>
          </a:bodyPr>
          <a:lstStyle/>
          <a:p>
            <a:r>
              <a:rPr lang="de-DE" sz="1400"/>
              <a:t>Human </a:t>
            </a:r>
            <a:br>
              <a:rPr lang="de-DE" sz="1400"/>
            </a:br>
            <a:r>
              <a:rPr lang="de-DE" sz="1400"/>
              <a:t>Ressource </a:t>
            </a:r>
            <a:br>
              <a:rPr lang="de-DE" sz="1400"/>
            </a:br>
            <a:r>
              <a:rPr lang="de-DE" sz="1400"/>
              <a:t>Management </a:t>
            </a:r>
            <a:br>
              <a:rPr lang="de-DE" sz="1400"/>
            </a:br>
            <a:r>
              <a:rPr lang="de-DE" sz="1400"/>
              <a:t>Systems</a:t>
            </a:r>
          </a:p>
        </p:txBody>
      </p:sp>
      <p:sp>
        <p:nvSpPr>
          <p:cNvPr id="27" name="Textfeld 26">
            <a:extLst>
              <a:ext uri="{FF2B5EF4-FFF2-40B4-BE49-F238E27FC236}">
                <a16:creationId xmlns:a16="http://schemas.microsoft.com/office/drawing/2014/main" id="{63CD9D38-D90F-44FB-8D09-685352D97506}"/>
              </a:ext>
            </a:extLst>
          </p:cNvPr>
          <p:cNvSpPr txBox="1"/>
          <p:nvPr/>
        </p:nvSpPr>
        <p:spPr>
          <a:xfrm>
            <a:off x="7694969" y="1482215"/>
            <a:ext cx="1116011" cy="738664"/>
          </a:xfrm>
          <a:prstGeom prst="rect">
            <a:avLst/>
          </a:prstGeom>
          <a:noFill/>
        </p:spPr>
        <p:txBody>
          <a:bodyPr wrap="none" rtlCol="0">
            <a:spAutoFit/>
          </a:bodyPr>
          <a:lstStyle/>
          <a:p>
            <a:r>
              <a:rPr lang="de-DE" sz="1400"/>
              <a:t>Marketing</a:t>
            </a:r>
            <a:br>
              <a:rPr lang="de-DE" sz="1400"/>
            </a:br>
            <a:r>
              <a:rPr lang="de-DE" sz="1400"/>
              <a:t>Information </a:t>
            </a:r>
            <a:br>
              <a:rPr lang="de-DE" sz="1400"/>
            </a:br>
            <a:r>
              <a:rPr lang="de-DE" sz="1400"/>
              <a:t>Systems</a:t>
            </a:r>
          </a:p>
        </p:txBody>
      </p:sp>
      <p:sp>
        <p:nvSpPr>
          <p:cNvPr id="45" name="Textfeld 44">
            <a:extLst>
              <a:ext uri="{FF2B5EF4-FFF2-40B4-BE49-F238E27FC236}">
                <a16:creationId xmlns:a16="http://schemas.microsoft.com/office/drawing/2014/main" id="{AB08B825-B48A-40B5-AF6B-80CC101B9265}"/>
              </a:ext>
            </a:extLst>
          </p:cNvPr>
          <p:cNvSpPr txBox="1"/>
          <p:nvPr/>
        </p:nvSpPr>
        <p:spPr>
          <a:xfrm>
            <a:off x="2786422" y="4724319"/>
            <a:ext cx="1236236" cy="738664"/>
          </a:xfrm>
          <a:prstGeom prst="rect">
            <a:avLst/>
          </a:prstGeom>
          <a:noFill/>
        </p:spPr>
        <p:txBody>
          <a:bodyPr wrap="none" rtlCol="0">
            <a:spAutoFit/>
          </a:bodyPr>
          <a:lstStyle/>
          <a:p>
            <a:pPr algn="r"/>
            <a:r>
              <a:rPr lang="de-DE" sz="1400" err="1"/>
              <a:t>Logistic</a:t>
            </a:r>
            <a:r>
              <a:rPr lang="de-DE" sz="1400"/>
              <a:t> </a:t>
            </a:r>
            <a:br>
              <a:rPr lang="de-DE" sz="1400"/>
            </a:br>
            <a:r>
              <a:rPr lang="de-DE" sz="1400"/>
              <a:t>Management </a:t>
            </a:r>
          </a:p>
          <a:p>
            <a:pPr algn="r"/>
            <a:r>
              <a:rPr lang="de-DE" sz="1400"/>
              <a:t>Systems</a:t>
            </a:r>
          </a:p>
        </p:txBody>
      </p:sp>
      <p:sp>
        <p:nvSpPr>
          <p:cNvPr id="2" name="Ellipse 1">
            <a:extLst>
              <a:ext uri="{FF2B5EF4-FFF2-40B4-BE49-F238E27FC236}">
                <a16:creationId xmlns:a16="http://schemas.microsoft.com/office/drawing/2014/main" id="{ECE3E8A7-7391-47E9-9043-43B31DA735CB}"/>
              </a:ext>
            </a:extLst>
          </p:cNvPr>
          <p:cNvSpPr/>
          <p:nvPr/>
        </p:nvSpPr>
        <p:spPr>
          <a:xfrm>
            <a:off x="4970835" y="2606375"/>
            <a:ext cx="1880171" cy="1880171"/>
          </a:xfrm>
          <a:prstGeom prst="ellipse">
            <a:avLst/>
          </a:prstGeom>
          <a:solidFill>
            <a:srgbClr val="2C3E50"/>
          </a:solidFill>
          <a:ln>
            <a:solidFill>
              <a:srgbClr val="2C3E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descr="LKW">
            <a:extLst>
              <a:ext uri="{FF2B5EF4-FFF2-40B4-BE49-F238E27FC236}">
                <a16:creationId xmlns:a16="http://schemas.microsoft.com/office/drawing/2014/main" id="{05D11721-C025-49DB-A069-BD40C79D8E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43780" y="4617376"/>
            <a:ext cx="584808" cy="584808"/>
          </a:xfrm>
          <a:prstGeom prst="rect">
            <a:avLst/>
          </a:prstGeom>
        </p:spPr>
      </p:pic>
      <p:pic>
        <p:nvPicPr>
          <p:cNvPr id="14" name="Grafik 13" descr="Fabrik">
            <a:extLst>
              <a:ext uri="{FF2B5EF4-FFF2-40B4-BE49-F238E27FC236}">
                <a16:creationId xmlns:a16="http://schemas.microsoft.com/office/drawing/2014/main" id="{258BC90E-AE8D-463A-B2C2-DDF707195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42624" y="2580457"/>
            <a:ext cx="613282" cy="613282"/>
          </a:xfrm>
          <a:prstGeom prst="rect">
            <a:avLst/>
          </a:prstGeom>
        </p:spPr>
      </p:pic>
      <p:pic>
        <p:nvPicPr>
          <p:cNvPr id="17" name="Grafik 16" descr="Sackkarre">
            <a:extLst>
              <a:ext uri="{FF2B5EF4-FFF2-40B4-BE49-F238E27FC236}">
                <a16:creationId xmlns:a16="http://schemas.microsoft.com/office/drawing/2014/main" id="{83498535-2054-4BC1-88A5-37D467A875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27700" y="3693432"/>
            <a:ext cx="562655" cy="562655"/>
          </a:xfrm>
          <a:prstGeom prst="rect">
            <a:avLst/>
          </a:prstGeom>
        </p:spPr>
      </p:pic>
      <p:pic>
        <p:nvPicPr>
          <p:cNvPr id="20" name="Grafik 19" descr="Mitarbeiterausweis">
            <a:extLst>
              <a:ext uri="{FF2B5EF4-FFF2-40B4-BE49-F238E27FC236}">
                <a16:creationId xmlns:a16="http://schemas.microsoft.com/office/drawing/2014/main" id="{A89EF917-421C-465F-BEF1-F6C477399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1486" y="3794629"/>
            <a:ext cx="504783" cy="504783"/>
          </a:xfrm>
          <a:prstGeom prst="rect">
            <a:avLst/>
          </a:prstGeom>
        </p:spPr>
      </p:pic>
      <p:pic>
        <p:nvPicPr>
          <p:cNvPr id="36" name="Grafik 35" descr="Volltreffer">
            <a:extLst>
              <a:ext uri="{FF2B5EF4-FFF2-40B4-BE49-F238E27FC236}">
                <a16:creationId xmlns:a16="http://schemas.microsoft.com/office/drawing/2014/main" id="{AB696BFE-5999-4A5E-9F1C-6CAF386AD12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93095" y="1339461"/>
            <a:ext cx="559381" cy="559381"/>
          </a:xfrm>
          <a:prstGeom prst="rect">
            <a:avLst/>
          </a:prstGeom>
        </p:spPr>
      </p:pic>
      <p:pic>
        <p:nvPicPr>
          <p:cNvPr id="38" name="Grafik 37" descr="E-Mail">
            <a:extLst>
              <a:ext uri="{FF2B5EF4-FFF2-40B4-BE49-F238E27FC236}">
                <a16:creationId xmlns:a16="http://schemas.microsoft.com/office/drawing/2014/main" id="{E54D20B3-FB82-4621-B0ED-A2ABAB85D6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52476" y="5001576"/>
            <a:ext cx="508769" cy="508769"/>
          </a:xfrm>
          <a:prstGeom prst="rect">
            <a:avLst/>
          </a:prstGeom>
        </p:spPr>
      </p:pic>
      <p:pic>
        <p:nvPicPr>
          <p:cNvPr id="41" name="Grafik 40" descr="Münzen">
            <a:extLst>
              <a:ext uri="{FF2B5EF4-FFF2-40B4-BE49-F238E27FC236}">
                <a16:creationId xmlns:a16="http://schemas.microsoft.com/office/drawing/2014/main" id="{8D47EFB7-C877-4725-92B8-30B427B86E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733810" y="2453069"/>
            <a:ext cx="576103" cy="576103"/>
          </a:xfrm>
          <a:prstGeom prst="rect">
            <a:avLst/>
          </a:prstGeom>
        </p:spPr>
      </p:pic>
      <p:cxnSp>
        <p:nvCxnSpPr>
          <p:cNvPr id="44" name="Verbinder: gewinkelt 43">
            <a:extLst>
              <a:ext uri="{FF2B5EF4-FFF2-40B4-BE49-F238E27FC236}">
                <a16:creationId xmlns:a16="http://schemas.microsoft.com/office/drawing/2014/main" id="{CFF45517-87E3-4CED-B499-6FC44F56379B}"/>
              </a:ext>
            </a:extLst>
          </p:cNvPr>
          <p:cNvCxnSpPr>
            <a:cxnSpLocks/>
          </p:cNvCxnSpPr>
          <p:nvPr/>
        </p:nvCxnSpPr>
        <p:spPr>
          <a:xfrm flipV="1">
            <a:off x="6564101" y="2967922"/>
            <a:ext cx="1880171" cy="233295"/>
          </a:xfrm>
          <a:prstGeom prst="bentConnector3">
            <a:avLst>
              <a:gd name="adj1" fmla="val 50000"/>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sp>
        <p:nvSpPr>
          <p:cNvPr id="47" name="Textfeld 46">
            <a:extLst>
              <a:ext uri="{FF2B5EF4-FFF2-40B4-BE49-F238E27FC236}">
                <a16:creationId xmlns:a16="http://schemas.microsoft.com/office/drawing/2014/main" id="{1BEB18D7-B62F-4061-8003-BDAE589A892E}"/>
              </a:ext>
            </a:extLst>
          </p:cNvPr>
          <p:cNvSpPr txBox="1"/>
          <p:nvPr/>
        </p:nvSpPr>
        <p:spPr>
          <a:xfrm>
            <a:off x="8583223" y="2615729"/>
            <a:ext cx="1116011" cy="738664"/>
          </a:xfrm>
          <a:prstGeom prst="rect">
            <a:avLst/>
          </a:prstGeom>
          <a:noFill/>
        </p:spPr>
        <p:txBody>
          <a:bodyPr wrap="none" rtlCol="0">
            <a:spAutoFit/>
          </a:bodyPr>
          <a:lstStyle/>
          <a:p>
            <a:r>
              <a:rPr lang="de-DE" sz="1400"/>
              <a:t>Finance</a:t>
            </a:r>
            <a:br>
              <a:rPr lang="de-DE" sz="1400"/>
            </a:br>
            <a:r>
              <a:rPr lang="de-DE" sz="1400"/>
              <a:t>Information </a:t>
            </a:r>
            <a:br>
              <a:rPr lang="de-DE" sz="1400"/>
            </a:br>
            <a:r>
              <a:rPr lang="de-DE" sz="1400"/>
              <a:t>Systems</a:t>
            </a:r>
          </a:p>
        </p:txBody>
      </p:sp>
      <p:cxnSp>
        <p:nvCxnSpPr>
          <p:cNvPr id="48" name="Verbinder: gewinkelt 47">
            <a:extLst>
              <a:ext uri="{FF2B5EF4-FFF2-40B4-BE49-F238E27FC236}">
                <a16:creationId xmlns:a16="http://schemas.microsoft.com/office/drawing/2014/main" id="{5582CE6F-06AB-4E0F-8C16-D7D5BBC843E4}"/>
              </a:ext>
            </a:extLst>
          </p:cNvPr>
          <p:cNvCxnSpPr>
            <a:cxnSpLocks/>
          </p:cNvCxnSpPr>
          <p:nvPr/>
        </p:nvCxnSpPr>
        <p:spPr>
          <a:xfrm rot="16200000" flipV="1">
            <a:off x="4526791" y="1562155"/>
            <a:ext cx="531821" cy="1767140"/>
          </a:xfrm>
          <a:prstGeom prst="bentConnector2">
            <a:avLst/>
          </a:prstGeom>
          <a:ln w="76200">
            <a:solidFill>
              <a:srgbClr val="2C3E50"/>
            </a:solidFill>
            <a:tailEnd type="oval"/>
          </a:ln>
        </p:spPr>
        <p:style>
          <a:lnRef idx="1">
            <a:schemeClr val="accent1"/>
          </a:lnRef>
          <a:fillRef idx="0">
            <a:schemeClr val="accent1"/>
          </a:fillRef>
          <a:effectRef idx="0">
            <a:schemeClr val="accent1"/>
          </a:effectRef>
          <a:fontRef idx="minor">
            <a:schemeClr val="tx1"/>
          </a:fontRef>
        </p:style>
      </p:cxnSp>
      <p:pic>
        <p:nvPicPr>
          <p:cNvPr id="56" name="Grafik 55" descr="Flugzeug">
            <a:extLst>
              <a:ext uri="{FF2B5EF4-FFF2-40B4-BE49-F238E27FC236}">
                <a16:creationId xmlns:a16="http://schemas.microsoft.com/office/drawing/2014/main" id="{C99CF22E-E860-41D1-B438-909D0D8E8E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21038" y="1692525"/>
            <a:ext cx="531807" cy="531807"/>
          </a:xfrm>
          <a:prstGeom prst="rect">
            <a:avLst/>
          </a:prstGeom>
        </p:spPr>
      </p:pic>
      <p:sp>
        <p:nvSpPr>
          <p:cNvPr id="57" name="Textfeld 56">
            <a:extLst>
              <a:ext uri="{FF2B5EF4-FFF2-40B4-BE49-F238E27FC236}">
                <a16:creationId xmlns:a16="http://schemas.microsoft.com/office/drawing/2014/main" id="{8A3702DD-3162-4ABA-8CB0-88B18FA084AD}"/>
              </a:ext>
            </a:extLst>
          </p:cNvPr>
          <p:cNvSpPr txBox="1"/>
          <p:nvPr/>
        </p:nvSpPr>
        <p:spPr>
          <a:xfrm>
            <a:off x="2481240" y="1922505"/>
            <a:ext cx="1306769" cy="523220"/>
          </a:xfrm>
          <a:prstGeom prst="rect">
            <a:avLst/>
          </a:prstGeom>
          <a:noFill/>
        </p:spPr>
        <p:txBody>
          <a:bodyPr wrap="none" rtlCol="0">
            <a:spAutoFit/>
          </a:bodyPr>
          <a:lstStyle/>
          <a:p>
            <a:pPr algn="r"/>
            <a:r>
              <a:rPr lang="de-DE" sz="1400"/>
              <a:t>Travel Booking</a:t>
            </a:r>
            <a:br>
              <a:rPr lang="de-DE" sz="1400"/>
            </a:br>
            <a:r>
              <a:rPr lang="de-DE" sz="1400"/>
              <a:t>Systems</a:t>
            </a:r>
          </a:p>
        </p:txBody>
      </p:sp>
      <p:pic>
        <p:nvPicPr>
          <p:cNvPr id="59" name="Grafik 58" descr="Benutzer">
            <a:extLst>
              <a:ext uri="{FF2B5EF4-FFF2-40B4-BE49-F238E27FC236}">
                <a16:creationId xmlns:a16="http://schemas.microsoft.com/office/drawing/2014/main" id="{A5D22FD2-2AE6-4267-B9B1-DC2DA0DEFD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72346" y="2774932"/>
            <a:ext cx="878284" cy="878284"/>
          </a:xfrm>
          <a:prstGeom prst="rect">
            <a:avLst/>
          </a:prstGeom>
        </p:spPr>
      </p:pic>
      <p:pic>
        <p:nvPicPr>
          <p:cNvPr id="61" name="Grafik 60" descr="Computer">
            <a:extLst>
              <a:ext uri="{FF2B5EF4-FFF2-40B4-BE49-F238E27FC236}">
                <a16:creationId xmlns:a16="http://schemas.microsoft.com/office/drawing/2014/main" id="{76579613-3A8C-4879-B2D2-DBA78BA953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2489" y="3445362"/>
            <a:ext cx="661966" cy="661966"/>
          </a:xfrm>
          <a:prstGeom prst="rect">
            <a:avLst/>
          </a:prstGeom>
        </p:spPr>
      </p:pic>
    </p:spTree>
    <p:extLst>
      <p:ext uri="{BB962C8B-B14F-4D97-AF65-F5344CB8AC3E}">
        <p14:creationId xmlns:p14="http://schemas.microsoft.com/office/powerpoint/2010/main" val="371990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Entwicklung von Informationssystemen:</a:t>
            </a:r>
            <a:br>
              <a:rPr lang="de-DE" dirty="0"/>
            </a:br>
            <a:r>
              <a:rPr lang="de-DE" dirty="0"/>
              <a:t>Wasserfallmodell</a:t>
            </a:r>
          </a:p>
        </p:txBody>
      </p:sp>
      <p:sp>
        <p:nvSpPr>
          <p:cNvPr id="8" name="Textfeld 7">
            <a:extLst>
              <a:ext uri="{FF2B5EF4-FFF2-40B4-BE49-F238E27FC236}">
                <a16:creationId xmlns:a16="http://schemas.microsoft.com/office/drawing/2014/main" id="{4C6B5A62-4C94-4EBE-B540-3AE577CF95C9}"/>
              </a:ext>
            </a:extLst>
          </p:cNvPr>
          <p:cNvSpPr txBox="1"/>
          <p:nvPr/>
        </p:nvSpPr>
        <p:spPr>
          <a:xfrm>
            <a:off x="8652013" y="6078291"/>
            <a:ext cx="1513556" cy="276999"/>
          </a:xfrm>
          <a:prstGeom prst="rect">
            <a:avLst/>
          </a:prstGeom>
          <a:noFill/>
        </p:spPr>
        <p:txBody>
          <a:bodyPr wrap="none" rtlCol="0">
            <a:spAutoFit/>
          </a:bodyPr>
          <a:lstStyle/>
          <a:p>
            <a:r>
              <a:rPr lang="de-DE" sz="1200" dirty="0"/>
              <a:t>Quelle: Royce (1970)</a:t>
            </a:r>
          </a:p>
        </p:txBody>
      </p:sp>
      <p:sp>
        <p:nvSpPr>
          <p:cNvPr id="9" name="Rechteck 8">
            <a:extLst>
              <a:ext uri="{FF2B5EF4-FFF2-40B4-BE49-F238E27FC236}">
                <a16:creationId xmlns:a16="http://schemas.microsoft.com/office/drawing/2014/main" id="{B6406264-2E40-47F8-97E3-B386D1184DB1}"/>
              </a:ext>
            </a:extLst>
          </p:cNvPr>
          <p:cNvSpPr/>
          <p:nvPr/>
        </p:nvSpPr>
        <p:spPr>
          <a:xfrm>
            <a:off x="1219200" y="1025973"/>
            <a:ext cx="9144000" cy="5466735"/>
          </a:xfrm>
          <a:prstGeom prst="rect">
            <a:avLst/>
          </a:prstGeom>
          <a:solidFill>
            <a:srgbClr val="2C3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CBF22376-08FB-4548-AEE9-0CE03D05EF28}"/>
              </a:ext>
            </a:extLst>
          </p:cNvPr>
          <p:cNvSpPr/>
          <p:nvPr/>
        </p:nvSpPr>
        <p:spPr>
          <a:xfrm>
            <a:off x="2026854" y="1983292"/>
            <a:ext cx="1654139" cy="380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ANALYSE</a:t>
            </a:r>
          </a:p>
        </p:txBody>
      </p:sp>
      <p:sp>
        <p:nvSpPr>
          <p:cNvPr id="11" name="Rechteck 10">
            <a:extLst>
              <a:ext uri="{FF2B5EF4-FFF2-40B4-BE49-F238E27FC236}">
                <a16:creationId xmlns:a16="http://schemas.microsoft.com/office/drawing/2014/main" id="{25538954-8BBF-4AD1-9629-E5BC68A666C8}"/>
              </a:ext>
            </a:extLst>
          </p:cNvPr>
          <p:cNvSpPr/>
          <p:nvPr/>
        </p:nvSpPr>
        <p:spPr>
          <a:xfrm>
            <a:off x="3992619" y="1983292"/>
            <a:ext cx="1654139" cy="380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DESIGN</a:t>
            </a:r>
          </a:p>
        </p:txBody>
      </p:sp>
      <p:sp>
        <p:nvSpPr>
          <p:cNvPr id="12" name="Rechteck 11">
            <a:extLst>
              <a:ext uri="{FF2B5EF4-FFF2-40B4-BE49-F238E27FC236}">
                <a16:creationId xmlns:a16="http://schemas.microsoft.com/office/drawing/2014/main" id="{C4029891-1DFE-4AF2-9AD0-715907603756}"/>
              </a:ext>
            </a:extLst>
          </p:cNvPr>
          <p:cNvSpPr/>
          <p:nvPr/>
        </p:nvSpPr>
        <p:spPr>
          <a:xfrm>
            <a:off x="5887889" y="1983292"/>
            <a:ext cx="1654139" cy="380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IMPLEMENT</a:t>
            </a:r>
          </a:p>
        </p:txBody>
      </p:sp>
      <p:sp>
        <p:nvSpPr>
          <p:cNvPr id="13" name="Rechteck 12">
            <a:extLst>
              <a:ext uri="{FF2B5EF4-FFF2-40B4-BE49-F238E27FC236}">
                <a16:creationId xmlns:a16="http://schemas.microsoft.com/office/drawing/2014/main" id="{0C5B5A19-84B4-4F6E-AE01-9368F4A2BBE1}"/>
              </a:ext>
            </a:extLst>
          </p:cNvPr>
          <p:cNvSpPr/>
          <p:nvPr/>
        </p:nvSpPr>
        <p:spPr>
          <a:xfrm>
            <a:off x="7742514" y="1983292"/>
            <a:ext cx="1654139" cy="380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TEST</a:t>
            </a:r>
          </a:p>
        </p:txBody>
      </p:sp>
      <p:sp>
        <p:nvSpPr>
          <p:cNvPr id="14" name="Rectangle 8">
            <a:extLst>
              <a:ext uri="{FF2B5EF4-FFF2-40B4-BE49-F238E27FC236}">
                <a16:creationId xmlns:a16="http://schemas.microsoft.com/office/drawing/2014/main" id="{910D9BC4-7DB4-4F7C-9C47-16D179BC40FA}"/>
              </a:ext>
            </a:extLst>
          </p:cNvPr>
          <p:cNvSpPr>
            <a:spLocks noChangeArrowheads="1"/>
          </p:cNvSpPr>
          <p:nvPr/>
        </p:nvSpPr>
        <p:spPr bwMode="auto">
          <a:xfrm>
            <a:off x="1776105" y="4892319"/>
            <a:ext cx="1791516" cy="736600"/>
          </a:xfrm>
          <a:prstGeom prst="rect">
            <a:avLst/>
          </a:prstGeom>
          <a:noFill/>
          <a:ln w="3175">
            <a:noFill/>
            <a:miter lim="800000"/>
            <a:headEnd/>
            <a:tailEnd/>
          </a:ln>
        </p:spPr>
        <p:txBody>
          <a:bodyPr wrap="none" anchor="ctr"/>
          <a:lstStyle/>
          <a:p>
            <a:pPr algn="ctr"/>
            <a:r>
              <a:rPr lang="en-GB" b="1" dirty="0">
                <a:solidFill>
                  <a:schemeClr val="bg1"/>
                </a:solidFill>
              </a:rPr>
              <a:t>FACHKONZEPT</a:t>
            </a:r>
          </a:p>
        </p:txBody>
      </p:sp>
      <p:sp>
        <p:nvSpPr>
          <p:cNvPr id="15" name="Rectangle 8">
            <a:extLst>
              <a:ext uri="{FF2B5EF4-FFF2-40B4-BE49-F238E27FC236}">
                <a16:creationId xmlns:a16="http://schemas.microsoft.com/office/drawing/2014/main" id="{9E7DD3DD-35D7-4FAA-902F-0C5DAD3AE1CB}"/>
              </a:ext>
            </a:extLst>
          </p:cNvPr>
          <p:cNvSpPr>
            <a:spLocks noChangeArrowheads="1"/>
          </p:cNvSpPr>
          <p:nvPr/>
        </p:nvSpPr>
        <p:spPr bwMode="auto">
          <a:xfrm>
            <a:off x="3949723" y="4892319"/>
            <a:ext cx="1739931" cy="736600"/>
          </a:xfrm>
          <a:prstGeom prst="rect">
            <a:avLst/>
          </a:prstGeom>
          <a:noFill/>
          <a:ln w="3175">
            <a:noFill/>
            <a:miter lim="800000"/>
            <a:headEnd/>
            <a:tailEnd/>
          </a:ln>
        </p:spPr>
        <p:txBody>
          <a:bodyPr wrap="none" anchor="ctr"/>
          <a:lstStyle/>
          <a:p>
            <a:pPr algn="ctr"/>
            <a:r>
              <a:rPr lang="en-GB" b="1" dirty="0">
                <a:solidFill>
                  <a:schemeClr val="bg1"/>
                </a:solidFill>
              </a:rPr>
              <a:t>DV-KONZEPT</a:t>
            </a:r>
          </a:p>
        </p:txBody>
      </p:sp>
      <p:sp>
        <p:nvSpPr>
          <p:cNvPr id="16" name="Rectangle 8">
            <a:extLst>
              <a:ext uri="{FF2B5EF4-FFF2-40B4-BE49-F238E27FC236}">
                <a16:creationId xmlns:a16="http://schemas.microsoft.com/office/drawing/2014/main" id="{40AA5A07-4D62-482E-A007-4750C3110152}"/>
              </a:ext>
            </a:extLst>
          </p:cNvPr>
          <p:cNvSpPr>
            <a:spLocks noChangeArrowheads="1"/>
          </p:cNvSpPr>
          <p:nvPr/>
        </p:nvSpPr>
        <p:spPr bwMode="auto">
          <a:xfrm>
            <a:off x="6031727" y="4892319"/>
            <a:ext cx="1366463" cy="736600"/>
          </a:xfrm>
          <a:prstGeom prst="rect">
            <a:avLst/>
          </a:prstGeom>
          <a:noFill/>
          <a:ln w="3175">
            <a:noFill/>
            <a:miter lim="800000"/>
            <a:headEnd/>
            <a:tailEnd/>
          </a:ln>
        </p:spPr>
        <p:txBody>
          <a:bodyPr wrap="none" anchor="ctr"/>
          <a:lstStyle/>
          <a:p>
            <a:pPr algn="ctr"/>
            <a:r>
              <a:rPr lang="en-GB" b="1" dirty="0">
                <a:solidFill>
                  <a:schemeClr val="bg1"/>
                </a:solidFill>
              </a:rPr>
              <a:t>IMPLEMENTATION </a:t>
            </a:r>
          </a:p>
        </p:txBody>
      </p:sp>
      <p:pic>
        <p:nvPicPr>
          <p:cNvPr id="17" name="Grafik 16" descr="Computer">
            <a:extLst>
              <a:ext uri="{FF2B5EF4-FFF2-40B4-BE49-F238E27FC236}">
                <a16:creationId xmlns:a16="http://schemas.microsoft.com/office/drawing/2014/main" id="{96714DAA-5840-4F53-BABC-E7BA8805F62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57757" y="4058771"/>
            <a:ext cx="914400" cy="914400"/>
          </a:xfrm>
          <a:prstGeom prst="rect">
            <a:avLst/>
          </a:prstGeom>
        </p:spPr>
      </p:pic>
      <p:pic>
        <p:nvPicPr>
          <p:cNvPr id="18" name="Grafik 17" descr="Handschlag">
            <a:extLst>
              <a:ext uri="{FF2B5EF4-FFF2-40B4-BE49-F238E27FC236}">
                <a16:creationId xmlns:a16="http://schemas.microsoft.com/office/drawing/2014/main" id="{EDB4B5FF-4470-40F4-8323-CEDEFC4C785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62487" y="4058771"/>
            <a:ext cx="914400" cy="914400"/>
          </a:xfrm>
          <a:prstGeom prst="rect">
            <a:avLst/>
          </a:prstGeom>
        </p:spPr>
      </p:pic>
      <p:pic>
        <p:nvPicPr>
          <p:cNvPr id="19" name="Grafik 18" descr="Prüfliste">
            <a:extLst>
              <a:ext uri="{FF2B5EF4-FFF2-40B4-BE49-F238E27FC236}">
                <a16:creationId xmlns:a16="http://schemas.microsoft.com/office/drawing/2014/main" id="{4C838646-F7B6-4845-89CF-29D504EE1E2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3682" y="4200658"/>
            <a:ext cx="631803" cy="631803"/>
          </a:xfrm>
          <a:prstGeom prst="rect">
            <a:avLst/>
          </a:prstGeom>
        </p:spPr>
      </p:pic>
      <p:sp>
        <p:nvSpPr>
          <p:cNvPr id="20" name="Rectangle 8">
            <a:extLst>
              <a:ext uri="{FF2B5EF4-FFF2-40B4-BE49-F238E27FC236}">
                <a16:creationId xmlns:a16="http://schemas.microsoft.com/office/drawing/2014/main" id="{70A71756-344C-4B59-8D07-CF7F66DCDD2D}"/>
              </a:ext>
            </a:extLst>
          </p:cNvPr>
          <p:cNvSpPr>
            <a:spLocks noChangeArrowheads="1"/>
          </p:cNvSpPr>
          <p:nvPr/>
        </p:nvSpPr>
        <p:spPr bwMode="auto">
          <a:xfrm>
            <a:off x="7692969" y="4892319"/>
            <a:ext cx="1753226" cy="736600"/>
          </a:xfrm>
          <a:prstGeom prst="rect">
            <a:avLst/>
          </a:prstGeom>
          <a:noFill/>
          <a:ln w="3175">
            <a:noFill/>
            <a:miter lim="800000"/>
            <a:headEnd/>
            <a:tailEnd/>
          </a:ln>
        </p:spPr>
        <p:txBody>
          <a:bodyPr wrap="none" anchor="ctr"/>
          <a:lstStyle/>
          <a:p>
            <a:pPr algn="ctr"/>
            <a:r>
              <a:rPr lang="en-GB" b="1" dirty="0">
                <a:solidFill>
                  <a:schemeClr val="bg1"/>
                </a:solidFill>
              </a:rPr>
              <a:t>TEST</a:t>
            </a:r>
          </a:p>
          <a:p>
            <a:pPr algn="ctr"/>
            <a:r>
              <a:rPr lang="en-GB" b="1" dirty="0">
                <a:solidFill>
                  <a:schemeClr val="bg1"/>
                </a:solidFill>
              </a:rPr>
              <a:t>REPORT</a:t>
            </a:r>
          </a:p>
        </p:txBody>
      </p:sp>
      <p:pic>
        <p:nvPicPr>
          <p:cNvPr id="21" name="Grafik 20" descr="Liste">
            <a:extLst>
              <a:ext uri="{FF2B5EF4-FFF2-40B4-BE49-F238E27FC236}">
                <a16:creationId xmlns:a16="http://schemas.microsoft.com/office/drawing/2014/main" id="{814B0CB1-2E0E-4F9B-8F12-E63F7F7CAFA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48965" y="4200657"/>
            <a:ext cx="645796" cy="645796"/>
          </a:xfrm>
          <a:prstGeom prst="rect">
            <a:avLst/>
          </a:prstGeom>
        </p:spPr>
      </p:pic>
      <p:sp>
        <p:nvSpPr>
          <p:cNvPr id="22" name="Pfeil: Fünfeck 21">
            <a:extLst>
              <a:ext uri="{FF2B5EF4-FFF2-40B4-BE49-F238E27FC236}">
                <a16:creationId xmlns:a16="http://schemas.microsoft.com/office/drawing/2014/main" id="{E6D59E26-F55F-4738-8B68-7200A8CACEF8}"/>
              </a:ext>
            </a:extLst>
          </p:cNvPr>
          <p:cNvSpPr/>
          <p:nvPr/>
        </p:nvSpPr>
        <p:spPr>
          <a:xfrm>
            <a:off x="2015150" y="1922715"/>
            <a:ext cx="1828800" cy="539394"/>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400" b="1" dirty="0">
                <a:solidFill>
                  <a:schemeClr val="accent1">
                    <a:lumMod val="50000"/>
                  </a:schemeClr>
                </a:solidFill>
                <a:latin typeface="+mj-lt"/>
              </a:rPr>
              <a:t>ANALYSE</a:t>
            </a:r>
          </a:p>
        </p:txBody>
      </p:sp>
      <p:sp>
        <p:nvSpPr>
          <p:cNvPr id="23" name="Pfeil: Chevron 22">
            <a:extLst>
              <a:ext uri="{FF2B5EF4-FFF2-40B4-BE49-F238E27FC236}">
                <a16:creationId xmlns:a16="http://schemas.microsoft.com/office/drawing/2014/main" id="{8E862552-D2DB-4B6C-B7AA-F8646C6282D9}"/>
              </a:ext>
            </a:extLst>
          </p:cNvPr>
          <p:cNvSpPr/>
          <p:nvPr/>
        </p:nvSpPr>
        <p:spPr>
          <a:xfrm>
            <a:off x="3889876" y="1922715"/>
            <a:ext cx="1859622" cy="539394"/>
          </a:xfrm>
          <a:prstGeom prst="chevr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400" b="1" dirty="0">
                <a:solidFill>
                  <a:schemeClr val="accent1">
                    <a:lumMod val="50000"/>
                  </a:schemeClr>
                </a:solidFill>
                <a:latin typeface="+mj-lt"/>
              </a:rPr>
              <a:t>DESIGN</a:t>
            </a:r>
          </a:p>
        </p:txBody>
      </p:sp>
      <p:sp>
        <p:nvSpPr>
          <p:cNvPr id="24" name="Pfeil: Chevron 23">
            <a:extLst>
              <a:ext uri="{FF2B5EF4-FFF2-40B4-BE49-F238E27FC236}">
                <a16:creationId xmlns:a16="http://schemas.microsoft.com/office/drawing/2014/main" id="{AD13BCB3-205E-4511-AEDE-833B93B9E984}"/>
              </a:ext>
            </a:extLst>
          </p:cNvPr>
          <p:cNvSpPr/>
          <p:nvPr/>
        </p:nvSpPr>
        <p:spPr>
          <a:xfrm>
            <a:off x="5800558" y="1922715"/>
            <a:ext cx="1828801" cy="539394"/>
          </a:xfrm>
          <a:prstGeom prst="chevr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400" b="1" dirty="0">
                <a:solidFill>
                  <a:schemeClr val="accent1">
                    <a:lumMod val="50000"/>
                  </a:schemeClr>
                </a:solidFill>
                <a:latin typeface="+mj-lt"/>
              </a:rPr>
              <a:t>IMPLEMENT</a:t>
            </a:r>
          </a:p>
        </p:txBody>
      </p:sp>
      <p:sp>
        <p:nvSpPr>
          <p:cNvPr id="25" name="Pfeil: Chevron 24">
            <a:extLst>
              <a:ext uri="{FF2B5EF4-FFF2-40B4-BE49-F238E27FC236}">
                <a16:creationId xmlns:a16="http://schemas.microsoft.com/office/drawing/2014/main" id="{9A8557E7-0ECC-4AB0-A3B3-E62455E13329}"/>
              </a:ext>
            </a:extLst>
          </p:cNvPr>
          <p:cNvSpPr/>
          <p:nvPr/>
        </p:nvSpPr>
        <p:spPr>
          <a:xfrm>
            <a:off x="7655184" y="1922715"/>
            <a:ext cx="1828799" cy="539394"/>
          </a:xfrm>
          <a:prstGeom prst="chevr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400" b="1" dirty="0">
                <a:solidFill>
                  <a:schemeClr val="accent1">
                    <a:lumMod val="50000"/>
                  </a:schemeClr>
                </a:solidFill>
                <a:latin typeface="+mj-lt"/>
              </a:rPr>
              <a:t>TEST</a:t>
            </a:r>
          </a:p>
        </p:txBody>
      </p:sp>
      <p:sp>
        <p:nvSpPr>
          <p:cNvPr id="26" name="Rechteck 25">
            <a:extLst>
              <a:ext uri="{FF2B5EF4-FFF2-40B4-BE49-F238E27FC236}">
                <a16:creationId xmlns:a16="http://schemas.microsoft.com/office/drawing/2014/main" id="{C774F772-F1C2-417A-9A66-5CB934C78ABB}"/>
              </a:ext>
            </a:extLst>
          </p:cNvPr>
          <p:cNvSpPr/>
          <p:nvPr/>
        </p:nvSpPr>
        <p:spPr>
          <a:xfrm>
            <a:off x="1915230" y="2522687"/>
            <a:ext cx="1928717" cy="117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de-DE" sz="1200" dirty="0">
                <a:solidFill>
                  <a:schemeClr val="bg1"/>
                </a:solidFill>
              </a:rPr>
              <a:t>Beschreibt die funktionalen Anforderungen an ein Informationssystem und zeigt deren anwendungsbezogenen Nutzen auf.</a:t>
            </a:r>
          </a:p>
        </p:txBody>
      </p:sp>
      <p:sp>
        <p:nvSpPr>
          <p:cNvPr id="27" name="Rechteck 26">
            <a:extLst>
              <a:ext uri="{FF2B5EF4-FFF2-40B4-BE49-F238E27FC236}">
                <a16:creationId xmlns:a16="http://schemas.microsoft.com/office/drawing/2014/main" id="{68637799-C419-4540-9A29-71C2380F7CDE}"/>
              </a:ext>
            </a:extLst>
          </p:cNvPr>
          <p:cNvSpPr/>
          <p:nvPr/>
        </p:nvSpPr>
        <p:spPr>
          <a:xfrm>
            <a:off x="3889876" y="2522687"/>
            <a:ext cx="1877384" cy="117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de-DE" sz="1200" dirty="0">
                <a:solidFill>
                  <a:schemeClr val="bg1"/>
                </a:solidFill>
              </a:rPr>
              <a:t>Inhalte des Fachkonzepts werden einer Machbarkeitsprüfung und Aufwandsabschätzung unterzogen.</a:t>
            </a:r>
          </a:p>
        </p:txBody>
      </p:sp>
      <p:sp>
        <p:nvSpPr>
          <p:cNvPr id="28" name="Rechteck 27">
            <a:extLst>
              <a:ext uri="{FF2B5EF4-FFF2-40B4-BE49-F238E27FC236}">
                <a16:creationId xmlns:a16="http://schemas.microsoft.com/office/drawing/2014/main" id="{DC1C616F-C8E4-4A1A-B6AD-0AABA80C27D0}"/>
              </a:ext>
            </a:extLst>
          </p:cNvPr>
          <p:cNvSpPr/>
          <p:nvPr/>
        </p:nvSpPr>
        <p:spPr>
          <a:xfrm>
            <a:off x="5735510" y="2522687"/>
            <a:ext cx="1925707" cy="117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de-DE" sz="1200" dirty="0" err="1">
                <a:solidFill>
                  <a:schemeClr val="bg1"/>
                </a:solidFill>
              </a:rPr>
              <a:t>Ddas</a:t>
            </a:r>
            <a:r>
              <a:rPr lang="de-DE" sz="1200" dirty="0">
                <a:solidFill>
                  <a:schemeClr val="bg1"/>
                </a:solidFill>
              </a:rPr>
              <a:t> DV-Konzept wird in konkrete physische Datenstrukturen, Hardware-Komponenten und Programme umgesetzt.</a:t>
            </a:r>
          </a:p>
        </p:txBody>
      </p:sp>
      <p:sp>
        <p:nvSpPr>
          <p:cNvPr id="29" name="Rechteck 28">
            <a:extLst>
              <a:ext uri="{FF2B5EF4-FFF2-40B4-BE49-F238E27FC236}">
                <a16:creationId xmlns:a16="http://schemas.microsoft.com/office/drawing/2014/main" id="{B8B5E18F-002D-464B-84AD-0F95C4B52463}"/>
              </a:ext>
            </a:extLst>
          </p:cNvPr>
          <p:cNvSpPr/>
          <p:nvPr/>
        </p:nvSpPr>
        <p:spPr>
          <a:xfrm>
            <a:off x="7655183" y="2583265"/>
            <a:ext cx="1877384" cy="1177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err="1">
                <a:solidFill>
                  <a:schemeClr val="bg1"/>
                </a:solidFill>
              </a:rPr>
              <a:t>Beim</a:t>
            </a:r>
            <a:r>
              <a:rPr lang="en-US" sz="1200" dirty="0">
                <a:solidFill>
                  <a:schemeClr val="bg1"/>
                </a:solidFill>
              </a:rPr>
              <a:t> Testing </a:t>
            </a:r>
            <a:r>
              <a:rPr lang="en-US" sz="1200" dirty="0" err="1">
                <a:solidFill>
                  <a:schemeClr val="bg1"/>
                </a:solidFill>
              </a:rPr>
              <a:t>wird</a:t>
            </a:r>
            <a:r>
              <a:rPr lang="en-US" sz="1200" dirty="0">
                <a:solidFill>
                  <a:schemeClr val="bg1"/>
                </a:solidFill>
              </a:rPr>
              <a:t> das </a:t>
            </a:r>
            <a:r>
              <a:rPr lang="en-US" sz="1200" dirty="0" err="1">
                <a:solidFill>
                  <a:schemeClr val="bg1"/>
                </a:solidFill>
              </a:rPr>
              <a:t>entwickelte</a:t>
            </a:r>
            <a:r>
              <a:rPr lang="en-US" sz="1200" dirty="0">
                <a:solidFill>
                  <a:schemeClr val="bg1"/>
                </a:solidFill>
              </a:rPr>
              <a:t> System </a:t>
            </a:r>
            <a:r>
              <a:rPr lang="en-US" sz="1200" dirty="0" err="1">
                <a:solidFill>
                  <a:schemeClr val="bg1"/>
                </a:solidFill>
              </a:rPr>
              <a:t>durch</a:t>
            </a:r>
            <a:r>
              <a:rPr lang="en-US" sz="1200" dirty="0">
                <a:solidFill>
                  <a:schemeClr val="bg1"/>
                </a:solidFill>
              </a:rPr>
              <a:t> </a:t>
            </a:r>
            <a:r>
              <a:rPr lang="en-US" sz="1200" dirty="0" err="1">
                <a:solidFill>
                  <a:schemeClr val="bg1"/>
                </a:solidFill>
              </a:rPr>
              <a:t>konkrete</a:t>
            </a:r>
            <a:r>
              <a:rPr lang="en-US" sz="1200" dirty="0">
                <a:solidFill>
                  <a:schemeClr val="bg1"/>
                </a:solidFill>
              </a:rPr>
              <a:t> </a:t>
            </a:r>
            <a:r>
              <a:rPr lang="en-US" sz="1200" dirty="0" err="1">
                <a:solidFill>
                  <a:schemeClr val="bg1"/>
                </a:solidFill>
              </a:rPr>
              <a:t>Anwendungsfälle</a:t>
            </a:r>
            <a:r>
              <a:rPr lang="en-US" sz="1200" dirty="0">
                <a:solidFill>
                  <a:schemeClr val="bg1"/>
                </a:solidFill>
              </a:rPr>
              <a:t> auf </a:t>
            </a:r>
            <a:r>
              <a:rPr lang="en-US" sz="1200" dirty="0" err="1">
                <a:solidFill>
                  <a:schemeClr val="bg1"/>
                </a:solidFill>
              </a:rPr>
              <a:t>Plausubilität</a:t>
            </a:r>
            <a:r>
              <a:rPr lang="en-US" sz="1200" dirty="0">
                <a:solidFill>
                  <a:schemeClr val="bg1"/>
                </a:solidFill>
              </a:rPr>
              <a:t> und </a:t>
            </a:r>
            <a:r>
              <a:rPr lang="en-US" sz="1200" dirty="0" err="1">
                <a:solidFill>
                  <a:schemeClr val="bg1"/>
                </a:solidFill>
              </a:rPr>
              <a:t>Korrektheit</a:t>
            </a:r>
            <a:r>
              <a:rPr lang="en-US" sz="1200" dirty="0">
                <a:solidFill>
                  <a:schemeClr val="bg1"/>
                </a:solidFill>
              </a:rPr>
              <a:t> </a:t>
            </a:r>
            <a:r>
              <a:rPr lang="en-US" sz="1200" dirty="0" err="1">
                <a:solidFill>
                  <a:schemeClr val="bg1"/>
                </a:solidFill>
              </a:rPr>
              <a:t>geprüft</a:t>
            </a:r>
            <a:r>
              <a:rPr lang="en-US" sz="1200" dirty="0">
                <a:solidFill>
                  <a:schemeClr val="bg1"/>
                </a:solidFill>
              </a:rPr>
              <a:t>.</a:t>
            </a:r>
          </a:p>
        </p:txBody>
      </p:sp>
      <p:cxnSp>
        <p:nvCxnSpPr>
          <p:cNvPr id="30" name="Gerader Verbinder 29">
            <a:extLst>
              <a:ext uri="{FF2B5EF4-FFF2-40B4-BE49-F238E27FC236}">
                <a16:creationId xmlns:a16="http://schemas.microsoft.com/office/drawing/2014/main" id="{3A415D5E-62D2-443F-90E8-28ABA9626C86}"/>
              </a:ext>
            </a:extLst>
          </p:cNvPr>
          <p:cNvCxnSpPr/>
          <p:nvPr/>
        </p:nvCxnSpPr>
        <p:spPr>
          <a:xfrm>
            <a:off x="3798979" y="2583266"/>
            <a:ext cx="0" cy="3044203"/>
          </a:xfrm>
          <a:prstGeom prst="line">
            <a:avLst/>
          </a:prstGeom>
          <a:ln>
            <a:solidFill>
              <a:srgbClr val="C1C1C1"/>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E06F4F8C-0C4F-45F4-81A3-E0C66A9B75E7}"/>
              </a:ext>
            </a:extLst>
          </p:cNvPr>
          <p:cNvCxnSpPr/>
          <p:nvPr/>
        </p:nvCxnSpPr>
        <p:spPr>
          <a:xfrm>
            <a:off x="5646757" y="2583266"/>
            <a:ext cx="0" cy="3044203"/>
          </a:xfrm>
          <a:prstGeom prst="line">
            <a:avLst/>
          </a:prstGeom>
          <a:ln>
            <a:solidFill>
              <a:srgbClr val="C1C1C1"/>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290E797A-5F12-4A57-9505-D513FC846136}"/>
              </a:ext>
            </a:extLst>
          </p:cNvPr>
          <p:cNvCxnSpPr/>
          <p:nvPr/>
        </p:nvCxnSpPr>
        <p:spPr>
          <a:xfrm>
            <a:off x="7618895" y="2583266"/>
            <a:ext cx="0" cy="3044203"/>
          </a:xfrm>
          <a:prstGeom prst="line">
            <a:avLst/>
          </a:prstGeom>
          <a:ln>
            <a:solidFill>
              <a:srgbClr val="C1C1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05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t>Komplexität eines Informationssystems</a:t>
            </a:r>
          </a:p>
        </p:txBody>
      </p:sp>
      <p:pic>
        <p:nvPicPr>
          <p:cNvPr id="4" name="Grafik 3"/>
          <p:cNvPicPr>
            <a:picLocks noChangeAspect="1"/>
          </p:cNvPicPr>
          <p:nvPr/>
        </p:nvPicPr>
        <p:blipFill>
          <a:blip r:embed="rId2" cstate="print"/>
          <a:stretch>
            <a:fillRect/>
          </a:stretch>
        </p:blipFill>
        <p:spPr>
          <a:xfrm>
            <a:off x="2703538" y="1472100"/>
            <a:ext cx="5220758" cy="4300624"/>
          </a:xfrm>
          <a:prstGeom prst="rect">
            <a:avLst/>
          </a:prstGeom>
        </p:spPr>
      </p:pic>
      <p:sp>
        <p:nvSpPr>
          <p:cNvPr id="5" name="Textfeld 4">
            <a:extLst>
              <a:ext uri="{FF2B5EF4-FFF2-40B4-BE49-F238E27FC236}">
                <a16:creationId xmlns:a16="http://schemas.microsoft.com/office/drawing/2014/main" id="{5ED02D9C-F0FA-462B-91EA-C3FE75E7F5EF}"/>
              </a:ext>
            </a:extLst>
          </p:cNvPr>
          <p:cNvSpPr txBox="1"/>
          <p:nvPr/>
        </p:nvSpPr>
        <p:spPr>
          <a:xfrm>
            <a:off x="8624705" y="6087453"/>
            <a:ext cx="1840568" cy="307777"/>
          </a:xfrm>
          <a:prstGeom prst="rect">
            <a:avLst/>
          </a:prstGeom>
          <a:noFill/>
        </p:spPr>
        <p:txBody>
          <a:bodyPr wrap="none" rtlCol="0">
            <a:spAutoFit/>
          </a:bodyPr>
          <a:lstStyle/>
          <a:p>
            <a:r>
              <a:rPr lang="de-DE" sz="1400"/>
              <a:t>Quelle: Scheer (1997 )</a:t>
            </a:r>
          </a:p>
        </p:txBody>
      </p:sp>
    </p:spTree>
    <p:extLst>
      <p:ext uri="{BB962C8B-B14F-4D97-AF65-F5344CB8AC3E}">
        <p14:creationId xmlns:p14="http://schemas.microsoft.com/office/powerpoint/2010/main" val="543193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err="1"/>
              <a:t>Entwicklung</a:t>
            </a:r>
            <a:r>
              <a:rPr lang="en-US"/>
              <a:t> von </a:t>
            </a:r>
            <a:r>
              <a:rPr lang="en-US" err="1"/>
              <a:t>Informationssystemen</a:t>
            </a:r>
            <a:r>
              <a:rPr lang="en-US"/>
              <a:t>: Cost of Errors</a:t>
            </a:r>
          </a:p>
        </p:txBody>
      </p:sp>
      <p:sp>
        <p:nvSpPr>
          <p:cNvPr id="7" name="Rectangle 6"/>
          <p:cNvSpPr/>
          <p:nvPr/>
        </p:nvSpPr>
        <p:spPr bwMode="auto">
          <a:xfrm>
            <a:off x="2565401" y="1954203"/>
            <a:ext cx="6846277" cy="3374894"/>
          </a:xfrm>
          <a:prstGeom prst="rect">
            <a:avLst/>
          </a:prstGeom>
          <a:solidFill>
            <a:schemeClr val="tx2">
              <a:lumMod val="20000"/>
              <a:lumOff val="80000"/>
            </a:schemeClr>
          </a:solidFill>
          <a:ln>
            <a:solidFill>
              <a:schemeClr val="bg1">
                <a:lumMod val="50000"/>
              </a:schemeClr>
            </a:solidFill>
          </a:ln>
          <a:effectLst/>
        </p:spPr>
        <p:txBody>
          <a:bodyPr/>
          <a:lstStyle/>
          <a:p>
            <a:pPr>
              <a:defRPr/>
            </a:pPr>
            <a:endParaRPr lang="en-US" sz="1534"/>
          </a:p>
        </p:txBody>
      </p:sp>
      <p:cxnSp>
        <p:nvCxnSpPr>
          <p:cNvPr id="9" name="Straight Connector 8"/>
          <p:cNvCxnSpPr/>
          <p:nvPr/>
        </p:nvCxnSpPr>
        <p:spPr bwMode="auto">
          <a:xfrm rot="5400000" flipH="1" flipV="1">
            <a:off x="3806919" y="5420399"/>
            <a:ext cx="307054" cy="0"/>
          </a:xfrm>
          <a:prstGeom prst="line">
            <a:avLst/>
          </a:prstGeom>
          <a:noFill/>
          <a:ln>
            <a:solidFill>
              <a:schemeClr val="tx1">
                <a:lumMod val="65000"/>
                <a:lumOff val="35000"/>
              </a:schemeClr>
            </a:solidFill>
          </a:ln>
          <a:effectLst/>
        </p:spPr>
      </p:cxnSp>
      <p:cxnSp>
        <p:nvCxnSpPr>
          <p:cNvPr id="11" name="Straight Connector 10"/>
          <p:cNvCxnSpPr/>
          <p:nvPr/>
        </p:nvCxnSpPr>
        <p:spPr bwMode="auto">
          <a:xfrm rot="5400000" flipH="1" flipV="1">
            <a:off x="5867250" y="5420399"/>
            <a:ext cx="307054" cy="0"/>
          </a:xfrm>
          <a:prstGeom prst="line">
            <a:avLst/>
          </a:prstGeom>
          <a:noFill/>
          <a:ln>
            <a:solidFill>
              <a:schemeClr val="tx1">
                <a:lumMod val="65000"/>
                <a:lumOff val="35000"/>
              </a:schemeClr>
            </a:solidFill>
          </a:ln>
          <a:effectLst/>
        </p:spPr>
      </p:cxnSp>
      <p:cxnSp>
        <p:nvCxnSpPr>
          <p:cNvPr id="12" name="Straight Connector 11"/>
          <p:cNvCxnSpPr/>
          <p:nvPr/>
        </p:nvCxnSpPr>
        <p:spPr bwMode="auto">
          <a:xfrm rot="5400000" flipH="1" flipV="1">
            <a:off x="7795696" y="5420399"/>
            <a:ext cx="307054" cy="0"/>
          </a:xfrm>
          <a:prstGeom prst="line">
            <a:avLst/>
          </a:prstGeom>
          <a:noFill/>
          <a:ln>
            <a:solidFill>
              <a:schemeClr val="tx1">
                <a:lumMod val="65000"/>
                <a:lumOff val="35000"/>
              </a:schemeClr>
            </a:solidFill>
          </a:ln>
          <a:effectLst/>
        </p:spPr>
      </p:cxnSp>
      <p:sp>
        <p:nvSpPr>
          <p:cNvPr id="5131" name="TextBox 12"/>
          <p:cNvSpPr txBox="1">
            <a:spLocks noChangeArrowheads="1"/>
          </p:cNvSpPr>
          <p:nvPr/>
        </p:nvSpPr>
        <p:spPr bwMode="auto">
          <a:xfrm>
            <a:off x="2612296" y="5389965"/>
            <a:ext cx="809837"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err="1"/>
              <a:t>Analyse</a:t>
            </a:r>
            <a:endParaRPr lang="en-US" sz="1363"/>
          </a:p>
        </p:txBody>
      </p:sp>
      <p:sp>
        <p:nvSpPr>
          <p:cNvPr id="5132" name="TextBox 13"/>
          <p:cNvSpPr txBox="1">
            <a:spLocks noChangeArrowheads="1"/>
          </p:cNvSpPr>
          <p:nvPr/>
        </p:nvSpPr>
        <p:spPr bwMode="auto">
          <a:xfrm>
            <a:off x="4558325" y="5389965"/>
            <a:ext cx="731290"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Design</a:t>
            </a:r>
          </a:p>
        </p:txBody>
      </p:sp>
      <p:sp>
        <p:nvSpPr>
          <p:cNvPr id="5133" name="TextBox 14"/>
          <p:cNvSpPr txBox="1">
            <a:spLocks noChangeArrowheads="1"/>
          </p:cNvSpPr>
          <p:nvPr/>
        </p:nvSpPr>
        <p:spPr bwMode="auto">
          <a:xfrm>
            <a:off x="6284545" y="5389965"/>
            <a:ext cx="1382110"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Implementation</a:t>
            </a:r>
          </a:p>
        </p:txBody>
      </p:sp>
      <p:sp>
        <p:nvSpPr>
          <p:cNvPr id="5134" name="TextBox 15"/>
          <p:cNvSpPr txBox="1">
            <a:spLocks noChangeArrowheads="1"/>
          </p:cNvSpPr>
          <p:nvPr/>
        </p:nvSpPr>
        <p:spPr bwMode="auto">
          <a:xfrm>
            <a:off x="8081110" y="5389965"/>
            <a:ext cx="838691"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err="1"/>
              <a:t>Nutzung</a:t>
            </a:r>
            <a:endParaRPr lang="en-US" sz="1363"/>
          </a:p>
        </p:txBody>
      </p:sp>
      <p:cxnSp>
        <p:nvCxnSpPr>
          <p:cNvPr id="18" name="Straight Connector 17"/>
          <p:cNvCxnSpPr/>
          <p:nvPr/>
        </p:nvCxnSpPr>
        <p:spPr bwMode="auto">
          <a:xfrm>
            <a:off x="2389555" y="4591893"/>
            <a:ext cx="265235" cy="0"/>
          </a:xfrm>
          <a:prstGeom prst="line">
            <a:avLst/>
          </a:prstGeom>
          <a:noFill/>
          <a:ln>
            <a:solidFill>
              <a:schemeClr val="tx1">
                <a:lumMod val="50000"/>
                <a:lumOff val="50000"/>
              </a:schemeClr>
            </a:solidFill>
          </a:ln>
          <a:effectLst/>
        </p:spPr>
      </p:cxnSp>
      <p:cxnSp>
        <p:nvCxnSpPr>
          <p:cNvPr id="19" name="Straight Connector 18"/>
          <p:cNvCxnSpPr/>
          <p:nvPr/>
        </p:nvCxnSpPr>
        <p:spPr bwMode="auto">
          <a:xfrm>
            <a:off x="2389555" y="2813142"/>
            <a:ext cx="265235" cy="0"/>
          </a:xfrm>
          <a:prstGeom prst="line">
            <a:avLst/>
          </a:prstGeom>
          <a:noFill/>
          <a:ln>
            <a:solidFill>
              <a:schemeClr val="tx1">
                <a:lumMod val="50000"/>
                <a:lumOff val="50000"/>
              </a:schemeClr>
            </a:solidFill>
          </a:ln>
          <a:effectLst/>
        </p:spPr>
      </p:cxnSp>
      <p:cxnSp>
        <p:nvCxnSpPr>
          <p:cNvPr id="20" name="Straight Connector 19"/>
          <p:cNvCxnSpPr/>
          <p:nvPr/>
        </p:nvCxnSpPr>
        <p:spPr bwMode="auto">
          <a:xfrm>
            <a:off x="2389555" y="3703194"/>
            <a:ext cx="265235" cy="0"/>
          </a:xfrm>
          <a:prstGeom prst="line">
            <a:avLst/>
          </a:prstGeom>
          <a:noFill/>
          <a:ln>
            <a:solidFill>
              <a:schemeClr val="tx1">
                <a:lumMod val="50000"/>
                <a:lumOff val="50000"/>
              </a:schemeClr>
            </a:solidFill>
          </a:ln>
          <a:effectLst/>
        </p:spPr>
      </p:cxnSp>
      <p:sp>
        <p:nvSpPr>
          <p:cNvPr id="5138" name="TextBox 20"/>
          <p:cNvSpPr txBox="1">
            <a:spLocks noChangeArrowheads="1"/>
          </p:cNvSpPr>
          <p:nvPr/>
        </p:nvSpPr>
        <p:spPr bwMode="auto">
          <a:xfrm>
            <a:off x="2012951" y="5145134"/>
            <a:ext cx="380232"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$0</a:t>
            </a:r>
          </a:p>
        </p:txBody>
      </p:sp>
      <p:sp>
        <p:nvSpPr>
          <p:cNvPr id="5139" name="TextBox 21"/>
          <p:cNvSpPr txBox="1">
            <a:spLocks noChangeArrowheads="1"/>
          </p:cNvSpPr>
          <p:nvPr/>
        </p:nvSpPr>
        <p:spPr bwMode="auto">
          <a:xfrm>
            <a:off x="2004159" y="4394405"/>
            <a:ext cx="478016"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$50</a:t>
            </a:r>
          </a:p>
        </p:txBody>
      </p:sp>
      <p:sp>
        <p:nvSpPr>
          <p:cNvPr id="5140" name="TextBox 22"/>
          <p:cNvSpPr txBox="1">
            <a:spLocks noChangeArrowheads="1"/>
          </p:cNvSpPr>
          <p:nvPr/>
        </p:nvSpPr>
        <p:spPr bwMode="auto">
          <a:xfrm>
            <a:off x="1908911" y="3494886"/>
            <a:ext cx="575799"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$100</a:t>
            </a:r>
          </a:p>
        </p:txBody>
      </p:sp>
      <p:sp>
        <p:nvSpPr>
          <p:cNvPr id="5141" name="TextBox 23"/>
          <p:cNvSpPr txBox="1">
            <a:spLocks noChangeArrowheads="1"/>
          </p:cNvSpPr>
          <p:nvPr/>
        </p:nvSpPr>
        <p:spPr bwMode="auto">
          <a:xfrm>
            <a:off x="1908911" y="2619712"/>
            <a:ext cx="575799"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$150</a:t>
            </a:r>
          </a:p>
        </p:txBody>
      </p:sp>
      <p:sp>
        <p:nvSpPr>
          <p:cNvPr id="5142" name="TextBox 24"/>
          <p:cNvSpPr txBox="1">
            <a:spLocks noChangeArrowheads="1"/>
          </p:cNvSpPr>
          <p:nvPr/>
        </p:nvSpPr>
        <p:spPr bwMode="auto">
          <a:xfrm>
            <a:off x="1908911" y="1893334"/>
            <a:ext cx="575799"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a:t>$200</a:t>
            </a:r>
          </a:p>
        </p:txBody>
      </p:sp>
      <p:sp>
        <p:nvSpPr>
          <p:cNvPr id="5143" name="TextBox 25"/>
          <p:cNvSpPr txBox="1">
            <a:spLocks noChangeArrowheads="1"/>
          </p:cNvSpPr>
          <p:nvPr/>
        </p:nvSpPr>
        <p:spPr bwMode="auto">
          <a:xfrm rot="-5400000">
            <a:off x="1192829" y="3420241"/>
            <a:ext cx="787395" cy="51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b="1"/>
              <a:t>Cost of</a:t>
            </a:r>
          </a:p>
          <a:p>
            <a:r>
              <a:rPr lang="en-US" sz="1363" b="1"/>
              <a:t>Errors</a:t>
            </a:r>
            <a:endParaRPr lang="en-US" sz="1363"/>
          </a:p>
        </p:txBody>
      </p:sp>
      <p:sp>
        <p:nvSpPr>
          <p:cNvPr id="5144" name="TextBox 26"/>
          <p:cNvSpPr txBox="1">
            <a:spLocks noChangeArrowheads="1"/>
          </p:cNvSpPr>
          <p:nvPr/>
        </p:nvSpPr>
        <p:spPr bwMode="auto">
          <a:xfrm>
            <a:off x="5581162" y="5655087"/>
            <a:ext cx="702436"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en-US" sz="1363" b="1"/>
              <a:t>Phase</a:t>
            </a:r>
            <a:endParaRPr lang="en-US" sz="1363"/>
          </a:p>
        </p:txBody>
      </p:sp>
      <p:cxnSp>
        <p:nvCxnSpPr>
          <p:cNvPr id="29" name="Straight Connector 28"/>
          <p:cNvCxnSpPr/>
          <p:nvPr/>
        </p:nvCxnSpPr>
        <p:spPr bwMode="auto">
          <a:xfrm flipV="1">
            <a:off x="3029927" y="5145135"/>
            <a:ext cx="1727688" cy="121740"/>
          </a:xfrm>
          <a:prstGeom prst="line">
            <a:avLst/>
          </a:prstGeom>
          <a:noFill/>
          <a:ln w="57150">
            <a:solidFill>
              <a:schemeClr val="tx2">
                <a:lumMod val="75000"/>
              </a:schemeClr>
            </a:solidFill>
          </a:ln>
          <a:effectLst/>
        </p:spPr>
      </p:cxnSp>
      <p:cxnSp>
        <p:nvCxnSpPr>
          <p:cNvPr id="31" name="Straight Connector 30"/>
          <p:cNvCxnSpPr/>
          <p:nvPr/>
        </p:nvCxnSpPr>
        <p:spPr bwMode="auto">
          <a:xfrm flipV="1">
            <a:off x="4757615" y="4591894"/>
            <a:ext cx="1729154" cy="553240"/>
          </a:xfrm>
          <a:prstGeom prst="line">
            <a:avLst/>
          </a:prstGeom>
          <a:noFill/>
          <a:ln w="57150">
            <a:solidFill>
              <a:schemeClr val="tx2">
                <a:lumMod val="75000"/>
              </a:schemeClr>
            </a:solidFill>
          </a:ln>
          <a:effectLst/>
        </p:spPr>
      </p:cxnSp>
      <p:cxnSp>
        <p:nvCxnSpPr>
          <p:cNvPr id="36" name="Straight Connector 35"/>
          <p:cNvCxnSpPr/>
          <p:nvPr/>
        </p:nvCxnSpPr>
        <p:spPr bwMode="auto">
          <a:xfrm rot="5400000" flipH="1" flipV="1">
            <a:off x="6507005" y="2485854"/>
            <a:ext cx="2085806" cy="2126274"/>
          </a:xfrm>
          <a:prstGeom prst="line">
            <a:avLst/>
          </a:prstGeom>
          <a:noFill/>
          <a:ln w="57150">
            <a:solidFill>
              <a:schemeClr val="tx2">
                <a:lumMod val="75000"/>
              </a:schemeClr>
            </a:solidFill>
          </a:ln>
          <a:effectLst/>
        </p:spPr>
      </p:cxnSp>
      <p:sp>
        <p:nvSpPr>
          <p:cNvPr id="38" name="Rectangle 37"/>
          <p:cNvSpPr/>
          <p:nvPr/>
        </p:nvSpPr>
        <p:spPr bwMode="auto">
          <a:xfrm>
            <a:off x="4757617" y="5099144"/>
            <a:ext cx="67408" cy="62223"/>
          </a:xfrm>
          <a:prstGeom prst="rect">
            <a:avLst/>
          </a:prstGeom>
          <a:solidFill>
            <a:schemeClr val="bg1">
              <a:lumMod val="65000"/>
            </a:schemeClr>
          </a:solidFill>
          <a:ln>
            <a:solidFill>
              <a:schemeClr val="tx1">
                <a:lumMod val="50000"/>
                <a:lumOff val="50000"/>
              </a:schemeClr>
            </a:solidFill>
          </a:ln>
          <a:effectLst/>
        </p:spPr>
        <p:txBody>
          <a:bodyPr/>
          <a:lstStyle/>
          <a:p>
            <a:pPr>
              <a:defRPr/>
            </a:pPr>
            <a:endParaRPr lang="en-US" sz="1534"/>
          </a:p>
        </p:txBody>
      </p:sp>
      <p:sp>
        <p:nvSpPr>
          <p:cNvPr id="39" name="Rectangle 38"/>
          <p:cNvSpPr/>
          <p:nvPr/>
        </p:nvSpPr>
        <p:spPr bwMode="auto">
          <a:xfrm>
            <a:off x="6475047" y="4558079"/>
            <a:ext cx="67408" cy="62223"/>
          </a:xfrm>
          <a:prstGeom prst="rect">
            <a:avLst/>
          </a:prstGeom>
          <a:solidFill>
            <a:schemeClr val="bg1">
              <a:lumMod val="65000"/>
            </a:schemeClr>
          </a:solidFill>
          <a:ln>
            <a:solidFill>
              <a:schemeClr val="tx1">
                <a:lumMod val="50000"/>
                <a:lumOff val="50000"/>
              </a:schemeClr>
            </a:solidFill>
          </a:ln>
          <a:effectLst/>
        </p:spPr>
        <p:txBody>
          <a:bodyPr/>
          <a:lstStyle/>
          <a:p>
            <a:pPr>
              <a:defRPr/>
            </a:pPr>
            <a:endParaRPr lang="en-US" sz="1534"/>
          </a:p>
        </p:txBody>
      </p:sp>
      <p:sp>
        <p:nvSpPr>
          <p:cNvPr id="40" name="Rectangle 39"/>
          <p:cNvSpPr/>
          <p:nvPr/>
        </p:nvSpPr>
        <p:spPr bwMode="auto">
          <a:xfrm>
            <a:off x="2993294" y="5245231"/>
            <a:ext cx="67408" cy="62223"/>
          </a:xfrm>
          <a:prstGeom prst="rect">
            <a:avLst/>
          </a:prstGeom>
          <a:solidFill>
            <a:schemeClr val="bg1">
              <a:lumMod val="65000"/>
            </a:schemeClr>
          </a:solidFill>
          <a:ln>
            <a:solidFill>
              <a:schemeClr val="tx1">
                <a:lumMod val="50000"/>
                <a:lumOff val="50000"/>
              </a:schemeClr>
            </a:solidFill>
          </a:ln>
          <a:effectLst/>
        </p:spPr>
        <p:txBody>
          <a:bodyPr/>
          <a:lstStyle/>
          <a:p>
            <a:pPr>
              <a:defRPr/>
            </a:pPr>
            <a:endParaRPr lang="en-US" sz="1534"/>
          </a:p>
        </p:txBody>
      </p:sp>
      <p:sp>
        <p:nvSpPr>
          <p:cNvPr id="41" name="Rectangle 40"/>
          <p:cNvSpPr/>
          <p:nvPr/>
        </p:nvSpPr>
        <p:spPr bwMode="auto">
          <a:xfrm>
            <a:off x="8561756" y="2496621"/>
            <a:ext cx="67408" cy="62223"/>
          </a:xfrm>
          <a:prstGeom prst="rect">
            <a:avLst/>
          </a:prstGeom>
          <a:solidFill>
            <a:schemeClr val="bg1">
              <a:lumMod val="65000"/>
            </a:schemeClr>
          </a:solidFill>
          <a:ln>
            <a:solidFill>
              <a:schemeClr val="tx1">
                <a:lumMod val="50000"/>
                <a:lumOff val="50000"/>
              </a:schemeClr>
            </a:solidFill>
          </a:ln>
          <a:effectLst/>
        </p:spPr>
        <p:txBody>
          <a:bodyPr/>
          <a:lstStyle/>
          <a:p>
            <a:pPr>
              <a:defRPr/>
            </a:pPr>
            <a:endParaRPr lang="en-US" sz="1534"/>
          </a:p>
        </p:txBody>
      </p:sp>
      <p:sp>
        <p:nvSpPr>
          <p:cNvPr id="5152" name="TextBox 41"/>
          <p:cNvSpPr txBox="1">
            <a:spLocks noChangeArrowheads="1"/>
          </p:cNvSpPr>
          <p:nvPr/>
        </p:nvSpPr>
        <p:spPr bwMode="auto">
          <a:xfrm>
            <a:off x="2949331" y="5008514"/>
            <a:ext cx="282450"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de-DE" sz="1363"/>
              <a:t>1</a:t>
            </a:r>
            <a:endParaRPr lang="en-US" sz="1363"/>
          </a:p>
        </p:txBody>
      </p:sp>
      <p:sp>
        <p:nvSpPr>
          <p:cNvPr id="5153" name="TextBox 42"/>
          <p:cNvSpPr txBox="1">
            <a:spLocks noChangeArrowheads="1"/>
          </p:cNvSpPr>
          <p:nvPr/>
        </p:nvSpPr>
        <p:spPr bwMode="auto">
          <a:xfrm>
            <a:off x="4489451" y="4858370"/>
            <a:ext cx="428322"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de-DE" sz="1363"/>
              <a:t>3,5</a:t>
            </a:r>
            <a:endParaRPr lang="en-US" sz="1363"/>
          </a:p>
        </p:txBody>
      </p:sp>
      <p:sp>
        <p:nvSpPr>
          <p:cNvPr id="5154" name="TextBox 43"/>
          <p:cNvSpPr txBox="1">
            <a:spLocks noChangeArrowheads="1"/>
          </p:cNvSpPr>
          <p:nvPr/>
        </p:nvSpPr>
        <p:spPr bwMode="auto">
          <a:xfrm>
            <a:off x="6170246" y="4370058"/>
            <a:ext cx="380232"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de-DE" sz="1363"/>
              <a:t>50</a:t>
            </a:r>
            <a:endParaRPr lang="en-US" sz="1363"/>
          </a:p>
        </p:txBody>
      </p:sp>
      <p:sp>
        <p:nvSpPr>
          <p:cNvPr id="5155" name="TextBox 44"/>
          <p:cNvSpPr txBox="1">
            <a:spLocks noChangeArrowheads="1"/>
          </p:cNvSpPr>
          <p:nvPr/>
        </p:nvSpPr>
        <p:spPr bwMode="auto">
          <a:xfrm>
            <a:off x="8095762" y="2308599"/>
            <a:ext cx="478016" cy="30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r>
              <a:rPr lang="de-DE" sz="1363"/>
              <a:t>170</a:t>
            </a:r>
            <a:endParaRPr lang="en-US" sz="1363"/>
          </a:p>
        </p:txBody>
      </p:sp>
      <p:sp>
        <p:nvSpPr>
          <p:cNvPr id="34" name="Textfeld 33"/>
          <p:cNvSpPr txBox="1"/>
          <p:nvPr/>
        </p:nvSpPr>
        <p:spPr>
          <a:xfrm>
            <a:off x="7682662" y="6043880"/>
            <a:ext cx="1959191" cy="262829"/>
          </a:xfrm>
          <a:prstGeom prst="rect">
            <a:avLst/>
          </a:prstGeom>
          <a:noFill/>
        </p:spPr>
        <p:txBody>
          <a:bodyPr wrap="none" rtlCol="0">
            <a:spAutoFit/>
          </a:bodyPr>
          <a:lstStyle/>
          <a:p>
            <a:r>
              <a:rPr lang="de-DE" sz="1108"/>
              <a:t>Quelle: Moody/</a:t>
            </a:r>
            <a:r>
              <a:rPr lang="de-DE" sz="1108" err="1"/>
              <a:t>Shanks</a:t>
            </a:r>
            <a:r>
              <a:rPr lang="de-DE" sz="1108"/>
              <a:t> (2003)</a:t>
            </a:r>
          </a:p>
        </p:txBody>
      </p:sp>
    </p:spTree>
    <p:extLst>
      <p:ext uri="{BB962C8B-B14F-4D97-AF65-F5344CB8AC3E}">
        <p14:creationId xmlns:p14="http://schemas.microsoft.com/office/powerpoint/2010/main" val="2165373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C5B0-9A18-652A-F799-E02571794B2C}"/>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9E60C819-A817-F0D7-3F81-4DAA1219253B}"/>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55769868-4328-DB25-617D-012656FC6540}"/>
              </a:ext>
            </a:extLst>
          </p:cNvPr>
          <p:cNvSpPr>
            <a:spLocks noGrp="1"/>
          </p:cNvSpPr>
          <p:nvPr>
            <p:ph type="body" sz="half" idx="2"/>
          </p:nvPr>
        </p:nvSpPr>
        <p:spPr>
          <a:xfrm>
            <a:off x="251998" y="2255216"/>
            <a:ext cx="10846308" cy="599993"/>
          </a:xfrm>
          <a:solidFill>
            <a:srgbClr val="FF9600"/>
          </a:solidFill>
        </p:spPr>
        <p:txBody>
          <a:bodyPr/>
          <a:lstStyle/>
          <a:p>
            <a:r>
              <a:rPr lang="de-DE" sz="2400" b="1" dirty="0"/>
              <a:t>Informationsmodelle und Modellierungssprachen</a:t>
            </a:r>
          </a:p>
        </p:txBody>
      </p:sp>
      <p:sp>
        <p:nvSpPr>
          <p:cNvPr id="13" name="Textplatzhalter 12">
            <a:extLst>
              <a:ext uri="{FF2B5EF4-FFF2-40B4-BE49-F238E27FC236}">
                <a16:creationId xmlns:a16="http://schemas.microsoft.com/office/drawing/2014/main" id="{C800A5E9-0917-5B33-6CBA-7D77CB204446}"/>
              </a:ext>
            </a:extLst>
          </p:cNvPr>
          <p:cNvSpPr>
            <a:spLocks noGrp="1"/>
          </p:cNvSpPr>
          <p:nvPr>
            <p:ph type="body" sz="half" idx="13"/>
          </p:nvPr>
        </p:nvSpPr>
        <p:spPr>
          <a:xfrm>
            <a:off x="251998" y="2964220"/>
            <a:ext cx="10846308" cy="599993"/>
          </a:xfrm>
          <a:solidFill>
            <a:srgbClr val="254061"/>
          </a:solidFill>
        </p:spPr>
        <p:txBody>
          <a:bodyPr/>
          <a:lstStyle/>
          <a:p>
            <a:r>
              <a:rPr lang="de-DE" sz="2400" b="1" dirty="0"/>
              <a:t>Einordnung in ARIS</a:t>
            </a:r>
          </a:p>
        </p:txBody>
      </p:sp>
      <p:sp>
        <p:nvSpPr>
          <p:cNvPr id="14" name="Textplatzhalter 13">
            <a:extLst>
              <a:ext uri="{FF2B5EF4-FFF2-40B4-BE49-F238E27FC236}">
                <a16:creationId xmlns:a16="http://schemas.microsoft.com/office/drawing/2014/main" id="{97A005AF-E66B-25E3-F152-D4503C4835A5}"/>
              </a:ext>
            </a:extLst>
          </p:cNvPr>
          <p:cNvSpPr>
            <a:spLocks noGrp="1"/>
          </p:cNvSpPr>
          <p:nvPr>
            <p:ph type="body" sz="half" idx="14"/>
          </p:nvPr>
        </p:nvSpPr>
        <p:spPr>
          <a:xfrm>
            <a:off x="251998" y="3673224"/>
            <a:ext cx="10846308" cy="599993"/>
          </a:xfrm>
          <a:solidFill>
            <a:srgbClr val="254061"/>
          </a:solidFill>
        </p:spPr>
        <p:txBody>
          <a:bodyPr/>
          <a:lstStyle/>
          <a:p>
            <a:r>
              <a:rPr lang="de-DE" sz="2400" b="1" dirty="0"/>
              <a:t>Wesentliche Merkmale von Informationsmodelle</a:t>
            </a:r>
          </a:p>
        </p:txBody>
      </p:sp>
      <p:sp>
        <p:nvSpPr>
          <p:cNvPr id="16" name="Textplatzhalter 15">
            <a:extLst>
              <a:ext uri="{FF2B5EF4-FFF2-40B4-BE49-F238E27FC236}">
                <a16:creationId xmlns:a16="http://schemas.microsoft.com/office/drawing/2014/main" id="{0B9F2A93-5524-6765-C45E-CE2B5A5EBE9C}"/>
              </a:ext>
            </a:extLst>
          </p:cNvPr>
          <p:cNvSpPr>
            <a:spLocks noGrp="1"/>
          </p:cNvSpPr>
          <p:nvPr>
            <p:ph type="body" sz="half" idx="16"/>
          </p:nvPr>
        </p:nvSpPr>
        <p:spPr>
          <a:xfrm>
            <a:off x="251998" y="1546212"/>
            <a:ext cx="10846308" cy="599993"/>
          </a:xfrm>
          <a:solidFill>
            <a:srgbClr val="254061"/>
          </a:solidFill>
        </p:spPr>
        <p:txBody>
          <a:bodyPr/>
          <a:lstStyle/>
          <a:p>
            <a:r>
              <a:rPr lang="de-DE" sz="2400" b="1" dirty="0"/>
              <a:t>Informationssysteme und ihre Komplexität</a:t>
            </a:r>
          </a:p>
        </p:txBody>
      </p:sp>
      <p:sp>
        <p:nvSpPr>
          <p:cNvPr id="17" name="Textplatzhalter 16">
            <a:extLst>
              <a:ext uri="{FF2B5EF4-FFF2-40B4-BE49-F238E27FC236}">
                <a16:creationId xmlns:a16="http://schemas.microsoft.com/office/drawing/2014/main" id="{4B97CF64-E203-2D43-02BB-24D2831DD326}"/>
              </a:ext>
            </a:extLst>
          </p:cNvPr>
          <p:cNvSpPr>
            <a:spLocks noGrp="1"/>
          </p:cNvSpPr>
          <p:nvPr>
            <p:ph type="body" sz="half" idx="17"/>
          </p:nvPr>
        </p:nvSpPr>
        <p:spPr>
          <a:xfrm>
            <a:off x="251998" y="4382228"/>
            <a:ext cx="10846308" cy="599993"/>
          </a:xfrm>
          <a:solidFill>
            <a:srgbClr val="254061"/>
          </a:solidFill>
        </p:spPr>
        <p:txBody>
          <a:bodyPr/>
          <a:lstStyle/>
          <a:p>
            <a:r>
              <a:rPr lang="de-DE" sz="2400" b="1" dirty="0"/>
              <a:t>Methoden-Engineering &amp; Methodenhandbuch</a:t>
            </a:r>
          </a:p>
        </p:txBody>
      </p:sp>
    </p:spTree>
    <p:extLst>
      <p:ext uri="{BB962C8B-B14F-4D97-AF65-F5344CB8AC3E}">
        <p14:creationId xmlns:p14="http://schemas.microsoft.com/office/powerpoint/2010/main" val="2445482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Begriff „Modell “</a:t>
            </a:r>
          </a:p>
        </p:txBody>
      </p:sp>
      <p:sp>
        <p:nvSpPr>
          <p:cNvPr id="2" name="Inhaltsplatzhalter 1"/>
          <p:cNvSpPr>
            <a:spLocks noGrp="1"/>
          </p:cNvSpPr>
          <p:nvPr>
            <p:ph idx="4294967295"/>
          </p:nvPr>
        </p:nvSpPr>
        <p:spPr>
          <a:xfrm>
            <a:off x="251999" y="1146175"/>
            <a:ext cx="10692226" cy="5162550"/>
          </a:xfrm>
        </p:spPr>
        <p:txBody>
          <a:bodyPr/>
          <a:lstStyle/>
          <a:p>
            <a:r>
              <a:rPr lang="de-DE" sz="1600" b="1" dirty="0">
                <a:latin typeface="+mj-lt"/>
              </a:rPr>
              <a:t>„Modell</a:t>
            </a:r>
            <a:r>
              <a:rPr lang="de-DE" sz="1600" b="1" dirty="0"/>
              <a:t>“ im allgemeinen Sprachgebrauch:</a:t>
            </a:r>
          </a:p>
          <a:p>
            <a:pPr lvl="1"/>
            <a:r>
              <a:rPr lang="de-DE" sz="1600" dirty="0"/>
              <a:t>Form</a:t>
            </a:r>
          </a:p>
          <a:p>
            <a:pPr lvl="1"/>
            <a:r>
              <a:rPr lang="de-DE" sz="1600" dirty="0"/>
              <a:t>Vorbild</a:t>
            </a:r>
          </a:p>
          <a:p>
            <a:pPr lvl="1"/>
            <a:r>
              <a:rPr lang="de-DE" sz="1600" dirty="0"/>
              <a:t>Entwurf</a:t>
            </a:r>
            <a:br>
              <a:rPr lang="de-DE" sz="1600" dirty="0"/>
            </a:br>
            <a:endParaRPr lang="de-DE" sz="1600" dirty="0"/>
          </a:p>
          <a:p>
            <a:r>
              <a:rPr lang="de-DE" sz="1600" dirty="0"/>
              <a:t>Der Begriff wurde über die </a:t>
            </a:r>
            <a:r>
              <a:rPr lang="de-DE" sz="1600" b="1" dirty="0">
                <a:solidFill>
                  <a:srgbClr val="FF9600"/>
                </a:solidFill>
              </a:rPr>
              <a:t>Architektur und das Bauwesen</a:t>
            </a:r>
            <a:r>
              <a:rPr lang="de-DE" sz="1600" dirty="0"/>
              <a:t> in die deutsche Sprache eingeführt. </a:t>
            </a:r>
            <a:br>
              <a:rPr lang="de-DE" sz="1600" dirty="0"/>
            </a:br>
            <a:endParaRPr lang="de-DE" sz="1600" dirty="0"/>
          </a:p>
          <a:p>
            <a:r>
              <a:rPr lang="de-DE" sz="1600" b="1" dirty="0"/>
              <a:t>„Modellbegriffe“ der Wirtschaftsinformatik</a:t>
            </a:r>
          </a:p>
          <a:p>
            <a:pPr lvl="1"/>
            <a:r>
              <a:rPr lang="de-DE" sz="1600" dirty="0"/>
              <a:t>Ein Modell ist das Ergebnis der </a:t>
            </a:r>
            <a:r>
              <a:rPr lang="de-DE" sz="1600" b="1" dirty="0"/>
              <a:t>gedanklichen Konstruktion </a:t>
            </a:r>
            <a:r>
              <a:rPr lang="de-DE" sz="1600" dirty="0"/>
              <a:t>eines Modellierers, der eine Informationssystem beschreibt. </a:t>
            </a:r>
          </a:p>
          <a:p>
            <a:pPr marL="0" indent="0">
              <a:buNone/>
            </a:pPr>
            <a:endParaRPr lang="de-DE" sz="1600" dirty="0"/>
          </a:p>
          <a:p>
            <a:r>
              <a:rPr lang="de-DE" sz="1600" dirty="0"/>
              <a:t>Ein Modell setzt sich somit aus der </a:t>
            </a:r>
            <a:r>
              <a:rPr lang="de-DE" sz="1600" b="1" dirty="0"/>
              <a:t>Konstruktion des Modellierers, einem Original und einer Modellierungssprache </a:t>
            </a:r>
            <a:r>
              <a:rPr lang="de-DE" sz="1600" dirty="0"/>
              <a:t>zusammen. </a:t>
            </a:r>
          </a:p>
          <a:p>
            <a:endParaRPr lang="de-DE" sz="1600" dirty="0"/>
          </a:p>
        </p:txBody>
      </p:sp>
    </p:spTree>
    <p:extLst>
      <p:ext uri="{BB962C8B-B14F-4D97-AF65-F5344CB8AC3E}">
        <p14:creationId xmlns:p14="http://schemas.microsoft.com/office/powerpoint/2010/main" val="1906081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p:cNvSpPr/>
          <p:nvPr/>
        </p:nvSpPr>
        <p:spPr>
          <a:xfrm>
            <a:off x="1869718" y="1556892"/>
            <a:ext cx="8483680" cy="42177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62"/>
          </a:p>
        </p:txBody>
      </p:sp>
      <p:sp>
        <p:nvSpPr>
          <p:cNvPr id="3" name="Titel 2"/>
          <p:cNvSpPr>
            <a:spLocks noGrp="1"/>
          </p:cNvSpPr>
          <p:nvPr>
            <p:ph type="title"/>
          </p:nvPr>
        </p:nvSpPr>
        <p:spPr/>
        <p:txBody>
          <a:bodyPr/>
          <a:lstStyle/>
          <a:p>
            <a:r>
              <a:rPr lang="de-DE"/>
              <a:t>Modelle als individuelle Konstruktionsleistung</a:t>
            </a:r>
          </a:p>
        </p:txBody>
      </p:sp>
      <p:sp>
        <p:nvSpPr>
          <p:cNvPr id="6" name="Rectangle 4"/>
          <p:cNvSpPr>
            <a:spLocks noChangeArrowheads="1"/>
          </p:cNvSpPr>
          <p:nvPr/>
        </p:nvSpPr>
        <p:spPr bwMode="auto">
          <a:xfrm>
            <a:off x="1991543" y="1505327"/>
            <a:ext cx="14027996"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4406" tIns="42203" rIns="84406" bIns="42203" numCol="1" anchor="ctr" anchorCtr="0" compatLnSpc="1">
            <a:prstTxWarp prst="textNoShape">
              <a:avLst/>
            </a:prstTxWarp>
            <a:spAutoFit/>
          </a:bodyPr>
          <a:lstStyle/>
          <a:p>
            <a:endParaRPr lang="de-DE" sz="1662"/>
          </a:p>
        </p:txBody>
      </p:sp>
      <p:graphicFrame>
        <p:nvGraphicFramePr>
          <p:cNvPr id="7" name="Objekt 6"/>
          <p:cNvGraphicFramePr>
            <a:graphicFrameLocks noChangeAspect="1"/>
          </p:cNvGraphicFramePr>
          <p:nvPr/>
        </p:nvGraphicFramePr>
        <p:xfrm>
          <a:off x="2455766" y="1696930"/>
          <a:ext cx="6669066" cy="3642450"/>
        </p:xfrm>
        <a:graphic>
          <a:graphicData uri="http://schemas.openxmlformats.org/presentationml/2006/ole">
            <mc:AlternateContent xmlns:mc="http://schemas.openxmlformats.org/markup-compatibility/2006">
              <mc:Choice xmlns:v="urn:schemas-microsoft-com:vml" Requires="v">
                <p:oleObj r:id="rId2" imgW="5086807" imgH="2777642" progId="Visio.Drawing.11">
                  <p:embed/>
                </p:oleObj>
              </mc:Choice>
              <mc:Fallback>
                <p:oleObj r:id="rId2" imgW="5086807" imgH="2777642" progId="Visio.Drawing.11">
                  <p:embed/>
                  <p:pic>
                    <p:nvPicPr>
                      <p:cNvPr id="7" name="Objek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5766" y="1696930"/>
                        <a:ext cx="6669066" cy="3642450"/>
                      </a:xfrm>
                      <a:prstGeom prst="rect">
                        <a:avLst/>
                      </a:prstGeom>
                      <a:noFill/>
                    </p:spPr>
                  </p:pic>
                </p:oleObj>
              </mc:Fallback>
            </mc:AlternateContent>
          </a:graphicData>
        </a:graphic>
      </p:graphicFrame>
      <p:sp>
        <p:nvSpPr>
          <p:cNvPr id="8" name="Textfeld 7"/>
          <p:cNvSpPr txBox="1"/>
          <p:nvPr/>
        </p:nvSpPr>
        <p:spPr>
          <a:xfrm>
            <a:off x="1962812" y="5405267"/>
            <a:ext cx="7415813" cy="376385"/>
          </a:xfrm>
          <a:prstGeom prst="rect">
            <a:avLst/>
          </a:prstGeom>
          <a:noFill/>
        </p:spPr>
        <p:txBody>
          <a:bodyPr wrap="none" rtlCol="0">
            <a:spAutoFit/>
          </a:bodyPr>
          <a:lstStyle/>
          <a:p>
            <a:r>
              <a:rPr lang="de-DE" sz="923"/>
              <a:t>S</a:t>
            </a:r>
            <a:r>
              <a:rPr lang="de-DE" sz="923" cap="small"/>
              <a:t>chütte, </a:t>
            </a:r>
            <a:r>
              <a:rPr lang="de-DE" sz="923"/>
              <a:t>R</a:t>
            </a:r>
            <a:r>
              <a:rPr lang="de-DE" sz="923" cap="small"/>
              <a:t>.</a:t>
            </a:r>
            <a:r>
              <a:rPr lang="de-DE" sz="923"/>
              <a:t>: Grundsätze ordnungsmäßiger Referenzmodellierung: Konstruktion konfigurations- und anpassungsorientierter Modelle, Dissertation, </a:t>
            </a:r>
          </a:p>
          <a:p>
            <a:r>
              <a:rPr lang="de-DE" sz="923"/>
              <a:t>Westfälische Wilhelms-Universität Münster, Institut für Wirtschaftsinformatik, Gabler-Verlag, </a:t>
            </a:r>
            <a:r>
              <a:rPr lang="de-DE" sz="923" err="1"/>
              <a:t>Wiesbader</a:t>
            </a:r>
            <a:r>
              <a:rPr lang="de-DE" sz="923"/>
              <a:t> 1998, S. 61.</a:t>
            </a:r>
          </a:p>
        </p:txBody>
      </p:sp>
    </p:spTree>
    <p:extLst>
      <p:ext uri="{BB962C8B-B14F-4D97-AF65-F5344CB8AC3E}">
        <p14:creationId xmlns:p14="http://schemas.microsoft.com/office/powerpoint/2010/main" val="3334626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Betriff „Informationsmodell“</a:t>
            </a:r>
          </a:p>
        </p:txBody>
      </p:sp>
      <p:sp>
        <p:nvSpPr>
          <p:cNvPr id="2" name="Inhaltsplatzhalter 1"/>
          <p:cNvSpPr>
            <a:spLocks noGrp="1"/>
          </p:cNvSpPr>
          <p:nvPr>
            <p:ph idx="4294967295"/>
          </p:nvPr>
        </p:nvSpPr>
        <p:spPr>
          <a:xfrm>
            <a:off x="251999" y="1146175"/>
            <a:ext cx="10692226" cy="5162550"/>
          </a:xfrm>
        </p:spPr>
        <p:txBody>
          <a:bodyPr/>
          <a:lstStyle/>
          <a:p>
            <a:endParaRPr lang="de-DE" sz="1800" dirty="0"/>
          </a:p>
          <a:p>
            <a:r>
              <a:rPr lang="de-DE" sz="1800" dirty="0"/>
              <a:t>Zur </a:t>
            </a:r>
            <a:r>
              <a:rPr lang="de-DE" sz="1800" dirty="0">
                <a:solidFill>
                  <a:srgbClr val="254061"/>
                </a:solidFill>
              </a:rPr>
              <a:t>Beschreibung der Strukturen und Beziehungen eines Informationssystems kommen im Rahmen der Wirtschaftsinformatik Informationssystemmodelle (kurz „</a:t>
            </a:r>
            <a:r>
              <a:rPr lang="de-DE" sz="1800" b="1" dirty="0">
                <a:solidFill>
                  <a:srgbClr val="FF9600"/>
                </a:solidFill>
              </a:rPr>
              <a:t>Informationsmodelle</a:t>
            </a:r>
            <a:r>
              <a:rPr lang="de-DE" sz="1800" dirty="0">
                <a:solidFill>
                  <a:srgbClr val="254061"/>
                </a:solidFill>
              </a:rPr>
              <a:t>“) zum Einsatz.</a:t>
            </a:r>
            <a:br>
              <a:rPr lang="de-DE" sz="1800" dirty="0">
                <a:solidFill>
                  <a:srgbClr val="254061"/>
                </a:solidFill>
              </a:rPr>
            </a:br>
            <a:endParaRPr lang="de-DE" sz="1800" dirty="0">
              <a:solidFill>
                <a:srgbClr val="254061"/>
              </a:solidFill>
            </a:endParaRPr>
          </a:p>
          <a:p>
            <a:r>
              <a:rPr lang="de-DE" sz="1800" dirty="0">
                <a:solidFill>
                  <a:srgbClr val="254061"/>
                </a:solidFill>
              </a:rPr>
              <a:t>Hohe Komplexität der Beschreibung von </a:t>
            </a:r>
            <a:r>
              <a:rPr lang="de-DE" sz="1800" b="1" dirty="0">
                <a:solidFill>
                  <a:srgbClr val="FF9600"/>
                </a:solidFill>
              </a:rPr>
              <a:t>Informationssystemen</a:t>
            </a:r>
          </a:p>
          <a:p>
            <a:pPr lvl="2">
              <a:buFontTx/>
              <a:buChar char="•"/>
            </a:pPr>
            <a:r>
              <a:rPr lang="de-DE" sz="1800" dirty="0"/>
              <a:t>Technische Komponenten, eingesetzte Hard- und Software</a:t>
            </a:r>
          </a:p>
          <a:p>
            <a:pPr lvl="2">
              <a:buFontTx/>
              <a:buChar char="•"/>
            </a:pPr>
            <a:r>
              <a:rPr lang="de-DE" sz="1800" dirty="0"/>
              <a:t> Beteiligte Menschen, Organisationen, Prozesse, Ziele</a:t>
            </a:r>
          </a:p>
          <a:p>
            <a:pPr lvl="2">
              <a:buFontTx/>
              <a:buChar char="•"/>
            </a:pPr>
            <a:r>
              <a:rPr lang="de-DE" sz="1800" dirty="0"/>
              <a:t> Interaktion der Komponenten</a:t>
            </a:r>
            <a:endParaRPr lang="de-DE" sz="2400" b="1" dirty="0">
              <a:solidFill>
                <a:srgbClr val="254061"/>
              </a:solidFill>
            </a:endParaRPr>
          </a:p>
          <a:p>
            <a:endParaRPr lang="de-DE" sz="1800" dirty="0">
              <a:solidFill>
                <a:srgbClr val="254061"/>
              </a:solidFill>
            </a:endParaRPr>
          </a:p>
          <a:p>
            <a:r>
              <a:rPr lang="de-DE" sz="1800" dirty="0">
                <a:solidFill>
                  <a:srgbClr val="254061"/>
                </a:solidFill>
              </a:rPr>
              <a:t> </a:t>
            </a:r>
            <a:r>
              <a:rPr lang="de-DE" sz="1800" b="1" dirty="0">
                <a:solidFill>
                  <a:srgbClr val="254061"/>
                </a:solidFill>
              </a:rPr>
              <a:t>Informationsmodelle </a:t>
            </a:r>
            <a:r>
              <a:rPr lang="de-DE" sz="1800" dirty="0">
                <a:solidFill>
                  <a:srgbClr val="254061"/>
                </a:solidFill>
              </a:rPr>
              <a:t>als</a:t>
            </a:r>
            <a:r>
              <a:rPr lang="de-DE" sz="1800" b="1" dirty="0">
                <a:solidFill>
                  <a:srgbClr val="254061"/>
                </a:solidFill>
              </a:rPr>
              <a:t> </a:t>
            </a:r>
            <a:r>
              <a:rPr lang="de-DE" sz="1800" b="1" dirty="0">
                <a:solidFill>
                  <a:srgbClr val="FF9600"/>
                </a:solidFill>
              </a:rPr>
              <a:t>Oberbegriff</a:t>
            </a:r>
            <a:r>
              <a:rPr lang="de-DE" sz="1800" dirty="0">
                <a:solidFill>
                  <a:srgbClr val="254061"/>
                </a:solidFill>
              </a:rPr>
              <a:t> für alle Modellarten der Wirtschaftsinformatik</a:t>
            </a:r>
          </a:p>
          <a:p>
            <a:pPr lvl="1"/>
            <a:r>
              <a:rPr lang="de-DE" sz="1400" dirty="0">
                <a:solidFill>
                  <a:srgbClr val="254061"/>
                </a:solidFill>
              </a:rPr>
              <a:t>Prozessmodell</a:t>
            </a:r>
          </a:p>
          <a:p>
            <a:pPr lvl="1"/>
            <a:r>
              <a:rPr lang="de-DE" sz="1400" dirty="0">
                <a:solidFill>
                  <a:srgbClr val="254061"/>
                </a:solidFill>
              </a:rPr>
              <a:t>Datenmodell</a:t>
            </a:r>
          </a:p>
          <a:p>
            <a:pPr lvl="1"/>
            <a:r>
              <a:rPr lang="de-DE" sz="1400" dirty="0">
                <a:solidFill>
                  <a:srgbClr val="254061"/>
                </a:solidFill>
              </a:rPr>
              <a:t>Organisationsmodelle </a:t>
            </a:r>
          </a:p>
          <a:p>
            <a:pPr lvl="1"/>
            <a:r>
              <a:rPr lang="de-DE" sz="1400" dirty="0">
                <a:solidFill>
                  <a:srgbClr val="254061"/>
                </a:solidFill>
              </a:rPr>
              <a:t>Softwaremodell</a:t>
            </a:r>
          </a:p>
          <a:p>
            <a:pPr marL="0" indent="0">
              <a:buNone/>
            </a:pPr>
            <a:endParaRPr lang="de-DE" sz="2000" dirty="0"/>
          </a:p>
          <a:p>
            <a:pPr marL="0" indent="0">
              <a:buNone/>
            </a:pPr>
            <a:endParaRPr lang="de-DE" sz="2000" dirty="0"/>
          </a:p>
        </p:txBody>
      </p:sp>
    </p:spTree>
    <p:extLst>
      <p:ext uri="{BB962C8B-B14F-4D97-AF65-F5344CB8AC3E}">
        <p14:creationId xmlns:p14="http://schemas.microsoft.com/office/powerpoint/2010/main" val="4236944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5B57D3-4B36-F31B-C387-8A501ECAB1F9}"/>
              </a:ext>
            </a:extLst>
          </p:cNvPr>
          <p:cNvSpPr>
            <a:spLocks noGrp="1"/>
          </p:cNvSpPr>
          <p:nvPr>
            <p:ph type="title"/>
          </p:nvPr>
        </p:nvSpPr>
        <p:spPr/>
        <p:txBody>
          <a:bodyPr/>
          <a:lstStyle/>
          <a:p>
            <a:r>
              <a:rPr lang="de-DE" dirty="0"/>
              <a:t>Betriff „ Modellierungssprache“</a:t>
            </a:r>
          </a:p>
        </p:txBody>
      </p:sp>
      <p:sp>
        <p:nvSpPr>
          <p:cNvPr id="4" name="Textfeld 3">
            <a:extLst>
              <a:ext uri="{FF2B5EF4-FFF2-40B4-BE49-F238E27FC236}">
                <a16:creationId xmlns:a16="http://schemas.microsoft.com/office/drawing/2014/main" id="{B2C1AF38-EAB1-E3FB-4282-8B80A4918A9E}"/>
              </a:ext>
            </a:extLst>
          </p:cNvPr>
          <p:cNvSpPr txBox="1"/>
          <p:nvPr/>
        </p:nvSpPr>
        <p:spPr>
          <a:xfrm>
            <a:off x="153387" y="1399418"/>
            <a:ext cx="5942614" cy="4801314"/>
          </a:xfrm>
          <a:prstGeom prst="rect">
            <a:avLst/>
          </a:prstGeom>
          <a:noFill/>
        </p:spPr>
        <p:txBody>
          <a:bodyPr wrap="square">
            <a:spAutoFit/>
          </a:bodyPr>
          <a:lstStyle/>
          <a:p>
            <a:pPr marL="285750" indent="-285750">
              <a:buFont typeface="Arial" panose="020B0604020202020204" pitchFamily="34" charset="0"/>
              <a:buChar char="•"/>
            </a:pPr>
            <a:r>
              <a:rPr lang="de-DE" dirty="0"/>
              <a:t>Eine </a:t>
            </a:r>
            <a:r>
              <a:rPr lang="de-DE" b="1" dirty="0"/>
              <a:t>Modellierungssprache</a:t>
            </a:r>
            <a:r>
              <a:rPr lang="de-DE" dirty="0"/>
              <a:t> ist eine standardisierte graphische Sprache zur Beschreibung, Visualisierung und Dokumentation von Systemen, Prozessen oder Strukturen.</a:t>
            </a:r>
            <a:br>
              <a:rPr lang="de-DE" dirty="0"/>
            </a:br>
            <a:endParaRPr lang="de-DE" dirty="0"/>
          </a:p>
          <a:p>
            <a:pPr marL="285750" indent="-285750">
              <a:buFont typeface="Arial" panose="020B0604020202020204" pitchFamily="34" charset="0"/>
              <a:buChar char="•"/>
            </a:pPr>
            <a:r>
              <a:rPr lang="de-DE" dirty="0"/>
              <a:t>Die Anwendung von Modellierungssprachen setzt Kenntnis über </a:t>
            </a:r>
            <a:r>
              <a:rPr lang="de-DE" b="1" dirty="0"/>
              <a:t>Syntax und Semantik </a:t>
            </a:r>
            <a:r>
              <a:rPr lang="de-DE" dirty="0"/>
              <a:t>der </a:t>
            </a:r>
            <a:r>
              <a:rPr lang="de-DE" dirty="0" err="1"/>
              <a:t>Sprachkonstrukte</a:t>
            </a:r>
            <a:r>
              <a:rPr lang="de-DE" dirty="0"/>
              <a:t> voraus</a:t>
            </a:r>
          </a:p>
          <a:p>
            <a:endParaRPr lang="de-DE" dirty="0"/>
          </a:p>
          <a:p>
            <a:pPr marL="285750" indent="-285750">
              <a:buFont typeface="Arial" panose="020B0604020202020204" pitchFamily="34" charset="0"/>
              <a:buChar char="•"/>
            </a:pPr>
            <a:r>
              <a:rPr lang="de-DE" dirty="0"/>
              <a:t>Modellierungssprachen helfen, </a:t>
            </a:r>
            <a:r>
              <a:rPr lang="de-DE" b="1" dirty="0"/>
              <a:t>komplexe Sachverhalte graphisch darzustellen</a:t>
            </a:r>
            <a:r>
              <a:rPr lang="de-DE" dirty="0"/>
              <a:t>, ohne jedes Detail in natürlicher Sprache erklären zu müssen.</a:t>
            </a:r>
          </a:p>
          <a:p>
            <a:endParaRPr lang="de-DE" dirty="0"/>
          </a:p>
          <a:p>
            <a:pPr marL="285750" indent="-285750">
              <a:buFont typeface="Arial" panose="020B0604020202020204" pitchFamily="34" charset="0"/>
              <a:buChar char="•"/>
            </a:pPr>
            <a:r>
              <a:rPr lang="de-DE" dirty="0">
                <a:solidFill>
                  <a:srgbClr val="FF9600"/>
                </a:solidFill>
              </a:rPr>
              <a:t>Modellierungssprachen sind </a:t>
            </a:r>
            <a:r>
              <a:rPr lang="de-DE" b="1" dirty="0">
                <a:solidFill>
                  <a:srgbClr val="FF9600"/>
                </a:solidFill>
              </a:rPr>
              <a:t>Sicht- und Abstraktionsebenspezifisch</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Sie sind der </a:t>
            </a:r>
            <a:r>
              <a:rPr lang="de-DE" b="1" dirty="0">
                <a:solidFill>
                  <a:srgbClr val="254061"/>
                </a:solidFill>
              </a:rPr>
              <a:t>Werkzeugkasten</a:t>
            </a:r>
            <a:r>
              <a:rPr lang="de-DE" dirty="0"/>
              <a:t> der Wirtschaftsinformatik </a:t>
            </a:r>
          </a:p>
        </p:txBody>
      </p:sp>
      <p:grpSp>
        <p:nvGrpSpPr>
          <p:cNvPr id="10" name="Gruppieren 9">
            <a:extLst>
              <a:ext uri="{FF2B5EF4-FFF2-40B4-BE49-F238E27FC236}">
                <a16:creationId xmlns:a16="http://schemas.microsoft.com/office/drawing/2014/main" id="{290E9703-3086-65E9-4436-CA9E1B6E9AA3}"/>
              </a:ext>
            </a:extLst>
          </p:cNvPr>
          <p:cNvGrpSpPr/>
          <p:nvPr/>
        </p:nvGrpSpPr>
        <p:grpSpPr>
          <a:xfrm>
            <a:off x="7360023" y="1399418"/>
            <a:ext cx="3234711" cy="4699179"/>
            <a:chOff x="6873947" y="1577222"/>
            <a:chExt cx="2107139" cy="4125172"/>
          </a:xfrm>
        </p:grpSpPr>
        <p:grpSp>
          <p:nvGrpSpPr>
            <p:cNvPr id="11" name="Gruppieren 10">
              <a:extLst>
                <a:ext uri="{FF2B5EF4-FFF2-40B4-BE49-F238E27FC236}">
                  <a16:creationId xmlns:a16="http://schemas.microsoft.com/office/drawing/2014/main" id="{0B3C58EB-7BF5-48D9-118C-BDCE5CA94858}"/>
                </a:ext>
              </a:extLst>
            </p:cNvPr>
            <p:cNvGrpSpPr/>
            <p:nvPr/>
          </p:nvGrpSpPr>
          <p:grpSpPr>
            <a:xfrm>
              <a:off x="6873947" y="1577222"/>
              <a:ext cx="2107139" cy="4125172"/>
              <a:chOff x="6873947" y="1577222"/>
              <a:chExt cx="2107139" cy="4125172"/>
            </a:xfrm>
          </p:grpSpPr>
          <p:grpSp>
            <p:nvGrpSpPr>
              <p:cNvPr id="13" name="Gruppieren 12">
                <a:extLst>
                  <a:ext uri="{FF2B5EF4-FFF2-40B4-BE49-F238E27FC236}">
                    <a16:creationId xmlns:a16="http://schemas.microsoft.com/office/drawing/2014/main" id="{F49D9300-102C-EF4A-8EBB-529E5BD5A476}"/>
                  </a:ext>
                </a:extLst>
              </p:cNvPr>
              <p:cNvGrpSpPr/>
              <p:nvPr/>
            </p:nvGrpSpPr>
            <p:grpSpPr>
              <a:xfrm>
                <a:off x="6873947" y="1577222"/>
                <a:ext cx="2107139" cy="4125172"/>
                <a:chOff x="-1336454" y="1534390"/>
                <a:chExt cx="2383980" cy="4125172"/>
              </a:xfrm>
            </p:grpSpPr>
            <p:sp>
              <p:nvSpPr>
                <p:cNvPr id="15" name="Rechteck 12">
                  <a:extLst>
                    <a:ext uri="{FF2B5EF4-FFF2-40B4-BE49-F238E27FC236}">
                      <a16:creationId xmlns:a16="http://schemas.microsoft.com/office/drawing/2014/main" id="{77E75345-C435-A2E8-59F8-2305237A8054}"/>
                    </a:ext>
                  </a:extLst>
                </p:cNvPr>
                <p:cNvSpPr/>
                <p:nvPr/>
              </p:nvSpPr>
              <p:spPr>
                <a:xfrm>
                  <a:off x="-1336454" y="1534390"/>
                  <a:ext cx="2383980" cy="41251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99385" rtlCol="0" anchor="t"/>
                <a:lstStyle/>
                <a:p>
                  <a:pPr algn="ctr"/>
                  <a:endParaRPr lang="de-DE" sz="2585">
                    <a:solidFill>
                      <a:schemeClr val="tx1"/>
                    </a:solidFill>
                  </a:endParaRPr>
                </a:p>
              </p:txBody>
            </p:sp>
            <p:sp>
              <p:nvSpPr>
                <p:cNvPr id="16" name="Rechteck 15">
                  <a:extLst>
                    <a:ext uri="{FF2B5EF4-FFF2-40B4-BE49-F238E27FC236}">
                      <a16:creationId xmlns:a16="http://schemas.microsoft.com/office/drawing/2014/main" id="{FEC5D7D9-3A40-D769-A81F-71FF6E657CCA}"/>
                    </a:ext>
                  </a:extLst>
                </p:cNvPr>
                <p:cNvSpPr/>
                <p:nvPr/>
              </p:nvSpPr>
              <p:spPr>
                <a:xfrm>
                  <a:off x="-1320163" y="1534390"/>
                  <a:ext cx="2367689" cy="914400"/>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t>Prozesssicht</a:t>
                  </a:r>
                  <a:br>
                    <a:rPr lang="de-DE" dirty="0"/>
                  </a:br>
                  <a:r>
                    <a:rPr lang="de-DE" sz="1400" dirty="0"/>
                    <a:t>Fachkonzeptebene</a:t>
                  </a:r>
                  <a:endParaRPr lang="de-DE" dirty="0"/>
                </a:p>
              </p:txBody>
            </p:sp>
          </p:grpSp>
          <p:pic>
            <p:nvPicPr>
              <p:cNvPr id="14" name="Picture 2">
                <a:extLst>
                  <a:ext uri="{FF2B5EF4-FFF2-40B4-BE49-F238E27FC236}">
                    <a16:creationId xmlns:a16="http://schemas.microsoft.com/office/drawing/2014/main" id="{853846A4-4265-F568-E13A-223234C2C476}"/>
                  </a:ext>
                </a:extLst>
              </p:cNvPr>
              <p:cNvPicPr>
                <a:picLocks noChangeAspect="1" noChangeArrowheads="1"/>
              </p:cNvPicPr>
              <p:nvPr/>
            </p:nvPicPr>
            <p:blipFill>
              <a:blip r:embed="rId2" cstate="print"/>
              <a:srcRect/>
              <a:stretch>
                <a:fillRect/>
              </a:stretch>
            </p:blipFill>
            <p:spPr bwMode="auto">
              <a:xfrm>
                <a:off x="7178192" y="3244654"/>
                <a:ext cx="1498647" cy="2318208"/>
              </a:xfrm>
              <a:prstGeom prst="rect">
                <a:avLst/>
              </a:prstGeom>
              <a:noFill/>
              <a:ln w="9525" algn="ctr">
                <a:noFill/>
                <a:miter lim="800000"/>
                <a:headEnd/>
                <a:tailEnd/>
              </a:ln>
            </p:spPr>
          </p:pic>
        </p:grpSp>
        <p:sp>
          <p:nvSpPr>
            <p:cNvPr id="12" name="Textfeld 11">
              <a:extLst>
                <a:ext uri="{FF2B5EF4-FFF2-40B4-BE49-F238E27FC236}">
                  <a16:creationId xmlns:a16="http://schemas.microsoft.com/office/drawing/2014/main" id="{1F7367FB-E94D-C06A-0350-EEB16935887C}"/>
                </a:ext>
              </a:extLst>
            </p:cNvPr>
            <p:cNvSpPr txBox="1"/>
            <p:nvPr/>
          </p:nvSpPr>
          <p:spPr>
            <a:xfrm>
              <a:off x="7009384" y="2606528"/>
              <a:ext cx="18661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400" b="1" dirty="0">
                  <a:ea typeface="Calibri"/>
                  <a:cs typeface="Calibri"/>
                </a:rPr>
                <a:t>Ereignisgesteuerte Prozesskette (EPK)</a:t>
              </a:r>
            </a:p>
          </p:txBody>
        </p:sp>
      </p:grpSp>
    </p:spTree>
    <p:extLst>
      <p:ext uri="{BB962C8B-B14F-4D97-AF65-F5344CB8AC3E}">
        <p14:creationId xmlns:p14="http://schemas.microsoft.com/office/powerpoint/2010/main" val="222378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1C20C-ABC6-FA07-94BA-4EB83401977A}"/>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40B8214A-861F-7041-D45F-9A792533BC0D}"/>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993F5352-D20F-3A8F-5DEE-031B4BFD65D8}"/>
              </a:ext>
            </a:extLst>
          </p:cNvPr>
          <p:cNvSpPr>
            <a:spLocks noGrp="1"/>
          </p:cNvSpPr>
          <p:nvPr>
            <p:ph type="body" sz="half" idx="2"/>
          </p:nvPr>
        </p:nvSpPr>
        <p:spPr>
          <a:xfrm>
            <a:off x="251998" y="2255216"/>
            <a:ext cx="10846308" cy="599993"/>
          </a:xfrm>
          <a:solidFill>
            <a:srgbClr val="254061"/>
          </a:solidFill>
        </p:spPr>
        <p:txBody>
          <a:bodyPr/>
          <a:lstStyle/>
          <a:p>
            <a:r>
              <a:rPr lang="de-DE" sz="2400" b="1" dirty="0"/>
              <a:t>Informationsmodelle und Modellierungssprachen</a:t>
            </a:r>
          </a:p>
        </p:txBody>
      </p:sp>
      <p:sp>
        <p:nvSpPr>
          <p:cNvPr id="13" name="Textplatzhalter 12">
            <a:extLst>
              <a:ext uri="{FF2B5EF4-FFF2-40B4-BE49-F238E27FC236}">
                <a16:creationId xmlns:a16="http://schemas.microsoft.com/office/drawing/2014/main" id="{8C34BD1B-2F9C-A249-0737-9BEBEC718E0D}"/>
              </a:ext>
            </a:extLst>
          </p:cNvPr>
          <p:cNvSpPr>
            <a:spLocks noGrp="1"/>
          </p:cNvSpPr>
          <p:nvPr>
            <p:ph type="body" sz="half" idx="13"/>
          </p:nvPr>
        </p:nvSpPr>
        <p:spPr>
          <a:xfrm>
            <a:off x="251998" y="2964220"/>
            <a:ext cx="10846308" cy="599993"/>
          </a:xfrm>
          <a:solidFill>
            <a:srgbClr val="FF9600"/>
          </a:solidFill>
        </p:spPr>
        <p:txBody>
          <a:bodyPr/>
          <a:lstStyle/>
          <a:p>
            <a:r>
              <a:rPr lang="de-DE" sz="2400" b="1" dirty="0"/>
              <a:t>Einordnung in ARIS</a:t>
            </a:r>
          </a:p>
        </p:txBody>
      </p:sp>
      <p:sp>
        <p:nvSpPr>
          <p:cNvPr id="14" name="Textplatzhalter 13">
            <a:extLst>
              <a:ext uri="{FF2B5EF4-FFF2-40B4-BE49-F238E27FC236}">
                <a16:creationId xmlns:a16="http://schemas.microsoft.com/office/drawing/2014/main" id="{210EB156-B8E8-0C10-FA4B-44794B9BEE39}"/>
              </a:ext>
            </a:extLst>
          </p:cNvPr>
          <p:cNvSpPr>
            <a:spLocks noGrp="1"/>
          </p:cNvSpPr>
          <p:nvPr>
            <p:ph type="body" sz="half" idx="14"/>
          </p:nvPr>
        </p:nvSpPr>
        <p:spPr>
          <a:xfrm>
            <a:off x="251998" y="3673224"/>
            <a:ext cx="10846308" cy="599993"/>
          </a:xfrm>
          <a:solidFill>
            <a:srgbClr val="254061"/>
          </a:solidFill>
        </p:spPr>
        <p:txBody>
          <a:bodyPr/>
          <a:lstStyle/>
          <a:p>
            <a:r>
              <a:rPr lang="de-DE" sz="2400" b="1" dirty="0"/>
              <a:t>Wesentliche Merkmale von Informationsmodelle</a:t>
            </a:r>
          </a:p>
        </p:txBody>
      </p:sp>
      <p:sp>
        <p:nvSpPr>
          <p:cNvPr id="16" name="Textplatzhalter 15">
            <a:extLst>
              <a:ext uri="{FF2B5EF4-FFF2-40B4-BE49-F238E27FC236}">
                <a16:creationId xmlns:a16="http://schemas.microsoft.com/office/drawing/2014/main" id="{A14F2C0B-58D7-DDDB-C305-BA1046ECA0B4}"/>
              </a:ext>
            </a:extLst>
          </p:cNvPr>
          <p:cNvSpPr>
            <a:spLocks noGrp="1"/>
          </p:cNvSpPr>
          <p:nvPr>
            <p:ph type="body" sz="half" idx="16"/>
          </p:nvPr>
        </p:nvSpPr>
        <p:spPr>
          <a:xfrm>
            <a:off x="251998" y="1546212"/>
            <a:ext cx="10846308" cy="599993"/>
          </a:xfrm>
          <a:solidFill>
            <a:srgbClr val="254061"/>
          </a:solidFill>
        </p:spPr>
        <p:txBody>
          <a:bodyPr/>
          <a:lstStyle/>
          <a:p>
            <a:r>
              <a:rPr lang="de-DE" sz="2400" b="1" dirty="0"/>
              <a:t>Informationssysteme und ihre Komplexität</a:t>
            </a:r>
          </a:p>
        </p:txBody>
      </p:sp>
      <p:sp>
        <p:nvSpPr>
          <p:cNvPr id="17" name="Textplatzhalter 16">
            <a:extLst>
              <a:ext uri="{FF2B5EF4-FFF2-40B4-BE49-F238E27FC236}">
                <a16:creationId xmlns:a16="http://schemas.microsoft.com/office/drawing/2014/main" id="{BAC48437-04B4-6C08-3A86-4296F2DAF84D}"/>
              </a:ext>
            </a:extLst>
          </p:cNvPr>
          <p:cNvSpPr>
            <a:spLocks noGrp="1"/>
          </p:cNvSpPr>
          <p:nvPr>
            <p:ph type="body" sz="half" idx="17"/>
          </p:nvPr>
        </p:nvSpPr>
        <p:spPr>
          <a:xfrm>
            <a:off x="251998" y="4382228"/>
            <a:ext cx="10846308" cy="599993"/>
          </a:xfrm>
          <a:solidFill>
            <a:srgbClr val="254061"/>
          </a:solidFill>
        </p:spPr>
        <p:txBody>
          <a:bodyPr/>
          <a:lstStyle/>
          <a:p>
            <a:r>
              <a:rPr lang="de-DE" sz="2400" b="1" dirty="0"/>
              <a:t>Methoden-Engineering &amp; Methodenhandbuch</a:t>
            </a:r>
          </a:p>
        </p:txBody>
      </p:sp>
    </p:spTree>
    <p:extLst>
      <p:ext uri="{BB962C8B-B14F-4D97-AF65-F5344CB8AC3E}">
        <p14:creationId xmlns:p14="http://schemas.microsoft.com/office/powerpoint/2010/main" val="1435026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ARIS: Architektur Integrierter Informationssysteme</a:t>
            </a:r>
          </a:p>
        </p:txBody>
      </p:sp>
      <p:sp>
        <p:nvSpPr>
          <p:cNvPr id="29" name="Textfeld 28"/>
          <p:cNvSpPr txBox="1"/>
          <p:nvPr/>
        </p:nvSpPr>
        <p:spPr>
          <a:xfrm>
            <a:off x="8695022" y="5882958"/>
            <a:ext cx="1462260" cy="262829"/>
          </a:xfrm>
          <a:prstGeom prst="rect">
            <a:avLst/>
          </a:prstGeom>
          <a:noFill/>
        </p:spPr>
        <p:txBody>
          <a:bodyPr wrap="none" rtlCol="0">
            <a:spAutoFit/>
          </a:bodyPr>
          <a:lstStyle/>
          <a:p>
            <a:r>
              <a:rPr lang="de-DE" sz="1108"/>
              <a:t>Quelle: Scheer (1997)</a:t>
            </a:r>
          </a:p>
        </p:txBody>
      </p:sp>
      <p:sp>
        <p:nvSpPr>
          <p:cNvPr id="13" name="Isosceles Triangle 7"/>
          <p:cNvSpPr/>
          <p:nvPr/>
        </p:nvSpPr>
        <p:spPr bwMode="auto">
          <a:xfrm>
            <a:off x="1993900" y="1488221"/>
            <a:ext cx="7259515" cy="1587215"/>
          </a:xfrm>
          <a:prstGeom prst="triangle">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lstStyle/>
          <a:p>
            <a:pPr algn="ctr">
              <a:defRPr/>
            </a:pPr>
            <a:endParaRPr lang="en-US" sz="2045"/>
          </a:p>
        </p:txBody>
      </p:sp>
      <p:sp>
        <p:nvSpPr>
          <p:cNvPr id="14" name="Rectangle 10"/>
          <p:cNvSpPr/>
          <p:nvPr/>
        </p:nvSpPr>
        <p:spPr bwMode="auto">
          <a:xfrm>
            <a:off x="4634278" y="3493887"/>
            <a:ext cx="1978764" cy="1875889"/>
          </a:xfrm>
          <a:prstGeom prst="rect">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cxnSp>
        <p:nvCxnSpPr>
          <p:cNvPr id="15" name="Straight Arrow Connector 9"/>
          <p:cNvCxnSpPr>
            <a:cxnSpLocks noChangeShapeType="1"/>
            <a:stCxn id="13" idx="3"/>
            <a:endCxn id="14" idx="0"/>
          </p:cNvCxnSpPr>
          <p:nvPr/>
        </p:nvCxnSpPr>
        <p:spPr bwMode="auto">
          <a:xfrm>
            <a:off x="5623662" y="3075435"/>
            <a:ext cx="1" cy="418453"/>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6" name="Straight Arrow Connector 11"/>
          <p:cNvCxnSpPr>
            <a:cxnSpLocks noChangeShapeType="1"/>
          </p:cNvCxnSpPr>
          <p:nvPr/>
        </p:nvCxnSpPr>
        <p:spPr bwMode="auto">
          <a:xfrm>
            <a:off x="4106878" y="4549558"/>
            <a:ext cx="527404"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7" name="Straight Arrow Connector 13"/>
          <p:cNvCxnSpPr>
            <a:cxnSpLocks noChangeShapeType="1"/>
          </p:cNvCxnSpPr>
          <p:nvPr/>
        </p:nvCxnSpPr>
        <p:spPr bwMode="auto">
          <a:xfrm>
            <a:off x="6613044" y="4549558"/>
            <a:ext cx="5730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20" name="Textfeld 19"/>
          <p:cNvSpPr txBox="1"/>
          <p:nvPr/>
        </p:nvSpPr>
        <p:spPr>
          <a:xfrm>
            <a:off x="4673395" y="4007507"/>
            <a:ext cx="1918804" cy="616836"/>
          </a:xfrm>
          <a:prstGeom prst="rect">
            <a:avLst/>
          </a:prstGeom>
          <a:solidFill>
            <a:srgbClr val="254061"/>
          </a:solidFill>
        </p:spPr>
        <p:txBody>
          <a:bodyPr wrap="square" rtlCol="0">
            <a:spAutoFit/>
          </a:bodyPr>
          <a:lstStyle/>
          <a:p>
            <a:pPr algn="ctr"/>
            <a:r>
              <a:rPr lang="de-DE" sz="1704" b="1" dirty="0">
                <a:solidFill>
                  <a:schemeClr val="bg1"/>
                </a:solidFill>
              </a:rPr>
              <a:t>PROZESS-</a:t>
            </a:r>
          </a:p>
          <a:p>
            <a:pPr algn="ctr"/>
            <a:r>
              <a:rPr lang="de-DE" sz="1704" b="1" dirty="0">
                <a:solidFill>
                  <a:schemeClr val="bg1"/>
                </a:solidFill>
              </a:rPr>
              <a:t>SICHT</a:t>
            </a:r>
            <a:endParaRPr lang="en-US" sz="1704" b="1" dirty="0">
              <a:solidFill>
                <a:schemeClr val="bg1"/>
              </a:solidFill>
            </a:endParaRPr>
          </a:p>
        </p:txBody>
      </p:sp>
      <p:sp>
        <p:nvSpPr>
          <p:cNvPr id="21" name="Textfeld 20"/>
          <p:cNvSpPr txBox="1"/>
          <p:nvPr/>
        </p:nvSpPr>
        <p:spPr>
          <a:xfrm>
            <a:off x="4365810" y="2130033"/>
            <a:ext cx="2583349" cy="843584"/>
          </a:xfrm>
          <a:prstGeom prst="rect">
            <a:avLst/>
          </a:prstGeom>
          <a:solidFill>
            <a:srgbClr val="254061"/>
          </a:solidFill>
        </p:spPr>
        <p:txBody>
          <a:bodyPr wrap="square" rtlCol="0">
            <a:spAutoFit/>
          </a:bodyPr>
          <a:lstStyle/>
          <a:p>
            <a:pPr algn="ctr"/>
            <a:r>
              <a:rPr lang="de-DE" sz="1704" b="1">
                <a:solidFill>
                  <a:schemeClr val="bg1"/>
                </a:solidFill>
              </a:rPr>
              <a:t>ORGANISATIONS-</a:t>
            </a:r>
          </a:p>
          <a:p>
            <a:pPr algn="ctr"/>
            <a:r>
              <a:rPr lang="de-DE" sz="1704" b="1">
                <a:solidFill>
                  <a:schemeClr val="bg1"/>
                </a:solidFill>
              </a:rPr>
              <a:t>SICHT</a:t>
            </a:r>
            <a:endParaRPr lang="en-US" sz="1704" b="1">
              <a:solidFill>
                <a:schemeClr val="bg1"/>
              </a:solidFill>
            </a:endParaRPr>
          </a:p>
        </p:txBody>
      </p:sp>
      <p:sp>
        <p:nvSpPr>
          <p:cNvPr id="30" name="Can 8"/>
          <p:cNvSpPr/>
          <p:nvPr/>
        </p:nvSpPr>
        <p:spPr bwMode="auto">
          <a:xfrm>
            <a:off x="2182320" y="4413069"/>
            <a:ext cx="1918066" cy="956709"/>
          </a:xfrm>
          <a:prstGeom prst="can">
            <a:avLst/>
          </a:prstGeom>
          <a:solidFill>
            <a:srgbClr val="254061"/>
          </a:solidFill>
          <a:ln w="12700" cap="flat" cmpd="sng" algn="ctr">
            <a:solidFill>
              <a:schemeClr val="tx2">
                <a:lumMod val="75000"/>
              </a:schemeClr>
            </a:solidFill>
            <a:prstDash val="solid"/>
            <a:round/>
            <a:headEnd type="none" w="sm" len="sm"/>
            <a:tailEnd type="none" w="sm" len="sm"/>
          </a:ln>
          <a:effectLst/>
        </p:spPr>
        <p:txBody>
          <a:bodyPr anchor="ctr"/>
          <a:lstStyle/>
          <a:p>
            <a:pPr algn="ctr">
              <a:defRPr/>
            </a:pPr>
            <a:endParaRPr lang="en-US" sz="2045"/>
          </a:p>
        </p:txBody>
      </p:sp>
      <p:sp>
        <p:nvSpPr>
          <p:cNvPr id="31" name="Can 8"/>
          <p:cNvSpPr/>
          <p:nvPr/>
        </p:nvSpPr>
        <p:spPr bwMode="auto">
          <a:xfrm>
            <a:off x="2182320" y="3884532"/>
            <a:ext cx="1918066" cy="956709"/>
          </a:xfrm>
          <a:prstGeom prst="can">
            <a:avLst/>
          </a:prstGeom>
          <a:solidFill>
            <a:srgbClr val="254061"/>
          </a:solidFill>
          <a:ln w="12700" cap="flat" cmpd="sng" algn="ctr">
            <a:noFill/>
            <a:prstDash val="solid"/>
            <a:round/>
            <a:headEnd type="none" w="sm" len="sm"/>
            <a:tailEnd type="none" w="sm" len="sm"/>
          </a:ln>
          <a:effectLst/>
        </p:spPr>
        <p:txBody>
          <a:bodyPr anchor="ctr"/>
          <a:lstStyle/>
          <a:p>
            <a:pPr algn="ctr">
              <a:defRPr/>
            </a:pPr>
            <a:endParaRPr lang="en-US" sz="2045"/>
          </a:p>
        </p:txBody>
      </p:sp>
      <p:sp>
        <p:nvSpPr>
          <p:cNvPr id="32" name="Can 8"/>
          <p:cNvSpPr/>
          <p:nvPr/>
        </p:nvSpPr>
        <p:spPr bwMode="auto">
          <a:xfrm>
            <a:off x="2182320" y="3345274"/>
            <a:ext cx="1918066" cy="956709"/>
          </a:xfrm>
          <a:prstGeom prst="can">
            <a:avLst/>
          </a:prstGeom>
          <a:solidFill>
            <a:srgbClr val="254061"/>
          </a:solidFill>
          <a:ln w="12700" cap="flat" cmpd="sng" algn="ctr">
            <a:noFill/>
            <a:prstDash val="solid"/>
            <a:round/>
            <a:headEnd type="none" w="sm" len="sm"/>
            <a:tailEnd type="none" w="sm" len="sm"/>
          </a:ln>
          <a:effectLst/>
        </p:spPr>
        <p:txBody>
          <a:bodyPr anchor="ctr"/>
          <a:lstStyle/>
          <a:p>
            <a:pPr algn="ctr">
              <a:defRPr/>
            </a:pPr>
            <a:endParaRPr lang="en-US" sz="2045"/>
          </a:p>
        </p:txBody>
      </p:sp>
      <p:sp>
        <p:nvSpPr>
          <p:cNvPr id="36" name="Can 8"/>
          <p:cNvSpPr/>
          <p:nvPr/>
        </p:nvSpPr>
        <p:spPr bwMode="auto">
          <a:xfrm>
            <a:off x="7186053" y="4413069"/>
            <a:ext cx="1918066" cy="956709"/>
          </a:xfrm>
          <a:prstGeom prst="can">
            <a:avLst/>
          </a:prstGeom>
          <a:solidFill>
            <a:srgbClr val="254061"/>
          </a:solidFill>
          <a:ln w="12700" cap="flat" cmpd="sng" algn="ctr">
            <a:noFill/>
            <a:prstDash val="solid"/>
            <a:round/>
            <a:headEnd type="none" w="sm" len="sm"/>
            <a:tailEnd type="none" w="sm" len="sm"/>
          </a:ln>
          <a:effectLst/>
        </p:spPr>
        <p:txBody>
          <a:bodyPr anchor="ctr"/>
          <a:lstStyle/>
          <a:p>
            <a:pPr algn="ctr">
              <a:defRPr/>
            </a:pPr>
            <a:endParaRPr lang="en-US" sz="2045"/>
          </a:p>
        </p:txBody>
      </p:sp>
      <p:sp>
        <p:nvSpPr>
          <p:cNvPr id="37" name="Can 8"/>
          <p:cNvSpPr/>
          <p:nvPr/>
        </p:nvSpPr>
        <p:spPr bwMode="auto">
          <a:xfrm>
            <a:off x="7186053" y="3884532"/>
            <a:ext cx="1918066" cy="956709"/>
          </a:xfrm>
          <a:prstGeom prst="can">
            <a:avLst/>
          </a:prstGeom>
          <a:solidFill>
            <a:srgbClr val="254061"/>
          </a:solidFill>
          <a:ln w="12700" cap="flat" cmpd="sng" algn="ctr">
            <a:noFill/>
            <a:prstDash val="solid"/>
            <a:round/>
            <a:headEnd type="none" w="sm" len="sm"/>
            <a:tailEnd type="none" w="sm" len="sm"/>
          </a:ln>
          <a:effectLst/>
        </p:spPr>
        <p:txBody>
          <a:bodyPr anchor="ctr"/>
          <a:lstStyle/>
          <a:p>
            <a:pPr algn="ctr">
              <a:defRPr/>
            </a:pPr>
            <a:endParaRPr lang="en-US" sz="2045"/>
          </a:p>
        </p:txBody>
      </p:sp>
      <p:sp>
        <p:nvSpPr>
          <p:cNvPr id="38" name="Can 8"/>
          <p:cNvSpPr/>
          <p:nvPr/>
        </p:nvSpPr>
        <p:spPr bwMode="auto">
          <a:xfrm>
            <a:off x="7186053" y="3345274"/>
            <a:ext cx="1918066" cy="956709"/>
          </a:xfrm>
          <a:prstGeom prst="can">
            <a:avLst/>
          </a:prstGeom>
          <a:solidFill>
            <a:srgbClr val="254061"/>
          </a:solidFill>
          <a:ln w="12700" cap="flat" cmpd="sng" algn="ctr">
            <a:noFill/>
            <a:prstDash val="solid"/>
            <a:round/>
            <a:headEnd type="none" w="sm" len="sm"/>
            <a:tailEnd type="none" w="sm" len="sm"/>
          </a:ln>
          <a:effectLst/>
        </p:spPr>
        <p:txBody>
          <a:bodyPr anchor="ctr"/>
          <a:lstStyle/>
          <a:p>
            <a:pPr algn="ctr">
              <a:defRPr/>
            </a:pPr>
            <a:endParaRPr lang="en-US" sz="2045"/>
          </a:p>
        </p:txBody>
      </p:sp>
      <p:sp>
        <p:nvSpPr>
          <p:cNvPr id="18" name="Textfeld 17"/>
          <p:cNvSpPr txBox="1"/>
          <p:nvPr/>
        </p:nvSpPr>
        <p:spPr>
          <a:xfrm>
            <a:off x="7206899" y="4012856"/>
            <a:ext cx="1897220" cy="616836"/>
          </a:xfrm>
          <a:prstGeom prst="rect">
            <a:avLst/>
          </a:prstGeom>
          <a:solidFill>
            <a:srgbClr val="254061"/>
          </a:solidFill>
        </p:spPr>
        <p:txBody>
          <a:bodyPr wrap="square" rtlCol="0">
            <a:spAutoFit/>
          </a:bodyPr>
          <a:lstStyle/>
          <a:p>
            <a:pPr algn="ctr"/>
            <a:r>
              <a:rPr lang="de-DE" sz="1704" b="1" dirty="0">
                <a:solidFill>
                  <a:schemeClr val="bg1"/>
                </a:solidFill>
              </a:rPr>
              <a:t>FUNKTIONS-</a:t>
            </a:r>
          </a:p>
          <a:p>
            <a:pPr algn="ctr"/>
            <a:r>
              <a:rPr lang="de-DE" sz="1704" b="1" dirty="0">
                <a:solidFill>
                  <a:schemeClr val="bg1"/>
                </a:solidFill>
              </a:rPr>
              <a:t>SICHT</a:t>
            </a:r>
            <a:endParaRPr lang="en-US" sz="1704" b="1" dirty="0">
              <a:solidFill>
                <a:schemeClr val="bg1"/>
              </a:solidFill>
            </a:endParaRPr>
          </a:p>
        </p:txBody>
      </p:sp>
      <p:sp>
        <p:nvSpPr>
          <p:cNvPr id="7" name="Textfeld 6">
            <a:extLst>
              <a:ext uri="{FF2B5EF4-FFF2-40B4-BE49-F238E27FC236}">
                <a16:creationId xmlns:a16="http://schemas.microsoft.com/office/drawing/2014/main" id="{EC2B93FD-ADAF-21CB-3A55-075F29BC8951}"/>
              </a:ext>
            </a:extLst>
          </p:cNvPr>
          <p:cNvSpPr txBox="1"/>
          <p:nvPr/>
        </p:nvSpPr>
        <p:spPr>
          <a:xfrm>
            <a:off x="2668278" y="4066262"/>
            <a:ext cx="946150" cy="615553"/>
          </a:xfrm>
          <a:prstGeom prst="rect">
            <a:avLst/>
          </a:prstGeom>
          <a:solidFill>
            <a:srgbClr val="254061"/>
          </a:solidFill>
        </p:spPr>
        <p:txBody>
          <a:bodyPr wrap="square" rtlCol="0">
            <a:spAutoFit/>
          </a:bodyPr>
          <a:lstStyle/>
          <a:p>
            <a:pPr algn="ctr"/>
            <a:r>
              <a:rPr lang="de-DE" sz="1700" b="1" dirty="0">
                <a:solidFill>
                  <a:schemeClr val="bg1"/>
                </a:solidFill>
              </a:rPr>
              <a:t>DATEN-</a:t>
            </a:r>
          </a:p>
          <a:p>
            <a:pPr algn="ctr"/>
            <a:r>
              <a:rPr lang="de-DE" sz="1700" b="1" dirty="0">
                <a:solidFill>
                  <a:schemeClr val="bg1"/>
                </a:solidFill>
              </a:rPr>
              <a:t>SICHT</a:t>
            </a:r>
            <a:endParaRPr lang="en-US" sz="1700" b="1" dirty="0">
              <a:solidFill>
                <a:schemeClr val="bg1"/>
              </a:solidFill>
            </a:endParaRPr>
          </a:p>
        </p:txBody>
      </p:sp>
    </p:spTree>
    <p:extLst>
      <p:ext uri="{BB962C8B-B14F-4D97-AF65-F5344CB8AC3E}">
        <p14:creationId xmlns:p14="http://schemas.microsoft.com/office/powerpoint/2010/main" val="1583784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DDE3-D2F7-2515-8432-DC6D2FF79A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6E6227-9F5B-2BFF-0BAA-D48F0EE8266D}"/>
              </a:ext>
            </a:extLst>
          </p:cNvPr>
          <p:cNvSpPr>
            <a:spLocks noGrp="1"/>
          </p:cNvSpPr>
          <p:nvPr>
            <p:ph type="title"/>
          </p:nvPr>
        </p:nvSpPr>
        <p:spPr/>
        <p:txBody>
          <a:bodyPr/>
          <a:lstStyle/>
          <a:p>
            <a:r>
              <a:rPr lang="de-DE" dirty="0" err="1"/>
              <a:t>Sichtenbildung</a:t>
            </a:r>
            <a:r>
              <a:rPr lang="de-DE" dirty="0"/>
              <a:t> als Mittel zur Komplexitätsreduktion von Informationssystemen</a:t>
            </a:r>
          </a:p>
        </p:txBody>
      </p:sp>
      <p:pic>
        <p:nvPicPr>
          <p:cNvPr id="7" name="Grafik 6">
            <a:extLst>
              <a:ext uri="{FF2B5EF4-FFF2-40B4-BE49-F238E27FC236}">
                <a16:creationId xmlns:a16="http://schemas.microsoft.com/office/drawing/2014/main" id="{E721613F-8C5F-D37C-5F1F-F0273A1D1A68}"/>
              </a:ext>
            </a:extLst>
          </p:cNvPr>
          <p:cNvPicPr>
            <a:picLocks noChangeAspect="1"/>
          </p:cNvPicPr>
          <p:nvPr/>
        </p:nvPicPr>
        <p:blipFill>
          <a:blip r:embed="rId3"/>
          <a:stretch>
            <a:fillRect/>
          </a:stretch>
        </p:blipFill>
        <p:spPr>
          <a:xfrm>
            <a:off x="1213745" y="2147862"/>
            <a:ext cx="2101136" cy="3252839"/>
          </a:xfrm>
          <a:prstGeom prst="rect">
            <a:avLst/>
          </a:prstGeom>
        </p:spPr>
      </p:pic>
      <p:pic>
        <p:nvPicPr>
          <p:cNvPr id="10" name="Grafik 9">
            <a:extLst>
              <a:ext uri="{FF2B5EF4-FFF2-40B4-BE49-F238E27FC236}">
                <a16:creationId xmlns:a16="http://schemas.microsoft.com/office/drawing/2014/main" id="{D7097C19-06B4-8724-BC13-B98564F249C3}"/>
              </a:ext>
            </a:extLst>
          </p:cNvPr>
          <p:cNvPicPr>
            <a:picLocks noChangeAspect="1"/>
          </p:cNvPicPr>
          <p:nvPr/>
        </p:nvPicPr>
        <p:blipFill>
          <a:blip r:embed="rId4"/>
          <a:stretch>
            <a:fillRect/>
          </a:stretch>
        </p:blipFill>
        <p:spPr>
          <a:xfrm>
            <a:off x="7881350" y="2151309"/>
            <a:ext cx="1897895" cy="3156370"/>
          </a:xfrm>
          <a:prstGeom prst="rect">
            <a:avLst/>
          </a:prstGeom>
        </p:spPr>
      </p:pic>
      <p:pic>
        <p:nvPicPr>
          <p:cNvPr id="13" name="Grafik 12">
            <a:extLst>
              <a:ext uri="{FF2B5EF4-FFF2-40B4-BE49-F238E27FC236}">
                <a16:creationId xmlns:a16="http://schemas.microsoft.com/office/drawing/2014/main" id="{A214D2F4-A599-D18C-B435-319ECB22C13F}"/>
              </a:ext>
            </a:extLst>
          </p:cNvPr>
          <p:cNvPicPr>
            <a:picLocks noChangeAspect="1"/>
          </p:cNvPicPr>
          <p:nvPr/>
        </p:nvPicPr>
        <p:blipFill>
          <a:blip r:embed="rId5"/>
          <a:stretch>
            <a:fillRect/>
          </a:stretch>
        </p:blipFill>
        <p:spPr>
          <a:xfrm>
            <a:off x="3414351" y="1896787"/>
            <a:ext cx="2001666" cy="3404895"/>
          </a:xfrm>
          <a:prstGeom prst="rect">
            <a:avLst/>
          </a:prstGeom>
        </p:spPr>
      </p:pic>
      <p:pic>
        <p:nvPicPr>
          <p:cNvPr id="14" name="Grafik 13">
            <a:extLst>
              <a:ext uri="{FF2B5EF4-FFF2-40B4-BE49-F238E27FC236}">
                <a16:creationId xmlns:a16="http://schemas.microsoft.com/office/drawing/2014/main" id="{6B020989-F163-16B6-CB69-191C81DF89BD}"/>
              </a:ext>
            </a:extLst>
          </p:cNvPr>
          <p:cNvPicPr>
            <a:picLocks noChangeAspect="1"/>
          </p:cNvPicPr>
          <p:nvPr/>
        </p:nvPicPr>
        <p:blipFill>
          <a:blip r:embed="rId6"/>
          <a:stretch>
            <a:fillRect/>
          </a:stretch>
        </p:blipFill>
        <p:spPr>
          <a:xfrm>
            <a:off x="5702261" y="2163921"/>
            <a:ext cx="1874472" cy="3134754"/>
          </a:xfrm>
          <a:prstGeom prst="rect">
            <a:avLst/>
          </a:prstGeom>
        </p:spPr>
      </p:pic>
      <p:sp>
        <p:nvSpPr>
          <p:cNvPr id="17" name="Textfeld 16">
            <a:extLst>
              <a:ext uri="{FF2B5EF4-FFF2-40B4-BE49-F238E27FC236}">
                <a16:creationId xmlns:a16="http://schemas.microsoft.com/office/drawing/2014/main" id="{798BC6AD-6994-8CB4-7A98-875F6C43ABAB}"/>
              </a:ext>
            </a:extLst>
          </p:cNvPr>
          <p:cNvSpPr txBox="1"/>
          <p:nvPr/>
        </p:nvSpPr>
        <p:spPr>
          <a:xfrm>
            <a:off x="5596998" y="1621365"/>
            <a:ext cx="2173032" cy="523220"/>
          </a:xfrm>
          <a:prstGeom prst="rect">
            <a:avLst/>
          </a:prstGeom>
          <a:noFill/>
        </p:spPr>
        <p:txBody>
          <a:bodyPr wrap="square" rtlCol="0">
            <a:spAutoFit/>
          </a:bodyPr>
          <a:lstStyle/>
          <a:p>
            <a:pPr algn="ctr"/>
            <a:r>
              <a:rPr lang="de-DE" sz="1400" b="1" dirty="0"/>
              <a:t>CARDIOVASCULAR SYSTEM</a:t>
            </a:r>
          </a:p>
        </p:txBody>
      </p:sp>
      <p:sp>
        <p:nvSpPr>
          <p:cNvPr id="42" name="Textfeld 41">
            <a:extLst>
              <a:ext uri="{FF2B5EF4-FFF2-40B4-BE49-F238E27FC236}">
                <a16:creationId xmlns:a16="http://schemas.microsoft.com/office/drawing/2014/main" id="{7B818E4B-04C1-35F3-59C8-0D0D40C2C7CB}"/>
              </a:ext>
            </a:extLst>
          </p:cNvPr>
          <p:cNvSpPr txBox="1"/>
          <p:nvPr/>
        </p:nvSpPr>
        <p:spPr>
          <a:xfrm>
            <a:off x="3386106" y="1621365"/>
            <a:ext cx="2173032" cy="307777"/>
          </a:xfrm>
          <a:prstGeom prst="rect">
            <a:avLst/>
          </a:prstGeom>
          <a:noFill/>
        </p:spPr>
        <p:txBody>
          <a:bodyPr wrap="square" rtlCol="0">
            <a:spAutoFit/>
          </a:bodyPr>
          <a:lstStyle/>
          <a:p>
            <a:pPr algn="ctr"/>
            <a:r>
              <a:rPr lang="de-DE" sz="1400" b="1" err="1"/>
              <a:t>Nervous</a:t>
            </a:r>
            <a:r>
              <a:rPr lang="de-DE" sz="1400" b="1"/>
              <a:t> System</a:t>
            </a:r>
          </a:p>
        </p:txBody>
      </p:sp>
      <p:sp>
        <p:nvSpPr>
          <p:cNvPr id="43" name="Textfeld 42">
            <a:extLst>
              <a:ext uri="{FF2B5EF4-FFF2-40B4-BE49-F238E27FC236}">
                <a16:creationId xmlns:a16="http://schemas.microsoft.com/office/drawing/2014/main" id="{01DABAE0-8E9D-4872-C38E-DD7D950E6BE2}"/>
              </a:ext>
            </a:extLst>
          </p:cNvPr>
          <p:cNvSpPr txBox="1"/>
          <p:nvPr/>
        </p:nvSpPr>
        <p:spPr>
          <a:xfrm>
            <a:off x="1141514" y="1621365"/>
            <a:ext cx="2173032" cy="307777"/>
          </a:xfrm>
          <a:prstGeom prst="rect">
            <a:avLst/>
          </a:prstGeom>
          <a:noFill/>
        </p:spPr>
        <p:txBody>
          <a:bodyPr wrap="square" rtlCol="0">
            <a:spAutoFit/>
          </a:bodyPr>
          <a:lstStyle/>
          <a:p>
            <a:pPr algn="ctr"/>
            <a:r>
              <a:rPr lang="de-DE" sz="1400" b="1" err="1"/>
              <a:t>Skeletal</a:t>
            </a:r>
            <a:r>
              <a:rPr lang="de-DE" sz="1400" b="1"/>
              <a:t> System</a:t>
            </a:r>
          </a:p>
        </p:txBody>
      </p:sp>
      <p:sp>
        <p:nvSpPr>
          <p:cNvPr id="44" name="Textfeld 43">
            <a:extLst>
              <a:ext uri="{FF2B5EF4-FFF2-40B4-BE49-F238E27FC236}">
                <a16:creationId xmlns:a16="http://schemas.microsoft.com/office/drawing/2014/main" id="{5D0C4138-81EB-ED4D-36AA-B387CD0C717D}"/>
              </a:ext>
            </a:extLst>
          </p:cNvPr>
          <p:cNvSpPr txBox="1"/>
          <p:nvPr/>
        </p:nvSpPr>
        <p:spPr>
          <a:xfrm>
            <a:off x="7770030" y="1621365"/>
            <a:ext cx="2173032" cy="307777"/>
          </a:xfrm>
          <a:prstGeom prst="rect">
            <a:avLst/>
          </a:prstGeom>
          <a:noFill/>
        </p:spPr>
        <p:txBody>
          <a:bodyPr wrap="square" rtlCol="0">
            <a:spAutoFit/>
          </a:bodyPr>
          <a:lstStyle/>
          <a:p>
            <a:pPr algn="ctr"/>
            <a:r>
              <a:rPr lang="de-DE" sz="1400" b="1" dirty="0"/>
              <a:t>MUSCULAR SYSTEM</a:t>
            </a:r>
          </a:p>
        </p:txBody>
      </p:sp>
      <p:grpSp>
        <p:nvGrpSpPr>
          <p:cNvPr id="12" name="Gruppieren 11">
            <a:extLst>
              <a:ext uri="{FF2B5EF4-FFF2-40B4-BE49-F238E27FC236}">
                <a16:creationId xmlns:a16="http://schemas.microsoft.com/office/drawing/2014/main" id="{668AAD33-07BD-9CCA-0411-12CA85DB8E87}"/>
              </a:ext>
            </a:extLst>
          </p:cNvPr>
          <p:cNvGrpSpPr/>
          <p:nvPr/>
        </p:nvGrpSpPr>
        <p:grpSpPr>
          <a:xfrm>
            <a:off x="1120280" y="1686279"/>
            <a:ext cx="2107139" cy="4125172"/>
            <a:chOff x="835276" y="1859585"/>
            <a:chExt cx="2107139" cy="4125172"/>
          </a:xfrm>
        </p:grpSpPr>
        <p:grpSp>
          <p:nvGrpSpPr>
            <p:cNvPr id="2" name="Gruppieren 1">
              <a:extLst>
                <a:ext uri="{FF2B5EF4-FFF2-40B4-BE49-F238E27FC236}">
                  <a16:creationId xmlns:a16="http://schemas.microsoft.com/office/drawing/2014/main" id="{32468FD6-88C1-C897-3F4C-E6E6FD118023}"/>
                </a:ext>
              </a:extLst>
            </p:cNvPr>
            <p:cNvGrpSpPr/>
            <p:nvPr/>
          </p:nvGrpSpPr>
          <p:grpSpPr>
            <a:xfrm>
              <a:off x="835276" y="1859585"/>
              <a:ext cx="2107139" cy="4125172"/>
              <a:chOff x="-1336454" y="1534390"/>
              <a:chExt cx="2383980" cy="4125172"/>
            </a:xfrm>
          </p:grpSpPr>
          <p:grpSp>
            <p:nvGrpSpPr>
              <p:cNvPr id="4" name="Gruppieren 29">
                <a:extLst>
                  <a:ext uri="{FF2B5EF4-FFF2-40B4-BE49-F238E27FC236}">
                    <a16:creationId xmlns:a16="http://schemas.microsoft.com/office/drawing/2014/main" id="{366BD1DC-B68B-E461-A3D1-9EE628046072}"/>
                  </a:ext>
                </a:extLst>
              </p:cNvPr>
              <p:cNvGrpSpPr/>
              <p:nvPr/>
            </p:nvGrpSpPr>
            <p:grpSpPr>
              <a:xfrm>
                <a:off x="-1336454" y="1534390"/>
                <a:ext cx="2383980" cy="4125172"/>
                <a:chOff x="251520" y="1412776"/>
                <a:chExt cx="2592288" cy="4824536"/>
              </a:xfrm>
            </p:grpSpPr>
            <p:sp>
              <p:nvSpPr>
                <p:cNvPr id="6" name="Rechteck 12">
                  <a:extLst>
                    <a:ext uri="{FF2B5EF4-FFF2-40B4-BE49-F238E27FC236}">
                      <a16:creationId xmlns:a16="http://schemas.microsoft.com/office/drawing/2014/main" id="{E061F253-4426-5D91-97EB-7D8ED48E0AF7}"/>
                    </a:ext>
                  </a:extLst>
                </p:cNvPr>
                <p:cNvSpPr/>
                <p:nvPr/>
              </p:nvSpPr>
              <p:spPr>
                <a:xfrm>
                  <a:off x="251520" y="1412776"/>
                  <a:ext cx="2592288" cy="48245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99385" rtlCol="0" anchor="t"/>
                <a:lstStyle/>
                <a:p>
                  <a:pPr algn="ctr"/>
                  <a:endParaRPr lang="de-DE" sz="2585">
                    <a:solidFill>
                      <a:schemeClr val="tx1"/>
                    </a:solidFill>
                  </a:endParaRPr>
                </a:p>
              </p:txBody>
            </p:sp>
            <p:pic>
              <p:nvPicPr>
                <p:cNvPr id="8" name="Picture 2">
                  <a:extLst>
                    <a:ext uri="{FF2B5EF4-FFF2-40B4-BE49-F238E27FC236}">
                      <a16:creationId xmlns:a16="http://schemas.microsoft.com/office/drawing/2014/main" id="{52C008AE-E976-BF19-FE82-55B7FD012DAB}"/>
                    </a:ext>
                  </a:extLst>
                </p:cNvPr>
                <p:cNvPicPr>
                  <a:picLocks noChangeAspect="1" noChangeArrowheads="1"/>
                </p:cNvPicPr>
                <p:nvPr/>
              </p:nvPicPr>
              <p:blipFill>
                <a:blip r:embed="rId7" cstate="print"/>
                <a:srcRect/>
                <a:stretch>
                  <a:fillRect/>
                </a:stretch>
              </p:blipFill>
              <p:spPr bwMode="auto">
                <a:xfrm>
                  <a:off x="404393" y="3033453"/>
                  <a:ext cx="2304255" cy="3159150"/>
                </a:xfrm>
                <a:prstGeom prst="rect">
                  <a:avLst/>
                </a:prstGeom>
                <a:noFill/>
                <a:ln w="9525" algn="ctr">
                  <a:noFill/>
                  <a:miter lim="800000"/>
                  <a:headEnd/>
                  <a:tailEnd/>
                </a:ln>
              </p:spPr>
            </p:pic>
          </p:grpSp>
          <p:sp>
            <p:nvSpPr>
              <p:cNvPr id="5" name="Rechteck 4">
                <a:extLst>
                  <a:ext uri="{FF2B5EF4-FFF2-40B4-BE49-F238E27FC236}">
                    <a16:creationId xmlns:a16="http://schemas.microsoft.com/office/drawing/2014/main" id="{D71CB49C-6370-C08F-5DE8-F98AA1475372}"/>
                  </a:ext>
                </a:extLst>
              </p:cNvPr>
              <p:cNvSpPr/>
              <p:nvPr/>
            </p:nvSpPr>
            <p:spPr>
              <a:xfrm>
                <a:off x="-1320163" y="1534390"/>
                <a:ext cx="2367689" cy="914400"/>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DATEN</a:t>
                </a:r>
              </a:p>
              <a:p>
                <a:pPr algn="ctr"/>
                <a:r>
                  <a:rPr lang="de-DE" b="1"/>
                  <a:t>SICHT</a:t>
                </a:r>
              </a:p>
            </p:txBody>
          </p:sp>
        </p:grpSp>
        <p:sp>
          <p:nvSpPr>
            <p:cNvPr id="11" name="Textfeld 10">
              <a:extLst>
                <a:ext uri="{FF2B5EF4-FFF2-40B4-BE49-F238E27FC236}">
                  <a16:creationId xmlns:a16="http://schemas.microsoft.com/office/drawing/2014/main" id="{DAB6B17B-2163-34A5-FC10-3F02C4979AC9}"/>
                </a:ext>
              </a:extLst>
            </p:cNvPr>
            <p:cNvSpPr txBox="1"/>
            <p:nvPr/>
          </p:nvSpPr>
          <p:spPr>
            <a:xfrm>
              <a:off x="990222" y="2787797"/>
              <a:ext cx="18661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400" b="1">
                  <a:ea typeface="Calibri"/>
                  <a:cs typeface="Calibri"/>
                </a:rPr>
                <a:t>Entity-Relationship-Model</a:t>
              </a:r>
              <a:endParaRPr lang="de-DE"/>
            </a:p>
          </p:txBody>
        </p:sp>
      </p:grpSp>
      <p:pic>
        <p:nvPicPr>
          <p:cNvPr id="15" name="Grafik 14">
            <a:extLst>
              <a:ext uri="{FF2B5EF4-FFF2-40B4-BE49-F238E27FC236}">
                <a16:creationId xmlns:a16="http://schemas.microsoft.com/office/drawing/2014/main" id="{AD0E713C-E4D2-5B3E-2654-C8E56732E750}"/>
              </a:ext>
            </a:extLst>
          </p:cNvPr>
          <p:cNvPicPr>
            <a:picLocks noChangeAspect="1"/>
          </p:cNvPicPr>
          <p:nvPr/>
        </p:nvPicPr>
        <p:blipFill>
          <a:blip r:embed="rId5"/>
          <a:stretch>
            <a:fillRect/>
          </a:stretch>
        </p:blipFill>
        <p:spPr>
          <a:xfrm>
            <a:off x="3414351" y="1877737"/>
            <a:ext cx="2001666" cy="3404895"/>
          </a:xfrm>
          <a:prstGeom prst="rect">
            <a:avLst/>
          </a:prstGeom>
        </p:spPr>
      </p:pic>
      <p:sp>
        <p:nvSpPr>
          <p:cNvPr id="16" name="Textfeld 15">
            <a:extLst>
              <a:ext uri="{FF2B5EF4-FFF2-40B4-BE49-F238E27FC236}">
                <a16:creationId xmlns:a16="http://schemas.microsoft.com/office/drawing/2014/main" id="{3029A546-BF4E-F848-4808-FFB50301A193}"/>
              </a:ext>
            </a:extLst>
          </p:cNvPr>
          <p:cNvSpPr txBox="1"/>
          <p:nvPr/>
        </p:nvSpPr>
        <p:spPr>
          <a:xfrm>
            <a:off x="3386106" y="1602315"/>
            <a:ext cx="2173032" cy="307777"/>
          </a:xfrm>
          <a:prstGeom prst="rect">
            <a:avLst/>
          </a:prstGeom>
          <a:noFill/>
        </p:spPr>
        <p:txBody>
          <a:bodyPr wrap="square" rtlCol="0">
            <a:spAutoFit/>
          </a:bodyPr>
          <a:lstStyle/>
          <a:p>
            <a:pPr algn="ctr"/>
            <a:r>
              <a:rPr lang="de-DE" sz="1400" b="1" err="1"/>
              <a:t>Nervous</a:t>
            </a:r>
            <a:r>
              <a:rPr lang="de-DE" sz="1400" b="1"/>
              <a:t> System</a:t>
            </a:r>
          </a:p>
        </p:txBody>
      </p:sp>
      <p:grpSp>
        <p:nvGrpSpPr>
          <p:cNvPr id="18" name="Gruppieren 17">
            <a:extLst>
              <a:ext uri="{FF2B5EF4-FFF2-40B4-BE49-F238E27FC236}">
                <a16:creationId xmlns:a16="http://schemas.microsoft.com/office/drawing/2014/main" id="{5847AFD1-B038-B00A-E5FE-1467BA07BDE8}"/>
              </a:ext>
            </a:extLst>
          </p:cNvPr>
          <p:cNvGrpSpPr/>
          <p:nvPr/>
        </p:nvGrpSpPr>
        <p:grpSpPr>
          <a:xfrm>
            <a:off x="3370591" y="1692643"/>
            <a:ext cx="2107139" cy="4125172"/>
            <a:chOff x="2393437" y="1577222"/>
            <a:chExt cx="2107139" cy="4125172"/>
          </a:xfrm>
        </p:grpSpPr>
        <p:grpSp>
          <p:nvGrpSpPr>
            <p:cNvPr id="19" name="Gruppieren 18">
              <a:extLst>
                <a:ext uri="{FF2B5EF4-FFF2-40B4-BE49-F238E27FC236}">
                  <a16:creationId xmlns:a16="http://schemas.microsoft.com/office/drawing/2014/main" id="{97166DB9-FF2A-6DDD-EF5C-AD148B18400C}"/>
                </a:ext>
              </a:extLst>
            </p:cNvPr>
            <p:cNvGrpSpPr/>
            <p:nvPr/>
          </p:nvGrpSpPr>
          <p:grpSpPr>
            <a:xfrm>
              <a:off x="2393437" y="1577222"/>
              <a:ext cx="2107139" cy="4125172"/>
              <a:chOff x="-1336454" y="1534390"/>
              <a:chExt cx="2383980" cy="4125172"/>
            </a:xfrm>
          </p:grpSpPr>
          <p:sp>
            <p:nvSpPr>
              <p:cNvPr id="22" name="Rechteck 12">
                <a:extLst>
                  <a:ext uri="{FF2B5EF4-FFF2-40B4-BE49-F238E27FC236}">
                    <a16:creationId xmlns:a16="http://schemas.microsoft.com/office/drawing/2014/main" id="{DA8092C2-AD18-F845-05F7-EE169FAC7BDE}"/>
                  </a:ext>
                </a:extLst>
              </p:cNvPr>
              <p:cNvSpPr/>
              <p:nvPr/>
            </p:nvSpPr>
            <p:spPr>
              <a:xfrm>
                <a:off x="-1336454" y="1534390"/>
                <a:ext cx="2383980" cy="41251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99385" rtlCol="0" anchor="t"/>
              <a:lstStyle/>
              <a:p>
                <a:pPr algn="ctr"/>
                <a:endParaRPr lang="de-DE" sz="2585">
                  <a:solidFill>
                    <a:schemeClr val="tx1"/>
                  </a:solidFill>
                </a:endParaRPr>
              </a:p>
            </p:txBody>
          </p:sp>
          <p:sp>
            <p:nvSpPr>
              <p:cNvPr id="23" name="Rechteck 22">
                <a:extLst>
                  <a:ext uri="{FF2B5EF4-FFF2-40B4-BE49-F238E27FC236}">
                    <a16:creationId xmlns:a16="http://schemas.microsoft.com/office/drawing/2014/main" id="{1295FCC4-E3DC-B96B-D326-632DA1A4AFA6}"/>
                  </a:ext>
                </a:extLst>
              </p:cNvPr>
              <p:cNvSpPr/>
              <p:nvPr/>
            </p:nvSpPr>
            <p:spPr>
              <a:xfrm>
                <a:off x="-1320163" y="1534390"/>
                <a:ext cx="2367689" cy="914400"/>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a:t>FUNKTIONS-</a:t>
                </a:r>
              </a:p>
              <a:p>
                <a:pPr algn="ctr"/>
                <a:r>
                  <a:rPr lang="de-DE" b="1"/>
                  <a:t>SICHT</a:t>
                </a:r>
              </a:p>
            </p:txBody>
          </p:sp>
        </p:grpSp>
        <p:pic>
          <p:nvPicPr>
            <p:cNvPr id="20" name="Grafik 19" descr="Ein Bild, das Diagramm, Text, Reihe, Kreis enthält.&#10;&#10;Beschreibung automatisch generiert.">
              <a:extLst>
                <a:ext uri="{FF2B5EF4-FFF2-40B4-BE49-F238E27FC236}">
                  <a16:creationId xmlns:a16="http://schemas.microsoft.com/office/drawing/2014/main" id="{0B1F4AC0-3989-8D20-69BD-543B1FB501E8}"/>
                </a:ext>
              </a:extLst>
            </p:cNvPr>
            <p:cNvPicPr>
              <a:picLocks noChangeAspect="1"/>
            </p:cNvPicPr>
            <p:nvPr/>
          </p:nvPicPr>
          <p:blipFill>
            <a:blip r:embed="rId8"/>
            <a:stretch>
              <a:fillRect/>
            </a:stretch>
          </p:blipFill>
          <p:spPr>
            <a:xfrm>
              <a:off x="2498700" y="3156202"/>
              <a:ext cx="1866182" cy="1403546"/>
            </a:xfrm>
            <a:prstGeom prst="rect">
              <a:avLst/>
            </a:prstGeom>
          </p:spPr>
        </p:pic>
        <p:sp>
          <p:nvSpPr>
            <p:cNvPr id="21" name="Textfeld 20">
              <a:extLst>
                <a:ext uri="{FF2B5EF4-FFF2-40B4-BE49-F238E27FC236}">
                  <a16:creationId xmlns:a16="http://schemas.microsoft.com/office/drawing/2014/main" id="{19C6D269-AB54-43A7-C4E7-352D1D59A006}"/>
                </a:ext>
              </a:extLst>
            </p:cNvPr>
            <p:cNvSpPr txBox="1"/>
            <p:nvPr/>
          </p:nvSpPr>
          <p:spPr>
            <a:xfrm>
              <a:off x="2524510" y="2542653"/>
              <a:ext cx="18661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400" b="1">
                  <a:ea typeface="Calibri"/>
                  <a:cs typeface="Calibri"/>
                </a:rPr>
                <a:t>Use Case </a:t>
              </a:r>
              <a:br>
                <a:rPr lang="de-DE" sz="1400" b="1">
                  <a:ea typeface="Calibri"/>
                  <a:cs typeface="Calibri"/>
                </a:rPr>
              </a:br>
              <a:r>
                <a:rPr lang="de-DE" sz="1400" b="1">
                  <a:ea typeface="Calibri"/>
                  <a:cs typeface="Calibri"/>
                </a:rPr>
                <a:t>Diagramm</a:t>
              </a:r>
            </a:p>
          </p:txBody>
        </p:sp>
      </p:grpSp>
      <p:grpSp>
        <p:nvGrpSpPr>
          <p:cNvPr id="24" name="Gruppieren 23">
            <a:extLst>
              <a:ext uri="{FF2B5EF4-FFF2-40B4-BE49-F238E27FC236}">
                <a16:creationId xmlns:a16="http://schemas.microsoft.com/office/drawing/2014/main" id="{E891CCAF-244E-8727-FCA4-2044BA80AEC3}"/>
              </a:ext>
            </a:extLst>
          </p:cNvPr>
          <p:cNvGrpSpPr/>
          <p:nvPr/>
        </p:nvGrpSpPr>
        <p:grpSpPr>
          <a:xfrm>
            <a:off x="5596998" y="1615015"/>
            <a:ext cx="2173032" cy="4215501"/>
            <a:chOff x="4619845" y="1486893"/>
            <a:chExt cx="2173032" cy="4215501"/>
          </a:xfrm>
        </p:grpSpPr>
        <p:pic>
          <p:nvPicPr>
            <p:cNvPr id="25" name="Grafik 24">
              <a:extLst>
                <a:ext uri="{FF2B5EF4-FFF2-40B4-BE49-F238E27FC236}">
                  <a16:creationId xmlns:a16="http://schemas.microsoft.com/office/drawing/2014/main" id="{2AA7A924-8028-DCD9-16CC-0B453B0B7757}"/>
                </a:ext>
              </a:extLst>
            </p:cNvPr>
            <p:cNvPicPr>
              <a:picLocks noChangeAspect="1"/>
            </p:cNvPicPr>
            <p:nvPr/>
          </p:nvPicPr>
          <p:blipFill>
            <a:blip r:embed="rId6"/>
            <a:stretch>
              <a:fillRect/>
            </a:stretch>
          </p:blipFill>
          <p:spPr>
            <a:xfrm>
              <a:off x="4725108" y="2029450"/>
              <a:ext cx="1874472" cy="3134754"/>
            </a:xfrm>
            <a:prstGeom prst="rect">
              <a:avLst/>
            </a:prstGeom>
          </p:spPr>
        </p:pic>
        <p:sp>
          <p:nvSpPr>
            <p:cNvPr id="26" name="Textfeld 25">
              <a:extLst>
                <a:ext uri="{FF2B5EF4-FFF2-40B4-BE49-F238E27FC236}">
                  <a16:creationId xmlns:a16="http://schemas.microsoft.com/office/drawing/2014/main" id="{BF74FA4C-9CE4-3B85-8136-366C58B3BFB1}"/>
                </a:ext>
              </a:extLst>
            </p:cNvPr>
            <p:cNvSpPr txBox="1"/>
            <p:nvPr/>
          </p:nvSpPr>
          <p:spPr>
            <a:xfrm>
              <a:off x="4619845" y="1486893"/>
              <a:ext cx="2173032" cy="307777"/>
            </a:xfrm>
            <a:prstGeom prst="rect">
              <a:avLst/>
            </a:prstGeom>
            <a:noFill/>
          </p:spPr>
          <p:txBody>
            <a:bodyPr wrap="square" rtlCol="0">
              <a:spAutoFit/>
            </a:bodyPr>
            <a:lstStyle/>
            <a:p>
              <a:pPr algn="ctr"/>
              <a:r>
                <a:rPr lang="de-DE" sz="1400" b="1" err="1"/>
                <a:t>Cardiovascular</a:t>
              </a:r>
              <a:r>
                <a:rPr lang="de-DE" sz="1400" b="1"/>
                <a:t> System</a:t>
              </a:r>
            </a:p>
          </p:txBody>
        </p:sp>
        <p:grpSp>
          <p:nvGrpSpPr>
            <p:cNvPr id="27" name="Gruppieren 26">
              <a:extLst>
                <a:ext uri="{FF2B5EF4-FFF2-40B4-BE49-F238E27FC236}">
                  <a16:creationId xmlns:a16="http://schemas.microsoft.com/office/drawing/2014/main" id="{E8F6976A-2032-33FB-652E-7818048D88AE}"/>
                </a:ext>
              </a:extLst>
            </p:cNvPr>
            <p:cNvGrpSpPr/>
            <p:nvPr/>
          </p:nvGrpSpPr>
          <p:grpSpPr>
            <a:xfrm>
              <a:off x="4647878" y="1577222"/>
              <a:ext cx="2107139" cy="4125172"/>
              <a:chOff x="4647878" y="1577222"/>
              <a:chExt cx="2107139" cy="4125172"/>
            </a:xfrm>
          </p:grpSpPr>
          <p:grpSp>
            <p:nvGrpSpPr>
              <p:cNvPr id="29" name="Gruppieren 28">
                <a:extLst>
                  <a:ext uri="{FF2B5EF4-FFF2-40B4-BE49-F238E27FC236}">
                    <a16:creationId xmlns:a16="http://schemas.microsoft.com/office/drawing/2014/main" id="{DAA924B7-8BB0-8310-9B44-8E8F628B868E}"/>
                  </a:ext>
                </a:extLst>
              </p:cNvPr>
              <p:cNvGrpSpPr/>
              <p:nvPr/>
            </p:nvGrpSpPr>
            <p:grpSpPr>
              <a:xfrm>
                <a:off x="4647878" y="1577222"/>
                <a:ext cx="2107139" cy="4125172"/>
                <a:chOff x="-1336454" y="1534390"/>
                <a:chExt cx="2383980" cy="4125172"/>
              </a:xfrm>
            </p:grpSpPr>
            <p:sp>
              <p:nvSpPr>
                <p:cNvPr id="31" name="Rechteck 12">
                  <a:extLst>
                    <a:ext uri="{FF2B5EF4-FFF2-40B4-BE49-F238E27FC236}">
                      <a16:creationId xmlns:a16="http://schemas.microsoft.com/office/drawing/2014/main" id="{3B9CB599-F25B-1C06-10F8-2A0716D8DCB3}"/>
                    </a:ext>
                  </a:extLst>
                </p:cNvPr>
                <p:cNvSpPr/>
                <p:nvPr/>
              </p:nvSpPr>
              <p:spPr>
                <a:xfrm>
                  <a:off x="-1336454" y="1534390"/>
                  <a:ext cx="2383980" cy="41251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99385" rtlCol="0" anchor="t"/>
                <a:lstStyle/>
                <a:p>
                  <a:pPr algn="ctr"/>
                  <a:endParaRPr lang="de-DE" sz="2585">
                    <a:solidFill>
                      <a:schemeClr val="tx1"/>
                    </a:solidFill>
                  </a:endParaRPr>
                </a:p>
              </p:txBody>
            </p:sp>
            <p:sp>
              <p:nvSpPr>
                <p:cNvPr id="32" name="Rechteck 31">
                  <a:extLst>
                    <a:ext uri="{FF2B5EF4-FFF2-40B4-BE49-F238E27FC236}">
                      <a16:creationId xmlns:a16="http://schemas.microsoft.com/office/drawing/2014/main" id="{DD783311-3682-70BF-13A1-326CB126F2E4}"/>
                    </a:ext>
                  </a:extLst>
                </p:cNvPr>
                <p:cNvSpPr/>
                <p:nvPr/>
              </p:nvSpPr>
              <p:spPr>
                <a:xfrm>
                  <a:off x="-1320163" y="1534390"/>
                  <a:ext cx="2367689" cy="914400"/>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ORGANISATIONS</a:t>
                  </a:r>
                </a:p>
                <a:p>
                  <a:pPr algn="ctr"/>
                  <a:r>
                    <a:rPr lang="de-DE" b="1" dirty="0"/>
                    <a:t>SICHT</a:t>
                  </a:r>
                </a:p>
              </p:txBody>
            </p:sp>
          </p:grpSp>
          <p:pic>
            <p:nvPicPr>
              <p:cNvPr id="30" name="Picture 3">
                <a:extLst>
                  <a:ext uri="{FF2B5EF4-FFF2-40B4-BE49-F238E27FC236}">
                    <a16:creationId xmlns:a16="http://schemas.microsoft.com/office/drawing/2014/main" id="{1BEB95A2-3E4D-7D9A-3E03-620571FB300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66785" y="2907472"/>
                <a:ext cx="1642773" cy="2275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
          <p:nvSpPr>
            <p:cNvPr id="28" name="Textfeld 27">
              <a:extLst>
                <a:ext uri="{FF2B5EF4-FFF2-40B4-BE49-F238E27FC236}">
                  <a16:creationId xmlns:a16="http://schemas.microsoft.com/office/drawing/2014/main" id="{DD2C8995-38D8-6CE7-35FF-1183FB668783}"/>
                </a:ext>
              </a:extLst>
            </p:cNvPr>
            <p:cNvSpPr txBox="1"/>
            <p:nvPr/>
          </p:nvSpPr>
          <p:spPr>
            <a:xfrm>
              <a:off x="4809649" y="2542653"/>
              <a:ext cx="18661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400" b="1">
                  <a:ea typeface="Calibri"/>
                  <a:cs typeface="Calibri"/>
                </a:rPr>
                <a:t>Organigramm</a:t>
              </a:r>
              <a:endParaRPr lang="de-DE"/>
            </a:p>
          </p:txBody>
        </p:sp>
      </p:grpSp>
      <p:grpSp>
        <p:nvGrpSpPr>
          <p:cNvPr id="33" name="Gruppieren 32">
            <a:extLst>
              <a:ext uri="{FF2B5EF4-FFF2-40B4-BE49-F238E27FC236}">
                <a16:creationId xmlns:a16="http://schemas.microsoft.com/office/drawing/2014/main" id="{E4B21250-1369-E0FC-C6F8-11E2B51DE3CF}"/>
              </a:ext>
            </a:extLst>
          </p:cNvPr>
          <p:cNvGrpSpPr/>
          <p:nvPr/>
        </p:nvGrpSpPr>
        <p:grpSpPr>
          <a:xfrm>
            <a:off x="7851101" y="1711693"/>
            <a:ext cx="2107139" cy="4125172"/>
            <a:chOff x="6873947" y="1577222"/>
            <a:chExt cx="2107139" cy="4125172"/>
          </a:xfrm>
        </p:grpSpPr>
        <p:grpSp>
          <p:nvGrpSpPr>
            <p:cNvPr id="34" name="Gruppieren 33">
              <a:extLst>
                <a:ext uri="{FF2B5EF4-FFF2-40B4-BE49-F238E27FC236}">
                  <a16:creationId xmlns:a16="http://schemas.microsoft.com/office/drawing/2014/main" id="{CF5CEDE8-7D4F-FA59-6193-998500C9480F}"/>
                </a:ext>
              </a:extLst>
            </p:cNvPr>
            <p:cNvGrpSpPr/>
            <p:nvPr/>
          </p:nvGrpSpPr>
          <p:grpSpPr>
            <a:xfrm>
              <a:off x="6873947" y="1577222"/>
              <a:ext cx="2107139" cy="4125172"/>
              <a:chOff x="6873947" y="1577222"/>
              <a:chExt cx="2107139" cy="4125172"/>
            </a:xfrm>
          </p:grpSpPr>
          <p:grpSp>
            <p:nvGrpSpPr>
              <p:cNvPr id="36" name="Gruppieren 35">
                <a:extLst>
                  <a:ext uri="{FF2B5EF4-FFF2-40B4-BE49-F238E27FC236}">
                    <a16:creationId xmlns:a16="http://schemas.microsoft.com/office/drawing/2014/main" id="{21752F33-FE3A-36D5-6F70-46C377CE6603}"/>
                  </a:ext>
                </a:extLst>
              </p:cNvPr>
              <p:cNvGrpSpPr/>
              <p:nvPr/>
            </p:nvGrpSpPr>
            <p:grpSpPr>
              <a:xfrm>
                <a:off x="6873947" y="1577222"/>
                <a:ext cx="2107139" cy="4125172"/>
                <a:chOff x="-1336454" y="1534390"/>
                <a:chExt cx="2383980" cy="4125172"/>
              </a:xfrm>
            </p:grpSpPr>
            <p:sp>
              <p:nvSpPr>
                <p:cNvPr id="39" name="Rechteck 12">
                  <a:extLst>
                    <a:ext uri="{FF2B5EF4-FFF2-40B4-BE49-F238E27FC236}">
                      <a16:creationId xmlns:a16="http://schemas.microsoft.com/office/drawing/2014/main" id="{634919BE-312C-9506-C83B-79B4184859B3}"/>
                    </a:ext>
                  </a:extLst>
                </p:cNvPr>
                <p:cNvSpPr/>
                <p:nvPr/>
              </p:nvSpPr>
              <p:spPr>
                <a:xfrm>
                  <a:off x="-1336454" y="1534390"/>
                  <a:ext cx="2383980" cy="41251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tIns="199385" rtlCol="0" anchor="t"/>
                <a:lstStyle/>
                <a:p>
                  <a:pPr algn="ctr"/>
                  <a:endParaRPr lang="de-DE" sz="2585">
                    <a:solidFill>
                      <a:schemeClr val="tx1"/>
                    </a:solidFill>
                  </a:endParaRPr>
                </a:p>
              </p:txBody>
            </p:sp>
            <p:sp>
              <p:nvSpPr>
                <p:cNvPr id="40" name="Rechteck 39">
                  <a:extLst>
                    <a:ext uri="{FF2B5EF4-FFF2-40B4-BE49-F238E27FC236}">
                      <a16:creationId xmlns:a16="http://schemas.microsoft.com/office/drawing/2014/main" id="{0D92230E-3663-4EA5-1BE8-E994461B407B}"/>
                    </a:ext>
                  </a:extLst>
                </p:cNvPr>
                <p:cNvSpPr/>
                <p:nvPr/>
              </p:nvSpPr>
              <p:spPr>
                <a:xfrm>
                  <a:off x="-1320163" y="1534390"/>
                  <a:ext cx="2367689" cy="914400"/>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t>PROZESS-</a:t>
                  </a:r>
                  <a:br>
                    <a:rPr lang="de-DE" b="1" dirty="0"/>
                  </a:br>
                  <a:r>
                    <a:rPr lang="de-DE" b="1" dirty="0"/>
                    <a:t>SICHT</a:t>
                  </a:r>
                </a:p>
              </p:txBody>
            </p:sp>
          </p:grpSp>
          <p:pic>
            <p:nvPicPr>
              <p:cNvPr id="38" name="Picture 2">
                <a:extLst>
                  <a:ext uri="{FF2B5EF4-FFF2-40B4-BE49-F238E27FC236}">
                    <a16:creationId xmlns:a16="http://schemas.microsoft.com/office/drawing/2014/main" id="{FF10F29D-95FE-F8C0-AEBA-FB5223A8A306}"/>
                  </a:ext>
                </a:extLst>
              </p:cNvPr>
              <p:cNvPicPr>
                <a:picLocks noChangeAspect="1" noChangeArrowheads="1"/>
              </p:cNvPicPr>
              <p:nvPr/>
            </p:nvPicPr>
            <p:blipFill>
              <a:blip r:embed="rId10" cstate="print"/>
              <a:srcRect/>
              <a:stretch>
                <a:fillRect/>
              </a:stretch>
            </p:blipFill>
            <p:spPr bwMode="auto">
              <a:xfrm>
                <a:off x="7080282" y="3220077"/>
                <a:ext cx="1498647" cy="2318208"/>
              </a:xfrm>
              <a:prstGeom prst="rect">
                <a:avLst/>
              </a:prstGeom>
              <a:noFill/>
              <a:ln w="9525" algn="ctr">
                <a:noFill/>
                <a:miter lim="800000"/>
                <a:headEnd/>
                <a:tailEnd/>
              </a:ln>
            </p:spPr>
          </p:pic>
        </p:grpSp>
        <p:sp>
          <p:nvSpPr>
            <p:cNvPr id="35" name="Textfeld 34">
              <a:extLst>
                <a:ext uri="{FF2B5EF4-FFF2-40B4-BE49-F238E27FC236}">
                  <a16:creationId xmlns:a16="http://schemas.microsoft.com/office/drawing/2014/main" id="{9A2740A0-4632-BF92-29EE-A529B12E26BD}"/>
                </a:ext>
              </a:extLst>
            </p:cNvPr>
            <p:cNvSpPr txBox="1"/>
            <p:nvPr/>
          </p:nvSpPr>
          <p:spPr>
            <a:xfrm>
              <a:off x="7009384" y="2606528"/>
              <a:ext cx="18661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400" b="1" dirty="0">
                  <a:ea typeface="Calibri"/>
                  <a:cs typeface="Calibri"/>
                </a:rPr>
                <a:t>Ereignisgesteuerte Prozesskette</a:t>
              </a:r>
            </a:p>
          </p:txBody>
        </p:sp>
      </p:grpSp>
    </p:spTree>
    <p:extLst>
      <p:ext uri="{BB962C8B-B14F-4D97-AF65-F5344CB8AC3E}">
        <p14:creationId xmlns:p14="http://schemas.microsoft.com/office/powerpoint/2010/main" val="915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up)">
                                      <p:cBhvr>
                                        <p:cTn id="12" dur="500"/>
                                        <p:tgtEl>
                                          <p:spTgt spid="18"/>
                                        </p:tgtEl>
                                      </p:cBhvr>
                                    </p:animEffect>
                                  </p:childTnLst>
                                </p:cTn>
                              </p:par>
                              <p:par>
                                <p:cTn id="13" presetID="22" presetClass="entr" presetSubtype="1"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up)">
                                      <p:cBhvr>
                                        <p:cTn id="15" dur="500"/>
                                        <p:tgtEl>
                                          <p:spTgt spid="15"/>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up)">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up)">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Komplexitätsreduktion durch Abstraktionsebenen</a:t>
            </a:r>
          </a:p>
        </p:txBody>
      </p:sp>
      <p:sp>
        <p:nvSpPr>
          <p:cNvPr id="13328" name="Rectangle 4"/>
          <p:cNvSpPr>
            <a:spLocks noChangeArrowheads="1"/>
          </p:cNvSpPr>
          <p:nvPr/>
        </p:nvSpPr>
        <p:spPr bwMode="auto">
          <a:xfrm>
            <a:off x="5158326" y="4641398"/>
            <a:ext cx="562708" cy="389567"/>
          </a:xfrm>
          <a:prstGeom prst="rect">
            <a:avLst/>
          </a:prstGeom>
          <a:solidFill>
            <a:srgbClr val="B2B2B2"/>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endParaRPr lang="en-US" sz="1534"/>
          </a:p>
        </p:txBody>
      </p:sp>
      <p:sp>
        <p:nvSpPr>
          <p:cNvPr id="13329" name="Rectangle 5"/>
          <p:cNvSpPr>
            <a:spLocks noChangeArrowheads="1"/>
          </p:cNvSpPr>
          <p:nvPr/>
        </p:nvSpPr>
        <p:spPr bwMode="auto">
          <a:xfrm>
            <a:off x="5228666" y="3927192"/>
            <a:ext cx="422031" cy="414728"/>
          </a:xfrm>
          <a:prstGeom prst="rect">
            <a:avLst/>
          </a:prstGeom>
          <a:solidFill>
            <a:srgbClr val="B2B2B2"/>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endParaRPr lang="en-US" sz="1534"/>
          </a:p>
        </p:txBody>
      </p:sp>
      <p:sp>
        <p:nvSpPr>
          <p:cNvPr id="13330" name="Rectangle 6"/>
          <p:cNvSpPr>
            <a:spLocks noChangeArrowheads="1"/>
          </p:cNvSpPr>
          <p:nvPr/>
        </p:nvSpPr>
        <p:spPr bwMode="auto">
          <a:xfrm>
            <a:off x="5299003" y="3148057"/>
            <a:ext cx="281354" cy="324639"/>
          </a:xfrm>
          <a:prstGeom prst="rect">
            <a:avLst/>
          </a:prstGeom>
          <a:solidFill>
            <a:srgbClr val="B2B2B2"/>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endParaRPr lang="en-US" sz="1534"/>
          </a:p>
        </p:txBody>
      </p:sp>
      <p:sp>
        <p:nvSpPr>
          <p:cNvPr id="13331" name="Rectangle 7"/>
          <p:cNvSpPr>
            <a:spLocks noChangeArrowheads="1"/>
          </p:cNvSpPr>
          <p:nvPr/>
        </p:nvSpPr>
        <p:spPr bwMode="auto">
          <a:xfrm>
            <a:off x="5228666" y="2239069"/>
            <a:ext cx="422031" cy="454494"/>
          </a:xfrm>
          <a:prstGeom prst="rect">
            <a:avLst/>
          </a:prstGeom>
          <a:solidFill>
            <a:srgbClr val="B2B2B2"/>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p>
            <a:endParaRPr lang="en-US" sz="1534"/>
          </a:p>
        </p:txBody>
      </p:sp>
      <p:sp>
        <p:nvSpPr>
          <p:cNvPr id="13332" name="Rectangle 8"/>
          <p:cNvSpPr>
            <a:spLocks noChangeArrowheads="1"/>
          </p:cNvSpPr>
          <p:nvPr/>
        </p:nvSpPr>
        <p:spPr bwMode="auto">
          <a:xfrm>
            <a:off x="4025877" y="2503649"/>
            <a:ext cx="2827606" cy="627635"/>
          </a:xfrm>
          <a:prstGeom prst="rect">
            <a:avLst/>
          </a:prstGeom>
          <a:solidFill>
            <a:schemeClr val="tx2">
              <a:lumMod val="75000"/>
            </a:schemeClr>
          </a:solidFill>
          <a:ln w="3175">
            <a:solidFill>
              <a:schemeClr val="tx1">
                <a:lumMod val="50000"/>
                <a:lumOff val="50000"/>
              </a:schemeClr>
            </a:solidFill>
            <a:miter lim="800000"/>
            <a:headEnd/>
            <a:tailEnd/>
          </a:ln>
        </p:spPr>
        <p:txBody>
          <a:bodyPr wrap="none" anchor="ctr"/>
          <a:lstStyle/>
          <a:p>
            <a:pPr algn="ctr"/>
            <a:r>
              <a:rPr lang="en-GB" sz="1534" b="1" dirty="0" err="1">
                <a:solidFill>
                  <a:schemeClr val="bg1"/>
                </a:solidFill>
              </a:rPr>
              <a:t>Fachkonzept</a:t>
            </a:r>
            <a:br>
              <a:rPr lang="en-GB" sz="1193" b="1" dirty="0">
                <a:solidFill>
                  <a:schemeClr val="bg1"/>
                </a:solidFill>
              </a:rPr>
            </a:br>
            <a:r>
              <a:rPr lang="en-GB" sz="1193" dirty="0">
                <a:solidFill>
                  <a:schemeClr val="bg1"/>
                </a:solidFill>
              </a:rPr>
              <a:t>Requirements Definition</a:t>
            </a:r>
            <a:endParaRPr lang="en-GB" sz="937" dirty="0">
              <a:solidFill>
                <a:schemeClr val="bg1"/>
              </a:solidFill>
            </a:endParaRPr>
          </a:p>
        </p:txBody>
      </p:sp>
      <p:pic>
        <p:nvPicPr>
          <p:cNvPr id="13320" name="Picture 1067" descr="MPj0400337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6866" y="1618372"/>
            <a:ext cx="1288885" cy="79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10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36866" y="2518349"/>
            <a:ext cx="1288885" cy="627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13322" name="Text Box 1069"/>
          <p:cNvSpPr txBox="1">
            <a:spLocks noChangeArrowheads="1"/>
          </p:cNvSpPr>
          <p:nvPr/>
        </p:nvSpPr>
        <p:spPr bwMode="auto">
          <a:xfrm>
            <a:off x="7036867" y="4089667"/>
            <a:ext cx="1288885" cy="682559"/>
          </a:xfrm>
          <a:prstGeom prst="rect">
            <a:avLst/>
          </a:prstGeom>
          <a:solidFill>
            <a:schemeClr val="bg1"/>
          </a:solidFill>
          <a:ln>
            <a:noFill/>
          </a:ln>
        </p:spPr>
        <p:txBody>
          <a:bodyPr wrap="square">
            <a:spAutoFit/>
          </a:bodyPr>
          <a:lstStyle>
            <a:lvl1pPr>
              <a:defRPr sz="1600">
                <a:solidFill>
                  <a:schemeClr val="tx1"/>
                </a:solidFill>
                <a:latin typeface="Arial" charset="0"/>
                <a:cs typeface="Arial" charset="0"/>
              </a:defRPr>
            </a:lvl1pPr>
            <a:lvl2pPr marL="742950" indent="-285750">
              <a:defRPr sz="1600">
                <a:solidFill>
                  <a:schemeClr val="tx1"/>
                </a:solidFill>
                <a:latin typeface="Arial" charset="0"/>
                <a:cs typeface="Arial" charset="0"/>
              </a:defRPr>
            </a:lvl2pPr>
            <a:lvl3pPr marL="1143000" indent="-228600">
              <a:defRPr sz="1600">
                <a:solidFill>
                  <a:schemeClr val="tx1"/>
                </a:solidFill>
                <a:latin typeface="Arial" charset="0"/>
                <a:cs typeface="Arial" charset="0"/>
              </a:defRPr>
            </a:lvl3pPr>
            <a:lvl4pPr marL="1600200" indent="-228600">
              <a:defRPr sz="1600">
                <a:solidFill>
                  <a:schemeClr val="tx1"/>
                </a:solidFill>
                <a:latin typeface="Arial" charset="0"/>
                <a:cs typeface="Arial" charset="0"/>
              </a:defRPr>
            </a:lvl4pPr>
            <a:lvl5pPr marL="2057400" indent="-228600">
              <a:defRPr sz="1600">
                <a:solidFill>
                  <a:schemeClr val="tx1"/>
                </a:solidFill>
                <a:latin typeface="Arial" charset="0"/>
                <a:cs typeface="Arial" charset="0"/>
              </a:defRPr>
            </a:lvl5pPr>
            <a:lvl6pPr marL="2514600" indent="-228600" algn="ctr" eaLnBrk="0" fontAlgn="base" hangingPunct="0">
              <a:spcBef>
                <a:spcPct val="0"/>
              </a:spcBef>
              <a:spcAft>
                <a:spcPct val="0"/>
              </a:spcAft>
              <a:defRPr sz="1600">
                <a:solidFill>
                  <a:schemeClr val="tx1"/>
                </a:solidFill>
                <a:latin typeface="Arial" charset="0"/>
                <a:cs typeface="Arial" charset="0"/>
              </a:defRPr>
            </a:lvl6pPr>
            <a:lvl7pPr marL="2971800" indent="-228600" algn="ctr" eaLnBrk="0" fontAlgn="base" hangingPunct="0">
              <a:spcBef>
                <a:spcPct val="0"/>
              </a:spcBef>
              <a:spcAft>
                <a:spcPct val="0"/>
              </a:spcAft>
              <a:defRPr sz="1600">
                <a:solidFill>
                  <a:schemeClr val="tx1"/>
                </a:solidFill>
                <a:latin typeface="Arial" charset="0"/>
                <a:cs typeface="Arial" charset="0"/>
              </a:defRPr>
            </a:lvl7pPr>
            <a:lvl8pPr marL="3429000" indent="-228600" algn="ctr" eaLnBrk="0" fontAlgn="base" hangingPunct="0">
              <a:spcBef>
                <a:spcPct val="0"/>
              </a:spcBef>
              <a:spcAft>
                <a:spcPct val="0"/>
              </a:spcAft>
              <a:defRPr sz="1600">
                <a:solidFill>
                  <a:schemeClr val="tx1"/>
                </a:solidFill>
                <a:latin typeface="Arial" charset="0"/>
                <a:cs typeface="Arial" charset="0"/>
              </a:defRPr>
            </a:lvl8pPr>
            <a:lvl9pPr marL="3886200" indent="-228600" algn="ctr" eaLnBrk="0" fontAlgn="base" hangingPunct="0">
              <a:spcBef>
                <a:spcPct val="0"/>
              </a:spcBef>
              <a:spcAft>
                <a:spcPct val="0"/>
              </a:spcAft>
              <a:defRPr sz="1600">
                <a:solidFill>
                  <a:schemeClr val="tx1"/>
                </a:solidFill>
                <a:latin typeface="Arial" charset="0"/>
                <a:cs typeface="Arial" charset="0"/>
              </a:defRPr>
            </a:lvl9pPr>
          </a:lstStyle>
          <a:p>
            <a:pPr algn="l" eaLnBrk="1" hangingPunct="1"/>
            <a:r>
              <a:rPr lang="en-US" sz="767" dirty="0"/>
              <a:t>Patient(</a:t>
            </a:r>
            <a:r>
              <a:rPr lang="en-US" sz="767" u="sng" dirty="0" err="1"/>
              <a:t>PatientID</a:t>
            </a:r>
            <a:r>
              <a:rPr lang="en-US" sz="767" dirty="0"/>
              <a:t>, </a:t>
            </a:r>
            <a:r>
              <a:rPr lang="en-US" sz="767" dirty="0" err="1"/>
              <a:t>LastName</a:t>
            </a:r>
            <a:r>
              <a:rPr lang="en-US" sz="767" dirty="0"/>
              <a:t>, </a:t>
            </a:r>
            <a:r>
              <a:rPr lang="en-US" sz="767" dirty="0" err="1"/>
              <a:t>FirstName</a:t>
            </a:r>
            <a:r>
              <a:rPr lang="en-US" sz="767" dirty="0"/>
              <a:t>, </a:t>
            </a:r>
            <a:r>
              <a:rPr lang="en-US" sz="767" dirty="0" err="1"/>
              <a:t>DateOfBirth</a:t>
            </a:r>
            <a:r>
              <a:rPr lang="en-US" sz="767" dirty="0"/>
              <a:t>, ...)</a:t>
            </a:r>
          </a:p>
          <a:p>
            <a:pPr algn="l" eaLnBrk="1" hangingPunct="1"/>
            <a:r>
              <a:rPr lang="en-US" sz="767" dirty="0"/>
              <a:t>Visit(</a:t>
            </a:r>
            <a:r>
              <a:rPr lang="en-US" sz="767" u="sng" dirty="0" err="1"/>
              <a:t>VisitID</a:t>
            </a:r>
            <a:r>
              <a:rPr lang="en-US" sz="767" dirty="0"/>
              <a:t>, </a:t>
            </a:r>
            <a:r>
              <a:rPr lang="en-US" sz="767" dirty="0" err="1"/>
              <a:t>PatientID</a:t>
            </a:r>
            <a:r>
              <a:rPr lang="en-US" sz="767" dirty="0"/>
              <a:t>, </a:t>
            </a:r>
            <a:r>
              <a:rPr lang="en-US" sz="767" dirty="0" err="1"/>
              <a:t>VisitDate</a:t>
            </a:r>
            <a:r>
              <a:rPr lang="en-US" sz="767" dirty="0"/>
              <a:t>, </a:t>
            </a:r>
          </a:p>
        </p:txBody>
      </p:sp>
      <p:sp>
        <p:nvSpPr>
          <p:cNvPr id="21" name="Rectangle 8"/>
          <p:cNvSpPr>
            <a:spLocks noChangeArrowheads="1"/>
          </p:cNvSpPr>
          <p:nvPr/>
        </p:nvSpPr>
        <p:spPr bwMode="auto">
          <a:xfrm>
            <a:off x="4025877" y="3313896"/>
            <a:ext cx="2827606" cy="627635"/>
          </a:xfrm>
          <a:prstGeom prst="rect">
            <a:avLst/>
          </a:prstGeom>
          <a:solidFill>
            <a:schemeClr val="tx2">
              <a:lumMod val="75000"/>
            </a:schemeClr>
          </a:solidFill>
          <a:ln w="3175">
            <a:solidFill>
              <a:schemeClr val="tx1">
                <a:lumMod val="50000"/>
                <a:lumOff val="50000"/>
              </a:schemeClr>
            </a:solidFill>
            <a:miter lim="800000"/>
            <a:headEnd/>
            <a:tailEnd/>
          </a:ln>
        </p:spPr>
        <p:txBody>
          <a:bodyPr wrap="none" anchor="ctr"/>
          <a:lstStyle/>
          <a:p>
            <a:pPr algn="ctr"/>
            <a:r>
              <a:rPr lang="en-GB" sz="1534" b="1" dirty="0">
                <a:solidFill>
                  <a:schemeClr val="bg1"/>
                </a:solidFill>
              </a:rPr>
              <a:t>DV-</a:t>
            </a:r>
            <a:r>
              <a:rPr lang="en-GB" sz="1534" b="1" dirty="0" err="1">
                <a:solidFill>
                  <a:schemeClr val="bg1"/>
                </a:solidFill>
              </a:rPr>
              <a:t>Konzept</a:t>
            </a:r>
            <a:br>
              <a:rPr lang="en-GB" sz="1193" b="1" dirty="0">
                <a:solidFill>
                  <a:schemeClr val="bg1"/>
                </a:solidFill>
              </a:rPr>
            </a:br>
            <a:r>
              <a:rPr lang="en-GB" sz="1193" dirty="0">
                <a:solidFill>
                  <a:schemeClr val="bg1"/>
                </a:solidFill>
              </a:rPr>
              <a:t>Design Specification</a:t>
            </a:r>
          </a:p>
        </p:txBody>
      </p:sp>
      <p:sp>
        <p:nvSpPr>
          <p:cNvPr id="23" name="Rectangle 8"/>
          <p:cNvSpPr>
            <a:spLocks noChangeArrowheads="1"/>
          </p:cNvSpPr>
          <p:nvPr/>
        </p:nvSpPr>
        <p:spPr bwMode="auto">
          <a:xfrm>
            <a:off x="4025877" y="4119892"/>
            <a:ext cx="2827606" cy="627635"/>
          </a:xfrm>
          <a:prstGeom prst="rect">
            <a:avLst/>
          </a:prstGeom>
          <a:solidFill>
            <a:schemeClr val="tx2">
              <a:lumMod val="75000"/>
            </a:schemeClr>
          </a:solidFill>
          <a:ln w="3175">
            <a:solidFill>
              <a:schemeClr val="tx1">
                <a:lumMod val="50000"/>
                <a:lumOff val="50000"/>
              </a:schemeClr>
            </a:solidFill>
            <a:miter lim="800000"/>
            <a:headEnd/>
            <a:tailEnd/>
          </a:ln>
        </p:spPr>
        <p:txBody>
          <a:bodyPr wrap="none" anchor="ctr"/>
          <a:lstStyle/>
          <a:p>
            <a:pPr algn="ctr"/>
            <a:r>
              <a:rPr lang="en-GB" sz="1534" b="1" dirty="0" err="1">
                <a:solidFill>
                  <a:schemeClr val="bg1"/>
                </a:solidFill>
              </a:rPr>
              <a:t>Technische</a:t>
            </a:r>
            <a:r>
              <a:rPr lang="en-GB" sz="1534" b="1" dirty="0">
                <a:solidFill>
                  <a:schemeClr val="bg1"/>
                </a:solidFill>
              </a:rPr>
              <a:t> </a:t>
            </a:r>
            <a:r>
              <a:rPr lang="en-GB" sz="1534" b="1" dirty="0" err="1">
                <a:solidFill>
                  <a:schemeClr val="bg1"/>
                </a:solidFill>
              </a:rPr>
              <a:t>Implementierung</a:t>
            </a:r>
            <a:br>
              <a:rPr lang="en-GB" sz="1193" b="1" dirty="0">
                <a:solidFill>
                  <a:schemeClr val="bg1"/>
                </a:solidFill>
              </a:rPr>
            </a:br>
            <a:r>
              <a:rPr lang="en-GB" sz="1193" dirty="0">
                <a:solidFill>
                  <a:schemeClr val="bg1"/>
                </a:solidFill>
              </a:rPr>
              <a:t>Implementation Description</a:t>
            </a:r>
          </a:p>
        </p:txBody>
      </p:sp>
      <p:sp>
        <p:nvSpPr>
          <p:cNvPr id="25" name="Wolke 24"/>
          <p:cNvSpPr/>
          <p:nvPr/>
        </p:nvSpPr>
        <p:spPr>
          <a:xfrm>
            <a:off x="4025876" y="1675274"/>
            <a:ext cx="2912805" cy="631966"/>
          </a:xfrm>
          <a:prstGeom prst="cloud">
            <a:avLst/>
          </a:prstGeom>
          <a:solidFill>
            <a:schemeClr val="bg1">
              <a:lumMod val="95000"/>
            </a:schemeClr>
          </a:solidFill>
          <a:ln w="31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363" dirty="0">
                <a:solidFill>
                  <a:srgbClr val="254061"/>
                </a:solidFill>
              </a:rPr>
              <a:t>Betriebswirtschaftliche</a:t>
            </a:r>
          </a:p>
          <a:p>
            <a:pPr algn="ctr"/>
            <a:r>
              <a:rPr lang="de-DE" sz="1363" dirty="0">
                <a:solidFill>
                  <a:srgbClr val="254061"/>
                </a:solidFill>
              </a:rPr>
              <a:t>Problemstellung</a:t>
            </a:r>
          </a:p>
        </p:txBody>
      </p:sp>
      <p:sp>
        <p:nvSpPr>
          <p:cNvPr id="26" name="Wolke 25"/>
          <p:cNvSpPr/>
          <p:nvPr/>
        </p:nvSpPr>
        <p:spPr>
          <a:xfrm>
            <a:off x="4025877" y="4952509"/>
            <a:ext cx="2827606" cy="631966"/>
          </a:xfrm>
          <a:prstGeom prst="cloud">
            <a:avLst/>
          </a:prstGeom>
          <a:solidFill>
            <a:schemeClr val="bg1">
              <a:lumMod val="95000"/>
            </a:schemeClr>
          </a:solidFill>
          <a:ln w="31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363" dirty="0">
                <a:solidFill>
                  <a:srgbClr val="254061"/>
                </a:solidFill>
              </a:rPr>
              <a:t>Technische Implementierung</a:t>
            </a:r>
          </a:p>
        </p:txBody>
      </p:sp>
      <p:pic>
        <p:nvPicPr>
          <p:cNvPr id="4" name="Grafik 3"/>
          <p:cNvPicPr>
            <a:picLocks noChangeAspect="1"/>
          </p:cNvPicPr>
          <p:nvPr/>
        </p:nvPicPr>
        <p:blipFill>
          <a:blip r:embed="rId5" cstate="print"/>
          <a:stretch>
            <a:fillRect/>
          </a:stretch>
        </p:blipFill>
        <p:spPr>
          <a:xfrm>
            <a:off x="7036867" y="3310378"/>
            <a:ext cx="1288885" cy="616814"/>
          </a:xfrm>
          <a:prstGeom prst="rect">
            <a:avLst/>
          </a:prstGeom>
        </p:spPr>
      </p:pic>
      <p:pic>
        <p:nvPicPr>
          <p:cNvPr id="5" name="Grafik 4"/>
          <p:cNvPicPr>
            <a:picLocks noChangeAspect="1"/>
          </p:cNvPicPr>
          <p:nvPr/>
        </p:nvPicPr>
        <p:blipFill>
          <a:blip r:embed="rId6" cstate="print"/>
          <a:stretch>
            <a:fillRect/>
          </a:stretch>
        </p:blipFill>
        <p:spPr>
          <a:xfrm>
            <a:off x="7036866" y="4893278"/>
            <a:ext cx="1288885" cy="691199"/>
          </a:xfrm>
          <a:prstGeom prst="rect">
            <a:avLst/>
          </a:prstGeom>
        </p:spPr>
      </p:pic>
      <p:sp>
        <p:nvSpPr>
          <p:cNvPr id="6" name="Gleichschenkliges Dreieck 5"/>
          <p:cNvSpPr/>
          <p:nvPr/>
        </p:nvSpPr>
        <p:spPr>
          <a:xfrm flipV="1">
            <a:off x="2882404" y="1761210"/>
            <a:ext cx="770477" cy="3722527"/>
          </a:xfrm>
          <a:prstGeom prst="triangle">
            <a:avLst/>
          </a:prstGeom>
          <a:solidFill>
            <a:schemeClr val="bg1"/>
          </a:solidFill>
          <a:ln>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534" dirty="0"/>
          </a:p>
        </p:txBody>
      </p:sp>
      <p:sp>
        <p:nvSpPr>
          <p:cNvPr id="7" name="Textfeld 6"/>
          <p:cNvSpPr txBox="1"/>
          <p:nvPr/>
        </p:nvSpPr>
        <p:spPr>
          <a:xfrm rot="16200000">
            <a:off x="2180942" y="2653257"/>
            <a:ext cx="2172390" cy="328423"/>
          </a:xfrm>
          <a:prstGeom prst="rect">
            <a:avLst/>
          </a:prstGeom>
          <a:noFill/>
        </p:spPr>
        <p:txBody>
          <a:bodyPr wrap="none" rtlCol="0">
            <a:spAutoFit/>
          </a:bodyPr>
          <a:lstStyle/>
          <a:p>
            <a:r>
              <a:rPr lang="de-DE" sz="1534" dirty="0"/>
              <a:t>Grad der Formalisierung</a:t>
            </a:r>
          </a:p>
        </p:txBody>
      </p:sp>
      <p:sp>
        <p:nvSpPr>
          <p:cNvPr id="8" name="Runde Klammer rechts 7"/>
          <p:cNvSpPr/>
          <p:nvPr/>
        </p:nvSpPr>
        <p:spPr>
          <a:xfrm>
            <a:off x="8440223" y="2503648"/>
            <a:ext cx="233740" cy="143788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sz="1534"/>
          </a:p>
        </p:txBody>
      </p:sp>
      <p:sp>
        <p:nvSpPr>
          <p:cNvPr id="9" name="Textfeld 8"/>
          <p:cNvSpPr txBox="1"/>
          <p:nvPr/>
        </p:nvSpPr>
        <p:spPr>
          <a:xfrm>
            <a:off x="8788437" y="2995681"/>
            <a:ext cx="1257075" cy="328423"/>
          </a:xfrm>
          <a:prstGeom prst="rect">
            <a:avLst/>
          </a:prstGeom>
          <a:noFill/>
        </p:spPr>
        <p:txBody>
          <a:bodyPr wrap="none" rtlCol="0">
            <a:spAutoFit/>
          </a:bodyPr>
          <a:lstStyle/>
          <a:p>
            <a:r>
              <a:rPr lang="de-DE" sz="1534" dirty="0"/>
              <a:t>Modellierung</a:t>
            </a:r>
          </a:p>
        </p:txBody>
      </p:sp>
      <p:sp>
        <p:nvSpPr>
          <p:cNvPr id="24" name="Textfeld 23">
            <a:extLst>
              <a:ext uri="{FF2B5EF4-FFF2-40B4-BE49-F238E27FC236}">
                <a16:creationId xmlns:a16="http://schemas.microsoft.com/office/drawing/2014/main" id="{0D584BEB-C025-4471-B5BD-BAA0F9B2CB23}"/>
              </a:ext>
            </a:extLst>
          </p:cNvPr>
          <p:cNvSpPr txBox="1"/>
          <p:nvPr/>
        </p:nvSpPr>
        <p:spPr>
          <a:xfrm>
            <a:off x="8695024" y="5882957"/>
            <a:ext cx="1669047" cy="291170"/>
          </a:xfrm>
          <a:prstGeom prst="rect">
            <a:avLst/>
          </a:prstGeom>
          <a:noFill/>
        </p:spPr>
        <p:txBody>
          <a:bodyPr wrap="none" rtlCol="0">
            <a:spAutoFit/>
          </a:bodyPr>
          <a:lstStyle/>
          <a:p>
            <a:r>
              <a:rPr lang="de-DE" sz="1292" dirty="0"/>
              <a:t>Quelle: Scheer (1997)</a:t>
            </a:r>
          </a:p>
        </p:txBody>
      </p:sp>
    </p:spTree>
    <p:extLst>
      <p:ext uri="{BB962C8B-B14F-4D97-AF65-F5344CB8AC3E}">
        <p14:creationId xmlns:p14="http://schemas.microsoft.com/office/powerpoint/2010/main" val="2124678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b="0"/>
              <a:t>ARIS: Architektur Integrierter Informationssysteme</a:t>
            </a:r>
            <a:br>
              <a:rPr lang="de-DE"/>
            </a:br>
            <a:r>
              <a:rPr lang="de-DE"/>
              <a:t>Sichten und Abstraktionsebenen</a:t>
            </a:r>
          </a:p>
        </p:txBody>
      </p:sp>
      <p:sp>
        <p:nvSpPr>
          <p:cNvPr id="8" name="Isosceles Triangle 7"/>
          <p:cNvSpPr/>
          <p:nvPr/>
        </p:nvSpPr>
        <p:spPr bwMode="auto">
          <a:xfrm>
            <a:off x="3449515" y="2001401"/>
            <a:ext cx="5257800" cy="1160585"/>
          </a:xfrm>
          <a:prstGeom prst="triangle">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lstStyle/>
          <a:p>
            <a:pPr algn="ctr">
              <a:defRPr/>
            </a:pPr>
            <a:endParaRPr lang="en-US" sz="2045"/>
          </a:p>
        </p:txBody>
      </p:sp>
      <p:sp>
        <p:nvSpPr>
          <p:cNvPr id="11" name="Rectangle 10"/>
          <p:cNvSpPr/>
          <p:nvPr/>
        </p:nvSpPr>
        <p:spPr bwMode="auto">
          <a:xfrm>
            <a:off x="5361844" y="3467961"/>
            <a:ext cx="1433146" cy="1371666"/>
          </a:xfrm>
          <a:prstGeom prst="rect">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cxnSp>
        <p:nvCxnSpPr>
          <p:cNvPr id="11275" name="Straight Arrow Connector 9"/>
          <p:cNvCxnSpPr>
            <a:cxnSpLocks noChangeShapeType="1"/>
            <a:stCxn id="8" idx="3"/>
            <a:endCxn id="11" idx="0"/>
          </p:cNvCxnSpPr>
          <p:nvPr/>
        </p:nvCxnSpPr>
        <p:spPr bwMode="auto">
          <a:xfrm>
            <a:off x="6078418" y="3161985"/>
            <a:ext cx="1" cy="305976"/>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6" name="Straight Arrow Connector 11"/>
          <p:cNvCxnSpPr>
            <a:cxnSpLocks noChangeShapeType="1"/>
          </p:cNvCxnSpPr>
          <p:nvPr/>
        </p:nvCxnSpPr>
        <p:spPr bwMode="auto">
          <a:xfrm>
            <a:off x="4979867" y="4239876"/>
            <a:ext cx="381979"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7" name="Straight Arrow Connector 13"/>
          <p:cNvCxnSpPr>
            <a:cxnSpLocks noChangeShapeType="1"/>
          </p:cNvCxnSpPr>
          <p:nvPr/>
        </p:nvCxnSpPr>
        <p:spPr bwMode="auto">
          <a:xfrm>
            <a:off x="6794991" y="4239876"/>
            <a:ext cx="4150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3" name="Textfeld 2"/>
          <p:cNvSpPr txBox="1"/>
          <p:nvPr/>
        </p:nvSpPr>
        <p:spPr>
          <a:xfrm>
            <a:off x="7128057" y="4839629"/>
            <a:ext cx="1875835" cy="354584"/>
          </a:xfrm>
          <a:prstGeom prst="rect">
            <a:avLst/>
          </a:prstGeom>
          <a:noFill/>
        </p:spPr>
        <p:txBody>
          <a:bodyPr wrap="none" rtlCol="0">
            <a:spAutoFit/>
          </a:bodyPr>
          <a:lstStyle/>
          <a:p>
            <a:r>
              <a:rPr lang="de-DE" sz="1704" b="1"/>
              <a:t>FUNKTIONSSICHT</a:t>
            </a:r>
            <a:endParaRPr lang="en-US" sz="1704" b="1"/>
          </a:p>
        </p:txBody>
      </p:sp>
      <p:sp>
        <p:nvSpPr>
          <p:cNvPr id="13" name="Textfeld 12"/>
          <p:cNvSpPr txBox="1"/>
          <p:nvPr/>
        </p:nvSpPr>
        <p:spPr>
          <a:xfrm>
            <a:off x="3643931" y="4839629"/>
            <a:ext cx="1406154" cy="354584"/>
          </a:xfrm>
          <a:prstGeom prst="rect">
            <a:avLst/>
          </a:prstGeom>
          <a:noFill/>
        </p:spPr>
        <p:txBody>
          <a:bodyPr wrap="none" rtlCol="0">
            <a:spAutoFit/>
          </a:bodyPr>
          <a:lstStyle/>
          <a:p>
            <a:r>
              <a:rPr lang="de-DE" sz="1704" b="1"/>
              <a:t>DATENSICHT</a:t>
            </a:r>
            <a:endParaRPr lang="en-US" sz="1704" b="1"/>
          </a:p>
        </p:txBody>
      </p:sp>
      <p:sp>
        <p:nvSpPr>
          <p:cNvPr id="4" name="Textfeld 3"/>
          <p:cNvSpPr txBox="1"/>
          <p:nvPr/>
        </p:nvSpPr>
        <p:spPr>
          <a:xfrm>
            <a:off x="5357408" y="4894259"/>
            <a:ext cx="1630575" cy="354584"/>
          </a:xfrm>
          <a:prstGeom prst="rect">
            <a:avLst/>
          </a:prstGeom>
          <a:noFill/>
        </p:spPr>
        <p:txBody>
          <a:bodyPr wrap="none" rtlCol="0">
            <a:spAutoFit/>
          </a:bodyPr>
          <a:lstStyle/>
          <a:p>
            <a:r>
              <a:rPr lang="de-DE" sz="1704" b="1"/>
              <a:t>PROZESSSICHT</a:t>
            </a:r>
            <a:endParaRPr lang="en-US" sz="1704" b="1"/>
          </a:p>
        </p:txBody>
      </p:sp>
      <p:sp>
        <p:nvSpPr>
          <p:cNvPr id="15" name="Textfeld 14"/>
          <p:cNvSpPr txBox="1"/>
          <p:nvPr/>
        </p:nvSpPr>
        <p:spPr>
          <a:xfrm>
            <a:off x="3692614" y="1999162"/>
            <a:ext cx="1871025" cy="616836"/>
          </a:xfrm>
          <a:prstGeom prst="rect">
            <a:avLst/>
          </a:prstGeom>
          <a:noFill/>
        </p:spPr>
        <p:txBody>
          <a:bodyPr wrap="none" rtlCol="0">
            <a:spAutoFit/>
          </a:bodyPr>
          <a:lstStyle/>
          <a:p>
            <a:r>
              <a:rPr lang="de-DE" sz="1704" b="1" dirty="0"/>
              <a:t>ORGANISATIONS-</a:t>
            </a:r>
          </a:p>
          <a:p>
            <a:r>
              <a:rPr lang="de-DE" sz="1704" b="1" dirty="0"/>
              <a:t>SICHT</a:t>
            </a:r>
            <a:endParaRPr lang="en-US" sz="1704" b="1" dirty="0"/>
          </a:p>
        </p:txBody>
      </p:sp>
      <p:cxnSp>
        <p:nvCxnSpPr>
          <p:cNvPr id="26" name="Gerader Verbinder 25"/>
          <p:cNvCxnSpPr/>
          <p:nvPr/>
        </p:nvCxnSpPr>
        <p:spPr>
          <a:xfrm>
            <a:off x="5349206" y="4453158"/>
            <a:ext cx="144578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5645670" y="2224756"/>
            <a:ext cx="963725" cy="261610"/>
          </a:xfrm>
          <a:prstGeom prst="rect">
            <a:avLst/>
          </a:prstGeom>
          <a:solidFill>
            <a:srgbClr val="254061"/>
          </a:solidFill>
        </p:spPr>
        <p:txBody>
          <a:bodyPr wrap="none" rtlCol="0">
            <a:spAutoFit/>
          </a:bodyPr>
          <a:lstStyle/>
          <a:p>
            <a:pPr algn="ctr"/>
            <a:r>
              <a:rPr lang="en-GB" sz="1100" b="1" dirty="0" err="1">
                <a:solidFill>
                  <a:schemeClr val="bg1"/>
                </a:solidFill>
              </a:rPr>
              <a:t>Fachkonzept</a:t>
            </a:r>
            <a:endParaRPr lang="de-DE" sz="1278" b="1" dirty="0">
              <a:solidFill>
                <a:schemeClr val="bg1"/>
              </a:solidFill>
            </a:endParaRPr>
          </a:p>
        </p:txBody>
      </p:sp>
      <p:sp>
        <p:nvSpPr>
          <p:cNvPr id="38" name="Textfeld 37"/>
          <p:cNvSpPr txBox="1"/>
          <p:nvPr/>
        </p:nvSpPr>
        <p:spPr>
          <a:xfrm>
            <a:off x="5430066" y="2886360"/>
            <a:ext cx="1415773" cy="288990"/>
          </a:xfrm>
          <a:prstGeom prst="rect">
            <a:avLst/>
          </a:prstGeom>
          <a:solidFill>
            <a:srgbClr val="254061"/>
          </a:solidFill>
        </p:spPr>
        <p:txBody>
          <a:bodyPr wrap="none" rtlCol="0">
            <a:spAutoFit/>
          </a:bodyPr>
          <a:lstStyle/>
          <a:p>
            <a:pPr algn="ctr"/>
            <a:r>
              <a:rPr lang="en-GB" sz="1278" b="1" err="1">
                <a:solidFill>
                  <a:schemeClr val="bg1"/>
                </a:solidFill>
              </a:rPr>
              <a:t>Implementierung</a:t>
            </a:r>
            <a:endParaRPr lang="de-DE" sz="1278" b="1">
              <a:solidFill>
                <a:schemeClr val="bg1"/>
              </a:solidFill>
            </a:endParaRPr>
          </a:p>
        </p:txBody>
      </p:sp>
      <p:sp>
        <p:nvSpPr>
          <p:cNvPr id="42" name="Can 8"/>
          <p:cNvSpPr/>
          <p:nvPr/>
        </p:nvSpPr>
        <p:spPr bwMode="auto">
          <a:xfrm>
            <a:off x="3585981" y="4140074"/>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1" name="Can 8"/>
          <p:cNvSpPr/>
          <p:nvPr/>
        </p:nvSpPr>
        <p:spPr bwMode="auto">
          <a:xfrm>
            <a:off x="3585981" y="3753604"/>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0" name="Can 8"/>
          <p:cNvSpPr/>
          <p:nvPr/>
        </p:nvSpPr>
        <p:spPr bwMode="auto">
          <a:xfrm>
            <a:off x="3585981" y="3359294"/>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12" name="Textfeld 11"/>
          <p:cNvSpPr txBox="1"/>
          <p:nvPr/>
        </p:nvSpPr>
        <p:spPr>
          <a:xfrm>
            <a:off x="3767521" y="3657739"/>
            <a:ext cx="1088761" cy="288990"/>
          </a:xfrm>
          <a:prstGeom prst="rect">
            <a:avLst/>
          </a:prstGeom>
          <a:solidFill>
            <a:srgbClr val="254061"/>
          </a:solidFill>
        </p:spPr>
        <p:txBody>
          <a:bodyPr wrap="none" rtlCol="0">
            <a:spAutoFit/>
          </a:bodyPr>
          <a:lstStyle/>
          <a:p>
            <a:pPr algn="ctr"/>
            <a:r>
              <a:rPr lang="en-GB" sz="1278" b="1" err="1">
                <a:solidFill>
                  <a:schemeClr val="bg1"/>
                </a:solidFill>
              </a:rPr>
              <a:t>Fachkonzept</a:t>
            </a:r>
            <a:endParaRPr lang="de-DE" sz="1278" b="1">
              <a:solidFill>
                <a:schemeClr val="bg1"/>
              </a:solidFill>
            </a:endParaRPr>
          </a:p>
        </p:txBody>
      </p:sp>
      <p:sp>
        <p:nvSpPr>
          <p:cNvPr id="21" name="Textfeld 20"/>
          <p:cNvSpPr txBox="1"/>
          <p:nvPr/>
        </p:nvSpPr>
        <p:spPr>
          <a:xfrm>
            <a:off x="3793170" y="4093213"/>
            <a:ext cx="1037463" cy="288990"/>
          </a:xfrm>
          <a:prstGeom prst="rect">
            <a:avLst/>
          </a:prstGeom>
          <a:solidFill>
            <a:srgbClr val="254061"/>
          </a:solid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22" name="Textfeld 21"/>
          <p:cNvSpPr txBox="1"/>
          <p:nvPr/>
        </p:nvSpPr>
        <p:spPr>
          <a:xfrm>
            <a:off x="3604014" y="4528686"/>
            <a:ext cx="1342819" cy="276999"/>
          </a:xfrm>
          <a:prstGeom prst="rect">
            <a:avLst/>
          </a:prstGeom>
          <a:solidFill>
            <a:srgbClr val="254061"/>
          </a:solidFill>
        </p:spPr>
        <p:txBody>
          <a:bodyPr wrap="square" rtlCol="0">
            <a:spAutoFit/>
          </a:bodyPr>
          <a:lstStyle/>
          <a:p>
            <a:pPr algn="ctr"/>
            <a:r>
              <a:rPr lang="en-GB" sz="1200" b="1" dirty="0" err="1">
                <a:solidFill>
                  <a:schemeClr val="bg1"/>
                </a:solidFill>
              </a:rPr>
              <a:t>Implementierung</a:t>
            </a:r>
            <a:endParaRPr lang="de-DE" sz="1200" b="1" dirty="0">
              <a:solidFill>
                <a:schemeClr val="bg1"/>
              </a:solidFill>
            </a:endParaRPr>
          </a:p>
        </p:txBody>
      </p:sp>
      <p:sp>
        <p:nvSpPr>
          <p:cNvPr id="43" name="Can 8"/>
          <p:cNvSpPr/>
          <p:nvPr/>
        </p:nvSpPr>
        <p:spPr bwMode="auto">
          <a:xfrm>
            <a:off x="7210001" y="4140074"/>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4" name="Can 8"/>
          <p:cNvSpPr/>
          <p:nvPr/>
        </p:nvSpPr>
        <p:spPr bwMode="auto">
          <a:xfrm>
            <a:off x="7210001" y="3753604"/>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5" name="Can 8"/>
          <p:cNvSpPr/>
          <p:nvPr/>
        </p:nvSpPr>
        <p:spPr bwMode="auto">
          <a:xfrm>
            <a:off x="7210001" y="3359294"/>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6" name="Textfeld 45"/>
          <p:cNvSpPr txBox="1"/>
          <p:nvPr/>
        </p:nvSpPr>
        <p:spPr>
          <a:xfrm>
            <a:off x="7391540" y="3657739"/>
            <a:ext cx="1088761" cy="288990"/>
          </a:xfrm>
          <a:prstGeom prst="rect">
            <a:avLst/>
          </a:prstGeom>
          <a:solidFill>
            <a:srgbClr val="254061"/>
          </a:solidFill>
        </p:spPr>
        <p:txBody>
          <a:bodyPr wrap="none" rtlCol="0">
            <a:spAutoFit/>
          </a:bodyPr>
          <a:lstStyle/>
          <a:p>
            <a:pPr algn="ctr"/>
            <a:r>
              <a:rPr lang="en-GB" sz="1278" b="1" err="1">
                <a:solidFill>
                  <a:schemeClr val="bg1"/>
                </a:solidFill>
              </a:rPr>
              <a:t>Fachkonzept</a:t>
            </a:r>
            <a:endParaRPr lang="de-DE" sz="1278" b="1">
              <a:solidFill>
                <a:schemeClr val="bg1"/>
              </a:solidFill>
            </a:endParaRPr>
          </a:p>
        </p:txBody>
      </p:sp>
      <p:sp>
        <p:nvSpPr>
          <p:cNvPr id="47" name="Textfeld 46"/>
          <p:cNvSpPr txBox="1"/>
          <p:nvPr/>
        </p:nvSpPr>
        <p:spPr>
          <a:xfrm>
            <a:off x="7417189" y="4093213"/>
            <a:ext cx="1037463" cy="288990"/>
          </a:xfrm>
          <a:prstGeom prst="rect">
            <a:avLst/>
          </a:prstGeom>
          <a:solidFill>
            <a:srgbClr val="254061"/>
          </a:solid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48" name="Textfeld 47"/>
          <p:cNvSpPr txBox="1"/>
          <p:nvPr/>
        </p:nvSpPr>
        <p:spPr>
          <a:xfrm>
            <a:off x="7312993" y="4528686"/>
            <a:ext cx="1245854" cy="261610"/>
          </a:xfrm>
          <a:prstGeom prst="rect">
            <a:avLst/>
          </a:prstGeom>
          <a:solidFill>
            <a:srgbClr val="254061"/>
          </a:solidFill>
        </p:spPr>
        <p:txBody>
          <a:bodyPr wrap="none" rtlCol="0">
            <a:spAutoFit/>
          </a:bodyPr>
          <a:lstStyle/>
          <a:p>
            <a:pPr algn="ctr"/>
            <a:r>
              <a:rPr lang="en-GB" sz="1100" b="1" dirty="0" err="1">
                <a:solidFill>
                  <a:schemeClr val="bg1"/>
                </a:solidFill>
              </a:rPr>
              <a:t>Implementierung</a:t>
            </a:r>
            <a:endParaRPr lang="de-DE" sz="1278" b="1" dirty="0">
              <a:solidFill>
                <a:schemeClr val="bg1"/>
              </a:solidFill>
            </a:endParaRPr>
          </a:p>
        </p:txBody>
      </p:sp>
      <p:sp>
        <p:nvSpPr>
          <p:cNvPr id="49" name="Textfeld 48"/>
          <p:cNvSpPr txBox="1"/>
          <p:nvPr/>
        </p:nvSpPr>
        <p:spPr>
          <a:xfrm>
            <a:off x="5552568" y="3657739"/>
            <a:ext cx="1088761" cy="288990"/>
          </a:xfrm>
          <a:prstGeom prst="rect">
            <a:avLst/>
          </a:prstGeom>
          <a:solidFill>
            <a:srgbClr val="254061"/>
          </a:solidFill>
        </p:spPr>
        <p:txBody>
          <a:bodyPr wrap="none" rtlCol="0">
            <a:spAutoFit/>
          </a:bodyPr>
          <a:lstStyle/>
          <a:p>
            <a:pPr algn="ctr"/>
            <a:r>
              <a:rPr lang="en-GB" sz="1278" b="1" dirty="0" err="1">
                <a:solidFill>
                  <a:schemeClr val="bg1"/>
                </a:solidFill>
              </a:rPr>
              <a:t>Fachkonzept</a:t>
            </a:r>
            <a:endParaRPr lang="de-DE" sz="1278" b="1" dirty="0">
              <a:solidFill>
                <a:schemeClr val="bg1"/>
              </a:solidFill>
            </a:endParaRPr>
          </a:p>
        </p:txBody>
      </p:sp>
      <p:sp>
        <p:nvSpPr>
          <p:cNvPr id="50" name="Textfeld 49"/>
          <p:cNvSpPr txBox="1"/>
          <p:nvPr/>
        </p:nvSpPr>
        <p:spPr>
          <a:xfrm>
            <a:off x="5578217" y="4093213"/>
            <a:ext cx="1037463" cy="288990"/>
          </a:xfrm>
          <a:prstGeom prst="rect">
            <a:avLst/>
          </a:prstGeom>
          <a:solidFill>
            <a:srgbClr val="254061"/>
          </a:solid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51" name="Textfeld 50"/>
          <p:cNvSpPr txBox="1"/>
          <p:nvPr/>
        </p:nvSpPr>
        <p:spPr>
          <a:xfrm>
            <a:off x="5427533" y="4528686"/>
            <a:ext cx="1338828" cy="276999"/>
          </a:xfrm>
          <a:prstGeom prst="rect">
            <a:avLst/>
          </a:prstGeom>
          <a:solidFill>
            <a:srgbClr val="254061"/>
          </a:solidFill>
        </p:spPr>
        <p:txBody>
          <a:bodyPr wrap="none" rtlCol="0">
            <a:spAutoFit/>
          </a:bodyPr>
          <a:lstStyle/>
          <a:p>
            <a:pPr algn="ctr"/>
            <a:r>
              <a:rPr lang="en-GB" sz="1200" b="1" dirty="0" err="1">
                <a:solidFill>
                  <a:schemeClr val="bg1"/>
                </a:solidFill>
              </a:rPr>
              <a:t>Implementierung</a:t>
            </a:r>
            <a:endParaRPr lang="de-DE" sz="1278" b="1" dirty="0">
              <a:solidFill>
                <a:schemeClr val="bg1"/>
              </a:solidFill>
            </a:endParaRPr>
          </a:p>
        </p:txBody>
      </p:sp>
      <p:sp>
        <p:nvSpPr>
          <p:cNvPr id="53" name="Textfeld 52">
            <a:extLst>
              <a:ext uri="{FF2B5EF4-FFF2-40B4-BE49-F238E27FC236}">
                <a16:creationId xmlns:a16="http://schemas.microsoft.com/office/drawing/2014/main" id="{42DE5E55-67C3-4988-BBA0-5E1D93097C59}"/>
              </a:ext>
            </a:extLst>
          </p:cNvPr>
          <p:cNvSpPr txBox="1"/>
          <p:nvPr/>
        </p:nvSpPr>
        <p:spPr>
          <a:xfrm>
            <a:off x="8695024" y="5882957"/>
            <a:ext cx="1669047" cy="291170"/>
          </a:xfrm>
          <a:prstGeom prst="rect">
            <a:avLst/>
          </a:prstGeom>
          <a:noFill/>
        </p:spPr>
        <p:txBody>
          <a:bodyPr wrap="none" rtlCol="0">
            <a:spAutoFit/>
          </a:bodyPr>
          <a:lstStyle/>
          <a:p>
            <a:r>
              <a:rPr lang="de-DE" sz="1292"/>
              <a:t>Quelle: Scheer (1997)</a:t>
            </a:r>
          </a:p>
        </p:txBody>
      </p:sp>
      <p:sp>
        <p:nvSpPr>
          <p:cNvPr id="37" name="Textfeld 36"/>
          <p:cNvSpPr txBox="1"/>
          <p:nvPr/>
        </p:nvSpPr>
        <p:spPr>
          <a:xfrm>
            <a:off x="5645670" y="2571929"/>
            <a:ext cx="984565" cy="276999"/>
          </a:xfrm>
          <a:prstGeom prst="rect">
            <a:avLst/>
          </a:prstGeom>
          <a:solidFill>
            <a:srgbClr val="254061"/>
          </a:solidFill>
        </p:spPr>
        <p:txBody>
          <a:bodyPr wrap="none" rtlCol="0">
            <a:spAutoFit/>
          </a:bodyPr>
          <a:lstStyle/>
          <a:p>
            <a:pPr algn="ctr"/>
            <a:r>
              <a:rPr lang="en-GB" sz="1200" b="1" dirty="0">
                <a:solidFill>
                  <a:schemeClr val="bg1"/>
                </a:solidFill>
              </a:rPr>
              <a:t>DV-</a:t>
            </a:r>
            <a:r>
              <a:rPr lang="en-GB" sz="1200" b="1" dirty="0" err="1">
                <a:solidFill>
                  <a:schemeClr val="bg1"/>
                </a:solidFill>
              </a:rPr>
              <a:t>Konzept</a:t>
            </a:r>
            <a:endParaRPr lang="de-DE" sz="1200" b="1" dirty="0">
              <a:solidFill>
                <a:schemeClr val="bg1"/>
              </a:solidFill>
            </a:endParaRPr>
          </a:p>
        </p:txBody>
      </p:sp>
      <p:cxnSp>
        <p:nvCxnSpPr>
          <p:cNvPr id="34" name="Gerader Verbinder 33"/>
          <p:cNvCxnSpPr>
            <a:endCxn id="8" idx="5"/>
          </p:cNvCxnSpPr>
          <p:nvPr/>
        </p:nvCxnSpPr>
        <p:spPr>
          <a:xfrm>
            <a:off x="4794740" y="2571929"/>
            <a:ext cx="2598126" cy="9764"/>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a:off x="4178467" y="2851200"/>
            <a:ext cx="377447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p:nvCxnSpPr>
        <p:spPr>
          <a:xfrm>
            <a:off x="5349206" y="3943051"/>
            <a:ext cx="144578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08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A7C3-A789-4E5C-251A-1BC3F1BB648B}"/>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5CB2061B-C48D-21B5-6D89-2E2B8D2F6313}"/>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955BEFA0-5F27-F14F-CBD3-72B2CEC946A0}"/>
              </a:ext>
            </a:extLst>
          </p:cNvPr>
          <p:cNvSpPr>
            <a:spLocks noGrp="1"/>
          </p:cNvSpPr>
          <p:nvPr>
            <p:ph type="body" sz="half" idx="2"/>
          </p:nvPr>
        </p:nvSpPr>
        <p:spPr>
          <a:xfrm>
            <a:off x="251998" y="2255216"/>
            <a:ext cx="10846308" cy="599993"/>
          </a:xfrm>
          <a:solidFill>
            <a:srgbClr val="254061"/>
          </a:solidFill>
        </p:spPr>
        <p:txBody>
          <a:bodyPr/>
          <a:lstStyle/>
          <a:p>
            <a:r>
              <a:rPr lang="de-DE" sz="2400" b="1" dirty="0"/>
              <a:t>Informationsmodelle und Modellierungssprachen</a:t>
            </a:r>
          </a:p>
        </p:txBody>
      </p:sp>
      <p:sp>
        <p:nvSpPr>
          <p:cNvPr id="13" name="Textplatzhalter 12">
            <a:extLst>
              <a:ext uri="{FF2B5EF4-FFF2-40B4-BE49-F238E27FC236}">
                <a16:creationId xmlns:a16="http://schemas.microsoft.com/office/drawing/2014/main" id="{09CC2BB5-6878-DB91-49B1-ED033FF798E2}"/>
              </a:ext>
            </a:extLst>
          </p:cNvPr>
          <p:cNvSpPr>
            <a:spLocks noGrp="1"/>
          </p:cNvSpPr>
          <p:nvPr>
            <p:ph type="body" sz="half" idx="13"/>
          </p:nvPr>
        </p:nvSpPr>
        <p:spPr>
          <a:xfrm>
            <a:off x="251998" y="2964220"/>
            <a:ext cx="10846308" cy="599993"/>
          </a:xfrm>
          <a:solidFill>
            <a:srgbClr val="254061"/>
          </a:solidFill>
        </p:spPr>
        <p:txBody>
          <a:bodyPr/>
          <a:lstStyle/>
          <a:p>
            <a:r>
              <a:rPr lang="de-DE" sz="2400" b="1" dirty="0"/>
              <a:t>Einordnung in ARIS</a:t>
            </a:r>
          </a:p>
        </p:txBody>
      </p:sp>
      <p:sp>
        <p:nvSpPr>
          <p:cNvPr id="14" name="Textplatzhalter 13">
            <a:extLst>
              <a:ext uri="{FF2B5EF4-FFF2-40B4-BE49-F238E27FC236}">
                <a16:creationId xmlns:a16="http://schemas.microsoft.com/office/drawing/2014/main" id="{E34DF543-FAD2-74E6-FFFE-4625933C2E2F}"/>
              </a:ext>
            </a:extLst>
          </p:cNvPr>
          <p:cNvSpPr>
            <a:spLocks noGrp="1"/>
          </p:cNvSpPr>
          <p:nvPr>
            <p:ph type="body" sz="half" idx="14"/>
          </p:nvPr>
        </p:nvSpPr>
        <p:spPr>
          <a:xfrm>
            <a:off x="251998" y="3673224"/>
            <a:ext cx="10846308" cy="599993"/>
          </a:xfrm>
          <a:solidFill>
            <a:srgbClr val="FF9600"/>
          </a:solidFill>
        </p:spPr>
        <p:txBody>
          <a:bodyPr/>
          <a:lstStyle/>
          <a:p>
            <a:r>
              <a:rPr lang="de-DE" sz="2400" b="1" dirty="0"/>
              <a:t>Wesentliche Merkmale von Informationsmodelle</a:t>
            </a:r>
          </a:p>
        </p:txBody>
      </p:sp>
      <p:sp>
        <p:nvSpPr>
          <p:cNvPr id="16" name="Textplatzhalter 15">
            <a:extLst>
              <a:ext uri="{FF2B5EF4-FFF2-40B4-BE49-F238E27FC236}">
                <a16:creationId xmlns:a16="http://schemas.microsoft.com/office/drawing/2014/main" id="{DDAF29AF-C6AB-275F-477C-F7CD081B057A}"/>
              </a:ext>
            </a:extLst>
          </p:cNvPr>
          <p:cNvSpPr>
            <a:spLocks noGrp="1"/>
          </p:cNvSpPr>
          <p:nvPr>
            <p:ph type="body" sz="half" idx="16"/>
          </p:nvPr>
        </p:nvSpPr>
        <p:spPr>
          <a:xfrm>
            <a:off x="251998" y="1546212"/>
            <a:ext cx="10846308" cy="599993"/>
          </a:xfrm>
          <a:solidFill>
            <a:srgbClr val="254061"/>
          </a:solidFill>
        </p:spPr>
        <p:txBody>
          <a:bodyPr/>
          <a:lstStyle/>
          <a:p>
            <a:r>
              <a:rPr lang="de-DE" sz="2400" b="1" dirty="0"/>
              <a:t>Informationssysteme und ihre Komplexität</a:t>
            </a:r>
          </a:p>
        </p:txBody>
      </p:sp>
      <p:sp>
        <p:nvSpPr>
          <p:cNvPr id="17" name="Textplatzhalter 16">
            <a:extLst>
              <a:ext uri="{FF2B5EF4-FFF2-40B4-BE49-F238E27FC236}">
                <a16:creationId xmlns:a16="http://schemas.microsoft.com/office/drawing/2014/main" id="{0310AD24-8471-763E-A415-876FBA3188B7}"/>
              </a:ext>
            </a:extLst>
          </p:cNvPr>
          <p:cNvSpPr>
            <a:spLocks noGrp="1"/>
          </p:cNvSpPr>
          <p:nvPr>
            <p:ph type="body" sz="half" idx="17"/>
          </p:nvPr>
        </p:nvSpPr>
        <p:spPr>
          <a:xfrm>
            <a:off x="251998" y="4382228"/>
            <a:ext cx="10846308" cy="599993"/>
          </a:xfrm>
          <a:solidFill>
            <a:srgbClr val="254061"/>
          </a:solidFill>
        </p:spPr>
        <p:txBody>
          <a:bodyPr/>
          <a:lstStyle/>
          <a:p>
            <a:r>
              <a:rPr lang="de-DE" sz="2400" b="1" dirty="0"/>
              <a:t>Methoden-Engineering &amp; Methodenhandbuch</a:t>
            </a:r>
          </a:p>
        </p:txBody>
      </p:sp>
    </p:spTree>
    <p:extLst>
      <p:ext uri="{BB962C8B-B14F-4D97-AF65-F5344CB8AC3E}">
        <p14:creationId xmlns:p14="http://schemas.microsoft.com/office/powerpoint/2010/main" val="2255901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B65A942C-9372-2D8C-03DB-E1FD409E6ABB}"/>
              </a:ext>
            </a:extLst>
          </p:cNvPr>
          <p:cNvSpPr>
            <a:spLocks noGrp="1"/>
          </p:cNvSpPr>
          <p:nvPr>
            <p:ph type="title"/>
          </p:nvPr>
        </p:nvSpPr>
        <p:spPr/>
        <p:txBody>
          <a:bodyPr/>
          <a:lstStyle/>
          <a:p>
            <a:r>
              <a:rPr lang="de-DE"/>
              <a:t>Analogie: Modellierung beim Hausbau</a:t>
            </a:r>
          </a:p>
        </p:txBody>
      </p:sp>
      <p:pic>
        <p:nvPicPr>
          <p:cNvPr id="5" name="Grafik 4">
            <a:extLst>
              <a:ext uri="{FF2B5EF4-FFF2-40B4-BE49-F238E27FC236}">
                <a16:creationId xmlns:a16="http://schemas.microsoft.com/office/drawing/2014/main" id="{CB80CD72-85C8-2554-329C-A551CE4E0ECE}"/>
              </a:ext>
            </a:extLst>
          </p:cNvPr>
          <p:cNvPicPr>
            <a:picLocks noChangeAspect="1"/>
          </p:cNvPicPr>
          <p:nvPr/>
        </p:nvPicPr>
        <p:blipFill>
          <a:blip r:embed="rId2"/>
          <a:stretch>
            <a:fillRect/>
          </a:stretch>
        </p:blipFill>
        <p:spPr>
          <a:xfrm>
            <a:off x="5153964" y="1056023"/>
            <a:ext cx="5514036" cy="5016582"/>
          </a:xfrm>
          <a:prstGeom prst="rect">
            <a:avLst/>
          </a:prstGeom>
        </p:spPr>
      </p:pic>
      <p:sp>
        <p:nvSpPr>
          <p:cNvPr id="6" name="Textfeld 5">
            <a:extLst>
              <a:ext uri="{FF2B5EF4-FFF2-40B4-BE49-F238E27FC236}">
                <a16:creationId xmlns:a16="http://schemas.microsoft.com/office/drawing/2014/main" id="{3C5A6228-2550-E62E-0DAF-1585539FCAE8}"/>
              </a:ext>
            </a:extLst>
          </p:cNvPr>
          <p:cNvSpPr txBox="1"/>
          <p:nvPr/>
        </p:nvSpPr>
        <p:spPr>
          <a:xfrm>
            <a:off x="1786550" y="1647732"/>
            <a:ext cx="4921540" cy="3693319"/>
          </a:xfrm>
          <a:prstGeom prst="rect">
            <a:avLst/>
          </a:prstGeom>
          <a:noFill/>
        </p:spPr>
        <p:txBody>
          <a:bodyPr wrap="none" rtlCol="0">
            <a:spAutoFit/>
          </a:bodyPr>
          <a:lstStyle/>
          <a:p>
            <a:pPr marL="285750" indent="-285750">
              <a:buFont typeface="Arial" panose="020B0604020202020204" pitchFamily="34" charset="0"/>
              <a:buChar char="•"/>
            </a:pPr>
            <a:r>
              <a:rPr lang="de-DE" dirty="0"/>
              <a:t>Am Anfang: Vage Vorstellung des Bauprojekts</a:t>
            </a:r>
            <a:br>
              <a:rPr lang="de-DE" dirty="0"/>
            </a:br>
            <a:endParaRPr lang="de-DE" dirty="0"/>
          </a:p>
          <a:p>
            <a:pPr marL="285750" indent="-285750">
              <a:buFont typeface="Arial" panose="020B0604020202020204" pitchFamily="34" charset="0"/>
              <a:buChar char="•"/>
            </a:pPr>
            <a:r>
              <a:rPr lang="de-DE" dirty="0"/>
              <a:t>Keine konkreten Details</a:t>
            </a:r>
            <a:br>
              <a:rPr lang="de-DE" dirty="0"/>
            </a:br>
            <a:endParaRPr lang="de-DE" dirty="0"/>
          </a:p>
          <a:p>
            <a:pPr marL="285750" indent="-285750">
              <a:buFont typeface="Arial" panose="020B0604020202020204" pitchFamily="34" charset="0"/>
              <a:buChar char="•"/>
            </a:pPr>
            <a:r>
              <a:rPr lang="de-DE" dirty="0"/>
              <a:t>Meist noch wenig belastbarer </a:t>
            </a:r>
            <a:br>
              <a:rPr lang="de-DE" dirty="0"/>
            </a:br>
            <a:r>
              <a:rPr lang="de-DE" dirty="0"/>
              <a:t>Kostenrahmen</a:t>
            </a:r>
            <a:br>
              <a:rPr lang="de-DE" dirty="0"/>
            </a:br>
            <a:endParaRPr lang="de-DE" dirty="0"/>
          </a:p>
          <a:p>
            <a:pPr marL="285750" indent="-285750">
              <a:buFont typeface="Arial" panose="020B0604020202020204" pitchFamily="34" charset="0"/>
              <a:buChar char="•"/>
            </a:pPr>
            <a:r>
              <a:rPr lang="de-DE" dirty="0"/>
              <a:t>Zweistufige Konkretisierung</a:t>
            </a:r>
          </a:p>
          <a:p>
            <a:pPr marL="742950" lvl="1" indent="-285750">
              <a:buFont typeface="Arial" panose="020B0604020202020204" pitchFamily="34" charset="0"/>
              <a:buChar char="•"/>
            </a:pPr>
            <a:r>
              <a:rPr lang="de-DE" b="1" dirty="0"/>
              <a:t>Grundrissplanung</a:t>
            </a:r>
            <a:r>
              <a:rPr lang="de-DE" dirty="0"/>
              <a:t> </a:t>
            </a:r>
            <a:br>
              <a:rPr lang="de-DE" dirty="0"/>
            </a:br>
            <a:r>
              <a:rPr lang="de-DE" dirty="0"/>
              <a:t>(Architekt + Kunde)</a:t>
            </a:r>
            <a:br>
              <a:rPr lang="de-DE" dirty="0"/>
            </a:br>
            <a:endParaRPr lang="de-DE" dirty="0"/>
          </a:p>
          <a:p>
            <a:pPr marL="742950" lvl="1" indent="-285750">
              <a:buFont typeface="Arial" panose="020B0604020202020204" pitchFamily="34" charset="0"/>
              <a:buChar char="•"/>
            </a:pPr>
            <a:r>
              <a:rPr lang="de-DE" b="1" dirty="0"/>
              <a:t>Umsetzungsplanung</a:t>
            </a:r>
            <a:r>
              <a:rPr lang="de-DE" dirty="0"/>
              <a:t> </a:t>
            </a:r>
            <a:br>
              <a:rPr lang="de-DE" dirty="0"/>
            </a:br>
            <a:r>
              <a:rPr lang="de-DE" dirty="0"/>
              <a:t>(Architekt + Gewerke</a:t>
            </a:r>
          </a:p>
        </p:txBody>
      </p:sp>
    </p:spTree>
    <p:extLst>
      <p:ext uri="{BB962C8B-B14F-4D97-AF65-F5344CB8AC3E}">
        <p14:creationId xmlns:p14="http://schemas.microsoft.com/office/powerpoint/2010/main" val="48683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718088-7953-E7AA-8667-A10FBA284181}"/>
              </a:ext>
            </a:extLst>
          </p:cNvPr>
          <p:cNvSpPr>
            <a:spLocks noGrp="1"/>
          </p:cNvSpPr>
          <p:nvPr>
            <p:ph type="title"/>
          </p:nvPr>
        </p:nvSpPr>
        <p:spPr/>
        <p:txBody>
          <a:bodyPr/>
          <a:lstStyle/>
          <a:p>
            <a:endParaRPr lang="de-DE"/>
          </a:p>
        </p:txBody>
      </p:sp>
      <p:pic>
        <p:nvPicPr>
          <p:cNvPr id="4" name="Grafik 3">
            <a:extLst>
              <a:ext uri="{FF2B5EF4-FFF2-40B4-BE49-F238E27FC236}">
                <a16:creationId xmlns:a16="http://schemas.microsoft.com/office/drawing/2014/main" id="{97C0A18D-6368-F2AE-2C42-874B3B4FBC5C}"/>
              </a:ext>
            </a:extLst>
          </p:cNvPr>
          <p:cNvPicPr>
            <a:picLocks noChangeAspect="1"/>
          </p:cNvPicPr>
          <p:nvPr/>
        </p:nvPicPr>
        <p:blipFill>
          <a:blip r:embed="rId2"/>
          <a:stretch>
            <a:fillRect/>
          </a:stretch>
        </p:blipFill>
        <p:spPr>
          <a:xfrm>
            <a:off x="1204499" y="1025973"/>
            <a:ext cx="8701501" cy="5612211"/>
          </a:xfrm>
          <a:prstGeom prst="rect">
            <a:avLst/>
          </a:prstGeom>
        </p:spPr>
      </p:pic>
    </p:spTree>
    <p:extLst>
      <p:ext uri="{BB962C8B-B14F-4D97-AF65-F5344CB8AC3E}">
        <p14:creationId xmlns:p14="http://schemas.microsoft.com/office/powerpoint/2010/main" val="1847342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EB2030E-5582-F109-6CB3-DEC433C4FE8A}"/>
              </a:ext>
            </a:extLst>
          </p:cNvPr>
          <p:cNvSpPr>
            <a:spLocks noGrp="1"/>
          </p:cNvSpPr>
          <p:nvPr>
            <p:ph type="title"/>
          </p:nvPr>
        </p:nvSpPr>
        <p:spPr/>
        <p:txBody>
          <a:bodyPr/>
          <a:lstStyle/>
          <a:p>
            <a:r>
              <a:rPr lang="de-DE" dirty="0"/>
              <a:t>Entwicklung Grundrissplanung</a:t>
            </a:r>
            <a:br>
              <a:rPr lang="de-DE" dirty="0"/>
            </a:br>
            <a:r>
              <a:rPr lang="de-DE" dirty="0"/>
              <a:t>(Fachkonzept auch </a:t>
            </a:r>
            <a:r>
              <a:rPr lang="de-DE" dirty="0" err="1"/>
              <a:t>Requirements</a:t>
            </a:r>
            <a:r>
              <a:rPr lang="de-DE" dirty="0"/>
              <a:t> Definition)</a:t>
            </a:r>
          </a:p>
        </p:txBody>
      </p:sp>
      <p:pic>
        <p:nvPicPr>
          <p:cNvPr id="9" name="Grafik 8">
            <a:extLst>
              <a:ext uri="{FF2B5EF4-FFF2-40B4-BE49-F238E27FC236}">
                <a16:creationId xmlns:a16="http://schemas.microsoft.com/office/drawing/2014/main" id="{60D5E05B-5F8D-DCEE-1517-0ABCF967ADA4}"/>
              </a:ext>
            </a:extLst>
          </p:cNvPr>
          <p:cNvPicPr>
            <a:picLocks noChangeAspect="1"/>
          </p:cNvPicPr>
          <p:nvPr/>
        </p:nvPicPr>
        <p:blipFill>
          <a:blip r:embed="rId2"/>
          <a:stretch>
            <a:fillRect/>
          </a:stretch>
        </p:blipFill>
        <p:spPr>
          <a:xfrm>
            <a:off x="6208468" y="1647732"/>
            <a:ext cx="4653480" cy="4611931"/>
          </a:xfrm>
          <a:prstGeom prst="rect">
            <a:avLst/>
          </a:prstGeom>
        </p:spPr>
      </p:pic>
      <p:sp>
        <p:nvSpPr>
          <p:cNvPr id="10" name="Textfeld 9">
            <a:extLst>
              <a:ext uri="{FF2B5EF4-FFF2-40B4-BE49-F238E27FC236}">
                <a16:creationId xmlns:a16="http://schemas.microsoft.com/office/drawing/2014/main" id="{BB564626-0FE8-FAF9-BC71-3E18D1627397}"/>
              </a:ext>
            </a:extLst>
          </p:cNvPr>
          <p:cNvSpPr txBox="1"/>
          <p:nvPr/>
        </p:nvSpPr>
        <p:spPr>
          <a:xfrm>
            <a:off x="1786551" y="1647732"/>
            <a:ext cx="4196983" cy="3139321"/>
          </a:xfrm>
          <a:prstGeom prst="rect">
            <a:avLst/>
          </a:prstGeom>
          <a:noFill/>
        </p:spPr>
        <p:txBody>
          <a:bodyPr wrap="none" rtlCol="0">
            <a:spAutoFit/>
          </a:bodyPr>
          <a:lstStyle/>
          <a:p>
            <a:pPr marL="285750" indent="-285750">
              <a:buFont typeface="Arial" panose="020B0604020202020204" pitchFamily="34" charset="0"/>
              <a:buChar char="•"/>
            </a:pPr>
            <a:r>
              <a:rPr lang="de-DE"/>
              <a:t>Erste Konkretisierung des Bauprojekts</a:t>
            </a:r>
            <a:br>
              <a:rPr lang="de-DE"/>
            </a:br>
            <a:r>
              <a:rPr lang="de-DE"/>
              <a:t>zwischen Architekten und Kunden</a:t>
            </a:r>
            <a:br>
              <a:rPr lang="de-DE"/>
            </a:br>
            <a:endParaRPr lang="de-DE"/>
          </a:p>
          <a:p>
            <a:pPr marL="285750" indent="-285750">
              <a:buFont typeface="Arial" panose="020B0604020202020204" pitchFamily="34" charset="0"/>
              <a:buChar char="•"/>
            </a:pPr>
            <a:r>
              <a:rPr lang="de-DE"/>
              <a:t>Sammlung von konkreten </a:t>
            </a:r>
            <a:br>
              <a:rPr lang="de-DE"/>
            </a:br>
            <a:r>
              <a:rPr lang="de-DE"/>
              <a:t>Anforderungen</a:t>
            </a:r>
            <a:br>
              <a:rPr lang="de-DE"/>
            </a:br>
            <a:endParaRPr lang="de-DE"/>
          </a:p>
          <a:p>
            <a:pPr marL="285750" indent="-285750">
              <a:buFont typeface="Arial" panose="020B0604020202020204" pitchFamily="34" charset="0"/>
              <a:buChar char="•"/>
            </a:pPr>
            <a:r>
              <a:rPr lang="de-DE"/>
              <a:t>Darstellung anhand standardisierter </a:t>
            </a:r>
            <a:br>
              <a:rPr lang="de-DE"/>
            </a:br>
            <a:r>
              <a:rPr lang="de-DE"/>
              <a:t>Elemente </a:t>
            </a:r>
            <a:br>
              <a:rPr lang="de-DE"/>
            </a:br>
            <a:endParaRPr lang="de-DE"/>
          </a:p>
          <a:p>
            <a:pPr marL="285750" indent="-285750">
              <a:buFont typeface="Arial" panose="020B0604020202020204" pitchFamily="34" charset="0"/>
              <a:buChar char="•"/>
            </a:pPr>
            <a:r>
              <a:rPr lang="de-DE"/>
              <a:t>Erste Kosten- und </a:t>
            </a:r>
            <a:br>
              <a:rPr lang="de-DE"/>
            </a:br>
            <a:r>
              <a:rPr lang="de-DE"/>
              <a:t>Aufwandsschätzungen</a:t>
            </a:r>
          </a:p>
        </p:txBody>
      </p:sp>
    </p:spTree>
    <p:extLst>
      <p:ext uri="{BB962C8B-B14F-4D97-AF65-F5344CB8AC3E}">
        <p14:creationId xmlns:p14="http://schemas.microsoft.com/office/powerpoint/2010/main" val="2211381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E4C2ACBA-8EBB-76DD-1E8A-3CC4EFF29208}"/>
              </a:ext>
            </a:extLst>
          </p:cNvPr>
          <p:cNvSpPr>
            <a:spLocks noGrp="1"/>
          </p:cNvSpPr>
          <p:nvPr>
            <p:ph type="title"/>
          </p:nvPr>
        </p:nvSpPr>
        <p:spPr/>
        <p:txBody>
          <a:bodyPr/>
          <a:lstStyle/>
          <a:p>
            <a:r>
              <a:rPr lang="de-DE" dirty="0"/>
              <a:t>Entwicklung Umsetzungsplanung </a:t>
            </a:r>
            <a:br>
              <a:rPr lang="de-DE" dirty="0"/>
            </a:br>
            <a:r>
              <a:rPr lang="de-DE" dirty="0"/>
              <a:t>(DV-Konzept auch Design </a:t>
            </a:r>
            <a:r>
              <a:rPr lang="de-DE" dirty="0" err="1"/>
              <a:t>Specification</a:t>
            </a:r>
            <a:r>
              <a:rPr lang="de-DE" dirty="0"/>
              <a:t>)</a:t>
            </a:r>
          </a:p>
        </p:txBody>
      </p:sp>
      <p:pic>
        <p:nvPicPr>
          <p:cNvPr id="5" name="Inhaltsplatzhalter 4" descr="Ein Bild, das Text, Diagramm, Plan, technische Zeichnung enthält.&#10;&#10;Automatisch generierte Beschreibung">
            <a:extLst>
              <a:ext uri="{FF2B5EF4-FFF2-40B4-BE49-F238E27FC236}">
                <a16:creationId xmlns:a16="http://schemas.microsoft.com/office/drawing/2014/main" id="{DC414D45-5E4E-D89A-FCB8-837DA12B8017}"/>
              </a:ext>
            </a:extLst>
          </p:cNvPr>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a:off x="4626456" y="1308847"/>
            <a:ext cx="6692241" cy="5154706"/>
          </a:xfrm>
        </p:spPr>
      </p:pic>
      <p:sp>
        <p:nvSpPr>
          <p:cNvPr id="6" name="Textfeld 5">
            <a:extLst>
              <a:ext uri="{FF2B5EF4-FFF2-40B4-BE49-F238E27FC236}">
                <a16:creationId xmlns:a16="http://schemas.microsoft.com/office/drawing/2014/main" id="{F19A1AB1-E11E-F08D-A7D6-669588BAB921}"/>
              </a:ext>
            </a:extLst>
          </p:cNvPr>
          <p:cNvSpPr txBox="1"/>
          <p:nvPr/>
        </p:nvSpPr>
        <p:spPr>
          <a:xfrm>
            <a:off x="1055592" y="1764249"/>
            <a:ext cx="3640740" cy="3970318"/>
          </a:xfrm>
          <a:prstGeom prst="rect">
            <a:avLst/>
          </a:prstGeom>
          <a:noFill/>
        </p:spPr>
        <p:txBody>
          <a:bodyPr wrap="none" rtlCol="0">
            <a:spAutoFit/>
          </a:bodyPr>
          <a:lstStyle/>
          <a:p>
            <a:pPr marL="285750" indent="-285750">
              <a:buFont typeface="Arial" panose="020B0604020202020204" pitchFamily="34" charset="0"/>
              <a:buChar char="•"/>
            </a:pPr>
            <a:r>
              <a:rPr lang="de-DE" dirty="0"/>
              <a:t>Detaillierter Planung </a:t>
            </a:r>
            <a:br>
              <a:rPr lang="de-DE" dirty="0"/>
            </a:br>
            <a:r>
              <a:rPr lang="de-DE" dirty="0"/>
              <a:t>des Bauprojekts</a:t>
            </a:r>
            <a:br>
              <a:rPr lang="de-DE" dirty="0"/>
            </a:br>
            <a:r>
              <a:rPr lang="de-DE" dirty="0"/>
              <a:t>durch den Architekten</a:t>
            </a:r>
            <a:br>
              <a:rPr lang="de-DE" dirty="0"/>
            </a:br>
            <a:endParaRPr lang="de-DE" dirty="0"/>
          </a:p>
          <a:p>
            <a:pPr marL="285750" indent="-285750">
              <a:buFont typeface="Arial" panose="020B0604020202020204" pitchFamily="34" charset="0"/>
              <a:buChar char="•"/>
            </a:pPr>
            <a:r>
              <a:rPr lang="de-DE" dirty="0"/>
              <a:t>Umsetzung von konkreten </a:t>
            </a:r>
            <a:br>
              <a:rPr lang="de-DE" dirty="0"/>
            </a:br>
            <a:r>
              <a:rPr lang="de-DE" dirty="0"/>
              <a:t>Anforderungen (Räume, Fenster,</a:t>
            </a:r>
            <a:br>
              <a:rPr lang="de-DE" dirty="0"/>
            </a:br>
            <a:r>
              <a:rPr lang="de-DE" dirty="0"/>
              <a:t>Strom, Wasser, Abwasser) </a:t>
            </a:r>
            <a:br>
              <a:rPr lang="de-DE" dirty="0"/>
            </a:br>
            <a:endParaRPr lang="de-DE" dirty="0"/>
          </a:p>
          <a:p>
            <a:pPr marL="285750" indent="-285750">
              <a:buFont typeface="Arial" panose="020B0604020202020204" pitchFamily="34" charset="0"/>
              <a:buChar char="•"/>
            </a:pPr>
            <a:r>
              <a:rPr lang="de-DE" dirty="0"/>
              <a:t>Darstellung anhand </a:t>
            </a:r>
            <a:br>
              <a:rPr lang="de-DE" dirty="0"/>
            </a:br>
            <a:r>
              <a:rPr lang="de-DE" dirty="0"/>
              <a:t>standardisierter Elemente </a:t>
            </a:r>
            <a:br>
              <a:rPr lang="de-DE" dirty="0"/>
            </a:br>
            <a:endParaRPr lang="de-DE" dirty="0"/>
          </a:p>
          <a:p>
            <a:pPr marL="285750" indent="-285750">
              <a:buFont typeface="Arial" panose="020B0604020202020204" pitchFamily="34" charset="0"/>
              <a:buChar char="•"/>
            </a:pPr>
            <a:r>
              <a:rPr lang="de-DE" dirty="0"/>
              <a:t>Detaillierte Kosten- und </a:t>
            </a:r>
            <a:br>
              <a:rPr lang="de-DE" dirty="0"/>
            </a:br>
            <a:r>
              <a:rPr lang="de-DE" dirty="0"/>
              <a:t>Aufwandsschätzungen</a:t>
            </a:r>
          </a:p>
          <a:p>
            <a:pPr marL="285750" indent="-285750">
              <a:buFont typeface="Arial" panose="020B0604020202020204" pitchFamily="34" charset="0"/>
              <a:buChar char="•"/>
            </a:pPr>
            <a:endParaRPr lang="de-DE" dirty="0"/>
          </a:p>
        </p:txBody>
      </p:sp>
    </p:spTree>
    <p:extLst>
      <p:ext uri="{BB962C8B-B14F-4D97-AF65-F5344CB8AC3E}">
        <p14:creationId xmlns:p14="http://schemas.microsoft.com/office/powerpoint/2010/main" val="2084353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556DFA7B-1B23-752D-CF4E-BC4C3980146E}"/>
              </a:ext>
            </a:extLst>
          </p:cNvPr>
          <p:cNvPicPr>
            <a:picLocks noChangeAspect="1"/>
          </p:cNvPicPr>
          <p:nvPr/>
        </p:nvPicPr>
        <p:blipFill>
          <a:blip r:embed="rId2"/>
          <a:stretch>
            <a:fillRect/>
          </a:stretch>
        </p:blipFill>
        <p:spPr>
          <a:xfrm>
            <a:off x="6113217" y="1226908"/>
            <a:ext cx="3566390" cy="3238951"/>
          </a:xfrm>
          <a:prstGeom prst="rect">
            <a:avLst/>
          </a:prstGeom>
        </p:spPr>
      </p:pic>
      <p:pic>
        <p:nvPicPr>
          <p:cNvPr id="12" name="Grafik 11">
            <a:extLst>
              <a:ext uri="{FF2B5EF4-FFF2-40B4-BE49-F238E27FC236}">
                <a16:creationId xmlns:a16="http://schemas.microsoft.com/office/drawing/2014/main" id="{F4C7133E-73F2-086D-B881-C47DF994D898}"/>
              </a:ext>
            </a:extLst>
          </p:cNvPr>
          <p:cNvPicPr>
            <a:picLocks noChangeAspect="1"/>
          </p:cNvPicPr>
          <p:nvPr/>
        </p:nvPicPr>
        <p:blipFill>
          <a:blip r:embed="rId3"/>
          <a:stretch>
            <a:fillRect/>
          </a:stretch>
        </p:blipFill>
        <p:spPr>
          <a:xfrm>
            <a:off x="2318684" y="1226907"/>
            <a:ext cx="3566390" cy="2299822"/>
          </a:xfrm>
          <a:prstGeom prst="rect">
            <a:avLst/>
          </a:prstGeom>
        </p:spPr>
      </p:pic>
      <p:sp>
        <p:nvSpPr>
          <p:cNvPr id="3" name="Titel 2"/>
          <p:cNvSpPr>
            <a:spLocks noGrp="1"/>
          </p:cNvSpPr>
          <p:nvPr>
            <p:ph type="title"/>
          </p:nvPr>
        </p:nvSpPr>
        <p:spPr/>
        <p:txBody>
          <a:bodyPr/>
          <a:lstStyle/>
          <a:p>
            <a:r>
              <a:rPr lang="de-DE" dirty="0"/>
              <a:t>Modellbegriffe der Wirtschaftsinformatik</a:t>
            </a:r>
            <a:br>
              <a:rPr lang="de-DE" dirty="0"/>
            </a:br>
            <a:r>
              <a:rPr lang="de-DE" dirty="0"/>
              <a:t>Ist-Modell </a:t>
            </a:r>
            <a:r>
              <a:rPr lang="de-DE" dirty="0" err="1"/>
              <a:t>vs</a:t>
            </a:r>
            <a:r>
              <a:rPr lang="de-DE" dirty="0"/>
              <a:t> Soll-Modell</a:t>
            </a:r>
          </a:p>
        </p:txBody>
      </p:sp>
      <p:sp>
        <p:nvSpPr>
          <p:cNvPr id="5" name="Rechteck 4"/>
          <p:cNvSpPr/>
          <p:nvPr/>
        </p:nvSpPr>
        <p:spPr>
          <a:xfrm>
            <a:off x="6113216" y="2986873"/>
            <a:ext cx="3566390" cy="814871"/>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t>Konstruktionsorientierte </a:t>
            </a:r>
          </a:p>
          <a:p>
            <a:pPr algn="ctr"/>
            <a:r>
              <a:rPr lang="de-DE" sz="1662"/>
              <a:t>Modellbegriff </a:t>
            </a:r>
            <a:br>
              <a:rPr lang="de-DE" sz="1662"/>
            </a:br>
            <a:r>
              <a:rPr lang="de-DE" sz="1200"/>
              <a:t>(Soll-Modell)</a:t>
            </a:r>
            <a:endParaRPr lang="de-DE" sz="1662"/>
          </a:p>
        </p:txBody>
      </p:sp>
      <p:sp>
        <p:nvSpPr>
          <p:cNvPr id="7" name="Rechteck 6"/>
          <p:cNvSpPr/>
          <p:nvPr/>
        </p:nvSpPr>
        <p:spPr>
          <a:xfrm>
            <a:off x="6113216" y="3801743"/>
            <a:ext cx="3566390" cy="24390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63776" indent="-263776">
              <a:buFont typeface="Arial" panose="020B0604020202020204" pitchFamily="34" charset="0"/>
              <a:buChar char="•"/>
            </a:pPr>
            <a:r>
              <a:rPr lang="de-DE" sz="1200">
                <a:solidFill>
                  <a:schemeClr val="tx1"/>
                </a:solidFill>
              </a:rPr>
              <a:t>Nach diesem Modellbegriff kann es sich bei dem zu modellierenden Original um eine beliebige Problemstellung handeln.</a:t>
            </a:r>
            <a:br>
              <a:rPr lang="de-DE" sz="1200">
                <a:solidFill>
                  <a:schemeClr val="tx1"/>
                </a:solidFill>
              </a:rPr>
            </a:br>
            <a:r>
              <a:rPr lang="de-DE" sz="1200">
                <a:solidFill>
                  <a:schemeClr val="tx1"/>
                </a:solidFill>
              </a:rPr>
              <a:t> </a:t>
            </a:r>
          </a:p>
          <a:p>
            <a:pPr marL="263776" indent="-263776">
              <a:buFont typeface="Arial" panose="020B0604020202020204" pitchFamily="34" charset="0"/>
              <a:buChar char="•"/>
            </a:pPr>
            <a:r>
              <a:rPr lang="de-DE" sz="1200">
                <a:solidFill>
                  <a:schemeClr val="tx1"/>
                </a:solidFill>
              </a:rPr>
              <a:t>Ein Modellierer konstruiert ein Modell nach seiner subjektiven Wahrnehmung des zu modellierenden Originals und stimmt sich dabei mit dem Modellnutzer ab. </a:t>
            </a:r>
          </a:p>
          <a:p>
            <a:pPr marL="263776" indent="-263776">
              <a:buFont typeface="Arial" panose="020B0604020202020204" pitchFamily="34" charset="0"/>
              <a:buChar char="•"/>
            </a:pPr>
            <a:endParaRPr lang="de-DE" sz="1200">
              <a:solidFill>
                <a:schemeClr val="tx1"/>
              </a:solidFill>
            </a:endParaRPr>
          </a:p>
          <a:p>
            <a:pPr marL="263776" indent="-263776">
              <a:buFont typeface="Arial" panose="020B0604020202020204" pitchFamily="34" charset="0"/>
              <a:buChar char="•"/>
            </a:pPr>
            <a:r>
              <a:rPr lang="de-DE" sz="1200">
                <a:solidFill>
                  <a:schemeClr val="tx1"/>
                </a:solidFill>
              </a:rPr>
              <a:t>Der Modellnutzer prägt durch seine Nutzungsabsicht die an das Modell zu stellenden Anforderungen</a:t>
            </a:r>
          </a:p>
        </p:txBody>
      </p:sp>
      <p:sp>
        <p:nvSpPr>
          <p:cNvPr id="4" name="Rechteck 3"/>
          <p:cNvSpPr/>
          <p:nvPr/>
        </p:nvSpPr>
        <p:spPr>
          <a:xfrm>
            <a:off x="2318684" y="2986874"/>
            <a:ext cx="3566390" cy="814871"/>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62"/>
              <a:t>Abbildungsorientierte </a:t>
            </a:r>
          </a:p>
          <a:p>
            <a:pPr algn="ctr"/>
            <a:r>
              <a:rPr lang="de-DE" sz="1662"/>
              <a:t>Modellbegriff </a:t>
            </a:r>
            <a:br>
              <a:rPr lang="de-DE" sz="1662"/>
            </a:br>
            <a:r>
              <a:rPr lang="de-DE" sz="1200"/>
              <a:t>(Ist-Modell)</a:t>
            </a:r>
            <a:endParaRPr lang="de-DE" sz="1662"/>
          </a:p>
        </p:txBody>
      </p:sp>
      <p:sp>
        <p:nvSpPr>
          <p:cNvPr id="6" name="Rechteck 5"/>
          <p:cNvSpPr/>
          <p:nvPr/>
        </p:nvSpPr>
        <p:spPr>
          <a:xfrm>
            <a:off x="2318684" y="3801744"/>
            <a:ext cx="3566390" cy="24390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63776" indent="-263776">
              <a:buFont typeface="Arial" panose="020B0604020202020204" pitchFamily="34" charset="0"/>
              <a:buChar char="•"/>
            </a:pPr>
            <a:r>
              <a:rPr lang="de-DE" sz="1200">
                <a:solidFill>
                  <a:schemeClr val="tx1"/>
                </a:solidFill>
              </a:rPr>
              <a:t>Der abbildungsorientierte Modellbegriff geht von einer objektiv vorhandenen Realität aus</a:t>
            </a:r>
            <a:br>
              <a:rPr lang="de-DE" sz="1200">
                <a:solidFill>
                  <a:schemeClr val="tx1"/>
                </a:solidFill>
              </a:rPr>
            </a:br>
            <a:endParaRPr lang="de-DE" sz="1200">
              <a:solidFill>
                <a:schemeClr val="tx1"/>
              </a:solidFill>
            </a:endParaRPr>
          </a:p>
          <a:p>
            <a:pPr marL="263776" indent="-263776">
              <a:buFont typeface="Arial" panose="020B0604020202020204" pitchFamily="34" charset="0"/>
              <a:buChar char="•"/>
            </a:pPr>
            <a:r>
              <a:rPr lang="de-DE" sz="1200">
                <a:solidFill>
                  <a:schemeClr val="tx1"/>
                </a:solidFill>
              </a:rPr>
              <a:t>Ein Modell ein abstrahiertes Abbild eines Realitätsausschnitts</a:t>
            </a:r>
            <a:br>
              <a:rPr lang="de-DE" sz="1200">
                <a:solidFill>
                  <a:schemeClr val="tx1"/>
                </a:solidFill>
              </a:rPr>
            </a:br>
            <a:endParaRPr lang="de-DE" sz="1200">
              <a:solidFill>
                <a:schemeClr val="tx1"/>
              </a:solidFill>
            </a:endParaRPr>
          </a:p>
          <a:p>
            <a:pPr marL="263776" indent="-263776">
              <a:buFont typeface="Arial" panose="020B0604020202020204" pitchFamily="34" charset="0"/>
              <a:buChar char="•"/>
            </a:pPr>
            <a:r>
              <a:rPr lang="de-DE" sz="1200">
                <a:solidFill>
                  <a:schemeClr val="tx1"/>
                </a:solidFill>
              </a:rPr>
              <a:t>Damit Modelle als Abbilder der Realität dienen können, soll das Original strukturerhaltend abgebildet werden.</a:t>
            </a:r>
            <a:br>
              <a:rPr lang="de-DE" sz="1477">
                <a:solidFill>
                  <a:schemeClr val="tx1"/>
                </a:solidFill>
              </a:rPr>
            </a:br>
            <a:endParaRPr lang="de-DE" sz="1477">
              <a:solidFill>
                <a:schemeClr val="tx1"/>
              </a:solidFill>
            </a:endParaRPr>
          </a:p>
        </p:txBody>
      </p:sp>
    </p:spTree>
    <p:extLst>
      <p:ext uri="{BB962C8B-B14F-4D97-AF65-F5344CB8AC3E}">
        <p14:creationId xmlns:p14="http://schemas.microsoft.com/office/powerpoint/2010/main" val="3815600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7B27D-A53C-1502-23B9-1DFCC6B3563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2F9DC08-055F-44D1-64D0-7530FD5F933F}"/>
              </a:ext>
            </a:extLst>
          </p:cNvPr>
          <p:cNvSpPr>
            <a:spLocks noGrp="1"/>
          </p:cNvSpPr>
          <p:nvPr>
            <p:ph type="title"/>
          </p:nvPr>
        </p:nvSpPr>
        <p:spPr/>
        <p:txBody>
          <a:bodyPr/>
          <a:lstStyle/>
          <a:p>
            <a:r>
              <a:rPr lang="de-DE"/>
              <a:t>Modellbegriffe der Wirtschaftsinformatik</a:t>
            </a:r>
            <a:br>
              <a:rPr lang="de-DE"/>
            </a:br>
            <a:r>
              <a:rPr lang="de-DE"/>
              <a:t>Syntax VS Semantik</a:t>
            </a:r>
          </a:p>
        </p:txBody>
      </p:sp>
      <p:sp>
        <p:nvSpPr>
          <p:cNvPr id="4" name="Rechteck 3">
            <a:extLst>
              <a:ext uri="{FF2B5EF4-FFF2-40B4-BE49-F238E27FC236}">
                <a16:creationId xmlns:a16="http://schemas.microsoft.com/office/drawing/2014/main" id="{0854B194-4E00-A6B7-3784-089E839B63BB}"/>
              </a:ext>
            </a:extLst>
          </p:cNvPr>
          <p:cNvSpPr/>
          <p:nvPr/>
        </p:nvSpPr>
        <p:spPr>
          <a:xfrm>
            <a:off x="2423459" y="1647826"/>
            <a:ext cx="3566390" cy="1161414"/>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t>Syntaktik</a:t>
            </a:r>
            <a:r>
              <a:rPr lang="de-DE" sz="2400" b="1" dirty="0"/>
              <a:t> </a:t>
            </a:r>
            <a:br>
              <a:rPr lang="de-DE" sz="2400" b="1" dirty="0"/>
            </a:br>
            <a:r>
              <a:rPr lang="de-DE" sz="2400" dirty="0"/>
              <a:t>von Modellen</a:t>
            </a:r>
          </a:p>
        </p:txBody>
      </p:sp>
      <p:sp>
        <p:nvSpPr>
          <p:cNvPr id="5" name="Rechteck 4">
            <a:extLst>
              <a:ext uri="{FF2B5EF4-FFF2-40B4-BE49-F238E27FC236}">
                <a16:creationId xmlns:a16="http://schemas.microsoft.com/office/drawing/2014/main" id="{139483F0-A2EA-67B5-48BC-215AA122ED90}"/>
              </a:ext>
            </a:extLst>
          </p:cNvPr>
          <p:cNvSpPr/>
          <p:nvPr/>
        </p:nvSpPr>
        <p:spPr>
          <a:xfrm>
            <a:off x="6271297" y="1647826"/>
            <a:ext cx="3566390" cy="1161414"/>
          </a:xfrm>
          <a:prstGeom prst="rect">
            <a:avLst/>
          </a:prstGeom>
          <a:solidFill>
            <a:srgbClr val="25406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t>Semantik</a:t>
            </a:r>
            <a:r>
              <a:rPr lang="de-DE" sz="2400" b="1" dirty="0"/>
              <a:t> </a:t>
            </a:r>
            <a:br>
              <a:rPr lang="de-DE" sz="2400" b="1" dirty="0"/>
            </a:br>
            <a:r>
              <a:rPr lang="de-DE" sz="2400" dirty="0"/>
              <a:t>von Modellen</a:t>
            </a:r>
          </a:p>
        </p:txBody>
      </p:sp>
      <p:sp>
        <p:nvSpPr>
          <p:cNvPr id="6" name="Rechteck 5">
            <a:extLst>
              <a:ext uri="{FF2B5EF4-FFF2-40B4-BE49-F238E27FC236}">
                <a16:creationId xmlns:a16="http://schemas.microsoft.com/office/drawing/2014/main" id="{EF965085-89B1-747F-D96D-EAC31C4FA432}"/>
              </a:ext>
            </a:extLst>
          </p:cNvPr>
          <p:cNvSpPr/>
          <p:nvPr/>
        </p:nvSpPr>
        <p:spPr>
          <a:xfrm>
            <a:off x="2423459" y="2809239"/>
            <a:ext cx="3566390" cy="26502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63776" indent="-263776">
              <a:buFont typeface="Arial" panose="020B0604020202020204" pitchFamily="34" charset="0"/>
              <a:buChar char="•"/>
            </a:pPr>
            <a:r>
              <a:rPr lang="de-DE" sz="1477" dirty="0">
                <a:solidFill>
                  <a:schemeClr val="tx1"/>
                </a:solidFill>
              </a:rPr>
              <a:t>Unter Syntaktik von Modellen verstehen wir im allgemein ein Regelsystem zur Kombination elementarer Zeichen einer Modellierungsmethode zu zusammengesetzten Zeichen</a:t>
            </a:r>
          </a:p>
          <a:p>
            <a:pPr marL="263776" indent="-263776">
              <a:buFont typeface="Arial" panose="020B0604020202020204" pitchFamily="34" charset="0"/>
              <a:buChar char="•"/>
            </a:pPr>
            <a:endParaRPr lang="de-DE" sz="1477" dirty="0">
              <a:solidFill>
                <a:schemeClr val="tx1"/>
              </a:solidFill>
            </a:endParaRPr>
          </a:p>
          <a:p>
            <a:pPr marL="263776" indent="-263776">
              <a:buFont typeface="Arial" panose="020B0604020202020204" pitchFamily="34" charset="0"/>
              <a:buChar char="•"/>
            </a:pPr>
            <a:r>
              <a:rPr lang="de-DE" sz="1477" dirty="0">
                <a:solidFill>
                  <a:schemeClr val="tx1"/>
                </a:solidFill>
              </a:rPr>
              <a:t>Sie beschreibt demnach die </a:t>
            </a:r>
            <a:r>
              <a:rPr lang="de-DE" sz="1477" b="1" u="sng" dirty="0">
                <a:solidFill>
                  <a:schemeClr val="tx1"/>
                </a:solidFill>
              </a:rPr>
              <a:t>Rechtschreibung </a:t>
            </a:r>
            <a:r>
              <a:rPr lang="de-DE" sz="1477" dirty="0">
                <a:solidFill>
                  <a:schemeClr val="tx1"/>
                </a:solidFill>
              </a:rPr>
              <a:t>also die korrekte Zusammensetzung in einem Zeichensystem </a:t>
            </a:r>
          </a:p>
          <a:p>
            <a:endParaRPr lang="de-DE" sz="1477" dirty="0">
              <a:solidFill>
                <a:schemeClr val="tx1"/>
              </a:solidFill>
            </a:endParaRPr>
          </a:p>
        </p:txBody>
      </p:sp>
      <p:sp>
        <p:nvSpPr>
          <p:cNvPr id="7" name="Rechteck 6">
            <a:extLst>
              <a:ext uri="{FF2B5EF4-FFF2-40B4-BE49-F238E27FC236}">
                <a16:creationId xmlns:a16="http://schemas.microsoft.com/office/drawing/2014/main" id="{534F66DD-1EB7-DB9B-DD95-D9849A4D6BA0}"/>
              </a:ext>
            </a:extLst>
          </p:cNvPr>
          <p:cNvSpPr/>
          <p:nvPr/>
        </p:nvSpPr>
        <p:spPr>
          <a:xfrm>
            <a:off x="6271297" y="2809239"/>
            <a:ext cx="3566390" cy="26502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63776" indent="-263776">
              <a:buFont typeface="Arial" panose="020B0604020202020204" pitchFamily="34" charset="0"/>
              <a:buChar char="•"/>
            </a:pPr>
            <a:r>
              <a:rPr lang="de-DE" sz="1477">
                <a:solidFill>
                  <a:schemeClr val="tx1"/>
                </a:solidFill>
              </a:rPr>
              <a:t>Die Semantik ist die Beschäftigung mit dem Verhältnis zwischen einem Zeichen einer Modellierungsmethode und dem Bezeichneten.</a:t>
            </a:r>
          </a:p>
          <a:p>
            <a:pPr marL="263776" indent="-263776">
              <a:buFont typeface="Arial" panose="020B0604020202020204" pitchFamily="34" charset="0"/>
              <a:buChar char="•"/>
            </a:pPr>
            <a:endParaRPr lang="de-DE" sz="1477">
              <a:solidFill>
                <a:schemeClr val="tx1"/>
              </a:solidFill>
            </a:endParaRPr>
          </a:p>
          <a:p>
            <a:pPr marL="263776" indent="-263776">
              <a:buFont typeface="Arial" panose="020B0604020202020204" pitchFamily="34" charset="0"/>
              <a:buChar char="•"/>
            </a:pPr>
            <a:r>
              <a:rPr lang="de-DE" sz="1477">
                <a:solidFill>
                  <a:schemeClr val="tx1"/>
                </a:solidFill>
              </a:rPr>
              <a:t>Semantik ist demnach die </a:t>
            </a:r>
            <a:r>
              <a:rPr lang="de-DE" sz="1477" b="1" u="sng">
                <a:solidFill>
                  <a:schemeClr val="tx1"/>
                </a:solidFill>
              </a:rPr>
              <a:t>Bedeutungslehre,</a:t>
            </a:r>
            <a:r>
              <a:rPr lang="de-DE" sz="1477" b="1">
                <a:solidFill>
                  <a:schemeClr val="tx1"/>
                </a:solidFill>
              </a:rPr>
              <a:t> </a:t>
            </a:r>
            <a:r>
              <a:rPr lang="de-DE" sz="1477">
                <a:solidFill>
                  <a:schemeClr val="tx1"/>
                </a:solidFill>
              </a:rPr>
              <a:t>wo die Beziehung zwischen den Zeichen und den Gegenständen, auf die sie anwendbar sind untersucht wird.</a:t>
            </a:r>
          </a:p>
        </p:txBody>
      </p:sp>
    </p:spTree>
    <p:extLst>
      <p:ext uri="{BB962C8B-B14F-4D97-AF65-F5344CB8AC3E}">
        <p14:creationId xmlns:p14="http://schemas.microsoft.com/office/powerpoint/2010/main" val="488079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8516C41-EB91-AC0A-02E2-301851985509}"/>
              </a:ext>
            </a:extLst>
          </p:cNvPr>
          <p:cNvSpPr>
            <a:spLocks noGrp="1"/>
          </p:cNvSpPr>
          <p:nvPr>
            <p:ph type="title"/>
          </p:nvPr>
        </p:nvSpPr>
        <p:spPr/>
        <p:txBody>
          <a:bodyPr/>
          <a:lstStyle/>
          <a:p>
            <a:r>
              <a:rPr lang="de-DE" dirty="0"/>
              <a:t>Beispiel: Syntax und Semantik von Zeichen</a:t>
            </a:r>
          </a:p>
        </p:txBody>
      </p:sp>
      <p:pic>
        <p:nvPicPr>
          <p:cNvPr id="9" name="Grafik 8">
            <a:extLst>
              <a:ext uri="{FF2B5EF4-FFF2-40B4-BE49-F238E27FC236}">
                <a16:creationId xmlns:a16="http://schemas.microsoft.com/office/drawing/2014/main" id="{62E7371F-D4EF-03E6-C953-58A57D2B11B2}"/>
              </a:ext>
            </a:extLst>
          </p:cNvPr>
          <p:cNvPicPr>
            <a:picLocks noChangeAspect="1"/>
          </p:cNvPicPr>
          <p:nvPr/>
        </p:nvPicPr>
        <p:blipFill>
          <a:blip r:embed="rId2"/>
          <a:stretch>
            <a:fillRect/>
          </a:stretch>
        </p:blipFill>
        <p:spPr>
          <a:xfrm>
            <a:off x="2214412" y="2197713"/>
            <a:ext cx="2208982" cy="2094035"/>
          </a:xfrm>
          <a:prstGeom prst="rect">
            <a:avLst/>
          </a:prstGeom>
        </p:spPr>
      </p:pic>
      <p:sp>
        <p:nvSpPr>
          <p:cNvPr id="11" name="Textfeld 10">
            <a:extLst>
              <a:ext uri="{FF2B5EF4-FFF2-40B4-BE49-F238E27FC236}">
                <a16:creationId xmlns:a16="http://schemas.microsoft.com/office/drawing/2014/main" id="{4F64EEF1-7C21-0B66-254E-584C34B1A3AB}"/>
              </a:ext>
            </a:extLst>
          </p:cNvPr>
          <p:cNvSpPr txBox="1"/>
          <p:nvPr/>
        </p:nvSpPr>
        <p:spPr>
          <a:xfrm>
            <a:off x="2257685" y="4491558"/>
            <a:ext cx="2437581" cy="1384995"/>
          </a:xfrm>
          <a:prstGeom prst="rect">
            <a:avLst/>
          </a:prstGeom>
          <a:noFill/>
        </p:spPr>
        <p:txBody>
          <a:bodyPr wrap="square">
            <a:spAutoFit/>
          </a:bodyPr>
          <a:lstStyle/>
          <a:p>
            <a:r>
              <a:rPr lang="de-DE" sz="1400" dirty="0">
                <a:latin typeface="Titillium Web" panose="00000500000000000000" pitchFamily="2" charset="0"/>
              </a:rPr>
              <a:t>Mit diesem Verkehrszeichen kann der Vorrang vor der kreuzenden Fahrbahn angezeigt werden, wenn eine Ausnahme zur Rechts-vor-links-Regelung besteht.</a:t>
            </a:r>
            <a:endParaRPr lang="de-DE" sz="2800" dirty="0">
              <a:latin typeface="Titillium Web" panose="00000500000000000000" pitchFamily="2" charset="0"/>
            </a:endParaRPr>
          </a:p>
        </p:txBody>
      </p:sp>
      <p:sp>
        <p:nvSpPr>
          <p:cNvPr id="13" name="Textfeld 12">
            <a:extLst>
              <a:ext uri="{FF2B5EF4-FFF2-40B4-BE49-F238E27FC236}">
                <a16:creationId xmlns:a16="http://schemas.microsoft.com/office/drawing/2014/main" id="{32F7C784-3115-65AC-A6B4-747B4F60A8ED}"/>
              </a:ext>
            </a:extLst>
          </p:cNvPr>
          <p:cNvSpPr txBox="1"/>
          <p:nvPr/>
        </p:nvSpPr>
        <p:spPr>
          <a:xfrm>
            <a:off x="2409265" y="1474682"/>
            <a:ext cx="1581151" cy="523220"/>
          </a:xfrm>
          <a:prstGeom prst="rect">
            <a:avLst/>
          </a:prstGeom>
          <a:noFill/>
        </p:spPr>
        <p:txBody>
          <a:bodyPr wrap="square">
            <a:spAutoFit/>
          </a:bodyPr>
          <a:lstStyle/>
          <a:p>
            <a:r>
              <a:rPr lang="de-DE" sz="2800" b="1" dirty="0">
                <a:latin typeface="Titillium Web" panose="00000500000000000000" pitchFamily="2" charset="0"/>
              </a:rPr>
              <a:t>Vorfahrt</a:t>
            </a:r>
          </a:p>
        </p:txBody>
      </p:sp>
      <p:sp>
        <p:nvSpPr>
          <p:cNvPr id="14" name="Textfeld 13">
            <a:extLst>
              <a:ext uri="{FF2B5EF4-FFF2-40B4-BE49-F238E27FC236}">
                <a16:creationId xmlns:a16="http://schemas.microsoft.com/office/drawing/2014/main" id="{AD425774-9370-9A91-2849-FF62052BCD9E}"/>
              </a:ext>
            </a:extLst>
          </p:cNvPr>
          <p:cNvSpPr txBox="1"/>
          <p:nvPr/>
        </p:nvSpPr>
        <p:spPr>
          <a:xfrm>
            <a:off x="171708" y="2642828"/>
            <a:ext cx="1457450" cy="830997"/>
          </a:xfrm>
          <a:prstGeom prst="rect">
            <a:avLst/>
          </a:prstGeom>
          <a:noFill/>
        </p:spPr>
        <p:txBody>
          <a:bodyPr wrap="none" rtlCol="0">
            <a:spAutoFit/>
          </a:bodyPr>
          <a:lstStyle/>
          <a:p>
            <a:r>
              <a:rPr lang="de-DE" sz="2400" dirty="0">
                <a:solidFill>
                  <a:srgbClr val="254061"/>
                </a:solidFill>
              </a:rPr>
              <a:t>Syntax: </a:t>
            </a:r>
          </a:p>
          <a:p>
            <a:r>
              <a:rPr lang="de-DE" sz="2400" dirty="0">
                <a:solidFill>
                  <a:srgbClr val="254061"/>
                </a:solidFill>
              </a:rPr>
              <a:t>Aussehen</a:t>
            </a:r>
          </a:p>
        </p:txBody>
      </p:sp>
      <p:sp>
        <p:nvSpPr>
          <p:cNvPr id="15" name="Textfeld 14">
            <a:extLst>
              <a:ext uri="{FF2B5EF4-FFF2-40B4-BE49-F238E27FC236}">
                <a16:creationId xmlns:a16="http://schemas.microsoft.com/office/drawing/2014/main" id="{ED7A31F8-57AE-8419-C091-3853590F17F3}"/>
              </a:ext>
            </a:extLst>
          </p:cNvPr>
          <p:cNvSpPr txBox="1"/>
          <p:nvPr/>
        </p:nvSpPr>
        <p:spPr>
          <a:xfrm>
            <a:off x="171708" y="4582153"/>
            <a:ext cx="1606530" cy="830997"/>
          </a:xfrm>
          <a:prstGeom prst="rect">
            <a:avLst/>
          </a:prstGeom>
          <a:noFill/>
        </p:spPr>
        <p:txBody>
          <a:bodyPr wrap="none" rtlCol="0">
            <a:spAutoFit/>
          </a:bodyPr>
          <a:lstStyle/>
          <a:p>
            <a:r>
              <a:rPr lang="de-DE" sz="2400" dirty="0">
                <a:solidFill>
                  <a:srgbClr val="254061"/>
                </a:solidFill>
              </a:rPr>
              <a:t>Semantik: </a:t>
            </a:r>
          </a:p>
          <a:p>
            <a:r>
              <a:rPr lang="de-DE" sz="2400" dirty="0">
                <a:solidFill>
                  <a:srgbClr val="254061"/>
                </a:solidFill>
              </a:rPr>
              <a:t>Bedeutung</a:t>
            </a:r>
          </a:p>
        </p:txBody>
      </p:sp>
      <p:sp>
        <p:nvSpPr>
          <p:cNvPr id="20" name="Textfeld 19">
            <a:extLst>
              <a:ext uri="{FF2B5EF4-FFF2-40B4-BE49-F238E27FC236}">
                <a16:creationId xmlns:a16="http://schemas.microsoft.com/office/drawing/2014/main" id="{9B04A358-A5C6-14A0-5D33-B1CDD3EAD04F}"/>
              </a:ext>
            </a:extLst>
          </p:cNvPr>
          <p:cNvSpPr txBox="1"/>
          <p:nvPr/>
        </p:nvSpPr>
        <p:spPr>
          <a:xfrm>
            <a:off x="5142939" y="1474682"/>
            <a:ext cx="2628901" cy="523220"/>
          </a:xfrm>
          <a:prstGeom prst="rect">
            <a:avLst/>
          </a:prstGeom>
          <a:noFill/>
        </p:spPr>
        <p:txBody>
          <a:bodyPr wrap="square">
            <a:spAutoFit/>
          </a:bodyPr>
          <a:lstStyle/>
          <a:p>
            <a:r>
              <a:rPr lang="de-DE" sz="2800" b="1" dirty="0">
                <a:latin typeface="Titillium Web" panose="00000500000000000000" pitchFamily="2" charset="0"/>
              </a:rPr>
              <a:t>Notsignal</a:t>
            </a:r>
          </a:p>
        </p:txBody>
      </p:sp>
      <p:pic>
        <p:nvPicPr>
          <p:cNvPr id="22" name="Grafik 21">
            <a:extLst>
              <a:ext uri="{FF2B5EF4-FFF2-40B4-BE49-F238E27FC236}">
                <a16:creationId xmlns:a16="http://schemas.microsoft.com/office/drawing/2014/main" id="{84DC4A23-6B26-A9C2-D84A-AD57AF7F26E2}"/>
              </a:ext>
            </a:extLst>
          </p:cNvPr>
          <p:cNvPicPr>
            <a:picLocks noChangeAspect="1"/>
          </p:cNvPicPr>
          <p:nvPr/>
        </p:nvPicPr>
        <p:blipFill>
          <a:blip r:embed="rId3"/>
          <a:stretch>
            <a:fillRect/>
          </a:stretch>
        </p:blipFill>
        <p:spPr>
          <a:xfrm>
            <a:off x="5350585" y="2715113"/>
            <a:ext cx="2171590" cy="1576634"/>
          </a:xfrm>
          <a:prstGeom prst="rect">
            <a:avLst/>
          </a:prstGeom>
        </p:spPr>
      </p:pic>
      <p:sp>
        <p:nvSpPr>
          <p:cNvPr id="3" name="Textfeld 2">
            <a:extLst>
              <a:ext uri="{FF2B5EF4-FFF2-40B4-BE49-F238E27FC236}">
                <a16:creationId xmlns:a16="http://schemas.microsoft.com/office/drawing/2014/main" id="{44204A7B-0415-BB78-BAF3-186727691A24}"/>
              </a:ext>
            </a:extLst>
          </p:cNvPr>
          <p:cNvSpPr txBox="1"/>
          <p:nvPr/>
        </p:nvSpPr>
        <p:spPr>
          <a:xfrm>
            <a:off x="5174713" y="4491557"/>
            <a:ext cx="2868707" cy="1077218"/>
          </a:xfrm>
          <a:prstGeom prst="rect">
            <a:avLst/>
          </a:prstGeom>
          <a:noFill/>
        </p:spPr>
        <p:txBody>
          <a:bodyPr wrap="square">
            <a:spAutoFit/>
          </a:bodyPr>
          <a:lstStyle/>
          <a:p>
            <a:r>
              <a:rPr lang="de-DE" sz="1600" dirty="0"/>
              <a:t>SOS ist kein offizielles Akronym, sondern ein bewusst gewähltes, leicht erkennbares Notsignal im Morsecode.</a:t>
            </a:r>
          </a:p>
        </p:txBody>
      </p:sp>
      <p:sp>
        <p:nvSpPr>
          <p:cNvPr id="5" name="Textfeld 4">
            <a:extLst>
              <a:ext uri="{FF2B5EF4-FFF2-40B4-BE49-F238E27FC236}">
                <a16:creationId xmlns:a16="http://schemas.microsoft.com/office/drawing/2014/main" id="{5ADDC9CF-0315-5CB5-0BD5-6E254EC2AC18}"/>
              </a:ext>
            </a:extLst>
          </p:cNvPr>
          <p:cNvSpPr txBox="1"/>
          <p:nvPr/>
        </p:nvSpPr>
        <p:spPr>
          <a:xfrm>
            <a:off x="8606118" y="2411506"/>
            <a:ext cx="2252220" cy="1600438"/>
          </a:xfrm>
          <a:prstGeom prst="rect">
            <a:avLst/>
          </a:prstGeom>
          <a:noFill/>
        </p:spPr>
        <p:txBody>
          <a:bodyPr wrap="none" lIns="0" tIns="0" rIns="0" bIns="0" rtlCol="0">
            <a:spAutoFit/>
          </a:bodyPr>
          <a:lstStyle/>
          <a:p>
            <a:r>
              <a:rPr lang="de-DE" sz="2400" dirty="0"/>
              <a:t>Weitere Beispiele</a:t>
            </a:r>
          </a:p>
          <a:p>
            <a:pPr marL="342900" indent="-342900">
              <a:buFont typeface="Arial" panose="020B0604020202020204" pitchFamily="34" charset="0"/>
              <a:buChar char="•"/>
            </a:pPr>
            <a:r>
              <a:rPr lang="de-DE" sz="2000" dirty="0"/>
              <a:t>Landesflaggen</a:t>
            </a:r>
          </a:p>
          <a:p>
            <a:pPr marL="342900" indent="-342900">
              <a:buFont typeface="Arial" panose="020B0604020202020204" pitchFamily="34" charset="0"/>
              <a:buChar char="•"/>
            </a:pPr>
            <a:r>
              <a:rPr lang="de-DE" sz="2000" dirty="0"/>
              <a:t>Militärabzeichen</a:t>
            </a:r>
          </a:p>
          <a:p>
            <a:pPr marL="342900" indent="-342900">
              <a:buFont typeface="Arial" panose="020B0604020202020204" pitchFamily="34" charset="0"/>
              <a:buChar char="•"/>
            </a:pPr>
            <a:r>
              <a:rPr lang="de-DE" sz="2000" dirty="0"/>
              <a:t>Spielkarten</a:t>
            </a:r>
          </a:p>
          <a:p>
            <a:pPr marL="342900" indent="-342900">
              <a:buFont typeface="Arial" panose="020B0604020202020204" pitchFamily="34" charset="0"/>
              <a:buChar char="•"/>
            </a:pPr>
            <a:r>
              <a:rPr lang="de-DE" sz="2000" dirty="0"/>
              <a:t>Familienwappen</a:t>
            </a:r>
          </a:p>
        </p:txBody>
      </p:sp>
    </p:spTree>
    <p:extLst>
      <p:ext uri="{BB962C8B-B14F-4D97-AF65-F5344CB8AC3E}">
        <p14:creationId xmlns:p14="http://schemas.microsoft.com/office/powerpoint/2010/main" val="3809218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7817-46A5-40C9-234D-82344F98E9DC}"/>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466E8841-80F0-BE6C-E57E-0FF386D6BED3}"/>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CF1CC7CA-0E7B-CEDB-218A-E814ADBC0623}"/>
              </a:ext>
            </a:extLst>
          </p:cNvPr>
          <p:cNvSpPr>
            <a:spLocks noGrp="1"/>
          </p:cNvSpPr>
          <p:nvPr>
            <p:ph type="body" sz="half" idx="2"/>
          </p:nvPr>
        </p:nvSpPr>
        <p:spPr>
          <a:xfrm>
            <a:off x="251998" y="2255216"/>
            <a:ext cx="10846308" cy="599993"/>
          </a:xfrm>
          <a:solidFill>
            <a:srgbClr val="254061"/>
          </a:solidFill>
        </p:spPr>
        <p:txBody>
          <a:bodyPr/>
          <a:lstStyle/>
          <a:p>
            <a:r>
              <a:rPr lang="de-DE" sz="2400" b="1" dirty="0"/>
              <a:t>Informationsmodelle und Modellierungssprachen</a:t>
            </a:r>
          </a:p>
        </p:txBody>
      </p:sp>
      <p:sp>
        <p:nvSpPr>
          <p:cNvPr id="13" name="Textplatzhalter 12">
            <a:extLst>
              <a:ext uri="{FF2B5EF4-FFF2-40B4-BE49-F238E27FC236}">
                <a16:creationId xmlns:a16="http://schemas.microsoft.com/office/drawing/2014/main" id="{8C2440B1-CBFB-20FF-B2EF-D29E62132557}"/>
              </a:ext>
            </a:extLst>
          </p:cNvPr>
          <p:cNvSpPr>
            <a:spLocks noGrp="1"/>
          </p:cNvSpPr>
          <p:nvPr>
            <p:ph type="body" sz="half" idx="13"/>
          </p:nvPr>
        </p:nvSpPr>
        <p:spPr>
          <a:xfrm>
            <a:off x="251998" y="2964220"/>
            <a:ext cx="10846308" cy="599993"/>
          </a:xfrm>
          <a:solidFill>
            <a:srgbClr val="254061"/>
          </a:solidFill>
        </p:spPr>
        <p:txBody>
          <a:bodyPr/>
          <a:lstStyle/>
          <a:p>
            <a:r>
              <a:rPr lang="de-DE" sz="2400" b="1" dirty="0"/>
              <a:t>Einordnung in ARIS</a:t>
            </a:r>
          </a:p>
        </p:txBody>
      </p:sp>
      <p:sp>
        <p:nvSpPr>
          <p:cNvPr id="14" name="Textplatzhalter 13">
            <a:extLst>
              <a:ext uri="{FF2B5EF4-FFF2-40B4-BE49-F238E27FC236}">
                <a16:creationId xmlns:a16="http://schemas.microsoft.com/office/drawing/2014/main" id="{ED3B0327-E8D2-13A4-33D2-7D7EABEA9BEB}"/>
              </a:ext>
            </a:extLst>
          </p:cNvPr>
          <p:cNvSpPr>
            <a:spLocks noGrp="1"/>
          </p:cNvSpPr>
          <p:nvPr>
            <p:ph type="body" sz="half" idx="14"/>
          </p:nvPr>
        </p:nvSpPr>
        <p:spPr>
          <a:xfrm>
            <a:off x="251998" y="3673224"/>
            <a:ext cx="10846308" cy="599993"/>
          </a:xfrm>
          <a:solidFill>
            <a:srgbClr val="254061"/>
          </a:solidFill>
        </p:spPr>
        <p:txBody>
          <a:bodyPr/>
          <a:lstStyle/>
          <a:p>
            <a:r>
              <a:rPr lang="de-DE" sz="2400" b="1" dirty="0"/>
              <a:t>Wesentliche Merkmale von Informationsmodelle</a:t>
            </a:r>
          </a:p>
        </p:txBody>
      </p:sp>
      <p:sp>
        <p:nvSpPr>
          <p:cNvPr id="16" name="Textplatzhalter 15">
            <a:extLst>
              <a:ext uri="{FF2B5EF4-FFF2-40B4-BE49-F238E27FC236}">
                <a16:creationId xmlns:a16="http://schemas.microsoft.com/office/drawing/2014/main" id="{4AB5FEDC-321A-9E37-32F5-910B92EDC4AF}"/>
              </a:ext>
            </a:extLst>
          </p:cNvPr>
          <p:cNvSpPr>
            <a:spLocks noGrp="1"/>
          </p:cNvSpPr>
          <p:nvPr>
            <p:ph type="body" sz="half" idx="16"/>
          </p:nvPr>
        </p:nvSpPr>
        <p:spPr>
          <a:xfrm>
            <a:off x="251998" y="1546212"/>
            <a:ext cx="10846308" cy="599993"/>
          </a:xfrm>
          <a:solidFill>
            <a:srgbClr val="254061"/>
          </a:solidFill>
        </p:spPr>
        <p:txBody>
          <a:bodyPr/>
          <a:lstStyle/>
          <a:p>
            <a:r>
              <a:rPr lang="de-DE" sz="2400" b="1" dirty="0"/>
              <a:t>Informationssysteme und ihre Komplexität</a:t>
            </a:r>
          </a:p>
        </p:txBody>
      </p:sp>
      <p:sp>
        <p:nvSpPr>
          <p:cNvPr id="17" name="Textplatzhalter 16">
            <a:extLst>
              <a:ext uri="{FF2B5EF4-FFF2-40B4-BE49-F238E27FC236}">
                <a16:creationId xmlns:a16="http://schemas.microsoft.com/office/drawing/2014/main" id="{C62E1BF7-621F-2B2C-8C7B-7E480C1CE889}"/>
              </a:ext>
            </a:extLst>
          </p:cNvPr>
          <p:cNvSpPr>
            <a:spLocks noGrp="1"/>
          </p:cNvSpPr>
          <p:nvPr>
            <p:ph type="body" sz="half" idx="17"/>
          </p:nvPr>
        </p:nvSpPr>
        <p:spPr>
          <a:xfrm>
            <a:off x="251998" y="4382228"/>
            <a:ext cx="10846308" cy="599993"/>
          </a:xfrm>
          <a:solidFill>
            <a:srgbClr val="FF9600"/>
          </a:solidFill>
        </p:spPr>
        <p:txBody>
          <a:bodyPr/>
          <a:lstStyle/>
          <a:p>
            <a:r>
              <a:rPr lang="de-DE" sz="2400" b="1" dirty="0"/>
              <a:t>Methoden-Engineering &amp; Methodenhandbuch</a:t>
            </a:r>
          </a:p>
        </p:txBody>
      </p:sp>
    </p:spTree>
    <p:extLst>
      <p:ext uri="{BB962C8B-B14F-4D97-AF65-F5344CB8AC3E}">
        <p14:creationId xmlns:p14="http://schemas.microsoft.com/office/powerpoint/2010/main" val="1333591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Begriff „Methoden-Engineering“</a:t>
            </a:r>
          </a:p>
        </p:txBody>
      </p:sp>
      <p:sp>
        <p:nvSpPr>
          <p:cNvPr id="4" name="Rectangle 2"/>
          <p:cNvSpPr>
            <a:spLocks noChangeArrowheads="1"/>
          </p:cNvSpPr>
          <p:nvPr/>
        </p:nvSpPr>
        <p:spPr bwMode="auto">
          <a:xfrm>
            <a:off x="2847329" y="2896462"/>
            <a:ext cx="170525" cy="341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4406" tIns="42203" rIns="84406" bIns="42203" numCol="1" anchor="ctr" anchorCtr="0" compatLnSpc="1">
            <a:prstTxWarp prst="textNoShape">
              <a:avLst/>
            </a:prstTxWarp>
            <a:spAutoFit/>
          </a:bodyPr>
          <a:lstStyle/>
          <a:p>
            <a:endParaRPr lang="de-DE" sz="1662"/>
          </a:p>
        </p:txBody>
      </p:sp>
      <p:sp>
        <p:nvSpPr>
          <p:cNvPr id="8" name="Textfeld 7">
            <a:extLst>
              <a:ext uri="{FF2B5EF4-FFF2-40B4-BE49-F238E27FC236}">
                <a16:creationId xmlns:a16="http://schemas.microsoft.com/office/drawing/2014/main" id="{D024AFBF-C343-074A-E89E-81B877538007}"/>
              </a:ext>
            </a:extLst>
          </p:cNvPr>
          <p:cNvSpPr txBox="1"/>
          <p:nvPr/>
        </p:nvSpPr>
        <p:spPr>
          <a:xfrm>
            <a:off x="6526121" y="2809910"/>
            <a:ext cx="5814660" cy="369332"/>
          </a:xfrm>
          <a:prstGeom prst="rect">
            <a:avLst/>
          </a:prstGeom>
          <a:noFill/>
        </p:spPr>
        <p:txBody>
          <a:bodyPr wrap="square">
            <a:spAutoFit/>
          </a:bodyPr>
          <a:lstStyle/>
          <a:p>
            <a:r>
              <a:rPr lang="de-DE" dirty="0"/>
              <a:t>1. Entwicklung von Metamodellierungssprachen</a:t>
            </a:r>
            <a:endParaRPr lang="de-DE" sz="1600" dirty="0"/>
          </a:p>
        </p:txBody>
      </p:sp>
      <p:sp>
        <p:nvSpPr>
          <p:cNvPr id="10" name="Textfeld 9">
            <a:extLst>
              <a:ext uri="{FF2B5EF4-FFF2-40B4-BE49-F238E27FC236}">
                <a16:creationId xmlns:a16="http://schemas.microsoft.com/office/drawing/2014/main" id="{2C8339B8-2945-1E61-F576-D63E5D1BD8C3}"/>
              </a:ext>
            </a:extLst>
          </p:cNvPr>
          <p:cNvSpPr txBox="1"/>
          <p:nvPr/>
        </p:nvSpPr>
        <p:spPr>
          <a:xfrm>
            <a:off x="6526121" y="3857708"/>
            <a:ext cx="3421083" cy="369332"/>
          </a:xfrm>
          <a:prstGeom prst="rect">
            <a:avLst/>
          </a:prstGeom>
          <a:noFill/>
        </p:spPr>
        <p:txBody>
          <a:bodyPr wrap="square">
            <a:spAutoFit/>
          </a:bodyPr>
          <a:lstStyle/>
          <a:p>
            <a:r>
              <a:rPr lang="de-DE" dirty="0"/>
              <a:t>4.  Methodenkonstruktion</a:t>
            </a:r>
            <a:endParaRPr lang="de-DE" sz="1600" dirty="0"/>
          </a:p>
        </p:txBody>
      </p:sp>
      <p:sp>
        <p:nvSpPr>
          <p:cNvPr id="12" name="Textfeld 11">
            <a:extLst>
              <a:ext uri="{FF2B5EF4-FFF2-40B4-BE49-F238E27FC236}">
                <a16:creationId xmlns:a16="http://schemas.microsoft.com/office/drawing/2014/main" id="{24CD2206-61B4-4D47-4E16-5C2E6F3782E0}"/>
              </a:ext>
            </a:extLst>
          </p:cNvPr>
          <p:cNvSpPr txBox="1"/>
          <p:nvPr/>
        </p:nvSpPr>
        <p:spPr>
          <a:xfrm>
            <a:off x="6526123" y="3222691"/>
            <a:ext cx="5106449" cy="615553"/>
          </a:xfrm>
          <a:prstGeom prst="rect">
            <a:avLst/>
          </a:prstGeom>
          <a:noFill/>
        </p:spPr>
        <p:txBody>
          <a:bodyPr wrap="square">
            <a:spAutoFit/>
          </a:bodyPr>
          <a:lstStyle/>
          <a:p>
            <a:r>
              <a:rPr lang="de-DE" dirty="0"/>
              <a:t>2. Evaluation von Methoden und Werkzeugen</a:t>
            </a:r>
          </a:p>
          <a:p>
            <a:endParaRPr lang="de-DE" sz="1600" dirty="0"/>
          </a:p>
        </p:txBody>
      </p:sp>
      <p:sp>
        <p:nvSpPr>
          <p:cNvPr id="14" name="Textfeld 13">
            <a:extLst>
              <a:ext uri="{FF2B5EF4-FFF2-40B4-BE49-F238E27FC236}">
                <a16:creationId xmlns:a16="http://schemas.microsoft.com/office/drawing/2014/main" id="{35C64386-044F-55D9-3476-3A3ABFD39619}"/>
              </a:ext>
            </a:extLst>
          </p:cNvPr>
          <p:cNvSpPr txBox="1"/>
          <p:nvPr/>
        </p:nvSpPr>
        <p:spPr>
          <a:xfrm>
            <a:off x="6526122" y="3539404"/>
            <a:ext cx="3421083" cy="369332"/>
          </a:xfrm>
          <a:prstGeom prst="rect">
            <a:avLst/>
          </a:prstGeom>
          <a:noFill/>
        </p:spPr>
        <p:txBody>
          <a:bodyPr wrap="square">
            <a:spAutoFit/>
          </a:bodyPr>
          <a:lstStyle/>
          <a:p>
            <a:r>
              <a:rPr lang="de-DE" dirty="0"/>
              <a:t>3. Werkzeuginteroperabilität</a:t>
            </a:r>
            <a:endParaRPr lang="de-DE" sz="1600" dirty="0"/>
          </a:p>
        </p:txBody>
      </p:sp>
      <p:sp>
        <p:nvSpPr>
          <p:cNvPr id="16" name="Textfeld 15">
            <a:extLst>
              <a:ext uri="{FF2B5EF4-FFF2-40B4-BE49-F238E27FC236}">
                <a16:creationId xmlns:a16="http://schemas.microsoft.com/office/drawing/2014/main" id="{DFF32EE4-A83A-1A9A-75BD-37E09FCAA022}"/>
              </a:ext>
            </a:extLst>
          </p:cNvPr>
          <p:cNvSpPr txBox="1"/>
          <p:nvPr/>
        </p:nvSpPr>
        <p:spPr>
          <a:xfrm>
            <a:off x="6526121" y="4199853"/>
            <a:ext cx="4077225" cy="646331"/>
          </a:xfrm>
          <a:prstGeom prst="rect">
            <a:avLst/>
          </a:prstGeom>
          <a:noFill/>
        </p:spPr>
        <p:txBody>
          <a:bodyPr wrap="square">
            <a:spAutoFit/>
          </a:bodyPr>
          <a:lstStyle/>
          <a:p>
            <a:r>
              <a:rPr lang="de-DE" dirty="0"/>
              <a:t>5. Aspekte der Methoden- und Werkzeuganwendung</a:t>
            </a:r>
            <a:endParaRPr lang="de-DE" sz="1600" dirty="0"/>
          </a:p>
        </p:txBody>
      </p:sp>
      <p:sp>
        <p:nvSpPr>
          <p:cNvPr id="19" name="Textfeld 18">
            <a:extLst>
              <a:ext uri="{FF2B5EF4-FFF2-40B4-BE49-F238E27FC236}">
                <a16:creationId xmlns:a16="http://schemas.microsoft.com/office/drawing/2014/main" id="{E3558015-7DEB-62AE-0F41-C9FBD86555E3}"/>
              </a:ext>
            </a:extLst>
          </p:cNvPr>
          <p:cNvSpPr txBox="1"/>
          <p:nvPr/>
        </p:nvSpPr>
        <p:spPr>
          <a:xfrm>
            <a:off x="251999" y="1308246"/>
            <a:ext cx="5566095" cy="4431983"/>
          </a:xfrm>
          <a:prstGeom prst="rect">
            <a:avLst/>
          </a:prstGeom>
          <a:noFill/>
        </p:spPr>
        <p:txBody>
          <a:bodyPr wrap="square">
            <a:spAutoFit/>
          </a:bodyPr>
          <a:lstStyle/>
          <a:p>
            <a:pPr marL="342900" indent="-342900">
              <a:buFont typeface="Arial" panose="020B0604020202020204" pitchFamily="34" charset="0"/>
              <a:buChar char="•"/>
            </a:pPr>
            <a:r>
              <a:rPr lang="de-DE" dirty="0"/>
              <a:t>Der Bereich der Wirtschaftsinformatik, der sich mit der Neu- und Weiterentwicklung von Modellierungssprache beschäftigt, heißt </a:t>
            </a:r>
            <a:r>
              <a:rPr lang="de-DE" b="1" dirty="0"/>
              <a:t>Methoden-Engineering (ME)</a:t>
            </a:r>
            <a:br>
              <a:rPr lang="de-DE" b="1" dirty="0"/>
            </a:br>
            <a:endParaRPr lang="de-DE" b="1" dirty="0"/>
          </a:p>
          <a:p>
            <a:pPr marL="342900" indent="-342900">
              <a:buFont typeface="Arial" panose="020B0604020202020204" pitchFamily="34" charset="0"/>
              <a:buChar char="•"/>
            </a:pPr>
            <a:r>
              <a:rPr lang="de-DE" sz="1600" dirty="0"/>
              <a:t>Methoden-Engineering beschäftigt sich nicht nur mit Modellierungssprachen (z. B. UML oder BPMN), sondern mit dem </a:t>
            </a:r>
            <a:r>
              <a:rPr lang="de-DE" sz="1600" b="1" dirty="0"/>
              <a:t>methodischen Vorgehen bei der Anwendung</a:t>
            </a:r>
            <a:r>
              <a:rPr lang="de-DE" sz="1600" dirty="0"/>
              <a:t> einer Modellierungssprachen</a:t>
            </a:r>
            <a:br>
              <a:rPr lang="de-DE" sz="1600" dirty="0"/>
            </a:br>
            <a:endParaRPr lang="de-DE" sz="1600" dirty="0"/>
          </a:p>
          <a:p>
            <a:pPr marL="342900" indent="-342900">
              <a:buFont typeface="Arial" panose="020B0604020202020204" pitchFamily="34" charset="0"/>
              <a:buChar char="•"/>
            </a:pPr>
            <a:r>
              <a:rPr lang="de-DE" sz="1600" dirty="0"/>
              <a:t>ME kommt auch zum Einsatz, wenn </a:t>
            </a:r>
            <a:r>
              <a:rPr lang="de-DE" sz="1600" b="1" dirty="0" err="1"/>
              <a:t>unternehmesspezifische</a:t>
            </a:r>
            <a:r>
              <a:rPr lang="de-DE" sz="1600" dirty="0"/>
              <a:t> (domänenspezifische) Sprachen entwickelt (bzw. angepasst) werden sollen</a:t>
            </a:r>
            <a:br>
              <a:rPr lang="de-DE" sz="1600" dirty="0"/>
            </a:br>
            <a:endParaRPr lang="de-DE" sz="1600" dirty="0"/>
          </a:p>
          <a:p>
            <a:pPr marL="342900" indent="-342900">
              <a:buFont typeface="Arial" panose="020B0604020202020204" pitchFamily="34" charset="0"/>
              <a:buChar char="•"/>
            </a:pPr>
            <a:r>
              <a:rPr lang="de-DE" sz="1600" b="1" dirty="0">
                <a:solidFill>
                  <a:srgbClr val="254061"/>
                </a:solidFill>
              </a:rPr>
              <a:t>Beispiel</a:t>
            </a:r>
            <a:r>
              <a:rPr lang="de-DE" sz="1600" dirty="0"/>
              <a:t>: Bei der Datenmodellierung mit ERM werden zunächst „Entitäten“ identifiziert. Anschließend wird entschieden, welche Relationen eine Rolle spielen.</a:t>
            </a:r>
          </a:p>
        </p:txBody>
      </p:sp>
      <p:sp>
        <p:nvSpPr>
          <p:cNvPr id="20" name="Textfeld 19">
            <a:extLst>
              <a:ext uri="{FF2B5EF4-FFF2-40B4-BE49-F238E27FC236}">
                <a16:creationId xmlns:a16="http://schemas.microsoft.com/office/drawing/2014/main" id="{A4FD521A-7348-5533-972B-F190133E412D}"/>
              </a:ext>
            </a:extLst>
          </p:cNvPr>
          <p:cNvSpPr txBox="1"/>
          <p:nvPr/>
        </p:nvSpPr>
        <p:spPr>
          <a:xfrm>
            <a:off x="6614902" y="2030693"/>
            <a:ext cx="3595897" cy="1200329"/>
          </a:xfrm>
          <a:prstGeom prst="rect">
            <a:avLst/>
          </a:prstGeom>
          <a:noFill/>
        </p:spPr>
        <p:txBody>
          <a:bodyPr wrap="square">
            <a:spAutoFit/>
          </a:bodyPr>
          <a:lstStyle/>
          <a:p>
            <a:r>
              <a:rPr lang="de-DE" b="1" dirty="0"/>
              <a:t>Typische 5 Bereiche des ME:																				</a:t>
            </a:r>
            <a:endParaRPr lang="de-DE" sz="1600" b="1" dirty="0"/>
          </a:p>
        </p:txBody>
      </p:sp>
    </p:spTree>
    <p:extLst>
      <p:ext uri="{BB962C8B-B14F-4D97-AF65-F5344CB8AC3E}">
        <p14:creationId xmlns:p14="http://schemas.microsoft.com/office/powerpoint/2010/main" val="1627898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A6A529-DD42-BFD6-F21E-D0C990432E39}"/>
              </a:ext>
            </a:extLst>
          </p:cNvPr>
          <p:cNvSpPr>
            <a:spLocks noGrp="1"/>
          </p:cNvSpPr>
          <p:nvPr>
            <p:ph type="title"/>
          </p:nvPr>
        </p:nvSpPr>
        <p:spPr/>
        <p:txBody>
          <a:bodyPr/>
          <a:lstStyle/>
          <a:p>
            <a:r>
              <a:rPr lang="de-DE" dirty="0"/>
              <a:t>Begriff „ Methodenhandbuch“</a:t>
            </a:r>
          </a:p>
        </p:txBody>
      </p:sp>
      <p:sp>
        <p:nvSpPr>
          <p:cNvPr id="4" name="Textfeld 3">
            <a:extLst>
              <a:ext uri="{FF2B5EF4-FFF2-40B4-BE49-F238E27FC236}">
                <a16:creationId xmlns:a16="http://schemas.microsoft.com/office/drawing/2014/main" id="{8970CCAB-B32E-7474-EBFE-F66E82AB398E}"/>
              </a:ext>
            </a:extLst>
          </p:cNvPr>
          <p:cNvSpPr txBox="1"/>
          <p:nvPr/>
        </p:nvSpPr>
        <p:spPr>
          <a:xfrm>
            <a:off x="251998" y="1308246"/>
            <a:ext cx="9169907" cy="4124206"/>
          </a:xfrm>
          <a:prstGeom prst="rect">
            <a:avLst/>
          </a:prstGeom>
          <a:noFill/>
        </p:spPr>
        <p:txBody>
          <a:bodyPr wrap="square">
            <a:spAutoFit/>
          </a:bodyPr>
          <a:lstStyle/>
          <a:p>
            <a:pPr marL="342900" indent="-342900">
              <a:buFont typeface="Arial" panose="020B0604020202020204" pitchFamily="34" charset="0"/>
              <a:buChar char="•"/>
            </a:pPr>
            <a:r>
              <a:rPr lang="de-DE" dirty="0"/>
              <a:t>Ein </a:t>
            </a:r>
            <a:r>
              <a:rPr lang="de-DE" b="1" dirty="0"/>
              <a:t>Methodenhandbuch</a:t>
            </a:r>
            <a:r>
              <a:rPr lang="de-DE" dirty="0"/>
              <a:t> ist eine strukturierte Dokumentation, die beschreibt, wie eine bestimmte Methode oder ein Satz von Methoden in einer Organisation anzuwenden ist.</a:t>
            </a:r>
            <a:br>
              <a:rPr lang="de-DE" dirty="0"/>
            </a:br>
            <a:endParaRPr lang="de-DE" dirty="0"/>
          </a:p>
          <a:p>
            <a:pPr marL="342900" indent="-342900">
              <a:buFont typeface="Arial" panose="020B0604020202020204" pitchFamily="34" charset="0"/>
              <a:buChar char="•"/>
            </a:pPr>
            <a:r>
              <a:rPr lang="de-DE" sz="1600" dirty="0"/>
              <a:t>Ein Unternehmen entwickelt Software. Das Methodenhandbuch könnte festlegen:</a:t>
            </a:r>
          </a:p>
          <a:p>
            <a:pPr marL="742950" lvl="1" indent="-285750">
              <a:buFont typeface="Arial" panose="020B0604020202020204" pitchFamily="34" charset="0"/>
              <a:buChar char="•"/>
            </a:pPr>
            <a:r>
              <a:rPr lang="de-DE" sz="1600" dirty="0"/>
              <a:t>Anforderungen werden mit </a:t>
            </a:r>
            <a:r>
              <a:rPr lang="de-DE" sz="1600" b="1" dirty="0"/>
              <a:t>Use Cases</a:t>
            </a:r>
            <a:r>
              <a:rPr lang="de-DE" sz="1600" dirty="0"/>
              <a:t> beschrieben</a:t>
            </a:r>
          </a:p>
          <a:p>
            <a:pPr marL="742950" lvl="1" indent="-285750">
              <a:buFont typeface="Arial" panose="020B0604020202020204" pitchFamily="34" charset="0"/>
              <a:buChar char="•"/>
            </a:pPr>
            <a:r>
              <a:rPr lang="de-DE" sz="1600" dirty="0"/>
              <a:t>Geschäftsprozesse werden in </a:t>
            </a:r>
            <a:r>
              <a:rPr lang="de-DE" sz="1600" b="1" dirty="0"/>
              <a:t>BPMN oder EPK</a:t>
            </a:r>
            <a:r>
              <a:rPr lang="de-DE" sz="1600" dirty="0"/>
              <a:t> modelliert. </a:t>
            </a:r>
          </a:p>
          <a:p>
            <a:pPr marL="742950" lvl="1" indent="-285750">
              <a:buFont typeface="Arial" panose="020B0604020202020204" pitchFamily="34" charset="0"/>
              <a:buChar char="•"/>
            </a:pPr>
            <a:r>
              <a:rPr lang="de-DE" sz="1600" dirty="0"/>
              <a:t>Das Systemdesign erfolgt mit </a:t>
            </a:r>
            <a:r>
              <a:rPr lang="de-DE" sz="1600" b="1" dirty="0"/>
              <a:t>UML-Klassendiagrammen</a:t>
            </a:r>
            <a:r>
              <a:rPr lang="de-DE" sz="1600" dirty="0"/>
              <a:t>. </a:t>
            </a:r>
          </a:p>
          <a:p>
            <a:pPr marL="742950" lvl="1" indent="-285750">
              <a:buFont typeface="Arial" panose="020B0604020202020204" pitchFamily="34" charset="0"/>
              <a:buChar char="•"/>
            </a:pPr>
            <a:r>
              <a:rPr lang="de-DE" sz="1600" dirty="0"/>
              <a:t>Code wird vor der Freigabe einem </a:t>
            </a:r>
            <a:r>
              <a:rPr lang="de-DE" sz="1600" b="1" dirty="0"/>
              <a:t>Code-Review</a:t>
            </a:r>
            <a:r>
              <a:rPr lang="de-DE" sz="1600" dirty="0"/>
              <a:t> unterzogen. </a:t>
            </a:r>
          </a:p>
          <a:p>
            <a:pPr marL="742950" lvl="1" indent="-285750">
              <a:buFont typeface="Arial" panose="020B0604020202020204" pitchFamily="34" charset="0"/>
              <a:buChar char="•"/>
            </a:pPr>
            <a:r>
              <a:rPr lang="de-DE" sz="1600" dirty="0"/>
              <a:t>Für alle Projekte gelten dieselben Dokumentvorlagen.</a:t>
            </a:r>
            <a:br>
              <a:rPr lang="de-DE" sz="1600" dirty="0"/>
            </a:br>
            <a:endParaRPr lang="de-DE" sz="1600" dirty="0"/>
          </a:p>
          <a:p>
            <a:pPr marL="342900" indent="-342900">
              <a:buFont typeface="Arial" panose="020B0604020202020204" pitchFamily="34" charset="0"/>
              <a:buChar char="•"/>
            </a:pPr>
            <a:r>
              <a:rPr lang="de-DE" sz="1600" dirty="0"/>
              <a:t>Ein </a:t>
            </a:r>
            <a:r>
              <a:rPr lang="de-DE" sz="1600" b="1" dirty="0"/>
              <a:t>Methodenhandbuch</a:t>
            </a:r>
            <a:r>
              <a:rPr lang="de-DE" sz="1600" dirty="0"/>
              <a:t> hilft dabei </a:t>
            </a:r>
          </a:p>
          <a:p>
            <a:pPr marL="800100" lvl="1" indent="-342900">
              <a:buFont typeface="Arial" panose="020B0604020202020204" pitchFamily="34" charset="0"/>
              <a:buChar char="•"/>
            </a:pPr>
            <a:r>
              <a:rPr lang="de-DE" sz="1600" dirty="0"/>
              <a:t>einheitliche </a:t>
            </a:r>
            <a:r>
              <a:rPr lang="de-DE" sz="1600" b="1" dirty="0"/>
              <a:t>Arbeitsweisen</a:t>
            </a:r>
            <a:r>
              <a:rPr lang="de-DE" sz="1600" dirty="0"/>
              <a:t> sicherzustellen</a:t>
            </a:r>
          </a:p>
          <a:p>
            <a:pPr marL="800100" lvl="1" indent="-342900">
              <a:buFont typeface="Arial" panose="020B0604020202020204" pitchFamily="34" charset="0"/>
              <a:buChar char="•"/>
            </a:pPr>
            <a:r>
              <a:rPr lang="de-DE" sz="1600" dirty="0"/>
              <a:t>neue Mitarbeitende </a:t>
            </a:r>
            <a:r>
              <a:rPr lang="de-DE" sz="1600" b="1" dirty="0"/>
              <a:t>einzuarbeiten</a:t>
            </a:r>
            <a:r>
              <a:rPr lang="de-DE" sz="1600" dirty="0"/>
              <a:t>,</a:t>
            </a:r>
          </a:p>
          <a:p>
            <a:pPr marL="800100" lvl="1" indent="-342900">
              <a:buFont typeface="Arial" panose="020B0604020202020204" pitchFamily="34" charset="0"/>
              <a:buChar char="•"/>
            </a:pPr>
            <a:r>
              <a:rPr lang="de-DE" sz="1600" dirty="0"/>
              <a:t>die </a:t>
            </a:r>
            <a:r>
              <a:rPr lang="de-DE" sz="1600" dirty="0">
                <a:solidFill>
                  <a:srgbClr val="254061"/>
                </a:solidFill>
              </a:rPr>
              <a:t>Qualität</a:t>
            </a:r>
            <a:r>
              <a:rPr lang="de-DE" sz="1600" dirty="0"/>
              <a:t> der Ergebnisse zu erhöhen,</a:t>
            </a:r>
          </a:p>
          <a:p>
            <a:pPr marL="800100" lvl="1" indent="-342900">
              <a:buFont typeface="Arial" panose="020B0604020202020204" pitchFamily="34" charset="0"/>
              <a:buChar char="•"/>
            </a:pPr>
            <a:r>
              <a:rPr lang="de-DE" sz="1600" b="1" dirty="0"/>
              <a:t>Fehler und Missverständnisse </a:t>
            </a:r>
            <a:r>
              <a:rPr lang="de-DE" sz="1600" dirty="0"/>
              <a:t>zu vermeiden,</a:t>
            </a:r>
          </a:p>
          <a:p>
            <a:pPr marL="800100" lvl="1" indent="-342900">
              <a:buFont typeface="Arial" panose="020B0604020202020204" pitchFamily="34" charset="0"/>
              <a:buChar char="•"/>
            </a:pPr>
            <a:r>
              <a:rPr lang="de-DE" sz="1600" dirty="0"/>
              <a:t>Methoden </a:t>
            </a:r>
            <a:r>
              <a:rPr lang="de-DE" sz="1600" b="1" dirty="0"/>
              <a:t>dauerhaft im Unternehmen zu verankern</a:t>
            </a:r>
          </a:p>
        </p:txBody>
      </p:sp>
    </p:spTree>
    <p:extLst>
      <p:ext uri="{BB962C8B-B14F-4D97-AF65-F5344CB8AC3E}">
        <p14:creationId xmlns:p14="http://schemas.microsoft.com/office/powerpoint/2010/main" val="1330347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3E1DAE-17ED-9FE1-2835-D514304A1132}"/>
              </a:ext>
            </a:extLst>
          </p:cNvPr>
          <p:cNvSpPr>
            <a:spLocks noGrp="1"/>
          </p:cNvSpPr>
          <p:nvPr>
            <p:ph type="title"/>
          </p:nvPr>
        </p:nvSpPr>
        <p:spPr/>
        <p:txBody>
          <a:bodyPr/>
          <a:lstStyle/>
          <a:p>
            <a:r>
              <a:rPr lang="de-DE" dirty="0"/>
              <a:t>Wichtige Begriffe</a:t>
            </a:r>
          </a:p>
        </p:txBody>
      </p:sp>
      <p:graphicFrame>
        <p:nvGraphicFramePr>
          <p:cNvPr id="3" name="Tabelle 2">
            <a:extLst>
              <a:ext uri="{FF2B5EF4-FFF2-40B4-BE49-F238E27FC236}">
                <a16:creationId xmlns:a16="http://schemas.microsoft.com/office/drawing/2014/main" id="{240690FD-ABBE-E36D-8B9E-913326AED3D6}"/>
              </a:ext>
            </a:extLst>
          </p:cNvPr>
          <p:cNvGraphicFramePr>
            <a:graphicFrameLocks noGrp="1"/>
          </p:cNvGraphicFramePr>
          <p:nvPr>
            <p:extLst>
              <p:ext uri="{D42A27DB-BD31-4B8C-83A1-F6EECF244321}">
                <p14:modId xmlns:p14="http://schemas.microsoft.com/office/powerpoint/2010/main" val="3816630874"/>
              </p:ext>
            </p:extLst>
          </p:nvPr>
        </p:nvGraphicFramePr>
        <p:xfrm>
          <a:off x="400424" y="2118159"/>
          <a:ext cx="10741718" cy="3986805"/>
        </p:xfrm>
        <a:graphic>
          <a:graphicData uri="http://schemas.openxmlformats.org/drawingml/2006/table">
            <a:tbl>
              <a:tblPr firstRow="1" bandRow="1">
                <a:tableStyleId>{5C22544A-7EE6-4342-B048-85BDC9FD1C3A}</a:tableStyleId>
              </a:tblPr>
              <a:tblGrid>
                <a:gridCol w="4434909">
                  <a:extLst>
                    <a:ext uri="{9D8B030D-6E8A-4147-A177-3AD203B41FA5}">
                      <a16:colId xmlns:a16="http://schemas.microsoft.com/office/drawing/2014/main" val="3456386967"/>
                    </a:ext>
                  </a:extLst>
                </a:gridCol>
                <a:gridCol w="6306809">
                  <a:extLst>
                    <a:ext uri="{9D8B030D-6E8A-4147-A177-3AD203B41FA5}">
                      <a16:colId xmlns:a16="http://schemas.microsoft.com/office/drawing/2014/main" val="4284024820"/>
                    </a:ext>
                  </a:extLst>
                </a:gridCol>
              </a:tblGrid>
              <a:tr h="797361">
                <a:tc>
                  <a:txBody>
                    <a:bodyPr/>
                    <a:lstStyle/>
                    <a:p>
                      <a:r>
                        <a:rPr lang="de-DE" sz="2800" dirty="0"/>
                        <a:t>Begriff</a:t>
                      </a:r>
                    </a:p>
                  </a:txBody>
                  <a:tcPr anchor="ctr"/>
                </a:tc>
                <a:tc>
                  <a:txBody>
                    <a:bodyPr/>
                    <a:lstStyle/>
                    <a:p>
                      <a:r>
                        <a:rPr lang="de-DE" sz="2800" dirty="0"/>
                        <a:t>Erläuterung</a:t>
                      </a:r>
                    </a:p>
                  </a:txBody>
                  <a:tcPr anchor="ctr"/>
                </a:tc>
                <a:extLst>
                  <a:ext uri="{0D108BD9-81ED-4DB2-BD59-A6C34878D82A}">
                    <a16:rowId xmlns:a16="http://schemas.microsoft.com/office/drawing/2014/main" val="2655876140"/>
                  </a:ext>
                </a:extLst>
              </a:tr>
              <a:tr h="797361">
                <a:tc>
                  <a:txBody>
                    <a:bodyPr/>
                    <a:lstStyle/>
                    <a:p>
                      <a:r>
                        <a:rPr lang="de-DE" b="1" dirty="0"/>
                        <a:t>Modellierungssprache</a:t>
                      </a:r>
                    </a:p>
                  </a:txBody>
                  <a:tcPr anchor="ctr"/>
                </a:tc>
                <a:tc>
                  <a:txBody>
                    <a:bodyPr/>
                    <a:lstStyle/>
                    <a:p>
                      <a:r>
                        <a:rPr lang="de-DE" dirty="0"/>
                        <a:t>Beschreibt, </a:t>
                      </a:r>
                      <a:r>
                        <a:rPr lang="de-DE" b="1" dirty="0"/>
                        <a:t>wie</a:t>
                      </a:r>
                      <a:r>
                        <a:rPr lang="de-DE" dirty="0"/>
                        <a:t> Modelle dargestellt werden (z. B. UML, BPMN).</a:t>
                      </a:r>
                    </a:p>
                  </a:txBody>
                  <a:tcPr anchor="ctr"/>
                </a:tc>
                <a:extLst>
                  <a:ext uri="{0D108BD9-81ED-4DB2-BD59-A6C34878D82A}">
                    <a16:rowId xmlns:a16="http://schemas.microsoft.com/office/drawing/2014/main" val="3884379953"/>
                  </a:ext>
                </a:extLst>
              </a:tr>
              <a:tr h="797361">
                <a:tc>
                  <a:txBody>
                    <a:bodyPr/>
                    <a:lstStyle/>
                    <a:p>
                      <a:r>
                        <a:rPr lang="de-DE" b="1" dirty="0"/>
                        <a:t>Methode</a:t>
                      </a:r>
                    </a:p>
                  </a:txBody>
                  <a:tcPr anchor="ctr"/>
                </a:tc>
                <a:tc>
                  <a:txBody>
                    <a:bodyPr/>
                    <a:lstStyle/>
                    <a:p>
                      <a:r>
                        <a:rPr lang="de-DE" dirty="0"/>
                        <a:t>Beschreibt, </a:t>
                      </a:r>
                      <a:r>
                        <a:rPr lang="de-DE" b="1" dirty="0"/>
                        <a:t>wie gearbeitet</a:t>
                      </a:r>
                      <a:r>
                        <a:rPr lang="de-DE" dirty="0"/>
                        <a:t> wird (Ablauf, Rollen, Werkzeuge).</a:t>
                      </a:r>
                    </a:p>
                  </a:txBody>
                  <a:tcPr anchor="ctr"/>
                </a:tc>
                <a:extLst>
                  <a:ext uri="{0D108BD9-81ED-4DB2-BD59-A6C34878D82A}">
                    <a16:rowId xmlns:a16="http://schemas.microsoft.com/office/drawing/2014/main" val="3724314279"/>
                  </a:ext>
                </a:extLst>
              </a:tr>
              <a:tr h="797361">
                <a:tc>
                  <a:txBody>
                    <a:bodyPr/>
                    <a:lstStyle/>
                    <a:p>
                      <a:pPr>
                        <a:buNone/>
                      </a:pPr>
                      <a:r>
                        <a:rPr lang="de-DE" b="1" dirty="0"/>
                        <a:t>Methoden-Engineering</a:t>
                      </a:r>
                    </a:p>
                  </a:txBody>
                  <a:tcPr anchor="ctr"/>
                </a:tc>
                <a:tc>
                  <a:txBody>
                    <a:bodyPr/>
                    <a:lstStyle/>
                    <a:p>
                      <a:pPr>
                        <a:buNone/>
                      </a:pPr>
                      <a:r>
                        <a:rPr lang="de-DE" dirty="0"/>
                        <a:t>Entwickelt und </a:t>
                      </a:r>
                      <a:r>
                        <a:rPr lang="de-DE" b="1" dirty="0"/>
                        <a:t>passt</a:t>
                      </a:r>
                      <a:r>
                        <a:rPr lang="de-DE" dirty="0"/>
                        <a:t> Methoden </a:t>
                      </a:r>
                      <a:r>
                        <a:rPr lang="de-DE" b="1" dirty="0"/>
                        <a:t>an</a:t>
                      </a:r>
                      <a:r>
                        <a:rPr lang="de-DE" dirty="0"/>
                        <a:t>.</a:t>
                      </a:r>
                    </a:p>
                  </a:txBody>
                  <a:tcPr anchor="ctr"/>
                </a:tc>
                <a:extLst>
                  <a:ext uri="{0D108BD9-81ED-4DB2-BD59-A6C34878D82A}">
                    <a16:rowId xmlns:a16="http://schemas.microsoft.com/office/drawing/2014/main" val="2816411976"/>
                  </a:ext>
                </a:extLst>
              </a:tr>
              <a:tr h="797361">
                <a:tc>
                  <a:txBody>
                    <a:bodyPr/>
                    <a:lstStyle/>
                    <a:p>
                      <a:pPr>
                        <a:buNone/>
                      </a:pPr>
                      <a:r>
                        <a:rPr lang="de-DE" b="1" dirty="0"/>
                        <a:t>Methodenhandbuch</a:t>
                      </a:r>
                    </a:p>
                  </a:txBody>
                  <a:tcPr anchor="ctr"/>
                </a:tc>
                <a:tc>
                  <a:txBody>
                    <a:bodyPr/>
                    <a:lstStyle/>
                    <a:p>
                      <a:r>
                        <a:rPr lang="de-DE" dirty="0"/>
                        <a:t>Dokumentiert </a:t>
                      </a:r>
                      <a:r>
                        <a:rPr lang="de-DE" b="1" dirty="0"/>
                        <a:t>eingesetzte Methode </a:t>
                      </a:r>
                      <a:r>
                        <a:rPr lang="de-DE" dirty="0"/>
                        <a:t>und erklärt ihre Anwendung.</a:t>
                      </a:r>
                    </a:p>
                  </a:txBody>
                  <a:tcPr anchor="ctr"/>
                </a:tc>
                <a:extLst>
                  <a:ext uri="{0D108BD9-81ED-4DB2-BD59-A6C34878D82A}">
                    <a16:rowId xmlns:a16="http://schemas.microsoft.com/office/drawing/2014/main" val="1886597251"/>
                  </a:ext>
                </a:extLst>
              </a:tr>
            </a:tbl>
          </a:graphicData>
        </a:graphic>
      </p:graphicFrame>
    </p:spTree>
    <p:extLst>
      <p:ext uri="{BB962C8B-B14F-4D97-AF65-F5344CB8AC3E}">
        <p14:creationId xmlns:p14="http://schemas.microsoft.com/office/powerpoint/2010/main" val="19867049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3" ma:contentTypeDescription="Ein neues Dokument erstellen." ma:contentTypeScope="" ma:versionID="1b8593134bf9cdc0eb77565b2cf96b29">
  <xsd:schema xmlns:xsd="http://www.w3.org/2001/XMLSchema" xmlns:xs="http://www.w3.org/2001/XMLSchema" xmlns:p="http://schemas.microsoft.com/office/2006/metadata/properties" xmlns:ns2="16183c5d-4bb5-4dd9-861a-fea4b0b788ce" targetNamespace="http://schemas.microsoft.com/office/2006/metadata/properties" ma:root="true" ma:fieldsID="dc889b0469077f19db5a2669d78630b4" ns2:_="">
    <xsd:import namespace="16183c5d-4bb5-4dd9-861a-fea4b0b788c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65F0C028-E0B4-42B6-B6F0-C2A69F25E459}"/>
</file>

<file path=docProps/app.xml><?xml version="1.0" encoding="utf-8"?>
<Properties xmlns="http://schemas.openxmlformats.org/officeDocument/2006/extended-properties" xmlns:vt="http://schemas.openxmlformats.org/officeDocument/2006/docPropsVTypes">
  <Template>HSBA Folienmastervorlage (5)</Template>
  <TotalTime>0</TotalTime>
  <Words>1705</Words>
  <Application>Microsoft Office PowerPoint</Application>
  <PresentationFormat>Breitbild</PresentationFormat>
  <Paragraphs>366</Paragraphs>
  <Slides>33</Slides>
  <Notes>8</Notes>
  <HiddenSlides>0</HiddenSlides>
  <MMClips>0</MMClips>
  <ScaleCrop>false</ScaleCrop>
  <HeadingPairs>
    <vt:vector size="8" baseType="variant">
      <vt:variant>
        <vt:lpstr>Verwendete Schriftarten</vt:lpstr>
      </vt:variant>
      <vt:variant>
        <vt:i4>6</vt:i4>
      </vt:variant>
      <vt:variant>
        <vt:lpstr>Design</vt:lpstr>
      </vt:variant>
      <vt:variant>
        <vt:i4>2</vt:i4>
      </vt:variant>
      <vt:variant>
        <vt:lpstr>Eingebettete OLE-Server</vt:lpstr>
      </vt:variant>
      <vt:variant>
        <vt:i4>2</vt:i4>
      </vt:variant>
      <vt:variant>
        <vt:lpstr>Folientitel</vt:lpstr>
      </vt:variant>
      <vt:variant>
        <vt:i4>33</vt:i4>
      </vt:variant>
    </vt:vector>
  </HeadingPairs>
  <TitlesOfParts>
    <vt:vector size="43" baseType="lpstr">
      <vt:lpstr>Titillium Web</vt:lpstr>
      <vt:lpstr>Wingdings 3</vt:lpstr>
      <vt:lpstr>TitilliumText25L</vt:lpstr>
      <vt:lpstr>Arial</vt:lpstr>
      <vt:lpstr>Calibri</vt:lpstr>
      <vt:lpstr>Wingdings</vt:lpstr>
      <vt:lpstr>Integral</vt:lpstr>
      <vt:lpstr>Integral Lehre (mit Quellenachweis)</vt:lpstr>
      <vt:lpstr>think-cell Slide</vt:lpstr>
      <vt:lpstr>Visio.Drawing.11</vt:lpstr>
      <vt:lpstr>Modellierung betrieblicher informationssysteme (MOBIS)</vt:lpstr>
      <vt:lpstr>Einordnung des Moduls</vt:lpstr>
      <vt:lpstr>Einordnung des Moduls</vt:lpstr>
      <vt:lpstr>Agenda</vt:lpstr>
      <vt:lpstr>Agenda</vt:lpstr>
      <vt:lpstr>Entwicklung von IT-Systemen als Gegenstand der Informatik</vt:lpstr>
      <vt:lpstr>Entwicklung von Informationssystemen als Gegenstand der Wirtschaftsinformatik</vt:lpstr>
      <vt:lpstr>Beispiele für Informationssysteme</vt:lpstr>
      <vt:lpstr>Entwicklung von Informationssystemen: Wasserfallmodell</vt:lpstr>
      <vt:lpstr>Komplexität eines Informationssystems</vt:lpstr>
      <vt:lpstr>Entwicklung von Informationssystemen: Cost of Errors</vt:lpstr>
      <vt:lpstr>Agenda</vt:lpstr>
      <vt:lpstr>Begriff „Modell “</vt:lpstr>
      <vt:lpstr>Modelle als individuelle Konstruktionsleistung</vt:lpstr>
      <vt:lpstr>Betriff „Informationsmodell“</vt:lpstr>
      <vt:lpstr>Betriff „ Modellierungssprache“</vt:lpstr>
      <vt:lpstr>Agenda</vt:lpstr>
      <vt:lpstr>ARIS: Architektur Integrierter Informationssysteme</vt:lpstr>
      <vt:lpstr>Sichtenbildung als Mittel zur Komplexitätsreduktion von Informationssystemen</vt:lpstr>
      <vt:lpstr>Komplexitätsreduktion durch Abstraktionsebenen</vt:lpstr>
      <vt:lpstr>ARIS: Architektur Integrierter Informationssysteme Sichten und Abstraktionsebenen</vt:lpstr>
      <vt:lpstr>Agenda</vt:lpstr>
      <vt:lpstr>Analogie: Modellierung beim Hausbau</vt:lpstr>
      <vt:lpstr>PowerPoint-Präsentation</vt:lpstr>
      <vt:lpstr>Entwicklung Grundrissplanung (Fachkonzept auch Requirements Definition)</vt:lpstr>
      <vt:lpstr>Entwicklung Umsetzungsplanung  (DV-Konzept auch Design Specification)</vt:lpstr>
      <vt:lpstr>Modellbegriffe der Wirtschaftsinformatik Ist-Modell vs Soll-Modell</vt:lpstr>
      <vt:lpstr>Modellbegriffe der Wirtschaftsinformatik Syntax VS Semantik</vt:lpstr>
      <vt:lpstr>Beispiel: Syntax und Semantik von Zeichen</vt:lpstr>
      <vt:lpstr>Agenda</vt:lpstr>
      <vt:lpstr>Begriff „Methoden-Engineering“</vt:lpstr>
      <vt:lpstr>Begriff „ Methodenhandbuch“</vt:lpstr>
      <vt:lpstr>Wichtige Begriffe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Kamyar Sarshar</dc:creator>
  <cp:lastModifiedBy>Kamyar Sarshar</cp:lastModifiedBy>
  <cp:revision>46</cp:revision>
  <cp:lastPrinted>2018-12-21T13:35:12Z</cp:lastPrinted>
  <dcterms:created xsi:type="dcterms:W3CDTF">2026-07-16T07:13:15Z</dcterms:created>
  <dcterms:modified xsi:type="dcterms:W3CDTF">2026-07-26T18:11:32Z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