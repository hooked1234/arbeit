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47"/>
  </p:notesMasterIdLst>
  <p:handoutMasterIdLst>
    <p:handoutMasterId r:id="rId48"/>
  </p:handoutMasterIdLst>
  <p:sldIdLst>
    <p:sldId id="336" r:id="rId6"/>
    <p:sldId id="463" r:id="rId7"/>
    <p:sldId id="259" r:id="rId8"/>
    <p:sldId id="348" r:id="rId9"/>
    <p:sldId id="419" r:id="rId10"/>
    <p:sldId id="347" r:id="rId11"/>
    <p:sldId id="352" r:id="rId12"/>
    <p:sldId id="353" r:id="rId13"/>
    <p:sldId id="354" r:id="rId14"/>
    <p:sldId id="355" r:id="rId15"/>
    <p:sldId id="451" r:id="rId16"/>
    <p:sldId id="358" r:id="rId17"/>
    <p:sldId id="357" r:id="rId18"/>
    <p:sldId id="356" r:id="rId19"/>
    <p:sldId id="359" r:id="rId20"/>
    <p:sldId id="360" r:id="rId21"/>
    <p:sldId id="435" r:id="rId22"/>
    <p:sldId id="363" r:id="rId23"/>
    <p:sldId id="361" r:id="rId24"/>
    <p:sldId id="362" r:id="rId25"/>
    <p:sldId id="366" r:id="rId26"/>
    <p:sldId id="367" r:id="rId27"/>
    <p:sldId id="364" r:id="rId28"/>
    <p:sldId id="365" r:id="rId29"/>
    <p:sldId id="368" r:id="rId30"/>
    <p:sldId id="369" r:id="rId31"/>
    <p:sldId id="351" r:id="rId32"/>
    <p:sldId id="436" r:id="rId33"/>
    <p:sldId id="437" r:id="rId34"/>
    <p:sldId id="438" r:id="rId35"/>
    <p:sldId id="439" r:id="rId36"/>
    <p:sldId id="442" r:id="rId37"/>
    <p:sldId id="443" r:id="rId38"/>
    <p:sldId id="444" r:id="rId39"/>
    <p:sldId id="434" r:id="rId40"/>
    <p:sldId id="349" r:id="rId41"/>
    <p:sldId id="350" r:id="rId42"/>
    <p:sldId id="448" r:id="rId43"/>
    <p:sldId id="445" r:id="rId44"/>
    <p:sldId id="446" r:id="rId45"/>
    <p:sldId id="450" r:id="rId46"/>
  </p:sldIdLst>
  <p:sldSz cx="12192000" cy="6858000"/>
  <p:notesSz cx="6797675" cy="9928225"/>
  <p:embeddedFontLst>
    <p:embeddedFont>
      <p:font typeface="Titillium Web" panose="00000500000000000000" pitchFamily="2" charset="0"/>
      <p:regular r:id="rId49"/>
      <p:bold r:id="rId50"/>
      <p:italic r:id="rId51"/>
      <p:boldItalic r:id="rId52"/>
    </p:embeddedFont>
    <p:embeddedFont>
      <p:font typeface="TitilliumText25L" panose="020B0604020202020204" charset="0"/>
      <p:regular r:id="rId53"/>
      <p:bold r:id="rId54"/>
    </p:embeddedFont>
    <p:embeddedFont>
      <p:font typeface="Wingdings 3" panose="05040102010807070707" pitchFamily="18" charset="2"/>
      <p:regular r:id="rId55"/>
    </p:embeddedFont>
  </p:embeddedFontLst>
  <p:custDataLst>
    <p:tags r:id="rId5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1E90986-D7A6-428E-BA00-AEBAB1C1BE0C}">
          <p14:sldIdLst>
            <p14:sldId id="336"/>
          </p14:sldIdLst>
        </p14:section>
        <p14:section name="Inhalt" id="{73D33112-1D5A-4DB3-98C0-9366422F57C2}">
          <p14:sldIdLst>
            <p14:sldId id="463"/>
            <p14:sldId id="259"/>
            <p14:sldId id="348"/>
            <p14:sldId id="419"/>
            <p14:sldId id="347"/>
            <p14:sldId id="352"/>
            <p14:sldId id="353"/>
            <p14:sldId id="354"/>
            <p14:sldId id="355"/>
            <p14:sldId id="451"/>
            <p14:sldId id="358"/>
            <p14:sldId id="357"/>
            <p14:sldId id="356"/>
            <p14:sldId id="359"/>
            <p14:sldId id="360"/>
            <p14:sldId id="435"/>
            <p14:sldId id="363"/>
            <p14:sldId id="361"/>
            <p14:sldId id="362"/>
            <p14:sldId id="366"/>
            <p14:sldId id="367"/>
            <p14:sldId id="364"/>
            <p14:sldId id="365"/>
            <p14:sldId id="368"/>
            <p14:sldId id="369"/>
            <p14:sldId id="351"/>
            <p14:sldId id="436"/>
            <p14:sldId id="437"/>
            <p14:sldId id="438"/>
            <p14:sldId id="439"/>
            <p14:sldId id="442"/>
            <p14:sldId id="443"/>
            <p14:sldId id="444"/>
            <p14:sldId id="434"/>
            <p14:sldId id="349"/>
            <p14:sldId id="350"/>
            <p14:sldId id="448"/>
            <p14:sldId id="445"/>
            <p14:sldId id="446"/>
            <p14:sldId id="4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061"/>
    <a:srgbClr val="FF9600"/>
    <a:srgbClr val="012656"/>
    <a:srgbClr val="548ECB"/>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009" autoAdjust="0"/>
    <p:restoredTop sz="94743" autoAdjust="0"/>
  </p:normalViewPr>
  <p:slideViewPr>
    <p:cSldViewPr snapToGrid="0">
      <p:cViewPr>
        <p:scale>
          <a:sx n="100" d="100"/>
          <a:sy n="100" d="100"/>
        </p:scale>
        <p:origin x="576" y="24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56"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fntdata"/><Relationship Id="rId5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7/26/2026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7/26/2026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5</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9965087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sv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4.sv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23392" y="1146558"/>
            <a:ext cx="10945216" cy="5162763"/>
          </a:xfrm>
          <a:prstGeom prst="rect">
            <a:avLst/>
          </a:prstGeom>
        </p:spPr>
        <p:txBody>
          <a:bodyPr/>
          <a:lstStyle>
            <a:lvl1pPr marL="26670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1pPr>
            <a:lvl2pPr marL="62865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2pPr>
            <a:lvl3pPr marL="1076325"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3pPr>
            <a:lvl4pPr marL="14382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4pPr>
            <a:lvl5pPr marL="19716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itel 18"/>
          <p:cNvSpPr>
            <a:spLocks noGrp="1"/>
          </p:cNvSpPr>
          <p:nvPr>
            <p:ph type="title"/>
          </p:nvPr>
        </p:nvSpPr>
        <p:spPr>
          <a:xfrm>
            <a:off x="623391" y="193890"/>
            <a:ext cx="10250751" cy="614499"/>
          </a:xfrm>
          <a:prstGeom prst="rect">
            <a:avLst/>
          </a:prstGeom>
        </p:spPr>
        <p:txBody>
          <a:bodyPr anchor="ctr" anchorCtr="0">
            <a:noAutofit/>
          </a:bodyPr>
          <a:lstStyle>
            <a:lvl1pPr marL="0" indent="0" algn="l">
              <a:tabLst/>
              <a:defRPr sz="2000" b="1">
                <a:solidFill>
                  <a:schemeClr val="tx1"/>
                </a:solidFill>
                <a:latin typeface="Arial" pitchFamily="34" charset="0"/>
                <a:cs typeface="Arial" pitchFamily="34" charset="0"/>
              </a:defRPr>
            </a:lvl1pPr>
          </a:lstStyle>
          <a:p>
            <a:r>
              <a:rPr lang="de-DE"/>
              <a:t>Titelmasterformat durch Klicken bearbeiten</a:t>
            </a:r>
          </a:p>
        </p:txBody>
      </p:sp>
      <p:sp>
        <p:nvSpPr>
          <p:cNvPr id="6" name="Textfeld 5"/>
          <p:cNvSpPr txBox="1"/>
          <p:nvPr userDrawn="1"/>
        </p:nvSpPr>
        <p:spPr>
          <a:xfrm>
            <a:off x="623391" y="6444335"/>
            <a:ext cx="8921564" cy="416660"/>
          </a:xfrm>
          <a:prstGeom prst="rect">
            <a:avLst/>
          </a:prstGeom>
          <a:noFill/>
        </p:spPr>
        <p:txBody>
          <a:bodyPr wrap="square" rtlCol="0" anchor="ctr" anchorCtr="0">
            <a:noAutofit/>
          </a:bodyPr>
          <a:lstStyle/>
          <a:p>
            <a:r>
              <a:rPr lang="de-DE" sz="1200" i="1" kern="1200">
                <a:solidFill>
                  <a:schemeClr val="accent1">
                    <a:lumMod val="50000"/>
                  </a:schemeClr>
                </a:solidFill>
                <a:latin typeface="Arial" pitchFamily="34" charset="0"/>
                <a:ea typeface="+mn-ea"/>
                <a:cs typeface="Arial" pitchFamily="34" charset="0"/>
              </a:rPr>
              <a:t>Modellierung betrieblicher Informationssysteme (MOBIS)</a:t>
            </a:r>
          </a:p>
        </p:txBody>
      </p:sp>
      <p:sp>
        <p:nvSpPr>
          <p:cNvPr id="10" name="Textfeld 9"/>
          <p:cNvSpPr txBox="1"/>
          <p:nvPr userDrawn="1"/>
        </p:nvSpPr>
        <p:spPr>
          <a:xfrm>
            <a:off x="10901108" y="6444336"/>
            <a:ext cx="775513" cy="413664"/>
          </a:xfrm>
          <a:prstGeom prst="rect">
            <a:avLst/>
          </a:prstGeom>
          <a:noFill/>
        </p:spPr>
        <p:txBody>
          <a:bodyPr wrap="square" rtlCol="0" anchor="ctr" anchorCtr="0">
            <a:noAutofit/>
          </a:bodyPr>
          <a:lstStyle/>
          <a:p>
            <a:pPr algn="r"/>
            <a:fld id="{03A53B9E-05D4-4AED-A091-042480FFC68F}" type="slidenum">
              <a:rPr lang="de-DE" sz="1200" i="1" kern="1200" smtClean="0">
                <a:solidFill>
                  <a:schemeClr val="accent1">
                    <a:lumMod val="50000"/>
                  </a:schemeClr>
                </a:solidFill>
                <a:latin typeface="Arial" pitchFamily="34" charset="0"/>
                <a:ea typeface="+mn-ea"/>
                <a:cs typeface="Arial" pitchFamily="34" charset="0"/>
              </a:rPr>
              <a:pPr algn="r"/>
              <a:t>‹Nr.›</a:t>
            </a:fld>
            <a:endParaRPr lang="de-DE" sz="1200" i="1" kern="1200">
              <a:solidFill>
                <a:schemeClr val="accent1">
                  <a:lumMod val="50000"/>
                </a:schemeClr>
              </a:solidFill>
              <a:latin typeface="Arial" pitchFamily="34" charset="0"/>
              <a:ea typeface="+mn-ea"/>
              <a:cs typeface="Arial" pitchFamily="34" charset="0"/>
            </a:endParaRPr>
          </a:p>
        </p:txBody>
      </p:sp>
      <p:sp>
        <p:nvSpPr>
          <p:cNvPr id="11" name="Rechteck 10"/>
          <p:cNvSpPr>
            <a:spLocks/>
          </p:cNvSpPr>
          <p:nvPr userDrawn="1"/>
        </p:nvSpPr>
        <p:spPr>
          <a:xfrm>
            <a:off x="9544957" y="6444336"/>
            <a:ext cx="1356151" cy="413664"/>
          </a:xfrm>
          <a:prstGeom prst="rect">
            <a:avLst/>
          </a:prstGeom>
        </p:spPr>
        <p:txBody>
          <a:bodyPr wrap="square" anchor="ctr" anchorCtr="0">
            <a:noAutofit/>
          </a:bodyPr>
          <a:lstStyle/>
          <a:p>
            <a:r>
              <a:rPr lang="de-DE" sz="1200" i="1" kern="1200">
                <a:solidFill>
                  <a:schemeClr val="accent1">
                    <a:lumMod val="50000"/>
                  </a:schemeClr>
                </a:solidFill>
                <a:latin typeface="Arial" pitchFamily="34" charset="0"/>
                <a:ea typeface="+mn-ea"/>
                <a:cs typeface="Arial" pitchFamily="34" charset="0"/>
              </a:rPr>
              <a:t>2024</a:t>
            </a: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51987" y="143678"/>
            <a:ext cx="924047" cy="693035"/>
          </a:xfrm>
          <a:prstGeom prst="rect">
            <a:avLst/>
          </a:prstGeom>
        </p:spPr>
      </p:pic>
      <p:cxnSp>
        <p:nvCxnSpPr>
          <p:cNvPr id="15" name="Gerade Verbindung 14"/>
          <p:cNvCxnSpPr/>
          <p:nvPr userDrawn="1"/>
        </p:nvCxnSpPr>
        <p:spPr>
          <a:xfrm>
            <a:off x="0" y="6444335"/>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a:off x="0" y="998730"/>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992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3.sv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oleObject" Target="../embeddings/oleObject1.bin"/><Relationship Id="rId5" Type="http://schemas.openxmlformats.org/officeDocument/2006/relationships/slideLayout" Target="../slideLayouts/slideLayout24.xml"/><Relationship Id="rId10" Type="http://schemas.openxmlformats.org/officeDocument/2006/relationships/tags" Target="../tags/tag21.xml"/><Relationship Id="rId4" Type="http://schemas.openxmlformats.org/officeDocument/2006/relationships/slideLayout" Target="../slideLayouts/slideLayout23.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1"/>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3" name="Object 2" hidden="1"/>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5"/>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 id="2147483709" r:id="rId19"/>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CDC4CB-F37D-F165-0E83-EA99EEB4276B}"/>
              </a:ext>
              <a:ext uri="{C183D7F6-B498-43B3-948B-1728B52AA6E4}">
                <adec:decorative xmlns:adec="http://schemas.microsoft.com/office/drawing/2017/decorative" val="1"/>
              </a:ext>
            </a:extLst>
          </p:cNvPr>
          <p:cNvPicPr>
            <a:picLocks noChangeAspect="1"/>
          </p:cNvPicPr>
          <p:nvPr/>
        </p:nvPicPr>
        <p:blipFill>
          <a:blip r:embed="rId2">
            <a:alphaModFix amt="66000"/>
          </a:blip>
          <a:stretch>
            <a:fillRect/>
          </a:stretch>
        </p:blipFill>
        <p:spPr>
          <a:xfrm>
            <a:off x="0" y="0"/>
            <a:ext cx="12192000" cy="8275562"/>
          </a:xfrm>
          <a:prstGeom prst="rect">
            <a:avLst/>
          </a:prstGeom>
        </p:spPr>
      </p:pic>
      <p:pic>
        <p:nvPicPr>
          <p:cNvPr id="8" name="Grafik 7">
            <a:extLst>
              <a:ext uri="{FF2B5EF4-FFF2-40B4-BE49-F238E27FC236}">
                <a16:creationId xmlns:a16="http://schemas.microsoft.com/office/drawing/2014/main" id="{B57BD6A9-8641-DF15-BE2B-5ECB599FA5D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1095268" y="151916"/>
            <a:ext cx="886095" cy="303548"/>
          </a:xfrm>
          <a:prstGeom prst="rect">
            <a:avLst/>
          </a:prstGeom>
        </p:spPr>
      </p:pic>
      <p:sp>
        <p:nvSpPr>
          <p:cNvPr id="9" name="Rechteck 8">
            <a:extLst>
              <a:ext uri="{FF2B5EF4-FFF2-40B4-BE49-F238E27FC236}">
                <a16:creationId xmlns:a16="http://schemas.microsoft.com/office/drawing/2014/main" id="{BA190EBE-54A7-4293-6233-2273FEAE0DBD}"/>
              </a:ext>
            </a:extLst>
          </p:cNvPr>
          <p:cNvSpPr/>
          <p:nvPr/>
        </p:nvSpPr>
        <p:spPr>
          <a:xfrm>
            <a:off x="0" y="5989562"/>
            <a:ext cx="12192000" cy="228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5" name="Untertitel 4">
            <a:extLst>
              <a:ext uri="{FF2B5EF4-FFF2-40B4-BE49-F238E27FC236}">
                <a16:creationId xmlns:a16="http://schemas.microsoft.com/office/drawing/2014/main" id="{A0056E78-61F5-B076-6F6A-8086BAB5567D}"/>
              </a:ext>
            </a:extLst>
          </p:cNvPr>
          <p:cNvSpPr>
            <a:spLocks noGrp="1"/>
          </p:cNvSpPr>
          <p:nvPr>
            <p:ph type="subTitle" idx="1"/>
          </p:nvPr>
        </p:nvSpPr>
        <p:spPr>
          <a:xfrm>
            <a:off x="8610600" y="6445026"/>
            <a:ext cx="3200400" cy="1463040"/>
          </a:xfrm>
        </p:spPr>
        <p:txBody>
          <a:bodyPr/>
          <a:lstStyle/>
          <a:p>
            <a:r>
              <a:rPr lang="de-DE" sz="2400" b="1" dirty="0">
                <a:latin typeface="Arial" panose="020B0604020202020204" pitchFamily="34" charset="0"/>
                <a:cs typeface="Arial" panose="020B0604020202020204" pitchFamily="34" charset="0"/>
              </a:rPr>
              <a:t>Prof. Dr. </a:t>
            </a:r>
            <a:br>
              <a:rPr lang="de-DE" sz="2400" b="1" dirty="0">
                <a:latin typeface="Arial" panose="020B0604020202020204" pitchFamily="34" charset="0"/>
                <a:cs typeface="Arial" panose="020B0604020202020204" pitchFamily="34" charset="0"/>
              </a:rPr>
            </a:br>
            <a:r>
              <a:rPr lang="de-DE" sz="2400" b="1" dirty="0">
                <a:latin typeface="Arial" panose="020B0604020202020204" pitchFamily="34" charset="0"/>
                <a:cs typeface="Arial" panose="020B0604020202020204" pitchFamily="34" charset="0"/>
              </a:rPr>
              <a:t>Kamyar Sarshar</a:t>
            </a:r>
            <a:br>
              <a:rPr lang="de-DE" sz="2400" b="1" dirty="0">
                <a:latin typeface="Arial" panose="020B0604020202020204" pitchFamily="34" charset="0"/>
                <a:cs typeface="Arial" panose="020B0604020202020204" pitchFamily="34" charset="0"/>
              </a:rPr>
            </a:br>
            <a:r>
              <a:rPr lang="de-DE" sz="2000" dirty="0">
                <a:latin typeface="Arial" panose="020B0604020202020204" pitchFamily="34" charset="0"/>
                <a:cs typeface="Arial" panose="020B0604020202020204" pitchFamily="34" charset="0"/>
              </a:rPr>
              <a:t>HSBA 2026</a:t>
            </a:r>
            <a:endParaRPr lang="de-DE" sz="2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1C74D302-4A5C-409C-82C5-9A6D7D44A8ED}"/>
              </a:ext>
            </a:extLst>
          </p:cNvPr>
          <p:cNvSpPr>
            <a:spLocks noGrp="1"/>
          </p:cNvSpPr>
          <p:nvPr>
            <p:ph type="ctrTitle"/>
          </p:nvPr>
        </p:nvSpPr>
        <p:spPr>
          <a:xfrm>
            <a:off x="457200" y="6401042"/>
            <a:ext cx="7772400" cy="1463040"/>
          </a:xfrm>
        </p:spPr>
        <p:txBody>
          <a:bodyPr>
            <a:noAutofit/>
          </a:bodyPr>
          <a:lstStyle/>
          <a:p>
            <a:r>
              <a:rPr lang="de-DE" sz="4000" dirty="0">
                <a:latin typeface="Arial" panose="020B0604020202020204" pitchFamily="34" charset="0"/>
                <a:cs typeface="Arial" panose="020B0604020202020204" pitchFamily="34" charset="0"/>
              </a:rPr>
              <a:t>Ereignisgesteuerte </a:t>
            </a:r>
            <a:br>
              <a:rPr lang="de-DE" sz="4000" dirty="0">
                <a:latin typeface="Arial" panose="020B0604020202020204" pitchFamily="34" charset="0"/>
                <a:cs typeface="Arial" panose="020B0604020202020204" pitchFamily="34" charset="0"/>
              </a:rPr>
            </a:br>
            <a:r>
              <a:rPr lang="de-DE" sz="4000" dirty="0">
                <a:latin typeface="Arial" panose="020B0604020202020204" pitchFamily="34" charset="0"/>
                <a:cs typeface="Arial" panose="020B0604020202020204" pitchFamily="34" charset="0"/>
              </a:rPr>
              <a:t>Prozesskette (EPK)</a:t>
            </a:r>
          </a:p>
        </p:txBody>
      </p:sp>
      <p:cxnSp>
        <p:nvCxnSpPr>
          <p:cNvPr id="10" name="Straight Connector 7">
            <a:extLst>
              <a:ext uri="{FF2B5EF4-FFF2-40B4-BE49-F238E27FC236}">
                <a16:creationId xmlns:a16="http://schemas.microsoft.com/office/drawing/2014/main" id="{178829BC-FC82-3FDE-D04A-465D994920F7}"/>
              </a:ext>
            </a:extLst>
          </p:cNvPr>
          <p:cNvCxnSpPr>
            <a:cxnSpLocks/>
          </p:cNvCxnSpPr>
          <p:nvPr/>
        </p:nvCxnSpPr>
        <p:spPr>
          <a:xfrm flipV="1">
            <a:off x="8420100" y="6401042"/>
            <a:ext cx="0" cy="1252358"/>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31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76D9292D-E9B7-1EB5-5FCD-36D92A27BD8F}"/>
              </a:ext>
            </a:extLst>
          </p:cNvPr>
          <p:cNvSpPr>
            <a:spLocks noGrp="1"/>
          </p:cNvSpPr>
          <p:nvPr>
            <p:ph type="title"/>
          </p:nvPr>
        </p:nvSpPr>
        <p:spPr>
          <a:xfrm>
            <a:off x="252000" y="125973"/>
            <a:ext cx="10720800" cy="900000"/>
          </a:xfrm>
        </p:spPr>
        <p:txBody>
          <a:bodyPr/>
          <a:lstStyle/>
          <a:p>
            <a:r>
              <a:rPr lang="de-DE" dirty="0"/>
              <a:t>Agenda</a:t>
            </a:r>
          </a:p>
        </p:txBody>
      </p:sp>
      <p:sp>
        <p:nvSpPr>
          <p:cNvPr id="11" name="Textplatzhalter 10">
            <a:extLst>
              <a:ext uri="{FF2B5EF4-FFF2-40B4-BE49-F238E27FC236}">
                <a16:creationId xmlns:a16="http://schemas.microsoft.com/office/drawing/2014/main" id="{20F9BA9E-E854-8A8E-01A4-644AEBC441D3}"/>
              </a:ext>
            </a:extLst>
          </p:cNvPr>
          <p:cNvSpPr>
            <a:spLocks noGrp="1"/>
          </p:cNvSpPr>
          <p:nvPr>
            <p:ph type="body" sz="half" idx="2"/>
          </p:nvPr>
        </p:nvSpPr>
        <p:spPr>
          <a:xfrm>
            <a:off x="251998" y="2255216"/>
            <a:ext cx="10846308" cy="599993"/>
          </a:xfrm>
        </p:spPr>
        <p:txBody>
          <a:bodyPr/>
          <a:lstStyle/>
          <a:p>
            <a:r>
              <a:rPr lang="de-DE" sz="2400" b="1" dirty="0"/>
              <a:t>Einsatzzweck</a:t>
            </a:r>
          </a:p>
        </p:txBody>
      </p:sp>
      <p:sp>
        <p:nvSpPr>
          <p:cNvPr id="13" name="Textplatzhalter 12">
            <a:extLst>
              <a:ext uri="{FF2B5EF4-FFF2-40B4-BE49-F238E27FC236}">
                <a16:creationId xmlns:a16="http://schemas.microsoft.com/office/drawing/2014/main" id="{496A2E47-2F93-874F-0645-B3EBF615808F}"/>
              </a:ext>
            </a:extLst>
          </p:cNvPr>
          <p:cNvSpPr>
            <a:spLocks noGrp="1"/>
          </p:cNvSpPr>
          <p:nvPr>
            <p:ph type="body" sz="half" idx="13"/>
          </p:nvPr>
        </p:nvSpPr>
        <p:spPr>
          <a:xfrm>
            <a:off x="251998" y="2964220"/>
            <a:ext cx="10846308" cy="599993"/>
          </a:xfrm>
        </p:spPr>
        <p:txBody>
          <a:bodyPr/>
          <a:lstStyle/>
          <a:p>
            <a:r>
              <a:rPr lang="de-DE" sz="2400" b="1" dirty="0"/>
              <a:t>Einordnung in ARIS</a:t>
            </a:r>
          </a:p>
        </p:txBody>
      </p:sp>
      <p:sp>
        <p:nvSpPr>
          <p:cNvPr id="14" name="Textplatzhalter 13">
            <a:extLst>
              <a:ext uri="{FF2B5EF4-FFF2-40B4-BE49-F238E27FC236}">
                <a16:creationId xmlns:a16="http://schemas.microsoft.com/office/drawing/2014/main" id="{3ABBB527-E139-3276-28C1-A1FF4CBA5A52}"/>
              </a:ext>
            </a:extLst>
          </p:cNvPr>
          <p:cNvSpPr>
            <a:spLocks noGrp="1"/>
          </p:cNvSpPr>
          <p:nvPr>
            <p:ph type="body" sz="half" idx="14"/>
          </p:nvPr>
        </p:nvSpPr>
        <p:spPr>
          <a:xfrm>
            <a:off x="251998" y="3673224"/>
            <a:ext cx="10846308" cy="599993"/>
          </a:xfrm>
        </p:spPr>
        <p:txBody>
          <a:bodyPr/>
          <a:lstStyle/>
          <a:p>
            <a:r>
              <a:rPr lang="de-DE" sz="2400" b="1" dirty="0" err="1"/>
              <a:t>Sprachkonstrukte</a:t>
            </a:r>
            <a:endParaRPr lang="de-DE" sz="2400" b="1" dirty="0"/>
          </a:p>
        </p:txBody>
      </p:sp>
      <p:sp>
        <p:nvSpPr>
          <p:cNvPr id="15" name="Textplatzhalter 14">
            <a:extLst>
              <a:ext uri="{FF2B5EF4-FFF2-40B4-BE49-F238E27FC236}">
                <a16:creationId xmlns:a16="http://schemas.microsoft.com/office/drawing/2014/main" id="{E844742C-1CA3-BBCF-D05E-133417A4DC4B}"/>
              </a:ext>
            </a:extLst>
          </p:cNvPr>
          <p:cNvSpPr>
            <a:spLocks noGrp="1"/>
          </p:cNvSpPr>
          <p:nvPr>
            <p:ph type="body" sz="half" idx="15"/>
          </p:nvPr>
        </p:nvSpPr>
        <p:spPr>
          <a:xfrm>
            <a:off x="251998" y="4382228"/>
            <a:ext cx="10846308" cy="599993"/>
          </a:xfrm>
        </p:spPr>
        <p:txBody>
          <a:bodyPr/>
          <a:lstStyle/>
          <a:p>
            <a:r>
              <a:rPr lang="de-DE" sz="2400" b="1" dirty="0"/>
              <a:t>Bewertung</a:t>
            </a:r>
            <a:endParaRPr lang="en-US" sz="2400" b="1" dirty="0"/>
          </a:p>
        </p:txBody>
      </p:sp>
      <p:sp>
        <p:nvSpPr>
          <p:cNvPr id="16" name="Textplatzhalter 15">
            <a:extLst>
              <a:ext uri="{FF2B5EF4-FFF2-40B4-BE49-F238E27FC236}">
                <a16:creationId xmlns:a16="http://schemas.microsoft.com/office/drawing/2014/main" id="{C4F40538-AB62-FED7-A8D5-341FEC78809B}"/>
              </a:ext>
            </a:extLst>
          </p:cNvPr>
          <p:cNvSpPr>
            <a:spLocks noGrp="1"/>
          </p:cNvSpPr>
          <p:nvPr>
            <p:ph type="body" sz="half" idx="16"/>
          </p:nvPr>
        </p:nvSpPr>
        <p:spPr>
          <a:xfrm>
            <a:off x="251998" y="1546212"/>
            <a:ext cx="10846308" cy="599993"/>
          </a:xfrm>
        </p:spPr>
        <p:txBody>
          <a:bodyPr/>
          <a:lstStyle/>
          <a:p>
            <a:r>
              <a:rPr lang="de-DE" sz="2400" b="1" dirty="0"/>
              <a:t>Historie</a:t>
            </a:r>
          </a:p>
        </p:txBody>
      </p:sp>
      <p:sp>
        <p:nvSpPr>
          <p:cNvPr id="17" name="Textplatzhalter 16">
            <a:extLst>
              <a:ext uri="{FF2B5EF4-FFF2-40B4-BE49-F238E27FC236}">
                <a16:creationId xmlns:a16="http://schemas.microsoft.com/office/drawing/2014/main" id="{3D5B20C3-6D27-CDA2-C766-307CBD2E4B3A}"/>
              </a:ext>
            </a:extLst>
          </p:cNvPr>
          <p:cNvSpPr>
            <a:spLocks noGrp="1"/>
          </p:cNvSpPr>
          <p:nvPr>
            <p:ph type="body" sz="half" idx="17"/>
          </p:nvPr>
        </p:nvSpPr>
        <p:spPr>
          <a:xfrm>
            <a:off x="251998" y="5091230"/>
            <a:ext cx="10846308" cy="599993"/>
          </a:xfrm>
        </p:spPr>
        <p:txBody>
          <a:bodyPr/>
          <a:lstStyle/>
          <a:p>
            <a:r>
              <a:rPr lang="de-DE" sz="2400" b="1" dirty="0"/>
              <a:t>Literatur</a:t>
            </a:r>
          </a:p>
        </p:txBody>
      </p:sp>
    </p:spTree>
    <p:extLst>
      <p:ext uri="{BB962C8B-B14F-4D97-AF65-F5344CB8AC3E}">
        <p14:creationId xmlns:p14="http://schemas.microsoft.com/office/powerpoint/2010/main" val="112727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DC0A1C1-6698-7743-A568-393469847FB8}"/>
              </a:ext>
            </a:extLst>
          </p:cNvPr>
          <p:cNvSpPr>
            <a:spLocks noGrp="1"/>
          </p:cNvSpPr>
          <p:nvPr>
            <p:ph type="title"/>
          </p:nvPr>
        </p:nvSpPr>
        <p:spPr/>
        <p:txBody>
          <a:bodyPr/>
          <a:lstStyle/>
          <a:p>
            <a:r>
              <a:rPr lang="de-DE" dirty="0"/>
              <a:t>Historie</a:t>
            </a:r>
          </a:p>
        </p:txBody>
      </p:sp>
      <p:sp>
        <p:nvSpPr>
          <p:cNvPr id="6" name="Textplatzhalter 5">
            <a:extLst>
              <a:ext uri="{FF2B5EF4-FFF2-40B4-BE49-F238E27FC236}">
                <a16:creationId xmlns:a16="http://schemas.microsoft.com/office/drawing/2014/main" id="{1ED7C9F3-AD0D-2FF1-A2AC-DD91A7140C07}"/>
              </a:ext>
            </a:extLst>
          </p:cNvPr>
          <p:cNvSpPr>
            <a:spLocks noGrp="1"/>
          </p:cNvSpPr>
          <p:nvPr>
            <p:ph type="body" sz="quarter" idx="12"/>
          </p:nvPr>
        </p:nvSpPr>
        <p:spPr>
          <a:xfrm>
            <a:off x="276489" y="1345173"/>
            <a:ext cx="11729362" cy="5161440"/>
          </a:xfrm>
        </p:spPr>
        <p:txBody>
          <a:bodyPr/>
          <a:lstStyle/>
          <a:p>
            <a:r>
              <a:rPr lang="de-DE" sz="1800" b="1" dirty="0"/>
              <a:t>Vor 1990:</a:t>
            </a:r>
            <a:r>
              <a:rPr lang="de-DE" sz="1800" dirty="0"/>
              <a:t> Unternehmen dokumentierten Prozesse überwiegend textuell oder mit einfachen Flussdiagrammen. Einheitliche Standards für die Geschäftsprozessmodellierung fehlten. </a:t>
            </a:r>
            <a:br>
              <a:rPr lang="de-DE" sz="1800" dirty="0"/>
            </a:br>
            <a:endParaRPr lang="de-DE" sz="1800" b="1" dirty="0"/>
          </a:p>
          <a:p>
            <a:r>
              <a:rPr lang="de-DE" sz="1800" b="1" dirty="0"/>
              <a:t>1992:</a:t>
            </a:r>
            <a:r>
              <a:rPr lang="de-DE" sz="1800" dirty="0"/>
              <a:t> Entwicklung der EPK als Bestandteil des </a:t>
            </a:r>
            <a:r>
              <a:rPr lang="de-DE" sz="1800" b="1" dirty="0"/>
              <a:t>ARIS-Konzepts (Architektur Integrierter Informationssysteme)</a:t>
            </a:r>
            <a:r>
              <a:rPr lang="de-DE" sz="1800" dirty="0"/>
              <a:t>. Ziel war eine verständliche und systematische Darstellung von Geschäftsprozessen.</a:t>
            </a:r>
            <a:br>
              <a:rPr lang="de-DE" sz="1800" dirty="0"/>
            </a:br>
            <a:endParaRPr lang="de-DE" sz="1800" dirty="0"/>
          </a:p>
          <a:p>
            <a:r>
              <a:rPr lang="de-DE" sz="1800" b="1" dirty="0"/>
              <a:t>1990er-Jahre:</a:t>
            </a:r>
            <a:r>
              <a:rPr lang="de-DE" sz="1800" dirty="0"/>
              <a:t> Die EPK wurde zum Standardmodell für die Modellierung von Geschäftsprozessen im deutschsprachigen Raum und fand insbesondere bei der Einführung von SAP-Systemen große Verbreitung. </a:t>
            </a:r>
            <a:br>
              <a:rPr lang="de-DE" sz="1800" dirty="0"/>
            </a:br>
            <a:endParaRPr lang="de-DE" sz="1800" b="1" dirty="0"/>
          </a:p>
          <a:p>
            <a:r>
              <a:rPr lang="de-DE" sz="1800" b="1" dirty="0"/>
              <a:t>Ab 2000:</a:t>
            </a:r>
            <a:r>
              <a:rPr lang="de-DE" sz="1800" dirty="0"/>
              <a:t> Die </a:t>
            </a:r>
            <a:r>
              <a:rPr lang="de-DE" sz="1800" b="1" dirty="0"/>
              <a:t>erweiterte EPK (eEPK)</a:t>
            </a:r>
            <a:r>
              <a:rPr lang="de-DE" sz="1800" dirty="0"/>
              <a:t> entstand. Sie ergänzt die klassische EPK um zusätzliche Elemente wie Organisationseinheiten, Datenobjekte und IT-Systeme, um Prozesse umfassender abzubilden. </a:t>
            </a:r>
            <a:br>
              <a:rPr lang="de-DE" sz="1800" dirty="0"/>
            </a:br>
            <a:endParaRPr lang="de-DE" sz="1800" dirty="0"/>
          </a:p>
          <a:p>
            <a:r>
              <a:rPr lang="de-DE" sz="1800" b="1" dirty="0"/>
              <a:t>Heute:</a:t>
            </a:r>
            <a:r>
              <a:rPr lang="de-DE" sz="1800" dirty="0"/>
              <a:t> Die EPK wird weiterhin in Unternehmen und der Lehre eingesetzt, insbesondere zur Prozessdokumentation und -analyse. International wird jedoch häufig die standardisierte </a:t>
            </a:r>
            <a:r>
              <a:rPr lang="de-DE" sz="1800" b="1" dirty="0"/>
              <a:t>BPMN (Business </a:t>
            </a:r>
            <a:r>
              <a:rPr lang="de-DE" sz="1800" b="1" dirty="0" err="1"/>
              <a:t>Process</a:t>
            </a:r>
            <a:r>
              <a:rPr lang="de-DE" sz="1800" b="1" dirty="0"/>
              <a:t> Model and Notation)</a:t>
            </a:r>
            <a:r>
              <a:rPr lang="de-DE" sz="1800" dirty="0"/>
              <a:t> verwendet, da sie weltweit verbreitet und normiert ist.</a:t>
            </a:r>
          </a:p>
        </p:txBody>
      </p:sp>
    </p:spTree>
    <p:extLst>
      <p:ext uri="{BB962C8B-B14F-4D97-AF65-F5344CB8AC3E}">
        <p14:creationId xmlns:p14="http://schemas.microsoft.com/office/powerpoint/2010/main" val="3197960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CA103-09D0-1C25-710E-148DC05BA04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B405DB5-2C09-1763-709F-E0306142EF89}"/>
              </a:ext>
            </a:extLst>
          </p:cNvPr>
          <p:cNvSpPr>
            <a:spLocks noGrp="1"/>
          </p:cNvSpPr>
          <p:nvPr>
            <p:ph type="title"/>
          </p:nvPr>
        </p:nvSpPr>
        <p:spPr/>
        <p:txBody>
          <a:bodyPr/>
          <a:lstStyle/>
          <a:p>
            <a:r>
              <a:rPr lang="de-DE" dirty="0"/>
              <a:t>Einsatzzweck</a:t>
            </a:r>
          </a:p>
        </p:txBody>
      </p:sp>
      <p:sp>
        <p:nvSpPr>
          <p:cNvPr id="6" name="Textplatzhalter 5">
            <a:extLst>
              <a:ext uri="{FF2B5EF4-FFF2-40B4-BE49-F238E27FC236}">
                <a16:creationId xmlns:a16="http://schemas.microsoft.com/office/drawing/2014/main" id="{ED997A35-1B45-5323-2299-2E5E93304ACA}"/>
              </a:ext>
            </a:extLst>
          </p:cNvPr>
          <p:cNvSpPr>
            <a:spLocks noGrp="1"/>
          </p:cNvSpPr>
          <p:nvPr>
            <p:ph type="body" sz="quarter" idx="12"/>
          </p:nvPr>
        </p:nvSpPr>
        <p:spPr>
          <a:xfrm>
            <a:off x="276489" y="1345173"/>
            <a:ext cx="11729362" cy="5161440"/>
          </a:xfrm>
        </p:spPr>
        <p:txBody>
          <a:bodyPr/>
          <a:lstStyle/>
          <a:p>
            <a:pPr marL="0" indent="0">
              <a:lnSpc>
                <a:spcPct val="150000"/>
              </a:lnSpc>
              <a:buNone/>
            </a:pPr>
            <a:r>
              <a:rPr lang="de-DE" sz="1800" b="1" dirty="0">
                <a:solidFill>
                  <a:srgbClr val="FF9600"/>
                </a:solidFill>
              </a:rPr>
              <a:t>Ereignisgesteuerte Prozesskette (EPK) </a:t>
            </a:r>
            <a:r>
              <a:rPr lang="de-DE" sz="1800" dirty="0"/>
              <a:t>dient der grafischen Darstellung, Analyse, Dokumentation und Optimierung von Geschäftsprozessen. Sie zeigt die logische Abfolge von Ereignissen, Funktionen und Entscheidungen innerhalb eines Unternehmens. </a:t>
            </a:r>
            <a:br>
              <a:rPr lang="de-DE" sz="1800" dirty="0"/>
            </a:br>
            <a:endParaRPr lang="de-DE" sz="1800" dirty="0"/>
          </a:p>
          <a:p>
            <a:pPr marL="0" indent="0">
              <a:lnSpc>
                <a:spcPct val="150000"/>
              </a:lnSpc>
              <a:buNone/>
            </a:pPr>
            <a:r>
              <a:rPr lang="de-DE" sz="1800" b="1" dirty="0"/>
              <a:t>Typische Einsatzbereiche sind: </a:t>
            </a:r>
          </a:p>
          <a:p>
            <a:pPr lvl="1">
              <a:lnSpc>
                <a:spcPct val="150000"/>
              </a:lnSpc>
            </a:pPr>
            <a:r>
              <a:rPr lang="de-DE" sz="1400" b="1" dirty="0"/>
              <a:t>Dokumentation von Geschäftsprozessen</a:t>
            </a:r>
            <a:r>
              <a:rPr lang="de-DE" sz="1400" dirty="0"/>
              <a:t> (z. B. Bestell- oder Rechnungsprozesse) </a:t>
            </a:r>
          </a:p>
          <a:p>
            <a:pPr lvl="1">
              <a:lnSpc>
                <a:spcPct val="150000"/>
              </a:lnSpc>
            </a:pPr>
            <a:r>
              <a:rPr lang="de-DE" sz="1400" b="1" dirty="0"/>
              <a:t>Analyse und Optimierung von Abläufen</a:t>
            </a:r>
            <a:r>
              <a:rPr lang="de-DE" sz="1400" dirty="0"/>
              <a:t>, um Zeit, Kosten und Fehler zu reduzieren </a:t>
            </a:r>
          </a:p>
          <a:p>
            <a:pPr lvl="1">
              <a:lnSpc>
                <a:spcPct val="150000"/>
              </a:lnSpc>
            </a:pPr>
            <a:r>
              <a:rPr lang="de-DE" sz="1400" b="1" dirty="0"/>
              <a:t>Unterstützung bei der Auswahl und Einführung von Software</a:t>
            </a:r>
            <a:r>
              <a:rPr lang="de-DE" sz="1400" dirty="0"/>
              <a:t> (z. B. ERP-Systeme wie SAP) </a:t>
            </a:r>
          </a:p>
          <a:p>
            <a:pPr lvl="1">
              <a:lnSpc>
                <a:spcPct val="150000"/>
              </a:lnSpc>
            </a:pPr>
            <a:r>
              <a:rPr lang="de-DE" sz="1400" b="1" dirty="0"/>
              <a:t>Schulung von Mitarbeitern</a:t>
            </a:r>
            <a:r>
              <a:rPr lang="de-DE" sz="1400" dirty="0"/>
              <a:t>, da Abläufe leicht verständlich dargestellt werden </a:t>
            </a:r>
          </a:p>
          <a:p>
            <a:pPr lvl="1">
              <a:lnSpc>
                <a:spcPct val="150000"/>
              </a:lnSpc>
            </a:pPr>
            <a:r>
              <a:rPr lang="de-DE" sz="1400" b="1" dirty="0"/>
              <a:t>Grundlage für Prozessautomatisierung und Workflow-Management</a:t>
            </a:r>
            <a:endParaRPr lang="de-DE" sz="1400" dirty="0"/>
          </a:p>
        </p:txBody>
      </p:sp>
    </p:spTree>
    <p:extLst>
      <p:ext uri="{BB962C8B-B14F-4D97-AF65-F5344CB8AC3E}">
        <p14:creationId xmlns:p14="http://schemas.microsoft.com/office/powerpoint/2010/main" val="371351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Einordnung in ARIS</a:t>
            </a:r>
          </a:p>
        </p:txBody>
      </p:sp>
      <p:sp>
        <p:nvSpPr>
          <p:cNvPr id="8" name="Isosceles Triangle 7"/>
          <p:cNvSpPr/>
          <p:nvPr/>
        </p:nvSpPr>
        <p:spPr bwMode="auto">
          <a:xfrm>
            <a:off x="2665319" y="1862079"/>
            <a:ext cx="5695950" cy="1257300"/>
          </a:xfrm>
          <a:prstGeom prst="triangle">
            <a:avLst/>
          </a:prstGeom>
          <a:solidFill>
            <a:srgbClr val="012656"/>
          </a:solidFill>
          <a:ln w="12700" cap="flat" cmpd="sng" algn="ctr">
            <a:noFill/>
            <a:prstDash val="solid"/>
            <a:round/>
            <a:headEnd type="none" w="sm" len="sm"/>
            <a:tailEnd type="none" w="sm" len="sm"/>
          </a:ln>
          <a:effectLst/>
        </p:spPr>
        <p:txBody>
          <a:bodyPr/>
          <a:lstStyle/>
          <a:p>
            <a:pPr algn="ctr">
              <a:defRPr/>
            </a:pPr>
            <a:endParaRPr lang="en-US" sz="2215" dirty="0"/>
          </a:p>
        </p:txBody>
      </p:sp>
      <p:sp>
        <p:nvSpPr>
          <p:cNvPr id="11" name="Rectangle 10"/>
          <p:cNvSpPr/>
          <p:nvPr/>
        </p:nvSpPr>
        <p:spPr bwMode="auto">
          <a:xfrm>
            <a:off x="4717958" y="3453278"/>
            <a:ext cx="1552575" cy="520137"/>
          </a:xfrm>
          <a:prstGeom prst="rect">
            <a:avLst/>
          </a:prstGeom>
          <a:solidFill>
            <a:schemeClr val="bg1">
              <a:lumMod val="85000"/>
            </a:schemeClr>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cxnSp>
        <p:nvCxnSpPr>
          <p:cNvPr id="11275" name="Straight Arrow Connector 9"/>
          <p:cNvCxnSpPr>
            <a:cxnSpLocks noChangeShapeType="1"/>
            <a:stCxn id="8" idx="3"/>
            <a:endCxn id="11" idx="0"/>
          </p:cNvCxnSpPr>
          <p:nvPr/>
        </p:nvCxnSpPr>
        <p:spPr bwMode="auto">
          <a:xfrm flipH="1">
            <a:off x="5494246" y="3119379"/>
            <a:ext cx="19048" cy="333899"/>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p:cNvCxnSpPr>
            <a:cxnSpLocks noChangeShapeType="1"/>
          </p:cNvCxnSpPr>
          <p:nvPr/>
        </p:nvCxnSpPr>
        <p:spPr bwMode="auto">
          <a:xfrm>
            <a:off x="4304148" y="4289519"/>
            <a:ext cx="4138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p:cNvCxnSpPr>
            <a:cxnSpLocks noChangeShapeType="1"/>
          </p:cNvCxnSpPr>
          <p:nvPr/>
        </p:nvCxnSpPr>
        <p:spPr bwMode="auto">
          <a:xfrm>
            <a:off x="6270533" y="4289519"/>
            <a:ext cx="449595"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p:cNvSpPr txBox="1"/>
          <p:nvPr/>
        </p:nvSpPr>
        <p:spPr>
          <a:xfrm>
            <a:off x="6631355" y="4939251"/>
            <a:ext cx="2016899" cy="376385"/>
          </a:xfrm>
          <a:prstGeom prst="rect">
            <a:avLst/>
          </a:prstGeom>
          <a:noFill/>
        </p:spPr>
        <p:txBody>
          <a:bodyPr wrap="none" rtlCol="0">
            <a:spAutoFit/>
          </a:bodyPr>
          <a:lstStyle/>
          <a:p>
            <a:r>
              <a:rPr lang="de-DE" sz="1846" b="1" dirty="0"/>
              <a:t>FUNKTIONSSICHT</a:t>
            </a:r>
            <a:endParaRPr lang="en-US" sz="1846" b="1" dirty="0"/>
          </a:p>
        </p:txBody>
      </p:sp>
      <p:sp>
        <p:nvSpPr>
          <p:cNvPr id="13" name="Textfeld 12"/>
          <p:cNvSpPr txBox="1"/>
          <p:nvPr/>
        </p:nvSpPr>
        <p:spPr>
          <a:xfrm>
            <a:off x="2856886" y="4939251"/>
            <a:ext cx="1507144" cy="376385"/>
          </a:xfrm>
          <a:prstGeom prst="rect">
            <a:avLst/>
          </a:prstGeom>
          <a:noFill/>
        </p:spPr>
        <p:txBody>
          <a:bodyPr wrap="none" rtlCol="0">
            <a:spAutoFit/>
          </a:bodyPr>
          <a:lstStyle/>
          <a:p>
            <a:r>
              <a:rPr lang="de-DE" sz="1846" b="1" dirty="0"/>
              <a:t>DATENSICHT</a:t>
            </a:r>
            <a:endParaRPr lang="en-US" sz="1846" b="1" dirty="0"/>
          </a:p>
        </p:txBody>
      </p:sp>
      <p:sp>
        <p:nvSpPr>
          <p:cNvPr id="4" name="Textfeld 3"/>
          <p:cNvSpPr txBox="1"/>
          <p:nvPr/>
        </p:nvSpPr>
        <p:spPr>
          <a:xfrm>
            <a:off x="4713151" y="4998434"/>
            <a:ext cx="1749197" cy="376385"/>
          </a:xfrm>
          <a:prstGeom prst="rect">
            <a:avLst/>
          </a:prstGeom>
          <a:noFill/>
        </p:spPr>
        <p:txBody>
          <a:bodyPr wrap="none" rtlCol="0">
            <a:spAutoFit/>
          </a:bodyPr>
          <a:lstStyle/>
          <a:p>
            <a:r>
              <a:rPr lang="de-DE" sz="1846" b="1" dirty="0"/>
              <a:t>PROZESSSICHT</a:t>
            </a:r>
            <a:endParaRPr lang="en-US" sz="1846" b="1" dirty="0"/>
          </a:p>
        </p:txBody>
      </p:sp>
      <p:sp>
        <p:nvSpPr>
          <p:cNvPr id="15" name="Textfeld 14"/>
          <p:cNvSpPr txBox="1"/>
          <p:nvPr/>
        </p:nvSpPr>
        <p:spPr>
          <a:xfrm>
            <a:off x="2909624" y="1862079"/>
            <a:ext cx="2008883" cy="660437"/>
          </a:xfrm>
          <a:prstGeom prst="rect">
            <a:avLst/>
          </a:prstGeom>
          <a:noFill/>
        </p:spPr>
        <p:txBody>
          <a:bodyPr wrap="none" rtlCol="0">
            <a:spAutoFit/>
          </a:bodyPr>
          <a:lstStyle/>
          <a:p>
            <a:r>
              <a:rPr lang="de-DE" sz="1846" b="1" dirty="0"/>
              <a:t>ORGANISATIONS-</a:t>
            </a:r>
          </a:p>
          <a:p>
            <a:r>
              <a:rPr lang="de-DE" sz="1846" b="1" dirty="0"/>
              <a:t>SICHT</a:t>
            </a:r>
            <a:endParaRPr lang="en-US" sz="1846" b="1" dirty="0"/>
          </a:p>
        </p:txBody>
      </p:sp>
      <p:cxnSp>
        <p:nvCxnSpPr>
          <p:cNvPr id="26" name="Gerader Verbinder 25"/>
          <p:cNvCxnSpPr/>
          <p:nvPr/>
        </p:nvCxnSpPr>
        <p:spPr>
          <a:xfrm>
            <a:off x="4704266" y="4520574"/>
            <a:ext cx="15662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cxnSpLocks/>
            <a:endCxn id="8" idx="5"/>
          </p:cNvCxnSpPr>
          <p:nvPr/>
        </p:nvCxnSpPr>
        <p:spPr>
          <a:xfrm>
            <a:off x="4122645" y="2480151"/>
            <a:ext cx="2814637" cy="1057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a:off x="3435966" y="2785120"/>
            <a:ext cx="408900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4977492" y="2075894"/>
            <a:ext cx="1162498" cy="305468"/>
          </a:xfrm>
          <a:prstGeom prst="rect">
            <a:avLst/>
          </a:prstGeom>
          <a:noFill/>
        </p:spPr>
        <p:txBody>
          <a:bodyPr wrap="none" rtlCol="0">
            <a:spAutoFit/>
          </a:bodyPr>
          <a:lstStyle/>
          <a:p>
            <a:pPr algn="ctr"/>
            <a:r>
              <a:rPr lang="en-GB" sz="1385" b="1" dirty="0" err="1">
                <a:solidFill>
                  <a:schemeClr val="bg1"/>
                </a:solidFill>
              </a:rPr>
              <a:t>Fachkonzept</a:t>
            </a:r>
            <a:endParaRPr lang="de-DE" sz="1385" b="1" dirty="0">
              <a:solidFill>
                <a:schemeClr val="bg1"/>
              </a:solidFill>
            </a:endParaRPr>
          </a:p>
        </p:txBody>
      </p:sp>
      <p:sp>
        <p:nvSpPr>
          <p:cNvPr id="37" name="Textfeld 36"/>
          <p:cNvSpPr txBox="1"/>
          <p:nvPr/>
        </p:nvSpPr>
        <p:spPr>
          <a:xfrm>
            <a:off x="5004743" y="2482576"/>
            <a:ext cx="1107996" cy="305468"/>
          </a:xfrm>
          <a:prstGeom prst="rect">
            <a:avLst/>
          </a:prstGeom>
          <a:noFill/>
        </p:spPr>
        <p:txBody>
          <a:bodyPr wrap="none" rtlCol="0">
            <a:spAutoFit/>
          </a:bodyPr>
          <a:lstStyle/>
          <a:p>
            <a:pPr algn="ctr"/>
            <a:r>
              <a:rPr lang="en-GB" sz="1385" b="1" dirty="0">
                <a:solidFill>
                  <a:schemeClr val="bg1"/>
                </a:solidFill>
              </a:rPr>
              <a:t>DV-</a:t>
            </a:r>
            <a:r>
              <a:rPr lang="en-GB" sz="1385" b="1" dirty="0" err="1">
                <a:solidFill>
                  <a:schemeClr val="bg1"/>
                </a:solidFill>
              </a:rPr>
              <a:t>Konzept</a:t>
            </a:r>
            <a:endParaRPr lang="de-DE" sz="1385" b="1" dirty="0">
              <a:solidFill>
                <a:schemeClr val="bg1"/>
              </a:solidFill>
            </a:endParaRPr>
          </a:p>
        </p:txBody>
      </p:sp>
      <p:sp>
        <p:nvSpPr>
          <p:cNvPr id="38" name="Textfeld 37"/>
          <p:cNvSpPr txBox="1"/>
          <p:nvPr/>
        </p:nvSpPr>
        <p:spPr>
          <a:xfrm>
            <a:off x="4800360" y="2823210"/>
            <a:ext cx="1516762" cy="305468"/>
          </a:xfrm>
          <a:prstGeom prst="rect">
            <a:avLst/>
          </a:prstGeom>
          <a:noFill/>
        </p:spPr>
        <p:txBody>
          <a:bodyPr wrap="none" rtlCol="0">
            <a:spAutoFit/>
          </a:bodyPr>
          <a:lstStyle/>
          <a:p>
            <a:pPr algn="ctr"/>
            <a:r>
              <a:rPr lang="en-GB" sz="1385" b="1" dirty="0" err="1">
                <a:solidFill>
                  <a:schemeClr val="bg1"/>
                </a:solidFill>
              </a:rPr>
              <a:t>Implementierung</a:t>
            </a:r>
            <a:endParaRPr lang="de-DE" sz="1385" b="1" dirty="0">
              <a:solidFill>
                <a:schemeClr val="bg1"/>
              </a:solidFill>
            </a:endParaRPr>
          </a:p>
        </p:txBody>
      </p:sp>
      <p:sp>
        <p:nvSpPr>
          <p:cNvPr id="39" name="Textfeld 38"/>
          <p:cNvSpPr txBox="1"/>
          <p:nvPr/>
        </p:nvSpPr>
        <p:spPr>
          <a:xfrm>
            <a:off x="8056819" y="6018382"/>
            <a:ext cx="1882247" cy="319639"/>
          </a:xfrm>
          <a:prstGeom prst="rect">
            <a:avLst/>
          </a:prstGeom>
          <a:noFill/>
        </p:spPr>
        <p:txBody>
          <a:bodyPr wrap="none" rtlCol="0">
            <a:spAutoFit/>
          </a:bodyPr>
          <a:lstStyle/>
          <a:p>
            <a:r>
              <a:rPr lang="de-DE" sz="1477" dirty="0"/>
              <a:t>Quelle: Scheer (2011)</a:t>
            </a:r>
          </a:p>
        </p:txBody>
      </p:sp>
      <p:sp>
        <p:nvSpPr>
          <p:cNvPr id="42" name="Can 8"/>
          <p:cNvSpPr/>
          <p:nvPr/>
        </p:nvSpPr>
        <p:spPr bwMode="auto">
          <a:xfrm>
            <a:off x="2794106"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41" name="Can 8"/>
          <p:cNvSpPr/>
          <p:nvPr/>
        </p:nvSpPr>
        <p:spPr bwMode="auto">
          <a:xfrm>
            <a:off x="2794106" y="3762724"/>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40" name="Can 8"/>
          <p:cNvSpPr/>
          <p:nvPr/>
        </p:nvSpPr>
        <p:spPr bwMode="auto">
          <a:xfrm>
            <a:off x="2794106"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12" name="Textfeld 11"/>
          <p:cNvSpPr txBox="1"/>
          <p:nvPr/>
        </p:nvSpPr>
        <p:spPr>
          <a:xfrm>
            <a:off x="2999269" y="3658871"/>
            <a:ext cx="1162498" cy="305468"/>
          </a:xfrm>
          <a:prstGeom prst="rect">
            <a:avLst/>
          </a:prstGeom>
          <a:noFill/>
        </p:spPr>
        <p:txBody>
          <a:bodyPr wrap="none" rtlCol="0">
            <a:spAutoFit/>
          </a:bodyPr>
          <a:lstStyle/>
          <a:p>
            <a:pPr algn="ctr"/>
            <a:r>
              <a:rPr lang="en-GB" sz="1385" b="1" dirty="0" err="1">
                <a:solidFill>
                  <a:schemeClr val="bg1"/>
                </a:solidFill>
              </a:rPr>
              <a:t>Fachkonzept</a:t>
            </a:r>
            <a:endParaRPr lang="de-DE" sz="1385" b="1" dirty="0">
              <a:solidFill>
                <a:schemeClr val="bg1"/>
              </a:solidFill>
            </a:endParaRPr>
          </a:p>
        </p:txBody>
      </p:sp>
      <p:sp>
        <p:nvSpPr>
          <p:cNvPr id="21" name="Textfeld 20"/>
          <p:cNvSpPr txBox="1"/>
          <p:nvPr/>
        </p:nvSpPr>
        <p:spPr>
          <a:xfrm>
            <a:off x="3026520" y="4130634"/>
            <a:ext cx="1107996" cy="305468"/>
          </a:xfrm>
          <a:prstGeom prst="rect">
            <a:avLst/>
          </a:prstGeom>
          <a:noFill/>
        </p:spPr>
        <p:txBody>
          <a:bodyPr wrap="none" rtlCol="0">
            <a:spAutoFit/>
          </a:bodyPr>
          <a:lstStyle/>
          <a:p>
            <a:pPr algn="ctr"/>
            <a:r>
              <a:rPr lang="en-GB" sz="1385" b="1" dirty="0">
                <a:solidFill>
                  <a:schemeClr val="bg1"/>
                </a:solidFill>
              </a:rPr>
              <a:t>DV-</a:t>
            </a:r>
            <a:r>
              <a:rPr lang="en-GB" sz="1385" b="1" dirty="0" err="1">
                <a:solidFill>
                  <a:schemeClr val="bg1"/>
                </a:solidFill>
              </a:rPr>
              <a:t>Konzept</a:t>
            </a:r>
            <a:endParaRPr lang="de-DE" sz="1385" b="1" dirty="0">
              <a:solidFill>
                <a:schemeClr val="bg1"/>
              </a:solidFill>
            </a:endParaRPr>
          </a:p>
        </p:txBody>
      </p:sp>
      <p:sp>
        <p:nvSpPr>
          <p:cNvPr id="22" name="Textfeld 21"/>
          <p:cNvSpPr txBox="1"/>
          <p:nvPr/>
        </p:nvSpPr>
        <p:spPr>
          <a:xfrm>
            <a:off x="2822137" y="4602396"/>
            <a:ext cx="1516762" cy="305468"/>
          </a:xfrm>
          <a:prstGeom prst="rect">
            <a:avLst/>
          </a:prstGeom>
          <a:noFill/>
        </p:spPr>
        <p:txBody>
          <a:bodyPr wrap="none" rtlCol="0">
            <a:spAutoFit/>
          </a:bodyPr>
          <a:lstStyle/>
          <a:p>
            <a:pPr algn="ctr"/>
            <a:r>
              <a:rPr lang="en-GB" sz="1385" b="1" dirty="0" err="1">
                <a:solidFill>
                  <a:schemeClr val="bg1"/>
                </a:solidFill>
              </a:rPr>
              <a:t>Implementierung</a:t>
            </a:r>
            <a:endParaRPr lang="de-DE" sz="1385" b="1" dirty="0">
              <a:solidFill>
                <a:schemeClr val="bg1"/>
              </a:solidFill>
            </a:endParaRPr>
          </a:p>
        </p:txBody>
      </p:sp>
      <p:sp>
        <p:nvSpPr>
          <p:cNvPr id="43" name="Can 8"/>
          <p:cNvSpPr/>
          <p:nvPr/>
        </p:nvSpPr>
        <p:spPr bwMode="auto">
          <a:xfrm>
            <a:off x="6720127"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44" name="Can 8"/>
          <p:cNvSpPr/>
          <p:nvPr/>
        </p:nvSpPr>
        <p:spPr bwMode="auto">
          <a:xfrm>
            <a:off x="6720127" y="3762724"/>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45" name="Can 8"/>
          <p:cNvSpPr/>
          <p:nvPr/>
        </p:nvSpPr>
        <p:spPr bwMode="auto">
          <a:xfrm>
            <a:off x="6720127"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46" name="Textfeld 45"/>
          <p:cNvSpPr txBox="1"/>
          <p:nvPr/>
        </p:nvSpPr>
        <p:spPr>
          <a:xfrm>
            <a:off x="6925290" y="3658871"/>
            <a:ext cx="1162498" cy="305468"/>
          </a:xfrm>
          <a:prstGeom prst="rect">
            <a:avLst/>
          </a:prstGeom>
          <a:noFill/>
        </p:spPr>
        <p:txBody>
          <a:bodyPr wrap="none" rtlCol="0">
            <a:spAutoFit/>
          </a:bodyPr>
          <a:lstStyle/>
          <a:p>
            <a:pPr algn="ctr"/>
            <a:r>
              <a:rPr lang="en-GB" sz="1385" b="1" dirty="0" err="1">
                <a:solidFill>
                  <a:schemeClr val="bg1"/>
                </a:solidFill>
              </a:rPr>
              <a:t>Fachkonzept</a:t>
            </a:r>
            <a:endParaRPr lang="de-DE" sz="1385" b="1" dirty="0">
              <a:solidFill>
                <a:schemeClr val="bg1"/>
              </a:solidFill>
            </a:endParaRPr>
          </a:p>
        </p:txBody>
      </p:sp>
      <p:sp>
        <p:nvSpPr>
          <p:cNvPr id="47" name="Textfeld 46"/>
          <p:cNvSpPr txBox="1"/>
          <p:nvPr/>
        </p:nvSpPr>
        <p:spPr>
          <a:xfrm>
            <a:off x="6952541" y="4130634"/>
            <a:ext cx="1107996" cy="305468"/>
          </a:xfrm>
          <a:prstGeom prst="rect">
            <a:avLst/>
          </a:prstGeom>
          <a:noFill/>
        </p:spPr>
        <p:txBody>
          <a:bodyPr wrap="none" rtlCol="0">
            <a:spAutoFit/>
          </a:bodyPr>
          <a:lstStyle/>
          <a:p>
            <a:pPr algn="ctr"/>
            <a:r>
              <a:rPr lang="en-GB" sz="1385" b="1" dirty="0">
                <a:solidFill>
                  <a:schemeClr val="bg1"/>
                </a:solidFill>
              </a:rPr>
              <a:t>DV-</a:t>
            </a:r>
            <a:r>
              <a:rPr lang="en-GB" sz="1385" b="1" dirty="0" err="1">
                <a:solidFill>
                  <a:schemeClr val="bg1"/>
                </a:solidFill>
              </a:rPr>
              <a:t>Konzept</a:t>
            </a:r>
            <a:endParaRPr lang="de-DE" sz="1385" b="1" dirty="0">
              <a:solidFill>
                <a:schemeClr val="bg1"/>
              </a:solidFill>
            </a:endParaRPr>
          </a:p>
        </p:txBody>
      </p:sp>
      <p:sp>
        <p:nvSpPr>
          <p:cNvPr id="48" name="Textfeld 47"/>
          <p:cNvSpPr txBox="1"/>
          <p:nvPr/>
        </p:nvSpPr>
        <p:spPr>
          <a:xfrm>
            <a:off x="6748158" y="4602396"/>
            <a:ext cx="1516762" cy="305468"/>
          </a:xfrm>
          <a:prstGeom prst="rect">
            <a:avLst/>
          </a:prstGeom>
          <a:noFill/>
        </p:spPr>
        <p:txBody>
          <a:bodyPr wrap="none" rtlCol="0">
            <a:spAutoFit/>
          </a:bodyPr>
          <a:lstStyle/>
          <a:p>
            <a:pPr algn="ctr"/>
            <a:r>
              <a:rPr lang="en-GB" sz="1385" b="1" dirty="0" err="1">
                <a:solidFill>
                  <a:schemeClr val="bg1"/>
                </a:solidFill>
              </a:rPr>
              <a:t>Implementierung</a:t>
            </a:r>
            <a:endParaRPr lang="de-DE" sz="1385" b="1" dirty="0">
              <a:solidFill>
                <a:schemeClr val="bg1"/>
              </a:solidFill>
            </a:endParaRPr>
          </a:p>
        </p:txBody>
      </p:sp>
      <p:sp>
        <p:nvSpPr>
          <p:cNvPr id="49" name="Textfeld 48"/>
          <p:cNvSpPr txBox="1"/>
          <p:nvPr/>
        </p:nvSpPr>
        <p:spPr>
          <a:xfrm>
            <a:off x="4932044" y="3571113"/>
            <a:ext cx="1162498" cy="305468"/>
          </a:xfrm>
          <a:prstGeom prst="rect">
            <a:avLst/>
          </a:prstGeom>
          <a:solidFill>
            <a:schemeClr val="bg1">
              <a:lumMod val="85000"/>
            </a:schemeClr>
          </a:solidFill>
        </p:spPr>
        <p:txBody>
          <a:bodyPr wrap="none" rtlCol="0">
            <a:spAutoFit/>
          </a:bodyPr>
          <a:lstStyle/>
          <a:p>
            <a:pPr algn="ctr"/>
            <a:r>
              <a:rPr lang="en-GB" sz="1385" b="1" dirty="0" err="1"/>
              <a:t>Fachkonzept</a:t>
            </a:r>
            <a:endParaRPr lang="de-DE" sz="1385" b="1" dirty="0"/>
          </a:p>
        </p:txBody>
      </p:sp>
      <p:sp>
        <p:nvSpPr>
          <p:cNvPr id="9" name="Rectangle 10">
            <a:extLst>
              <a:ext uri="{FF2B5EF4-FFF2-40B4-BE49-F238E27FC236}">
                <a16:creationId xmlns:a16="http://schemas.microsoft.com/office/drawing/2014/main" id="{AE74C682-A27D-F22C-DA78-89672A1BA037}"/>
              </a:ext>
            </a:extLst>
          </p:cNvPr>
          <p:cNvSpPr/>
          <p:nvPr/>
        </p:nvSpPr>
        <p:spPr bwMode="auto">
          <a:xfrm>
            <a:off x="4717958" y="3964339"/>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10" name="Rectangle 10">
            <a:extLst>
              <a:ext uri="{FF2B5EF4-FFF2-40B4-BE49-F238E27FC236}">
                <a16:creationId xmlns:a16="http://schemas.microsoft.com/office/drawing/2014/main" id="{E16C7B8D-6974-3F27-7DDF-869BFFC20375}"/>
              </a:ext>
            </a:extLst>
          </p:cNvPr>
          <p:cNvSpPr/>
          <p:nvPr/>
        </p:nvSpPr>
        <p:spPr bwMode="auto">
          <a:xfrm>
            <a:off x="4717958" y="4387642"/>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p>
        </p:txBody>
      </p:sp>
      <p:sp>
        <p:nvSpPr>
          <p:cNvPr id="50" name="Textfeld 49"/>
          <p:cNvSpPr txBox="1"/>
          <p:nvPr/>
        </p:nvSpPr>
        <p:spPr>
          <a:xfrm>
            <a:off x="4911207" y="4036847"/>
            <a:ext cx="1107996" cy="305468"/>
          </a:xfrm>
          <a:prstGeom prst="rect">
            <a:avLst/>
          </a:prstGeom>
          <a:solidFill>
            <a:srgbClr val="012656"/>
          </a:solidFill>
        </p:spPr>
        <p:txBody>
          <a:bodyPr wrap="none" rtlCol="0">
            <a:spAutoFit/>
          </a:bodyPr>
          <a:lstStyle/>
          <a:p>
            <a:pPr algn="ctr"/>
            <a:r>
              <a:rPr lang="en-GB" sz="1385" b="1" dirty="0">
                <a:solidFill>
                  <a:schemeClr val="bg1"/>
                </a:solidFill>
              </a:rPr>
              <a:t>DV-</a:t>
            </a:r>
            <a:r>
              <a:rPr lang="en-GB" sz="1385" b="1" dirty="0" err="1">
                <a:solidFill>
                  <a:schemeClr val="bg1"/>
                </a:solidFill>
              </a:rPr>
              <a:t>Konzept</a:t>
            </a:r>
            <a:endParaRPr lang="de-DE" sz="1385" b="1" dirty="0">
              <a:solidFill>
                <a:schemeClr val="bg1"/>
              </a:solidFill>
            </a:endParaRPr>
          </a:p>
        </p:txBody>
      </p:sp>
      <p:sp>
        <p:nvSpPr>
          <p:cNvPr id="51" name="Textfeld 50"/>
          <p:cNvSpPr txBox="1"/>
          <p:nvPr/>
        </p:nvSpPr>
        <p:spPr>
          <a:xfrm>
            <a:off x="4722089" y="4491243"/>
            <a:ext cx="1516762" cy="305468"/>
          </a:xfrm>
          <a:prstGeom prst="rect">
            <a:avLst/>
          </a:prstGeom>
          <a:solidFill>
            <a:srgbClr val="012656"/>
          </a:solidFill>
        </p:spPr>
        <p:txBody>
          <a:bodyPr wrap="none" rtlCol="0">
            <a:spAutoFit/>
          </a:bodyPr>
          <a:lstStyle/>
          <a:p>
            <a:pPr algn="ctr"/>
            <a:r>
              <a:rPr lang="en-GB" sz="1385" b="1" dirty="0" err="1">
                <a:solidFill>
                  <a:schemeClr val="bg1"/>
                </a:solidFill>
              </a:rPr>
              <a:t>Implementierung</a:t>
            </a:r>
            <a:endParaRPr lang="de-DE" sz="1385" b="1" dirty="0">
              <a:solidFill>
                <a:schemeClr val="bg1"/>
              </a:solidFill>
            </a:endParaRPr>
          </a:p>
        </p:txBody>
      </p:sp>
    </p:spTree>
    <p:extLst>
      <p:ext uri="{BB962C8B-B14F-4D97-AF65-F5344CB8AC3E}">
        <p14:creationId xmlns:p14="http://schemas.microsoft.com/office/powerpoint/2010/main" val="1326412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E66E6-B558-8A82-898B-9455E3B71A1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03C4137B-9D33-F840-3EC8-D72471BAABB7}"/>
              </a:ext>
            </a:extLst>
          </p:cNvPr>
          <p:cNvSpPr>
            <a:spLocks noGrp="1"/>
          </p:cNvSpPr>
          <p:nvPr>
            <p:ph type="title"/>
          </p:nvPr>
        </p:nvSpPr>
        <p:spPr/>
        <p:txBody>
          <a:bodyPr/>
          <a:lstStyle/>
          <a:p>
            <a:r>
              <a:rPr lang="de-DE" dirty="0" err="1"/>
              <a:t>Sprachkonstrukte</a:t>
            </a:r>
            <a:endParaRPr lang="de-DE" dirty="0"/>
          </a:p>
        </p:txBody>
      </p:sp>
      <p:sp>
        <p:nvSpPr>
          <p:cNvPr id="3" name="Textplatzhalter 2">
            <a:extLst>
              <a:ext uri="{FF2B5EF4-FFF2-40B4-BE49-F238E27FC236}">
                <a16:creationId xmlns:a16="http://schemas.microsoft.com/office/drawing/2014/main" id="{8EA8EA23-CCA3-BFBA-1453-549327663833}"/>
              </a:ext>
            </a:extLst>
          </p:cNvPr>
          <p:cNvSpPr>
            <a:spLocks noGrp="1"/>
          </p:cNvSpPr>
          <p:nvPr>
            <p:ph type="body" sz="quarter" idx="12"/>
          </p:nvPr>
        </p:nvSpPr>
        <p:spPr>
          <a:xfrm>
            <a:off x="1532480" y="309833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de-DE" sz="1600" b="1" dirty="0">
                <a:solidFill>
                  <a:schemeClr val="tx1"/>
                </a:solidFill>
              </a:rPr>
              <a:t>Ereignis</a:t>
            </a:r>
          </a:p>
        </p:txBody>
      </p:sp>
      <p:sp>
        <p:nvSpPr>
          <p:cNvPr id="4" name="Rechteck 3">
            <a:extLst>
              <a:ext uri="{FF2B5EF4-FFF2-40B4-BE49-F238E27FC236}">
                <a16:creationId xmlns:a16="http://schemas.microsoft.com/office/drawing/2014/main" id="{12A51C47-6501-2B62-6CCF-61916F23FB02}"/>
              </a:ext>
            </a:extLst>
          </p:cNvPr>
          <p:cNvSpPr/>
          <p:nvPr/>
        </p:nvSpPr>
        <p:spPr>
          <a:xfrm>
            <a:off x="3438176" y="3098331"/>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rPr>
              <a:t>Funktion</a:t>
            </a:r>
          </a:p>
        </p:txBody>
      </p:sp>
      <p:sp>
        <p:nvSpPr>
          <p:cNvPr id="8" name="Ellipse 7">
            <a:extLst>
              <a:ext uri="{FF2B5EF4-FFF2-40B4-BE49-F238E27FC236}">
                <a16:creationId xmlns:a16="http://schemas.microsoft.com/office/drawing/2014/main" id="{ECBBCC86-B79C-7342-60AE-7335DD06EDB5}"/>
              </a:ext>
            </a:extLst>
          </p:cNvPr>
          <p:cNvSpPr/>
          <p:nvPr/>
        </p:nvSpPr>
        <p:spPr>
          <a:xfrm>
            <a:off x="3315084" y="4176073"/>
            <a:ext cx="286219" cy="2570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0" name="Ellipse 9">
            <a:extLst>
              <a:ext uri="{FF2B5EF4-FFF2-40B4-BE49-F238E27FC236}">
                <a16:creationId xmlns:a16="http://schemas.microsoft.com/office/drawing/2014/main" id="{9B354D26-D69F-A137-D801-BDB1F237E1DF}"/>
              </a:ext>
            </a:extLst>
          </p:cNvPr>
          <p:cNvSpPr/>
          <p:nvPr/>
        </p:nvSpPr>
        <p:spPr>
          <a:xfrm>
            <a:off x="2555975" y="4183782"/>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4" name="Textfeld 13">
            <a:extLst>
              <a:ext uri="{FF2B5EF4-FFF2-40B4-BE49-F238E27FC236}">
                <a16:creationId xmlns:a16="http://schemas.microsoft.com/office/drawing/2014/main" id="{4E92F54A-40A9-1CCE-2F1E-86BBF6335CBF}"/>
              </a:ext>
            </a:extLst>
          </p:cNvPr>
          <p:cNvSpPr txBox="1"/>
          <p:nvPr/>
        </p:nvSpPr>
        <p:spPr>
          <a:xfrm>
            <a:off x="2449525" y="4449158"/>
            <a:ext cx="487634" cy="276999"/>
          </a:xfrm>
          <a:prstGeom prst="rect">
            <a:avLst/>
          </a:prstGeom>
          <a:noFill/>
        </p:spPr>
        <p:txBody>
          <a:bodyPr wrap="none" rtlCol="0">
            <a:spAutoFit/>
          </a:bodyPr>
          <a:lstStyle/>
          <a:p>
            <a:r>
              <a:rPr lang="de-DE" sz="1200" dirty="0"/>
              <a:t>UND</a:t>
            </a:r>
            <a:endParaRPr lang="de-DE" sz="1600" dirty="0"/>
          </a:p>
        </p:txBody>
      </p:sp>
      <p:sp>
        <p:nvSpPr>
          <p:cNvPr id="19" name="Ellipse 18">
            <a:extLst>
              <a:ext uri="{FF2B5EF4-FFF2-40B4-BE49-F238E27FC236}">
                <a16:creationId xmlns:a16="http://schemas.microsoft.com/office/drawing/2014/main" id="{B1F3B0D4-BB97-67CA-5FCB-7C0C32D5D442}"/>
              </a:ext>
            </a:extLst>
          </p:cNvPr>
          <p:cNvSpPr/>
          <p:nvPr/>
        </p:nvSpPr>
        <p:spPr>
          <a:xfrm>
            <a:off x="2940824" y="4183781"/>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grpSp>
        <p:nvGrpSpPr>
          <p:cNvPr id="32" name="Gruppieren 31">
            <a:extLst>
              <a:ext uri="{FF2B5EF4-FFF2-40B4-BE49-F238E27FC236}">
                <a16:creationId xmlns:a16="http://schemas.microsoft.com/office/drawing/2014/main" id="{46517809-1D62-57F3-88D5-55F9DDA574E6}"/>
              </a:ext>
            </a:extLst>
          </p:cNvPr>
          <p:cNvGrpSpPr/>
          <p:nvPr/>
        </p:nvGrpSpPr>
        <p:grpSpPr>
          <a:xfrm>
            <a:off x="9811973" y="3150699"/>
            <a:ext cx="1257301" cy="607043"/>
            <a:chOff x="8229196" y="2431605"/>
            <a:chExt cx="1257301" cy="607043"/>
          </a:xfrm>
          <a:solidFill>
            <a:schemeClr val="bg1">
              <a:lumMod val="95000"/>
            </a:schemeClr>
          </a:solidFill>
        </p:grpSpPr>
        <p:sp>
          <p:nvSpPr>
            <p:cNvPr id="24" name="Rechteck 23">
              <a:extLst>
                <a:ext uri="{FF2B5EF4-FFF2-40B4-BE49-F238E27FC236}">
                  <a16:creationId xmlns:a16="http://schemas.microsoft.com/office/drawing/2014/main" id="{EC381795-F642-E368-D58F-857AB4030F17}"/>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chemeClr val="tx1"/>
                  </a:solidFill>
                </a:rPr>
                <a:t>System</a:t>
              </a:r>
            </a:p>
          </p:txBody>
        </p:sp>
        <p:cxnSp>
          <p:nvCxnSpPr>
            <p:cNvPr id="26" name="Gerader Verbinder 25">
              <a:extLst>
                <a:ext uri="{FF2B5EF4-FFF2-40B4-BE49-F238E27FC236}">
                  <a16:creationId xmlns:a16="http://schemas.microsoft.com/office/drawing/2014/main" id="{87822DE3-2DC8-B60A-5A3A-54F4DE226C90}"/>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C3314B67-DE15-ABD5-BCC7-9BD9E8DAD84F}"/>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sp>
        <p:nvSpPr>
          <p:cNvPr id="28" name="Ellipse 27">
            <a:extLst>
              <a:ext uri="{FF2B5EF4-FFF2-40B4-BE49-F238E27FC236}">
                <a16:creationId xmlns:a16="http://schemas.microsoft.com/office/drawing/2014/main" id="{E4BF968C-E85D-C9FD-2294-008738349C13}"/>
              </a:ext>
            </a:extLst>
          </p:cNvPr>
          <p:cNvSpPr/>
          <p:nvPr/>
        </p:nvSpPr>
        <p:spPr>
          <a:xfrm>
            <a:off x="7062736" y="3191076"/>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rPr>
              <a:t>Unit</a:t>
            </a:r>
          </a:p>
        </p:txBody>
      </p:sp>
      <p:sp>
        <p:nvSpPr>
          <p:cNvPr id="29" name="Rechteck 28">
            <a:extLst>
              <a:ext uri="{FF2B5EF4-FFF2-40B4-BE49-F238E27FC236}">
                <a16:creationId xmlns:a16="http://schemas.microsoft.com/office/drawing/2014/main" id="{EC3C6D03-148C-0879-B65E-1548CD540A53}"/>
              </a:ext>
            </a:extLst>
          </p:cNvPr>
          <p:cNvSpPr/>
          <p:nvPr/>
        </p:nvSpPr>
        <p:spPr>
          <a:xfrm>
            <a:off x="8282890" y="315069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tx1"/>
                </a:solidFill>
              </a:rPr>
              <a:t>Daten</a:t>
            </a:r>
          </a:p>
        </p:txBody>
      </p:sp>
      <p:grpSp>
        <p:nvGrpSpPr>
          <p:cNvPr id="33" name="Gruppieren 32">
            <a:extLst>
              <a:ext uri="{FF2B5EF4-FFF2-40B4-BE49-F238E27FC236}">
                <a16:creationId xmlns:a16="http://schemas.microsoft.com/office/drawing/2014/main" id="{92309D0B-D568-8F9A-8FD1-E38798A10875}"/>
              </a:ext>
            </a:extLst>
          </p:cNvPr>
          <p:cNvGrpSpPr/>
          <p:nvPr/>
        </p:nvGrpSpPr>
        <p:grpSpPr>
          <a:xfrm>
            <a:off x="8285722" y="3999163"/>
            <a:ext cx="1443873" cy="670190"/>
            <a:chOff x="8230420" y="5444237"/>
            <a:chExt cx="1443873" cy="670190"/>
          </a:xfrm>
          <a:solidFill>
            <a:schemeClr val="bg1">
              <a:lumMod val="95000"/>
            </a:schemeClr>
          </a:solidFill>
        </p:grpSpPr>
        <p:sp>
          <p:nvSpPr>
            <p:cNvPr id="31" name="Textplatzhalter 2">
              <a:extLst>
                <a:ext uri="{FF2B5EF4-FFF2-40B4-BE49-F238E27FC236}">
                  <a16:creationId xmlns:a16="http://schemas.microsoft.com/office/drawing/2014/main" id="{57AA7F42-58B6-02D3-2169-A668CBDA2B7D}"/>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200" b="1" dirty="0">
                <a:solidFill>
                  <a:schemeClr val="tx1"/>
                </a:solidFill>
              </a:endParaRPr>
            </a:p>
          </p:txBody>
        </p:sp>
        <p:sp>
          <p:nvSpPr>
            <p:cNvPr id="30" name="Rechteck 29">
              <a:extLst>
                <a:ext uri="{FF2B5EF4-FFF2-40B4-BE49-F238E27FC236}">
                  <a16:creationId xmlns:a16="http://schemas.microsoft.com/office/drawing/2014/main" id="{F4E4A5A8-C805-1128-5C94-65603B9E715F}"/>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chemeClr val="tx1"/>
                  </a:solidFill>
                </a:rPr>
                <a:t>Prozess-</a:t>
              </a:r>
              <a:r>
                <a:rPr lang="de-DE" sz="1400" b="1" dirty="0" err="1">
                  <a:solidFill>
                    <a:schemeClr val="tx1"/>
                  </a:solidFill>
                </a:rPr>
                <a:t>wegweiser</a:t>
              </a:r>
              <a:endParaRPr lang="de-DE" sz="1400" b="1" dirty="0">
                <a:solidFill>
                  <a:schemeClr val="tx1"/>
                </a:solidFill>
              </a:endParaRPr>
            </a:p>
          </p:txBody>
        </p:sp>
      </p:grpSp>
      <p:sp>
        <p:nvSpPr>
          <p:cNvPr id="6" name="Textfeld 5">
            <a:extLst>
              <a:ext uri="{FF2B5EF4-FFF2-40B4-BE49-F238E27FC236}">
                <a16:creationId xmlns:a16="http://schemas.microsoft.com/office/drawing/2014/main" id="{300FFB4E-D947-1B27-2EEF-278AE59D5C4F}"/>
              </a:ext>
            </a:extLst>
          </p:cNvPr>
          <p:cNvSpPr txBox="1"/>
          <p:nvPr/>
        </p:nvSpPr>
        <p:spPr>
          <a:xfrm>
            <a:off x="2424101" y="3821474"/>
            <a:ext cx="1332416" cy="338554"/>
          </a:xfrm>
          <a:prstGeom prst="rect">
            <a:avLst/>
          </a:prstGeom>
          <a:noFill/>
        </p:spPr>
        <p:txBody>
          <a:bodyPr wrap="none" rtlCol="0">
            <a:spAutoFit/>
          </a:bodyPr>
          <a:lstStyle/>
          <a:p>
            <a:r>
              <a:rPr lang="de-DE" sz="1600" b="1" dirty="0"/>
              <a:t>Konnektoren</a:t>
            </a:r>
          </a:p>
        </p:txBody>
      </p:sp>
      <p:sp>
        <p:nvSpPr>
          <p:cNvPr id="7" name="Textfeld 6">
            <a:extLst>
              <a:ext uri="{FF2B5EF4-FFF2-40B4-BE49-F238E27FC236}">
                <a16:creationId xmlns:a16="http://schemas.microsoft.com/office/drawing/2014/main" id="{629EAC50-50C9-C040-4EFA-7AFC944851B2}"/>
              </a:ext>
            </a:extLst>
          </p:cNvPr>
          <p:cNvSpPr txBox="1"/>
          <p:nvPr/>
        </p:nvSpPr>
        <p:spPr>
          <a:xfrm>
            <a:off x="2840116" y="4449158"/>
            <a:ext cx="466794" cy="276999"/>
          </a:xfrm>
          <a:prstGeom prst="rect">
            <a:avLst/>
          </a:prstGeom>
          <a:noFill/>
        </p:spPr>
        <p:txBody>
          <a:bodyPr wrap="none" rtlCol="0">
            <a:spAutoFit/>
          </a:bodyPr>
          <a:lstStyle/>
          <a:p>
            <a:r>
              <a:rPr lang="de-DE" sz="1200" dirty="0"/>
              <a:t>XOR</a:t>
            </a:r>
            <a:endParaRPr lang="de-DE" sz="1600" dirty="0"/>
          </a:p>
        </p:txBody>
      </p:sp>
      <p:sp>
        <p:nvSpPr>
          <p:cNvPr id="9" name="Textfeld 8">
            <a:extLst>
              <a:ext uri="{FF2B5EF4-FFF2-40B4-BE49-F238E27FC236}">
                <a16:creationId xmlns:a16="http://schemas.microsoft.com/office/drawing/2014/main" id="{3767788C-C64B-CD36-9F7C-514A619D16BA}"/>
              </a:ext>
            </a:extLst>
          </p:cNvPr>
          <p:cNvSpPr txBox="1"/>
          <p:nvPr/>
        </p:nvSpPr>
        <p:spPr>
          <a:xfrm>
            <a:off x="3276128" y="4449158"/>
            <a:ext cx="380232" cy="276999"/>
          </a:xfrm>
          <a:prstGeom prst="rect">
            <a:avLst/>
          </a:prstGeom>
          <a:noFill/>
        </p:spPr>
        <p:txBody>
          <a:bodyPr wrap="none" rtlCol="0">
            <a:spAutoFit/>
          </a:bodyPr>
          <a:lstStyle/>
          <a:p>
            <a:r>
              <a:rPr lang="de-DE" sz="1200" dirty="0"/>
              <a:t>OR</a:t>
            </a:r>
            <a:endParaRPr lang="de-DE" sz="1600" dirty="0"/>
          </a:p>
        </p:txBody>
      </p:sp>
      <p:sp>
        <p:nvSpPr>
          <p:cNvPr id="11" name="Textfeld 10">
            <a:extLst>
              <a:ext uri="{FF2B5EF4-FFF2-40B4-BE49-F238E27FC236}">
                <a16:creationId xmlns:a16="http://schemas.microsoft.com/office/drawing/2014/main" id="{11521759-54D6-524C-BA4F-BB9CE283DE0A}"/>
              </a:ext>
            </a:extLst>
          </p:cNvPr>
          <p:cNvSpPr txBox="1"/>
          <p:nvPr/>
        </p:nvSpPr>
        <p:spPr>
          <a:xfrm>
            <a:off x="2798198" y="2263165"/>
            <a:ext cx="803105" cy="553998"/>
          </a:xfrm>
          <a:prstGeom prst="rect">
            <a:avLst/>
          </a:prstGeom>
          <a:noFill/>
        </p:spPr>
        <p:txBody>
          <a:bodyPr wrap="none" lIns="0" tIns="0" rIns="0" bIns="0" rtlCol="0">
            <a:spAutoFit/>
          </a:bodyPr>
          <a:lstStyle/>
          <a:p>
            <a:r>
              <a:rPr lang="de-DE" sz="3600" b="1" dirty="0">
                <a:solidFill>
                  <a:srgbClr val="012656"/>
                </a:solidFill>
              </a:rPr>
              <a:t>EPK</a:t>
            </a:r>
          </a:p>
        </p:txBody>
      </p:sp>
      <p:sp>
        <p:nvSpPr>
          <p:cNvPr id="12" name="Textfeld 11">
            <a:extLst>
              <a:ext uri="{FF2B5EF4-FFF2-40B4-BE49-F238E27FC236}">
                <a16:creationId xmlns:a16="http://schemas.microsoft.com/office/drawing/2014/main" id="{15CAB761-E06C-C529-7737-E15A995BE009}"/>
              </a:ext>
            </a:extLst>
          </p:cNvPr>
          <p:cNvSpPr txBox="1"/>
          <p:nvPr/>
        </p:nvSpPr>
        <p:spPr>
          <a:xfrm>
            <a:off x="8242905" y="2263165"/>
            <a:ext cx="1038746" cy="553998"/>
          </a:xfrm>
          <a:prstGeom prst="rect">
            <a:avLst/>
          </a:prstGeom>
          <a:noFill/>
        </p:spPr>
        <p:txBody>
          <a:bodyPr wrap="none" lIns="0" tIns="0" rIns="0" bIns="0" rtlCol="0">
            <a:spAutoFit/>
          </a:bodyPr>
          <a:lstStyle/>
          <a:p>
            <a:r>
              <a:rPr lang="de-DE" sz="3600" b="1" dirty="0">
                <a:solidFill>
                  <a:srgbClr val="012656"/>
                </a:solidFill>
              </a:rPr>
              <a:t>eEPK</a:t>
            </a:r>
          </a:p>
        </p:txBody>
      </p:sp>
      <p:cxnSp>
        <p:nvCxnSpPr>
          <p:cNvPr id="15" name="Gerader Verbinder 14">
            <a:extLst>
              <a:ext uri="{FF2B5EF4-FFF2-40B4-BE49-F238E27FC236}">
                <a16:creationId xmlns:a16="http://schemas.microsoft.com/office/drawing/2014/main" id="{40D6BC2F-7916-7EB8-A682-A35F7D7757B1}"/>
              </a:ext>
            </a:extLst>
          </p:cNvPr>
          <p:cNvCxnSpPr/>
          <p:nvPr/>
        </p:nvCxnSpPr>
        <p:spPr>
          <a:xfrm>
            <a:off x="6096000" y="1855474"/>
            <a:ext cx="0" cy="36423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732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81D33-3012-4721-50FF-C16796741EB8}"/>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EC6BA284-CC58-A4F2-B619-C2E54B457879}"/>
              </a:ext>
            </a:extLst>
          </p:cNvPr>
          <p:cNvSpPr>
            <a:spLocks noGrp="1"/>
          </p:cNvSpPr>
          <p:nvPr>
            <p:ph type="title"/>
          </p:nvPr>
        </p:nvSpPr>
        <p:spPr/>
        <p:txBody>
          <a:bodyPr/>
          <a:lstStyle/>
          <a:p>
            <a:r>
              <a:rPr lang="de-DE" dirty="0" err="1"/>
              <a:t>Sprachkonstrukte</a:t>
            </a:r>
            <a:r>
              <a:rPr lang="de-DE" dirty="0"/>
              <a:t>: Ereignis</a:t>
            </a:r>
          </a:p>
        </p:txBody>
      </p:sp>
      <p:sp>
        <p:nvSpPr>
          <p:cNvPr id="6" name="Textplatzhalter 5">
            <a:extLst>
              <a:ext uri="{FF2B5EF4-FFF2-40B4-BE49-F238E27FC236}">
                <a16:creationId xmlns:a16="http://schemas.microsoft.com/office/drawing/2014/main" id="{8A21F791-9B21-B6E2-12A9-F5668B0A8CD2}"/>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Ein </a:t>
            </a:r>
            <a:r>
              <a:rPr lang="de-DE" sz="1800" b="1" dirty="0">
                <a:solidFill>
                  <a:srgbClr val="FF9600"/>
                </a:solidFill>
              </a:rPr>
              <a:t>Ereignis</a:t>
            </a:r>
            <a:r>
              <a:rPr lang="de-DE" sz="1800" dirty="0"/>
              <a:t> ist ein Zustand oder eine Bedingung, die einen Prozessschritt auslöst oder als Ergebnis eines Prozessschritts entsteht.</a:t>
            </a:r>
            <a:br>
              <a:rPr lang="de-DE" sz="1800" dirty="0"/>
            </a:br>
            <a:endParaRPr lang="de-DE" sz="1800" dirty="0"/>
          </a:p>
        </p:txBody>
      </p:sp>
      <p:sp>
        <p:nvSpPr>
          <p:cNvPr id="2" name="Textplatzhalter 5">
            <a:extLst>
              <a:ext uri="{FF2B5EF4-FFF2-40B4-BE49-F238E27FC236}">
                <a16:creationId xmlns:a16="http://schemas.microsoft.com/office/drawing/2014/main" id="{8E17AB8C-7446-1883-0599-B49EE39C9B90}"/>
              </a:ext>
            </a:extLst>
          </p:cNvPr>
          <p:cNvSpPr txBox="1">
            <a:spLocks/>
          </p:cNvSpPr>
          <p:nvPr/>
        </p:nvSpPr>
        <p:spPr>
          <a:xfrm>
            <a:off x="552449" y="3031098"/>
            <a:ext cx="52387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Merkmale eines Ereignisses</a:t>
            </a:r>
          </a:p>
          <a:p>
            <a:r>
              <a:rPr lang="de-DE" sz="1800" dirty="0"/>
              <a:t>Es ist ein </a:t>
            </a:r>
            <a:r>
              <a:rPr lang="de-DE" sz="1800" b="1" dirty="0"/>
              <a:t>Zustand</a:t>
            </a:r>
            <a:r>
              <a:rPr lang="de-DE" sz="1800" dirty="0"/>
              <a:t>, keine Tätigkeit.</a:t>
            </a:r>
          </a:p>
          <a:p>
            <a:r>
              <a:rPr lang="de-DE" sz="1800" dirty="0"/>
              <a:t>Ereignisse sind passive Elemente </a:t>
            </a:r>
          </a:p>
          <a:p>
            <a:r>
              <a:rPr lang="de-DE" sz="1800" dirty="0"/>
              <a:t>Es kann einen Prozess oder eine Funktion </a:t>
            </a:r>
            <a:r>
              <a:rPr lang="de-DE" sz="1800" b="1" dirty="0"/>
              <a:t>auslösen</a:t>
            </a:r>
            <a:r>
              <a:rPr lang="de-DE" sz="1800" dirty="0"/>
              <a:t>. </a:t>
            </a:r>
          </a:p>
          <a:p>
            <a:r>
              <a:rPr lang="de-DE" sz="1800" dirty="0"/>
              <a:t>Es kann das </a:t>
            </a:r>
            <a:r>
              <a:rPr lang="de-DE" sz="1800" b="1" dirty="0"/>
              <a:t>Ergebnis einer Funktion</a:t>
            </a:r>
            <a:r>
              <a:rPr lang="de-DE" sz="1800" dirty="0"/>
              <a:t> oder eines Prozesses sein. </a:t>
            </a:r>
          </a:p>
        </p:txBody>
      </p:sp>
      <p:sp>
        <p:nvSpPr>
          <p:cNvPr id="3" name="Textplatzhalter 5">
            <a:extLst>
              <a:ext uri="{FF2B5EF4-FFF2-40B4-BE49-F238E27FC236}">
                <a16:creationId xmlns:a16="http://schemas.microsoft.com/office/drawing/2014/main" id="{107D0D5C-6F4B-25A9-31FE-4DA5AF076A00}"/>
              </a:ext>
            </a:extLst>
          </p:cNvPr>
          <p:cNvSpPr txBox="1">
            <a:spLocks/>
          </p:cNvSpPr>
          <p:nvPr/>
        </p:nvSpPr>
        <p:spPr>
          <a:xfrm>
            <a:off x="7345406" y="3100743"/>
            <a:ext cx="3103519" cy="2283852"/>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Ereignisse</a:t>
            </a:r>
          </a:p>
          <a:p>
            <a:r>
              <a:rPr lang="de-DE" sz="1800" dirty="0"/>
              <a:t>„Bestellung eingegangen“ </a:t>
            </a:r>
          </a:p>
          <a:p>
            <a:r>
              <a:rPr lang="de-DE" sz="1800" dirty="0"/>
              <a:t>„Rechnung erstellt“ </a:t>
            </a:r>
          </a:p>
          <a:p>
            <a:r>
              <a:rPr lang="de-DE" sz="1800" dirty="0"/>
              <a:t>„Zahlung eingetroffen“ </a:t>
            </a:r>
          </a:p>
          <a:p>
            <a:r>
              <a:rPr lang="de-DE" sz="1800" dirty="0"/>
              <a:t>„Lagerbestand geprüft“ </a:t>
            </a:r>
          </a:p>
          <a:p>
            <a:r>
              <a:rPr lang="de-DE" sz="1800" dirty="0"/>
              <a:t>„Antrag genehmigt“</a:t>
            </a:r>
          </a:p>
        </p:txBody>
      </p:sp>
      <p:sp>
        <p:nvSpPr>
          <p:cNvPr id="4" name="Textplatzhalter 2">
            <a:extLst>
              <a:ext uri="{FF2B5EF4-FFF2-40B4-BE49-F238E27FC236}">
                <a16:creationId xmlns:a16="http://schemas.microsoft.com/office/drawing/2014/main" id="{35554D77-AB5D-4A3C-7D5C-588BE411E130}"/>
              </a:ext>
            </a:extLst>
          </p:cNvPr>
          <p:cNvSpPr txBox="1">
            <a:spLocks/>
          </p:cNvSpPr>
          <p:nvPr/>
        </p:nvSpPr>
        <p:spPr>
          <a:xfrm>
            <a:off x="386193" y="1288023"/>
            <a:ext cx="1864070" cy="900000"/>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Tree>
    <p:extLst>
      <p:ext uri="{BB962C8B-B14F-4D97-AF65-F5344CB8AC3E}">
        <p14:creationId xmlns:p14="http://schemas.microsoft.com/office/powerpoint/2010/main" val="348739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4E151-4E63-F4E3-8B01-A01A14389EC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7C2A04FC-A1FD-5D2A-DF5E-8E8CFD31B37F}"/>
              </a:ext>
            </a:extLst>
          </p:cNvPr>
          <p:cNvSpPr>
            <a:spLocks noGrp="1"/>
          </p:cNvSpPr>
          <p:nvPr>
            <p:ph type="title"/>
          </p:nvPr>
        </p:nvSpPr>
        <p:spPr/>
        <p:txBody>
          <a:bodyPr/>
          <a:lstStyle/>
          <a:p>
            <a:r>
              <a:rPr lang="de-DE" dirty="0" err="1"/>
              <a:t>Sprachkonstrukte</a:t>
            </a:r>
            <a:r>
              <a:rPr lang="de-DE" dirty="0"/>
              <a:t>: Funktion</a:t>
            </a:r>
          </a:p>
        </p:txBody>
      </p:sp>
      <p:sp>
        <p:nvSpPr>
          <p:cNvPr id="6" name="Textplatzhalter 5">
            <a:extLst>
              <a:ext uri="{FF2B5EF4-FFF2-40B4-BE49-F238E27FC236}">
                <a16:creationId xmlns:a16="http://schemas.microsoft.com/office/drawing/2014/main" id="{49F58345-6BA5-5CA5-BC43-E25BDDB8CAC8}"/>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Eine </a:t>
            </a:r>
            <a:r>
              <a:rPr lang="de-DE" sz="1800" b="1" dirty="0">
                <a:solidFill>
                  <a:srgbClr val="FF9600"/>
                </a:solidFill>
              </a:rPr>
              <a:t>Funktion</a:t>
            </a:r>
            <a:r>
              <a:rPr lang="de-DE" sz="1800" dirty="0"/>
              <a:t> innerhalb eines Geschäftsprozesses beschreibt </a:t>
            </a:r>
            <a:r>
              <a:rPr lang="de-DE" sz="1800" b="1" dirty="0"/>
              <a:t>was zutun ist</a:t>
            </a:r>
            <a:br>
              <a:rPr lang="de-DE" sz="1800" dirty="0"/>
            </a:br>
            <a:endParaRPr lang="de-DE" sz="1800" dirty="0"/>
          </a:p>
        </p:txBody>
      </p:sp>
      <p:sp>
        <p:nvSpPr>
          <p:cNvPr id="2" name="Textplatzhalter 5">
            <a:extLst>
              <a:ext uri="{FF2B5EF4-FFF2-40B4-BE49-F238E27FC236}">
                <a16:creationId xmlns:a16="http://schemas.microsoft.com/office/drawing/2014/main" id="{109063D8-5350-F3CF-67A7-852FC94E387C}"/>
              </a:ext>
            </a:extLst>
          </p:cNvPr>
          <p:cNvSpPr txBox="1">
            <a:spLocks/>
          </p:cNvSpPr>
          <p:nvPr/>
        </p:nvSpPr>
        <p:spPr>
          <a:xfrm>
            <a:off x="552449" y="3031098"/>
            <a:ext cx="52387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None/>
            </a:pPr>
            <a:r>
              <a:rPr lang="de-DE" sz="1800" b="1" dirty="0"/>
              <a:t>Merkmale einer Funktion</a:t>
            </a:r>
          </a:p>
          <a:p>
            <a:pPr>
              <a:buFont typeface="Arial" panose="020B0604020202020204" pitchFamily="34" charset="0"/>
              <a:buChar char="•"/>
            </a:pPr>
            <a:r>
              <a:rPr lang="de-DE" sz="1800" dirty="0"/>
              <a:t>Sie stellt eine </a:t>
            </a:r>
            <a:r>
              <a:rPr lang="de-DE" sz="1800" b="1" dirty="0"/>
              <a:t>Aktivität</a:t>
            </a:r>
            <a:r>
              <a:rPr lang="de-DE" sz="1800" dirty="0"/>
              <a:t> oder </a:t>
            </a:r>
            <a:r>
              <a:rPr lang="de-DE" sz="1800" b="1" dirty="0"/>
              <a:t>Aufgabe</a:t>
            </a:r>
            <a:r>
              <a:rPr lang="de-DE" sz="1800" dirty="0"/>
              <a:t> dar. </a:t>
            </a:r>
          </a:p>
          <a:p>
            <a:pPr>
              <a:buFont typeface="Arial" panose="020B0604020202020204" pitchFamily="34" charset="0"/>
              <a:buChar char="•"/>
            </a:pPr>
            <a:r>
              <a:rPr lang="de-DE" sz="1800" dirty="0"/>
              <a:t>Funktionen sind aktive Elemente eines Prozesses</a:t>
            </a:r>
          </a:p>
          <a:p>
            <a:pPr>
              <a:buFont typeface="Arial" panose="020B0604020202020204" pitchFamily="34" charset="0"/>
              <a:buChar char="•"/>
            </a:pPr>
            <a:r>
              <a:rPr lang="de-DE" sz="1800" dirty="0"/>
              <a:t>Sie wird durch ein </a:t>
            </a:r>
            <a:r>
              <a:rPr lang="de-DE" sz="1800" b="1" dirty="0"/>
              <a:t>Ereignis ausgelöst</a:t>
            </a:r>
            <a:r>
              <a:rPr lang="de-DE" sz="1800" dirty="0"/>
              <a:t>. </a:t>
            </a:r>
          </a:p>
          <a:p>
            <a:pPr>
              <a:buFont typeface="Arial" panose="020B0604020202020204" pitchFamily="34" charset="0"/>
              <a:buChar char="•"/>
            </a:pPr>
            <a:r>
              <a:rPr lang="de-DE" sz="1800" dirty="0"/>
              <a:t>Nach ihrer Ausführung entsteht wiederum ein neues Ereignis </a:t>
            </a:r>
            <a:r>
              <a:rPr lang="de-DE" sz="1800" b="1" dirty="0"/>
              <a:t>als Folgezustand</a:t>
            </a:r>
            <a:r>
              <a:rPr lang="de-DE" sz="1800" dirty="0"/>
              <a:t>. </a:t>
            </a:r>
          </a:p>
          <a:p>
            <a:pPr>
              <a:buFont typeface="Arial" panose="020B0604020202020204" pitchFamily="34" charset="0"/>
              <a:buChar char="•"/>
            </a:pPr>
            <a:r>
              <a:rPr lang="de-DE" sz="1800" dirty="0"/>
              <a:t>Beinhalten einen Verb.</a:t>
            </a:r>
          </a:p>
        </p:txBody>
      </p:sp>
      <p:sp>
        <p:nvSpPr>
          <p:cNvPr id="3" name="Textplatzhalter 5">
            <a:extLst>
              <a:ext uri="{FF2B5EF4-FFF2-40B4-BE49-F238E27FC236}">
                <a16:creationId xmlns:a16="http://schemas.microsoft.com/office/drawing/2014/main" id="{6868B443-8FC1-FEE9-CFE0-7823D22B6895}"/>
              </a:ext>
            </a:extLst>
          </p:cNvPr>
          <p:cNvSpPr txBox="1">
            <a:spLocks/>
          </p:cNvSpPr>
          <p:nvPr/>
        </p:nvSpPr>
        <p:spPr>
          <a:xfrm>
            <a:off x="6164306" y="3031098"/>
            <a:ext cx="5238751"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Funktionen</a:t>
            </a:r>
          </a:p>
          <a:p>
            <a:r>
              <a:rPr lang="de-DE" sz="1800" dirty="0"/>
              <a:t>„Bestellungseingang prüfen “ </a:t>
            </a:r>
          </a:p>
          <a:p>
            <a:r>
              <a:rPr lang="de-DE" sz="1800" dirty="0"/>
              <a:t>„Rechnung erstellen“ </a:t>
            </a:r>
          </a:p>
          <a:p>
            <a:r>
              <a:rPr lang="de-DE" sz="1800" dirty="0"/>
              <a:t>„Zahlungseingang bestätigen “ </a:t>
            </a:r>
          </a:p>
          <a:p>
            <a:r>
              <a:rPr lang="de-DE" sz="1800" dirty="0"/>
              <a:t>„Lagerbestand prüfen“ </a:t>
            </a:r>
          </a:p>
          <a:p>
            <a:r>
              <a:rPr lang="de-DE" sz="1800" dirty="0"/>
              <a:t>„Antrag genehmigen“</a:t>
            </a:r>
          </a:p>
        </p:txBody>
      </p:sp>
      <p:sp>
        <p:nvSpPr>
          <p:cNvPr id="9" name="Rechteck 8">
            <a:extLst>
              <a:ext uri="{FF2B5EF4-FFF2-40B4-BE49-F238E27FC236}">
                <a16:creationId xmlns:a16="http://schemas.microsoft.com/office/drawing/2014/main" id="{CAED36CC-F5C8-0ECA-B01B-05DB95576BA5}"/>
              </a:ext>
            </a:extLst>
          </p:cNvPr>
          <p:cNvSpPr/>
          <p:nvPr/>
        </p:nvSpPr>
        <p:spPr>
          <a:xfrm>
            <a:off x="348093" y="1262005"/>
            <a:ext cx="1671207" cy="900000"/>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spTree>
    <p:extLst>
      <p:ext uri="{BB962C8B-B14F-4D97-AF65-F5344CB8AC3E}">
        <p14:creationId xmlns:p14="http://schemas.microsoft.com/office/powerpoint/2010/main" val="620927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A33B-7123-2FD1-9449-0C746F43F66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A34D90F-859B-5875-8920-B76F970BF060}"/>
              </a:ext>
            </a:extLst>
          </p:cNvPr>
          <p:cNvSpPr>
            <a:spLocks noGrp="1"/>
          </p:cNvSpPr>
          <p:nvPr>
            <p:ph type="title"/>
          </p:nvPr>
        </p:nvSpPr>
        <p:spPr/>
        <p:txBody>
          <a:bodyPr/>
          <a:lstStyle/>
          <a:p>
            <a:r>
              <a:rPr lang="de-DE" dirty="0"/>
              <a:t>Beispiel: Einfache Prozesse ohne Konnektoren</a:t>
            </a:r>
          </a:p>
        </p:txBody>
      </p:sp>
      <p:sp>
        <p:nvSpPr>
          <p:cNvPr id="3" name="Textplatzhalter 2">
            <a:extLst>
              <a:ext uri="{FF2B5EF4-FFF2-40B4-BE49-F238E27FC236}">
                <a16:creationId xmlns:a16="http://schemas.microsoft.com/office/drawing/2014/main" id="{01C8CE6B-8D0F-5316-A077-1885DFD4CA77}"/>
              </a:ext>
            </a:extLst>
          </p:cNvPr>
          <p:cNvSpPr>
            <a:spLocks noGrp="1"/>
          </p:cNvSpPr>
          <p:nvPr>
            <p:ph type="body" sz="quarter" idx="12"/>
          </p:nvPr>
        </p:nvSpPr>
        <p:spPr>
          <a:xfrm>
            <a:off x="471918" y="226057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de-DE" sz="1600" b="1" dirty="0">
                <a:solidFill>
                  <a:srgbClr val="012656"/>
                </a:solidFill>
              </a:rPr>
              <a:t>Ereignis</a:t>
            </a:r>
          </a:p>
        </p:txBody>
      </p:sp>
      <p:sp>
        <p:nvSpPr>
          <p:cNvPr id="4" name="Rechteck 3">
            <a:extLst>
              <a:ext uri="{FF2B5EF4-FFF2-40B4-BE49-F238E27FC236}">
                <a16:creationId xmlns:a16="http://schemas.microsoft.com/office/drawing/2014/main" id="{17C5A52A-70BC-09FB-7217-CBDB65B32C27}"/>
              </a:ext>
            </a:extLst>
          </p:cNvPr>
          <p:cNvSpPr/>
          <p:nvPr/>
        </p:nvSpPr>
        <p:spPr>
          <a:xfrm>
            <a:off x="471917" y="343442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 name="Textplatzhalter 2">
            <a:extLst>
              <a:ext uri="{FF2B5EF4-FFF2-40B4-BE49-F238E27FC236}">
                <a16:creationId xmlns:a16="http://schemas.microsoft.com/office/drawing/2014/main" id="{93506014-E8BC-AD02-7713-A82B2FF583D2}"/>
              </a:ext>
            </a:extLst>
          </p:cNvPr>
          <p:cNvSpPr txBox="1">
            <a:spLocks/>
          </p:cNvSpPr>
          <p:nvPr/>
        </p:nvSpPr>
        <p:spPr>
          <a:xfrm>
            <a:off x="471918" y="458692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6" name="Gerade Verbindung mit Pfeil 5">
            <a:extLst>
              <a:ext uri="{FF2B5EF4-FFF2-40B4-BE49-F238E27FC236}">
                <a16:creationId xmlns:a16="http://schemas.microsoft.com/office/drawing/2014/main" id="{6B4D8F27-F22B-0B9C-4313-8C98D0CC8B4E}"/>
              </a:ext>
            </a:extLst>
          </p:cNvPr>
          <p:cNvCxnSpPr>
            <a:cxnSpLocks/>
            <a:endCxn id="4" idx="0"/>
          </p:cNvCxnSpPr>
          <p:nvPr/>
        </p:nvCxnSpPr>
        <p:spPr>
          <a:xfrm>
            <a:off x="1100568" y="2862383"/>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4F26DD02-83A3-8F57-8192-CE34B99FFD35}"/>
              </a:ext>
            </a:extLst>
          </p:cNvPr>
          <p:cNvCxnSpPr>
            <a:cxnSpLocks/>
          </p:cNvCxnSpPr>
          <p:nvPr/>
        </p:nvCxnSpPr>
        <p:spPr>
          <a:xfrm>
            <a:off x="1100568" y="4041472"/>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2" name="Textplatzhalter 2">
            <a:extLst>
              <a:ext uri="{FF2B5EF4-FFF2-40B4-BE49-F238E27FC236}">
                <a16:creationId xmlns:a16="http://schemas.microsoft.com/office/drawing/2014/main" id="{49938E4A-6692-E94F-008C-7105DE64755B}"/>
              </a:ext>
            </a:extLst>
          </p:cNvPr>
          <p:cNvSpPr txBox="1">
            <a:spLocks/>
          </p:cNvSpPr>
          <p:nvPr/>
        </p:nvSpPr>
        <p:spPr>
          <a:xfrm>
            <a:off x="2442732" y="224594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Bestellung eingegangen</a:t>
            </a:r>
          </a:p>
        </p:txBody>
      </p:sp>
      <p:sp>
        <p:nvSpPr>
          <p:cNvPr id="13" name="Rechteck 12">
            <a:extLst>
              <a:ext uri="{FF2B5EF4-FFF2-40B4-BE49-F238E27FC236}">
                <a16:creationId xmlns:a16="http://schemas.microsoft.com/office/drawing/2014/main" id="{638F3BB2-E4E8-4C53-4266-F3209A7C7287}"/>
              </a:ext>
            </a:extLst>
          </p:cNvPr>
          <p:cNvSpPr/>
          <p:nvPr/>
        </p:nvSpPr>
        <p:spPr>
          <a:xfrm>
            <a:off x="2442731" y="341980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Bestellung </a:t>
            </a:r>
          </a:p>
          <a:p>
            <a:pPr algn="ctr"/>
            <a:r>
              <a:rPr lang="de-DE" sz="1100" b="1" dirty="0">
                <a:solidFill>
                  <a:srgbClr val="012656"/>
                </a:solidFill>
              </a:rPr>
              <a:t>prüfen</a:t>
            </a:r>
          </a:p>
        </p:txBody>
      </p:sp>
      <p:sp>
        <p:nvSpPr>
          <p:cNvPr id="15" name="Textplatzhalter 2">
            <a:extLst>
              <a:ext uri="{FF2B5EF4-FFF2-40B4-BE49-F238E27FC236}">
                <a16:creationId xmlns:a16="http://schemas.microsoft.com/office/drawing/2014/main" id="{5AF4AA11-F683-4BB0-2A79-348650CBE6FB}"/>
              </a:ext>
            </a:extLst>
          </p:cNvPr>
          <p:cNvSpPr txBox="1">
            <a:spLocks/>
          </p:cNvSpPr>
          <p:nvPr/>
        </p:nvSpPr>
        <p:spPr>
          <a:xfrm>
            <a:off x="2442732" y="4572303"/>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Bestellung ist geprüft</a:t>
            </a:r>
          </a:p>
        </p:txBody>
      </p:sp>
      <p:cxnSp>
        <p:nvCxnSpPr>
          <p:cNvPr id="17" name="Gerade Verbindung mit Pfeil 16">
            <a:extLst>
              <a:ext uri="{FF2B5EF4-FFF2-40B4-BE49-F238E27FC236}">
                <a16:creationId xmlns:a16="http://schemas.microsoft.com/office/drawing/2014/main" id="{18899BC7-3233-4428-1A93-6D314039FF5B}"/>
              </a:ext>
            </a:extLst>
          </p:cNvPr>
          <p:cNvCxnSpPr>
            <a:cxnSpLocks/>
            <a:endCxn id="13" idx="0"/>
          </p:cNvCxnSpPr>
          <p:nvPr/>
        </p:nvCxnSpPr>
        <p:spPr>
          <a:xfrm>
            <a:off x="3071382" y="2847758"/>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F99939B8-B63F-F14B-F516-39C0AF538497}"/>
              </a:ext>
            </a:extLst>
          </p:cNvPr>
          <p:cNvCxnSpPr>
            <a:cxnSpLocks/>
          </p:cNvCxnSpPr>
          <p:nvPr/>
        </p:nvCxnSpPr>
        <p:spPr>
          <a:xfrm>
            <a:off x="3071382" y="4026847"/>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5" name="Textplatzhalter 2">
            <a:extLst>
              <a:ext uri="{FF2B5EF4-FFF2-40B4-BE49-F238E27FC236}">
                <a16:creationId xmlns:a16="http://schemas.microsoft.com/office/drawing/2014/main" id="{E0EB0535-BCD8-520A-7C4F-6D9C91512A9D}"/>
              </a:ext>
            </a:extLst>
          </p:cNvPr>
          <p:cNvSpPr txBox="1">
            <a:spLocks/>
          </p:cNvSpPr>
          <p:nvPr/>
        </p:nvSpPr>
        <p:spPr>
          <a:xfrm>
            <a:off x="6521159" y="119654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Bestellung eingegangen</a:t>
            </a:r>
          </a:p>
        </p:txBody>
      </p:sp>
      <p:sp>
        <p:nvSpPr>
          <p:cNvPr id="32" name="Rechteck 31">
            <a:extLst>
              <a:ext uri="{FF2B5EF4-FFF2-40B4-BE49-F238E27FC236}">
                <a16:creationId xmlns:a16="http://schemas.microsoft.com/office/drawing/2014/main" id="{7047D716-2A0D-7F43-AED3-E5B5B1F97499}"/>
              </a:ext>
            </a:extLst>
          </p:cNvPr>
          <p:cNvSpPr/>
          <p:nvPr/>
        </p:nvSpPr>
        <p:spPr>
          <a:xfrm>
            <a:off x="6521158" y="2347575"/>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Bestellung </a:t>
            </a:r>
          </a:p>
          <a:p>
            <a:pPr algn="ctr"/>
            <a:r>
              <a:rPr lang="de-DE" sz="1100" b="1" dirty="0">
                <a:solidFill>
                  <a:srgbClr val="012656"/>
                </a:solidFill>
              </a:rPr>
              <a:t>prüfen</a:t>
            </a:r>
          </a:p>
        </p:txBody>
      </p:sp>
      <p:sp>
        <p:nvSpPr>
          <p:cNvPr id="33" name="Textplatzhalter 2">
            <a:extLst>
              <a:ext uri="{FF2B5EF4-FFF2-40B4-BE49-F238E27FC236}">
                <a16:creationId xmlns:a16="http://schemas.microsoft.com/office/drawing/2014/main" id="{2A8AFB6B-BE6B-2F44-4B5B-4E277054A300}"/>
              </a:ext>
            </a:extLst>
          </p:cNvPr>
          <p:cNvSpPr txBox="1">
            <a:spLocks/>
          </p:cNvSpPr>
          <p:nvPr/>
        </p:nvSpPr>
        <p:spPr>
          <a:xfrm>
            <a:off x="6521159" y="352717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Bestellung geprüft</a:t>
            </a:r>
          </a:p>
        </p:txBody>
      </p:sp>
      <p:cxnSp>
        <p:nvCxnSpPr>
          <p:cNvPr id="34" name="Gerade Verbindung mit Pfeil 33">
            <a:extLst>
              <a:ext uri="{FF2B5EF4-FFF2-40B4-BE49-F238E27FC236}">
                <a16:creationId xmlns:a16="http://schemas.microsoft.com/office/drawing/2014/main" id="{6FB3EC32-4459-8264-A539-13556489DE76}"/>
              </a:ext>
            </a:extLst>
          </p:cNvPr>
          <p:cNvCxnSpPr>
            <a:cxnSpLocks/>
          </p:cNvCxnSpPr>
          <p:nvPr/>
        </p:nvCxnSpPr>
        <p:spPr>
          <a:xfrm>
            <a:off x="7149809" y="1817410"/>
            <a:ext cx="0" cy="520640"/>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6561991E-B4F7-C686-8F19-F6060750317B}"/>
              </a:ext>
            </a:extLst>
          </p:cNvPr>
          <p:cNvCxnSpPr>
            <a:cxnSpLocks/>
          </p:cNvCxnSpPr>
          <p:nvPr/>
        </p:nvCxnSpPr>
        <p:spPr>
          <a:xfrm>
            <a:off x="7149809" y="2958399"/>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6" name="Rechteck 35">
            <a:extLst>
              <a:ext uri="{FF2B5EF4-FFF2-40B4-BE49-F238E27FC236}">
                <a16:creationId xmlns:a16="http://schemas.microsoft.com/office/drawing/2014/main" id="{C2AA04D1-5A7F-DE53-4E1E-3C8DAD2AFACE}"/>
              </a:ext>
            </a:extLst>
          </p:cNvPr>
          <p:cNvSpPr/>
          <p:nvPr/>
        </p:nvSpPr>
        <p:spPr>
          <a:xfrm>
            <a:off x="6521158" y="467820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Zahlung </a:t>
            </a:r>
            <a:br>
              <a:rPr lang="de-DE" sz="1100" b="1" dirty="0">
                <a:solidFill>
                  <a:srgbClr val="012656"/>
                </a:solidFill>
              </a:rPr>
            </a:br>
            <a:r>
              <a:rPr lang="de-DE" sz="1100" b="1" dirty="0">
                <a:solidFill>
                  <a:srgbClr val="012656"/>
                </a:solidFill>
              </a:rPr>
              <a:t>freigeben</a:t>
            </a:r>
          </a:p>
        </p:txBody>
      </p:sp>
      <p:cxnSp>
        <p:nvCxnSpPr>
          <p:cNvPr id="38" name="Gerade Verbindung mit Pfeil 37">
            <a:extLst>
              <a:ext uri="{FF2B5EF4-FFF2-40B4-BE49-F238E27FC236}">
                <a16:creationId xmlns:a16="http://schemas.microsoft.com/office/drawing/2014/main" id="{A03DE7F9-F5CF-3DB3-1F72-C249DC24B5F1}"/>
              </a:ext>
            </a:extLst>
          </p:cNvPr>
          <p:cNvCxnSpPr>
            <a:cxnSpLocks/>
          </p:cNvCxnSpPr>
          <p:nvPr/>
        </p:nvCxnSpPr>
        <p:spPr>
          <a:xfrm>
            <a:off x="7149809" y="4144825"/>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D4FEB353-C60D-43AE-1A8E-950E6C32A3B3}"/>
              </a:ext>
            </a:extLst>
          </p:cNvPr>
          <p:cNvCxnSpPr>
            <a:cxnSpLocks/>
          </p:cNvCxnSpPr>
          <p:nvPr/>
        </p:nvCxnSpPr>
        <p:spPr>
          <a:xfrm>
            <a:off x="7149809" y="5247662"/>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0" name="Textplatzhalter 2">
            <a:extLst>
              <a:ext uri="{FF2B5EF4-FFF2-40B4-BE49-F238E27FC236}">
                <a16:creationId xmlns:a16="http://schemas.microsoft.com/office/drawing/2014/main" id="{2FEBDB1E-F433-BB18-4615-9FE5C08B18F0}"/>
              </a:ext>
            </a:extLst>
          </p:cNvPr>
          <p:cNvSpPr txBox="1">
            <a:spLocks/>
          </p:cNvSpPr>
          <p:nvPr/>
        </p:nvSpPr>
        <p:spPr>
          <a:xfrm>
            <a:off x="4413543" y="224594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Termin angefragt</a:t>
            </a:r>
          </a:p>
        </p:txBody>
      </p:sp>
      <p:sp>
        <p:nvSpPr>
          <p:cNvPr id="41" name="Rechteck 40">
            <a:extLst>
              <a:ext uri="{FF2B5EF4-FFF2-40B4-BE49-F238E27FC236}">
                <a16:creationId xmlns:a16="http://schemas.microsoft.com/office/drawing/2014/main" id="{5CB3B6F5-E50C-DE29-BCA2-C97937A48D2F}"/>
              </a:ext>
            </a:extLst>
          </p:cNvPr>
          <p:cNvSpPr/>
          <p:nvPr/>
        </p:nvSpPr>
        <p:spPr>
          <a:xfrm>
            <a:off x="4413542" y="341980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Termin </a:t>
            </a:r>
          </a:p>
          <a:p>
            <a:pPr algn="ctr"/>
            <a:r>
              <a:rPr lang="de-DE" sz="1100" b="1" dirty="0">
                <a:solidFill>
                  <a:srgbClr val="012656"/>
                </a:solidFill>
              </a:rPr>
              <a:t>bestätigen</a:t>
            </a:r>
          </a:p>
        </p:txBody>
      </p:sp>
      <p:sp>
        <p:nvSpPr>
          <p:cNvPr id="42" name="Textplatzhalter 2">
            <a:extLst>
              <a:ext uri="{FF2B5EF4-FFF2-40B4-BE49-F238E27FC236}">
                <a16:creationId xmlns:a16="http://schemas.microsoft.com/office/drawing/2014/main" id="{594544D4-DC7B-CDEB-38E4-784E4CD9F4EB}"/>
              </a:ext>
            </a:extLst>
          </p:cNvPr>
          <p:cNvSpPr txBox="1">
            <a:spLocks/>
          </p:cNvSpPr>
          <p:nvPr/>
        </p:nvSpPr>
        <p:spPr>
          <a:xfrm>
            <a:off x="4413543" y="4572303"/>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Termin bestätigt</a:t>
            </a:r>
          </a:p>
        </p:txBody>
      </p:sp>
      <p:cxnSp>
        <p:nvCxnSpPr>
          <p:cNvPr id="43" name="Gerade Verbindung mit Pfeil 42">
            <a:extLst>
              <a:ext uri="{FF2B5EF4-FFF2-40B4-BE49-F238E27FC236}">
                <a16:creationId xmlns:a16="http://schemas.microsoft.com/office/drawing/2014/main" id="{7F47AF0E-1C67-6DD8-B423-1D923E0B2B36}"/>
              </a:ext>
            </a:extLst>
          </p:cNvPr>
          <p:cNvCxnSpPr>
            <a:cxnSpLocks/>
            <a:endCxn id="41" idx="0"/>
          </p:cNvCxnSpPr>
          <p:nvPr/>
        </p:nvCxnSpPr>
        <p:spPr>
          <a:xfrm>
            <a:off x="5042193" y="2847758"/>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6140B024-9AE4-3575-4E20-6014A0315078}"/>
              </a:ext>
            </a:extLst>
          </p:cNvPr>
          <p:cNvCxnSpPr>
            <a:cxnSpLocks/>
          </p:cNvCxnSpPr>
          <p:nvPr/>
        </p:nvCxnSpPr>
        <p:spPr>
          <a:xfrm>
            <a:off x="5042193" y="4026847"/>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5" name="Textplatzhalter 2">
            <a:extLst>
              <a:ext uri="{FF2B5EF4-FFF2-40B4-BE49-F238E27FC236}">
                <a16:creationId xmlns:a16="http://schemas.microsoft.com/office/drawing/2014/main" id="{7650518C-D5DE-6E70-D861-0D0B209EEECD}"/>
              </a:ext>
            </a:extLst>
          </p:cNvPr>
          <p:cNvSpPr txBox="1">
            <a:spLocks/>
          </p:cNvSpPr>
          <p:nvPr/>
        </p:nvSpPr>
        <p:spPr>
          <a:xfrm>
            <a:off x="6521159" y="581603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Zahlung ist freigegeben</a:t>
            </a:r>
          </a:p>
        </p:txBody>
      </p:sp>
      <p:sp>
        <p:nvSpPr>
          <p:cNvPr id="46" name="Textplatzhalter 2">
            <a:extLst>
              <a:ext uri="{FF2B5EF4-FFF2-40B4-BE49-F238E27FC236}">
                <a16:creationId xmlns:a16="http://schemas.microsoft.com/office/drawing/2014/main" id="{C296D732-5B09-6907-7DE8-82BC68ACF5DE}"/>
              </a:ext>
            </a:extLst>
          </p:cNvPr>
          <p:cNvSpPr txBox="1">
            <a:spLocks/>
          </p:cNvSpPr>
          <p:nvPr/>
        </p:nvSpPr>
        <p:spPr>
          <a:xfrm>
            <a:off x="8311859" y="119654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Zahlung eingegangen</a:t>
            </a:r>
          </a:p>
        </p:txBody>
      </p:sp>
      <p:sp>
        <p:nvSpPr>
          <p:cNvPr id="47" name="Rechteck 46">
            <a:extLst>
              <a:ext uri="{FF2B5EF4-FFF2-40B4-BE49-F238E27FC236}">
                <a16:creationId xmlns:a16="http://schemas.microsoft.com/office/drawing/2014/main" id="{10A83D6C-4B6C-F37B-882A-EA539D6C550F}"/>
              </a:ext>
            </a:extLst>
          </p:cNvPr>
          <p:cNvSpPr/>
          <p:nvPr/>
        </p:nvSpPr>
        <p:spPr>
          <a:xfrm>
            <a:off x="8311858" y="2347575"/>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Zahlung prüfen</a:t>
            </a:r>
          </a:p>
        </p:txBody>
      </p:sp>
      <p:sp>
        <p:nvSpPr>
          <p:cNvPr id="48" name="Textplatzhalter 2">
            <a:extLst>
              <a:ext uri="{FF2B5EF4-FFF2-40B4-BE49-F238E27FC236}">
                <a16:creationId xmlns:a16="http://schemas.microsoft.com/office/drawing/2014/main" id="{BCC9A08F-36AE-695C-DF0E-A92CFA5129B8}"/>
              </a:ext>
            </a:extLst>
          </p:cNvPr>
          <p:cNvSpPr txBox="1">
            <a:spLocks/>
          </p:cNvSpPr>
          <p:nvPr/>
        </p:nvSpPr>
        <p:spPr>
          <a:xfrm>
            <a:off x="8311859" y="352717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Zahlung ist geprüft</a:t>
            </a:r>
          </a:p>
        </p:txBody>
      </p:sp>
      <p:cxnSp>
        <p:nvCxnSpPr>
          <p:cNvPr id="49" name="Gerade Verbindung mit Pfeil 48">
            <a:extLst>
              <a:ext uri="{FF2B5EF4-FFF2-40B4-BE49-F238E27FC236}">
                <a16:creationId xmlns:a16="http://schemas.microsoft.com/office/drawing/2014/main" id="{FCC358D7-13CB-F493-2512-241D008D0D55}"/>
              </a:ext>
            </a:extLst>
          </p:cNvPr>
          <p:cNvCxnSpPr>
            <a:cxnSpLocks/>
          </p:cNvCxnSpPr>
          <p:nvPr/>
        </p:nvCxnSpPr>
        <p:spPr>
          <a:xfrm>
            <a:off x="8940509" y="1817410"/>
            <a:ext cx="0" cy="520640"/>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50" name="Gerade Verbindung mit Pfeil 49">
            <a:extLst>
              <a:ext uri="{FF2B5EF4-FFF2-40B4-BE49-F238E27FC236}">
                <a16:creationId xmlns:a16="http://schemas.microsoft.com/office/drawing/2014/main" id="{A07F5023-81E9-85F2-9A30-B2DA0423F292}"/>
              </a:ext>
            </a:extLst>
          </p:cNvPr>
          <p:cNvCxnSpPr>
            <a:cxnSpLocks/>
          </p:cNvCxnSpPr>
          <p:nvPr/>
        </p:nvCxnSpPr>
        <p:spPr>
          <a:xfrm>
            <a:off x="8940509" y="2958399"/>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51" name="Rechteck 50">
            <a:extLst>
              <a:ext uri="{FF2B5EF4-FFF2-40B4-BE49-F238E27FC236}">
                <a16:creationId xmlns:a16="http://schemas.microsoft.com/office/drawing/2014/main" id="{B182FBD6-4571-875A-164A-9750E80C73CA}"/>
              </a:ext>
            </a:extLst>
          </p:cNvPr>
          <p:cNvSpPr/>
          <p:nvPr/>
        </p:nvSpPr>
        <p:spPr>
          <a:xfrm>
            <a:off x="8311858" y="467820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100" b="1" dirty="0">
                <a:solidFill>
                  <a:srgbClr val="012656"/>
                </a:solidFill>
              </a:rPr>
              <a:t>Versand freigeben</a:t>
            </a:r>
          </a:p>
        </p:txBody>
      </p:sp>
      <p:cxnSp>
        <p:nvCxnSpPr>
          <p:cNvPr id="52" name="Gerade Verbindung mit Pfeil 51">
            <a:extLst>
              <a:ext uri="{FF2B5EF4-FFF2-40B4-BE49-F238E27FC236}">
                <a16:creationId xmlns:a16="http://schemas.microsoft.com/office/drawing/2014/main" id="{ADD66CCE-67BC-C6C1-54B5-591219545E08}"/>
              </a:ext>
            </a:extLst>
          </p:cNvPr>
          <p:cNvCxnSpPr>
            <a:cxnSpLocks/>
          </p:cNvCxnSpPr>
          <p:nvPr/>
        </p:nvCxnSpPr>
        <p:spPr>
          <a:xfrm>
            <a:off x="8940509" y="4144825"/>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53" name="Gerade Verbindung mit Pfeil 52">
            <a:extLst>
              <a:ext uri="{FF2B5EF4-FFF2-40B4-BE49-F238E27FC236}">
                <a16:creationId xmlns:a16="http://schemas.microsoft.com/office/drawing/2014/main" id="{CF88F9AE-BD43-57EF-7B00-B82729A1B3B9}"/>
              </a:ext>
            </a:extLst>
          </p:cNvPr>
          <p:cNvCxnSpPr>
            <a:cxnSpLocks/>
          </p:cNvCxnSpPr>
          <p:nvPr/>
        </p:nvCxnSpPr>
        <p:spPr>
          <a:xfrm>
            <a:off x="8940509" y="5247662"/>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54" name="Textplatzhalter 2">
            <a:extLst>
              <a:ext uri="{FF2B5EF4-FFF2-40B4-BE49-F238E27FC236}">
                <a16:creationId xmlns:a16="http://schemas.microsoft.com/office/drawing/2014/main" id="{46C7ECDF-51A7-9C9C-AC33-82A25484F187}"/>
              </a:ext>
            </a:extLst>
          </p:cNvPr>
          <p:cNvSpPr txBox="1">
            <a:spLocks/>
          </p:cNvSpPr>
          <p:nvPr/>
        </p:nvSpPr>
        <p:spPr>
          <a:xfrm>
            <a:off x="8311859" y="581603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Versand ist freigegeben</a:t>
            </a:r>
          </a:p>
        </p:txBody>
      </p:sp>
    </p:spTree>
    <p:extLst>
      <p:ext uri="{BB962C8B-B14F-4D97-AF65-F5344CB8AC3E}">
        <p14:creationId xmlns:p14="http://schemas.microsoft.com/office/powerpoint/2010/main" val="1193284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8534-C1C4-E672-1342-4F9E2C5DA061}"/>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2EA87D8A-3BEB-CB83-D58A-9961C8B10171}"/>
              </a:ext>
            </a:extLst>
          </p:cNvPr>
          <p:cNvSpPr>
            <a:spLocks noGrp="1"/>
          </p:cNvSpPr>
          <p:nvPr>
            <p:ph type="title"/>
          </p:nvPr>
        </p:nvSpPr>
        <p:spPr/>
        <p:txBody>
          <a:bodyPr/>
          <a:lstStyle/>
          <a:p>
            <a:r>
              <a:rPr lang="de-DE" dirty="0" err="1"/>
              <a:t>Sprachkonstrukte</a:t>
            </a:r>
            <a:r>
              <a:rPr lang="de-DE" dirty="0"/>
              <a:t>: Konnektoren</a:t>
            </a:r>
          </a:p>
        </p:txBody>
      </p:sp>
      <p:sp>
        <p:nvSpPr>
          <p:cNvPr id="6" name="Textplatzhalter 5">
            <a:extLst>
              <a:ext uri="{FF2B5EF4-FFF2-40B4-BE49-F238E27FC236}">
                <a16:creationId xmlns:a16="http://schemas.microsoft.com/office/drawing/2014/main" id="{DCB7BDA8-8EAB-C4F8-57FC-35F313DFC777}"/>
              </a:ext>
            </a:extLst>
          </p:cNvPr>
          <p:cNvSpPr>
            <a:spLocks noGrp="1"/>
          </p:cNvSpPr>
          <p:nvPr>
            <p:ph type="body" sz="quarter" idx="12"/>
          </p:nvPr>
        </p:nvSpPr>
        <p:spPr>
          <a:xfrm>
            <a:off x="246028" y="1386001"/>
            <a:ext cx="10174322" cy="997978"/>
          </a:xfrm>
        </p:spPr>
        <p:txBody>
          <a:bodyPr/>
          <a:lstStyle/>
          <a:p>
            <a:pPr marL="0" indent="0">
              <a:buNone/>
            </a:pPr>
            <a:r>
              <a:rPr lang="de-DE" sz="1800" dirty="0"/>
              <a:t>Ein Konnektor legt fest, wie der Kontrollfluss in einem Prozess verzweigt oder zusammengeführt wird. EPK kennt 3 Konnektoren. </a:t>
            </a:r>
            <a:r>
              <a:rPr lang="de-DE" sz="1800" b="1" dirty="0"/>
              <a:t>Zum Einsatz kommen meist nur UND sowie XOR-Konnektoren</a:t>
            </a:r>
          </a:p>
          <a:p>
            <a:pPr marL="0" indent="0">
              <a:lnSpc>
                <a:spcPct val="150000"/>
              </a:lnSpc>
              <a:buNone/>
            </a:pPr>
            <a:br>
              <a:rPr lang="de-DE" sz="1800" dirty="0"/>
            </a:br>
            <a:endParaRPr lang="de-DE" sz="1800" dirty="0"/>
          </a:p>
        </p:txBody>
      </p:sp>
      <p:sp>
        <p:nvSpPr>
          <p:cNvPr id="10" name="Textfeld 9">
            <a:extLst>
              <a:ext uri="{FF2B5EF4-FFF2-40B4-BE49-F238E27FC236}">
                <a16:creationId xmlns:a16="http://schemas.microsoft.com/office/drawing/2014/main" id="{F0CF328C-FAAB-624F-C74F-1ECD28E59001}"/>
              </a:ext>
            </a:extLst>
          </p:cNvPr>
          <p:cNvSpPr txBox="1"/>
          <p:nvPr/>
        </p:nvSpPr>
        <p:spPr>
          <a:xfrm>
            <a:off x="1859595" y="3656931"/>
            <a:ext cx="1872629" cy="400110"/>
          </a:xfrm>
          <a:prstGeom prst="rect">
            <a:avLst/>
          </a:prstGeom>
          <a:noFill/>
        </p:spPr>
        <p:txBody>
          <a:bodyPr wrap="none" rtlCol="0">
            <a:spAutoFit/>
          </a:bodyPr>
          <a:lstStyle/>
          <a:p>
            <a:pPr algn="ctr"/>
            <a:r>
              <a:rPr lang="de-DE" sz="2000" b="1" dirty="0">
                <a:solidFill>
                  <a:srgbClr val="FF9600"/>
                </a:solidFill>
              </a:rPr>
              <a:t>UND</a:t>
            </a:r>
            <a:r>
              <a:rPr lang="de-DE" sz="2000" dirty="0"/>
              <a:t> Konnektor</a:t>
            </a:r>
          </a:p>
        </p:txBody>
      </p:sp>
      <p:sp>
        <p:nvSpPr>
          <p:cNvPr id="78" name="Textfeld 77">
            <a:extLst>
              <a:ext uri="{FF2B5EF4-FFF2-40B4-BE49-F238E27FC236}">
                <a16:creationId xmlns:a16="http://schemas.microsoft.com/office/drawing/2014/main" id="{9447DB32-B948-BBD1-089C-929AB725FBDA}"/>
              </a:ext>
            </a:extLst>
          </p:cNvPr>
          <p:cNvSpPr txBox="1"/>
          <p:nvPr/>
        </p:nvSpPr>
        <p:spPr>
          <a:xfrm>
            <a:off x="4526595" y="3656931"/>
            <a:ext cx="1834156" cy="400110"/>
          </a:xfrm>
          <a:prstGeom prst="rect">
            <a:avLst/>
          </a:prstGeom>
          <a:noFill/>
        </p:spPr>
        <p:txBody>
          <a:bodyPr wrap="none" rtlCol="0">
            <a:spAutoFit/>
          </a:bodyPr>
          <a:lstStyle/>
          <a:p>
            <a:pPr algn="ctr"/>
            <a:r>
              <a:rPr lang="de-DE" sz="2000" b="1" dirty="0">
                <a:solidFill>
                  <a:srgbClr val="FF9600"/>
                </a:solidFill>
              </a:rPr>
              <a:t>XOR</a:t>
            </a:r>
            <a:r>
              <a:rPr lang="de-DE" sz="2000" dirty="0"/>
              <a:t> Konnektor</a:t>
            </a:r>
          </a:p>
        </p:txBody>
      </p:sp>
      <p:sp>
        <p:nvSpPr>
          <p:cNvPr id="80" name="Ellipse 79">
            <a:extLst>
              <a:ext uri="{FF2B5EF4-FFF2-40B4-BE49-F238E27FC236}">
                <a16:creationId xmlns:a16="http://schemas.microsoft.com/office/drawing/2014/main" id="{B5D7C4D5-5C95-454C-2BBB-96D3231FA63C}"/>
              </a:ext>
            </a:extLst>
          </p:cNvPr>
          <p:cNvSpPr/>
          <p:nvPr/>
        </p:nvSpPr>
        <p:spPr>
          <a:xfrm>
            <a:off x="5153483" y="3100436"/>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81" name="Textfeld 80">
            <a:extLst>
              <a:ext uri="{FF2B5EF4-FFF2-40B4-BE49-F238E27FC236}">
                <a16:creationId xmlns:a16="http://schemas.microsoft.com/office/drawing/2014/main" id="{4409447B-D929-DB47-82E1-73C20BE51CEF}"/>
              </a:ext>
            </a:extLst>
          </p:cNvPr>
          <p:cNvSpPr txBox="1"/>
          <p:nvPr/>
        </p:nvSpPr>
        <p:spPr>
          <a:xfrm>
            <a:off x="7271746" y="3656931"/>
            <a:ext cx="1688283" cy="400110"/>
          </a:xfrm>
          <a:prstGeom prst="rect">
            <a:avLst/>
          </a:prstGeom>
          <a:noFill/>
        </p:spPr>
        <p:txBody>
          <a:bodyPr wrap="none" rtlCol="0">
            <a:spAutoFit/>
          </a:bodyPr>
          <a:lstStyle/>
          <a:p>
            <a:pPr algn="ctr"/>
            <a:r>
              <a:rPr lang="de-DE" sz="2000" b="1" dirty="0">
                <a:solidFill>
                  <a:srgbClr val="FF9600"/>
                </a:solidFill>
              </a:rPr>
              <a:t>OR</a:t>
            </a:r>
            <a:r>
              <a:rPr lang="de-DE" sz="2000" dirty="0"/>
              <a:t> Konnektor</a:t>
            </a:r>
          </a:p>
        </p:txBody>
      </p:sp>
      <p:sp>
        <p:nvSpPr>
          <p:cNvPr id="84" name="Ellipse 83">
            <a:extLst>
              <a:ext uri="{FF2B5EF4-FFF2-40B4-BE49-F238E27FC236}">
                <a16:creationId xmlns:a16="http://schemas.microsoft.com/office/drawing/2014/main" id="{40187C98-4340-1165-CA04-4454619A0EF3}"/>
              </a:ext>
            </a:extLst>
          </p:cNvPr>
          <p:cNvSpPr/>
          <p:nvPr/>
        </p:nvSpPr>
        <p:spPr>
          <a:xfrm>
            <a:off x="7801246" y="3100436"/>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85" name="Ellipse 84">
            <a:extLst>
              <a:ext uri="{FF2B5EF4-FFF2-40B4-BE49-F238E27FC236}">
                <a16:creationId xmlns:a16="http://schemas.microsoft.com/office/drawing/2014/main" id="{14B7EF75-FF9B-2062-CCE1-AFAF245355D5}"/>
              </a:ext>
            </a:extLst>
          </p:cNvPr>
          <p:cNvSpPr/>
          <p:nvPr/>
        </p:nvSpPr>
        <p:spPr>
          <a:xfrm flipV="1">
            <a:off x="2490850" y="3100436"/>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87" name="Textfeld 86">
            <a:extLst>
              <a:ext uri="{FF2B5EF4-FFF2-40B4-BE49-F238E27FC236}">
                <a16:creationId xmlns:a16="http://schemas.microsoft.com/office/drawing/2014/main" id="{9E0D3164-0C2C-09E1-3645-A3FD4A0B502E}"/>
              </a:ext>
            </a:extLst>
          </p:cNvPr>
          <p:cNvSpPr txBox="1"/>
          <p:nvPr/>
        </p:nvSpPr>
        <p:spPr>
          <a:xfrm>
            <a:off x="1950719" y="3998942"/>
            <a:ext cx="1605181" cy="338554"/>
          </a:xfrm>
          <a:prstGeom prst="rect">
            <a:avLst/>
          </a:prstGeom>
          <a:noFill/>
        </p:spPr>
        <p:txBody>
          <a:bodyPr wrap="square">
            <a:spAutoFit/>
          </a:bodyPr>
          <a:lstStyle/>
          <a:p>
            <a:pPr algn="ctr"/>
            <a:r>
              <a:rPr lang="de-DE" sz="1600" dirty="0"/>
              <a:t>(ALLE)</a:t>
            </a:r>
            <a:endParaRPr lang="de-DE" sz="1400" dirty="0"/>
          </a:p>
        </p:txBody>
      </p:sp>
      <p:sp>
        <p:nvSpPr>
          <p:cNvPr id="88" name="Textfeld 87">
            <a:extLst>
              <a:ext uri="{FF2B5EF4-FFF2-40B4-BE49-F238E27FC236}">
                <a16:creationId xmlns:a16="http://schemas.microsoft.com/office/drawing/2014/main" id="{28F1FE7F-FCC4-62D7-482C-6B8712B0DABD}"/>
              </a:ext>
            </a:extLst>
          </p:cNvPr>
          <p:cNvSpPr txBox="1"/>
          <p:nvPr/>
        </p:nvSpPr>
        <p:spPr>
          <a:xfrm>
            <a:off x="4643219" y="3998942"/>
            <a:ext cx="1605181" cy="338554"/>
          </a:xfrm>
          <a:prstGeom prst="rect">
            <a:avLst/>
          </a:prstGeom>
          <a:noFill/>
        </p:spPr>
        <p:txBody>
          <a:bodyPr wrap="square">
            <a:spAutoFit/>
          </a:bodyPr>
          <a:lstStyle/>
          <a:p>
            <a:pPr algn="ctr"/>
            <a:r>
              <a:rPr lang="de-DE" sz="1600" dirty="0"/>
              <a:t>(Genau 1)</a:t>
            </a:r>
            <a:endParaRPr lang="de-DE" sz="1400" dirty="0"/>
          </a:p>
        </p:txBody>
      </p:sp>
      <p:sp>
        <p:nvSpPr>
          <p:cNvPr id="89" name="Textfeld 88">
            <a:extLst>
              <a:ext uri="{FF2B5EF4-FFF2-40B4-BE49-F238E27FC236}">
                <a16:creationId xmlns:a16="http://schemas.microsoft.com/office/drawing/2014/main" id="{B048CFC1-AA7B-0F0A-D437-502E31B80A5B}"/>
              </a:ext>
            </a:extLst>
          </p:cNvPr>
          <p:cNvSpPr txBox="1"/>
          <p:nvPr/>
        </p:nvSpPr>
        <p:spPr>
          <a:xfrm>
            <a:off x="7376160" y="3998942"/>
            <a:ext cx="1485900" cy="338554"/>
          </a:xfrm>
          <a:prstGeom prst="rect">
            <a:avLst/>
          </a:prstGeom>
          <a:noFill/>
        </p:spPr>
        <p:txBody>
          <a:bodyPr wrap="square">
            <a:spAutoFit/>
          </a:bodyPr>
          <a:lstStyle/>
          <a:p>
            <a:pPr algn="ctr"/>
            <a:r>
              <a:rPr lang="de-DE" sz="1600" dirty="0"/>
              <a:t>(Mind. 1)</a:t>
            </a:r>
            <a:endParaRPr lang="de-DE" sz="1400" dirty="0"/>
          </a:p>
        </p:txBody>
      </p:sp>
    </p:spTree>
    <p:extLst>
      <p:ext uri="{BB962C8B-B14F-4D97-AF65-F5344CB8AC3E}">
        <p14:creationId xmlns:p14="http://schemas.microsoft.com/office/powerpoint/2010/main" val="3490927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F10F-B23D-77CB-22E6-D125406DC075}"/>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51641E3-6689-8448-02F0-4FF7F07D8B95}"/>
              </a:ext>
            </a:extLst>
          </p:cNvPr>
          <p:cNvSpPr>
            <a:spLocks noGrp="1"/>
          </p:cNvSpPr>
          <p:nvPr>
            <p:ph type="title"/>
          </p:nvPr>
        </p:nvSpPr>
        <p:spPr/>
        <p:txBody>
          <a:bodyPr/>
          <a:lstStyle/>
          <a:p>
            <a:r>
              <a:rPr lang="de-DE" dirty="0" err="1"/>
              <a:t>Sprachkonstrukte</a:t>
            </a:r>
            <a:r>
              <a:rPr lang="de-DE" dirty="0"/>
              <a:t>: UND</a:t>
            </a:r>
          </a:p>
        </p:txBody>
      </p:sp>
      <p:sp>
        <p:nvSpPr>
          <p:cNvPr id="6" name="Textplatzhalter 5">
            <a:extLst>
              <a:ext uri="{FF2B5EF4-FFF2-40B4-BE49-F238E27FC236}">
                <a16:creationId xmlns:a16="http://schemas.microsoft.com/office/drawing/2014/main" id="{09C80578-FC24-3F3C-5085-DA37AE7E6453}"/>
              </a:ext>
            </a:extLst>
          </p:cNvPr>
          <p:cNvSpPr>
            <a:spLocks noGrp="1"/>
          </p:cNvSpPr>
          <p:nvPr>
            <p:ph type="body" sz="quarter" idx="12"/>
          </p:nvPr>
        </p:nvSpPr>
        <p:spPr>
          <a:xfrm>
            <a:off x="2705100" y="1288022"/>
            <a:ext cx="9020175" cy="2140977"/>
          </a:xfrm>
        </p:spPr>
        <p:txBody>
          <a:bodyPr/>
          <a:lstStyle/>
          <a:p>
            <a:pPr marL="0" indent="0">
              <a:buNone/>
            </a:pPr>
            <a:r>
              <a:rPr lang="de-DE" sz="1800" dirty="0"/>
              <a:t>Bei einem </a:t>
            </a:r>
            <a:r>
              <a:rPr lang="de-DE" sz="1800" b="1" dirty="0"/>
              <a:t>UND-Split-Konnektor</a:t>
            </a:r>
            <a:r>
              <a:rPr lang="de-DE" sz="1800" dirty="0"/>
              <a:t> wird der Kontrollfluss in mehreren Abläufen aufgeteilt. Alle Zweige werden durchgeführt. Bei einem </a:t>
            </a:r>
            <a:r>
              <a:rPr lang="de-DE" sz="1800" b="1" dirty="0"/>
              <a:t>UND-</a:t>
            </a:r>
            <a:r>
              <a:rPr lang="de-DE" sz="1800" b="1" dirty="0" err="1"/>
              <a:t>Join</a:t>
            </a:r>
            <a:r>
              <a:rPr lang="de-DE" sz="1800" b="1" dirty="0"/>
              <a:t>-</a:t>
            </a:r>
            <a:r>
              <a:rPr lang="de-DE" sz="1800" b="1" dirty="0" err="1"/>
              <a:t>Konnector</a:t>
            </a:r>
            <a:r>
              <a:rPr lang="de-DE" sz="1800" b="1" dirty="0"/>
              <a:t> </a:t>
            </a:r>
            <a:r>
              <a:rPr lang="de-DE" sz="1800" dirty="0"/>
              <a:t>werden alle Kontrollflüsse zusammen geführt und anschließend weiter im Prozess weiter gegangen</a:t>
            </a:r>
          </a:p>
          <a:p>
            <a:pPr marL="0" indent="0">
              <a:lnSpc>
                <a:spcPct val="150000"/>
              </a:lnSpc>
              <a:buNone/>
            </a:pPr>
            <a:br>
              <a:rPr lang="de-DE" sz="1800" dirty="0"/>
            </a:br>
            <a:endParaRPr lang="de-DE" sz="1800" dirty="0"/>
          </a:p>
        </p:txBody>
      </p:sp>
      <p:sp>
        <p:nvSpPr>
          <p:cNvPr id="8" name="Ellipse 7">
            <a:extLst>
              <a:ext uri="{FF2B5EF4-FFF2-40B4-BE49-F238E27FC236}">
                <a16:creationId xmlns:a16="http://schemas.microsoft.com/office/drawing/2014/main" id="{F40F837E-B0B5-4BB9-7F8D-25DD60AB75A1}"/>
              </a:ext>
            </a:extLst>
          </p:cNvPr>
          <p:cNvSpPr/>
          <p:nvPr/>
        </p:nvSpPr>
        <p:spPr>
          <a:xfrm>
            <a:off x="1334145" y="1347836"/>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10" name="Textfeld 9">
            <a:extLst>
              <a:ext uri="{FF2B5EF4-FFF2-40B4-BE49-F238E27FC236}">
                <a16:creationId xmlns:a16="http://schemas.microsoft.com/office/drawing/2014/main" id="{2AA0ADC3-C426-F7C7-7D66-A1C1885459A4}"/>
              </a:ext>
            </a:extLst>
          </p:cNvPr>
          <p:cNvSpPr txBox="1"/>
          <p:nvPr/>
        </p:nvSpPr>
        <p:spPr>
          <a:xfrm>
            <a:off x="688020" y="1904331"/>
            <a:ext cx="1872629" cy="400110"/>
          </a:xfrm>
          <a:prstGeom prst="rect">
            <a:avLst/>
          </a:prstGeom>
          <a:noFill/>
        </p:spPr>
        <p:txBody>
          <a:bodyPr wrap="none" rtlCol="0">
            <a:spAutoFit/>
          </a:bodyPr>
          <a:lstStyle/>
          <a:p>
            <a:r>
              <a:rPr lang="de-DE" sz="2000" b="1" dirty="0"/>
              <a:t>UND</a:t>
            </a:r>
            <a:r>
              <a:rPr lang="de-DE" sz="2000" dirty="0"/>
              <a:t> Konnektor</a:t>
            </a:r>
          </a:p>
        </p:txBody>
      </p:sp>
      <p:sp>
        <p:nvSpPr>
          <p:cNvPr id="11" name="Ellipse 10">
            <a:extLst>
              <a:ext uri="{FF2B5EF4-FFF2-40B4-BE49-F238E27FC236}">
                <a16:creationId xmlns:a16="http://schemas.microsoft.com/office/drawing/2014/main" id="{A553D991-DF75-EAF4-AA62-2D3DCEDBFB99}"/>
              </a:ext>
            </a:extLst>
          </p:cNvPr>
          <p:cNvSpPr/>
          <p:nvPr/>
        </p:nvSpPr>
        <p:spPr>
          <a:xfrm>
            <a:off x="3260101" y="4066960"/>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12" name="Textplatzhalter 2">
            <a:extLst>
              <a:ext uri="{FF2B5EF4-FFF2-40B4-BE49-F238E27FC236}">
                <a16:creationId xmlns:a16="http://schemas.microsoft.com/office/drawing/2014/main" id="{77B09EEC-CC14-426A-D138-20FF30424E7E}"/>
              </a:ext>
            </a:extLst>
          </p:cNvPr>
          <p:cNvSpPr txBox="1">
            <a:spLocks/>
          </p:cNvSpPr>
          <p:nvPr/>
        </p:nvSpPr>
        <p:spPr>
          <a:xfrm>
            <a:off x="2988423" y="306295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dirty="0">
                <a:solidFill>
                  <a:srgbClr val="012656"/>
                </a:solidFill>
              </a:rPr>
              <a:t>Ereignis</a:t>
            </a:r>
          </a:p>
        </p:txBody>
      </p:sp>
      <p:sp>
        <p:nvSpPr>
          <p:cNvPr id="13" name="Rechteck 12">
            <a:extLst>
              <a:ext uri="{FF2B5EF4-FFF2-40B4-BE49-F238E27FC236}">
                <a16:creationId xmlns:a16="http://schemas.microsoft.com/office/drawing/2014/main" id="{5232B962-3AF4-0ED2-7A93-DBADEF7D5BDA}"/>
              </a:ext>
            </a:extLst>
          </p:cNvPr>
          <p:cNvSpPr/>
          <p:nvPr/>
        </p:nvSpPr>
        <p:spPr>
          <a:xfrm>
            <a:off x="2002800" y="498513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Funktion1</a:t>
            </a:r>
          </a:p>
        </p:txBody>
      </p:sp>
      <p:sp>
        <p:nvSpPr>
          <p:cNvPr id="14" name="Rechteck 13">
            <a:extLst>
              <a:ext uri="{FF2B5EF4-FFF2-40B4-BE49-F238E27FC236}">
                <a16:creationId xmlns:a16="http://schemas.microsoft.com/office/drawing/2014/main" id="{1C87E98A-C643-BE98-4D05-FC952B23F3E6}"/>
              </a:ext>
            </a:extLst>
          </p:cNvPr>
          <p:cNvSpPr/>
          <p:nvPr/>
        </p:nvSpPr>
        <p:spPr>
          <a:xfrm>
            <a:off x="3759948" y="498513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Funktion2</a:t>
            </a:r>
          </a:p>
        </p:txBody>
      </p:sp>
      <p:cxnSp>
        <p:nvCxnSpPr>
          <p:cNvPr id="15" name="Gerade Verbindung mit Pfeil 14">
            <a:extLst>
              <a:ext uri="{FF2B5EF4-FFF2-40B4-BE49-F238E27FC236}">
                <a16:creationId xmlns:a16="http://schemas.microsoft.com/office/drawing/2014/main" id="{4582B819-CE06-C751-AA51-4444718A10A2}"/>
              </a:ext>
            </a:extLst>
          </p:cNvPr>
          <p:cNvCxnSpPr>
            <a:cxnSpLocks/>
            <a:endCxn id="11" idx="0"/>
          </p:cNvCxnSpPr>
          <p:nvPr/>
        </p:nvCxnSpPr>
        <p:spPr>
          <a:xfrm>
            <a:off x="3550291" y="3669998"/>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DD8E8F6F-F29F-F37C-E1B8-9AD80C47586B}"/>
              </a:ext>
            </a:extLst>
          </p:cNvPr>
          <p:cNvCxnSpPr>
            <a:cxnSpLocks/>
            <a:endCxn id="13" idx="0"/>
          </p:cNvCxnSpPr>
          <p:nvPr/>
        </p:nvCxnSpPr>
        <p:spPr>
          <a:xfrm flipH="1">
            <a:off x="2631451" y="4588172"/>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1DB46F33-3DAA-971C-44C7-940A98675110}"/>
              </a:ext>
            </a:extLst>
          </p:cNvPr>
          <p:cNvCxnSpPr>
            <a:cxnSpLocks/>
            <a:stCxn id="11" idx="4"/>
            <a:endCxn id="14" idx="0"/>
          </p:cNvCxnSpPr>
          <p:nvPr/>
        </p:nvCxnSpPr>
        <p:spPr>
          <a:xfrm>
            <a:off x="3550291" y="4588172"/>
            <a:ext cx="838308"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4A4BEAF9-5700-499F-8F9A-805E232A76C5}"/>
              </a:ext>
            </a:extLst>
          </p:cNvPr>
          <p:cNvSpPr/>
          <p:nvPr/>
        </p:nvSpPr>
        <p:spPr>
          <a:xfrm>
            <a:off x="8155090" y="4066960"/>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42" name="Textplatzhalter 2">
            <a:extLst>
              <a:ext uri="{FF2B5EF4-FFF2-40B4-BE49-F238E27FC236}">
                <a16:creationId xmlns:a16="http://schemas.microsoft.com/office/drawing/2014/main" id="{9C106FF1-2BA7-990F-6151-6E3C7E213B97}"/>
              </a:ext>
            </a:extLst>
          </p:cNvPr>
          <p:cNvSpPr txBox="1">
            <a:spLocks/>
          </p:cNvSpPr>
          <p:nvPr/>
        </p:nvSpPr>
        <p:spPr>
          <a:xfrm>
            <a:off x="7816629" y="499688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43" name="Rechteck 42">
            <a:extLst>
              <a:ext uri="{FF2B5EF4-FFF2-40B4-BE49-F238E27FC236}">
                <a16:creationId xmlns:a16="http://schemas.microsoft.com/office/drawing/2014/main" id="{E05E1D0A-39C7-A4C8-E568-A71A85E5B903}"/>
              </a:ext>
            </a:extLst>
          </p:cNvPr>
          <p:cNvSpPr/>
          <p:nvPr/>
        </p:nvSpPr>
        <p:spPr>
          <a:xfrm>
            <a:off x="6897789" y="318279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Funktion1</a:t>
            </a:r>
          </a:p>
        </p:txBody>
      </p:sp>
      <p:sp>
        <p:nvSpPr>
          <p:cNvPr id="44" name="Rechteck 43">
            <a:extLst>
              <a:ext uri="{FF2B5EF4-FFF2-40B4-BE49-F238E27FC236}">
                <a16:creationId xmlns:a16="http://schemas.microsoft.com/office/drawing/2014/main" id="{8BD28116-E191-A391-93B3-11B7078DC762}"/>
              </a:ext>
            </a:extLst>
          </p:cNvPr>
          <p:cNvSpPr/>
          <p:nvPr/>
        </p:nvSpPr>
        <p:spPr>
          <a:xfrm>
            <a:off x="8654937" y="318279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Funktion2</a:t>
            </a:r>
          </a:p>
        </p:txBody>
      </p:sp>
      <p:cxnSp>
        <p:nvCxnSpPr>
          <p:cNvPr id="45" name="Gerade Verbindung mit Pfeil 44">
            <a:extLst>
              <a:ext uri="{FF2B5EF4-FFF2-40B4-BE49-F238E27FC236}">
                <a16:creationId xmlns:a16="http://schemas.microsoft.com/office/drawing/2014/main" id="{47161F09-EB8A-49F7-DE7E-3902CFA386FE}"/>
              </a:ext>
            </a:extLst>
          </p:cNvPr>
          <p:cNvCxnSpPr>
            <a:cxnSpLocks/>
            <a:stCxn id="41" idx="4"/>
          </p:cNvCxnSpPr>
          <p:nvPr/>
        </p:nvCxnSpPr>
        <p:spPr>
          <a:xfrm flipH="1">
            <a:off x="8445279" y="4588172"/>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2A0A141B-85D3-1BDB-A297-61DA8A7635F7}"/>
              </a:ext>
            </a:extLst>
          </p:cNvPr>
          <p:cNvCxnSpPr>
            <a:cxnSpLocks/>
            <a:stCxn id="44" idx="2"/>
            <a:endCxn id="41" idx="7"/>
          </p:cNvCxnSpPr>
          <p:nvPr/>
        </p:nvCxnSpPr>
        <p:spPr>
          <a:xfrm flipH="1">
            <a:off x="8650475" y="3789842"/>
            <a:ext cx="633113"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Gerade Verbindung mit Pfeil 46">
            <a:extLst>
              <a:ext uri="{FF2B5EF4-FFF2-40B4-BE49-F238E27FC236}">
                <a16:creationId xmlns:a16="http://schemas.microsoft.com/office/drawing/2014/main" id="{DC05B039-223D-0FF5-3F17-EE1E7AD08B88}"/>
              </a:ext>
            </a:extLst>
          </p:cNvPr>
          <p:cNvCxnSpPr>
            <a:cxnSpLocks/>
            <a:stCxn id="43" idx="2"/>
            <a:endCxn id="41" idx="1"/>
          </p:cNvCxnSpPr>
          <p:nvPr/>
        </p:nvCxnSpPr>
        <p:spPr>
          <a:xfrm>
            <a:off x="7526440" y="3789842"/>
            <a:ext cx="713645"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10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5A1B-DC67-6B4D-C795-B7EC4678370C}"/>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9403011-E935-58AC-6C3B-A933534FAB4C}"/>
              </a:ext>
            </a:extLst>
          </p:cNvPr>
          <p:cNvSpPr>
            <a:spLocks noGrp="1"/>
          </p:cNvSpPr>
          <p:nvPr>
            <p:ph type="title"/>
          </p:nvPr>
        </p:nvSpPr>
        <p:spPr/>
        <p:txBody>
          <a:bodyPr/>
          <a:lstStyle/>
          <a:p>
            <a:r>
              <a:rPr lang="de-DE" dirty="0"/>
              <a:t>Sprachkonstrukt: UND</a:t>
            </a:r>
          </a:p>
        </p:txBody>
      </p:sp>
      <p:sp>
        <p:nvSpPr>
          <p:cNvPr id="11" name="Ellipse 10">
            <a:extLst>
              <a:ext uri="{FF2B5EF4-FFF2-40B4-BE49-F238E27FC236}">
                <a16:creationId xmlns:a16="http://schemas.microsoft.com/office/drawing/2014/main" id="{69824C82-0E7C-3CE0-8635-A8C6DA56BAF1}"/>
              </a:ext>
            </a:extLst>
          </p:cNvPr>
          <p:cNvSpPr/>
          <p:nvPr/>
        </p:nvSpPr>
        <p:spPr>
          <a:xfrm>
            <a:off x="1543258" y="2539985"/>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sp>
        <p:nvSpPr>
          <p:cNvPr id="12" name="Textplatzhalter 2">
            <a:extLst>
              <a:ext uri="{FF2B5EF4-FFF2-40B4-BE49-F238E27FC236}">
                <a16:creationId xmlns:a16="http://schemas.microsoft.com/office/drawing/2014/main" id="{9B1B5649-2E68-C014-5B02-9A12AD6AC453}"/>
              </a:ext>
            </a:extLst>
          </p:cNvPr>
          <p:cNvSpPr txBox="1">
            <a:spLocks/>
          </p:cNvSpPr>
          <p:nvPr/>
        </p:nvSpPr>
        <p:spPr>
          <a:xfrm>
            <a:off x="1271580" y="153598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eingegangen</a:t>
            </a:r>
          </a:p>
        </p:txBody>
      </p:sp>
      <p:sp>
        <p:nvSpPr>
          <p:cNvPr id="13" name="Rechteck 12">
            <a:extLst>
              <a:ext uri="{FF2B5EF4-FFF2-40B4-BE49-F238E27FC236}">
                <a16:creationId xmlns:a16="http://schemas.microsoft.com/office/drawing/2014/main" id="{0994A034-FCCC-3339-03EF-7FC0059E8E85}"/>
              </a:ext>
            </a:extLst>
          </p:cNvPr>
          <p:cNvSpPr/>
          <p:nvPr/>
        </p:nvSpPr>
        <p:spPr>
          <a:xfrm>
            <a:off x="285957" y="34581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prüfen</a:t>
            </a:r>
          </a:p>
        </p:txBody>
      </p:sp>
      <p:sp>
        <p:nvSpPr>
          <p:cNvPr id="14" name="Rechteck 13">
            <a:extLst>
              <a:ext uri="{FF2B5EF4-FFF2-40B4-BE49-F238E27FC236}">
                <a16:creationId xmlns:a16="http://schemas.microsoft.com/office/drawing/2014/main" id="{8A2E04D0-6A0B-CF64-6755-AFDFA733A96E}"/>
              </a:ext>
            </a:extLst>
          </p:cNvPr>
          <p:cNvSpPr/>
          <p:nvPr/>
        </p:nvSpPr>
        <p:spPr>
          <a:xfrm>
            <a:off x="2043105" y="34581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Eingang erfassen</a:t>
            </a:r>
          </a:p>
        </p:txBody>
      </p:sp>
      <p:cxnSp>
        <p:nvCxnSpPr>
          <p:cNvPr id="15" name="Gerade Verbindung mit Pfeil 14">
            <a:extLst>
              <a:ext uri="{FF2B5EF4-FFF2-40B4-BE49-F238E27FC236}">
                <a16:creationId xmlns:a16="http://schemas.microsoft.com/office/drawing/2014/main" id="{DC027C1A-8901-EFB0-C395-4BC160469C21}"/>
              </a:ext>
            </a:extLst>
          </p:cNvPr>
          <p:cNvCxnSpPr>
            <a:cxnSpLocks/>
            <a:endCxn id="11" idx="0"/>
          </p:cNvCxnSpPr>
          <p:nvPr/>
        </p:nvCxnSpPr>
        <p:spPr>
          <a:xfrm>
            <a:off x="1833448" y="2143023"/>
            <a:ext cx="0" cy="3969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5992338A-E3CC-897D-CC4B-821B14C472F2}"/>
              </a:ext>
            </a:extLst>
          </p:cNvPr>
          <p:cNvCxnSpPr>
            <a:cxnSpLocks/>
            <a:endCxn id="13" idx="0"/>
          </p:cNvCxnSpPr>
          <p:nvPr/>
        </p:nvCxnSpPr>
        <p:spPr>
          <a:xfrm flipH="1">
            <a:off x="914608" y="3061197"/>
            <a:ext cx="899790" cy="3969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FADC2D4B-8871-12B5-48E1-E23448BE8099}"/>
              </a:ext>
            </a:extLst>
          </p:cNvPr>
          <p:cNvCxnSpPr>
            <a:cxnSpLocks/>
            <a:stCxn id="11" idx="4"/>
            <a:endCxn id="14" idx="0"/>
          </p:cNvCxnSpPr>
          <p:nvPr/>
        </p:nvCxnSpPr>
        <p:spPr>
          <a:xfrm>
            <a:off x="1833448" y="3061197"/>
            <a:ext cx="838308" cy="3969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CF847F10-8046-88B9-954B-8DDB26764B62}"/>
              </a:ext>
            </a:extLst>
          </p:cNvPr>
          <p:cNvSpPr/>
          <p:nvPr/>
        </p:nvSpPr>
        <p:spPr>
          <a:xfrm>
            <a:off x="9372385" y="2637319"/>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sp>
        <p:nvSpPr>
          <p:cNvPr id="42" name="Textplatzhalter 2">
            <a:extLst>
              <a:ext uri="{FF2B5EF4-FFF2-40B4-BE49-F238E27FC236}">
                <a16:creationId xmlns:a16="http://schemas.microsoft.com/office/drawing/2014/main" id="{480F2E35-4119-CE22-4D02-2577374B0AE8}"/>
              </a:ext>
            </a:extLst>
          </p:cNvPr>
          <p:cNvSpPr txBox="1">
            <a:spLocks/>
          </p:cNvSpPr>
          <p:nvPr/>
        </p:nvSpPr>
        <p:spPr>
          <a:xfrm>
            <a:off x="7509751" y="153598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Lagerbestand ist geprüft</a:t>
            </a:r>
          </a:p>
        </p:txBody>
      </p:sp>
      <p:sp>
        <p:nvSpPr>
          <p:cNvPr id="44" name="Rechteck 43">
            <a:extLst>
              <a:ext uri="{FF2B5EF4-FFF2-40B4-BE49-F238E27FC236}">
                <a16:creationId xmlns:a16="http://schemas.microsoft.com/office/drawing/2014/main" id="{BAA2784C-E0F5-97B5-8B1E-A5AFA7443877}"/>
              </a:ext>
            </a:extLst>
          </p:cNvPr>
          <p:cNvSpPr/>
          <p:nvPr/>
        </p:nvSpPr>
        <p:spPr>
          <a:xfrm>
            <a:off x="9081654" y="356724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tätigen</a:t>
            </a:r>
          </a:p>
        </p:txBody>
      </p:sp>
      <p:cxnSp>
        <p:nvCxnSpPr>
          <p:cNvPr id="45" name="Gerade Verbindung mit Pfeil 44">
            <a:extLst>
              <a:ext uri="{FF2B5EF4-FFF2-40B4-BE49-F238E27FC236}">
                <a16:creationId xmlns:a16="http://schemas.microsoft.com/office/drawing/2014/main" id="{40597B46-276F-19DF-5800-824619838E94}"/>
              </a:ext>
            </a:extLst>
          </p:cNvPr>
          <p:cNvCxnSpPr>
            <a:cxnSpLocks/>
            <a:stCxn id="41" idx="4"/>
          </p:cNvCxnSpPr>
          <p:nvPr/>
        </p:nvCxnSpPr>
        <p:spPr>
          <a:xfrm flipH="1">
            <a:off x="9662574" y="3158531"/>
            <a:ext cx="1" cy="4087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54DFE9FB-5EB6-F2FF-EBF3-C83BDFC7B953}"/>
              </a:ext>
            </a:extLst>
          </p:cNvPr>
          <p:cNvCxnSpPr>
            <a:cxnSpLocks/>
            <a:endCxn id="41" idx="0"/>
          </p:cNvCxnSpPr>
          <p:nvPr/>
        </p:nvCxnSpPr>
        <p:spPr>
          <a:xfrm>
            <a:off x="9662575" y="2143023"/>
            <a:ext cx="0" cy="49429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7" name="Gerade Verbindung mit Pfeil 46">
            <a:extLst>
              <a:ext uri="{FF2B5EF4-FFF2-40B4-BE49-F238E27FC236}">
                <a16:creationId xmlns:a16="http://schemas.microsoft.com/office/drawing/2014/main" id="{89AD5AF8-403D-2E79-EE90-3DC2351F45E5}"/>
              </a:ext>
            </a:extLst>
          </p:cNvPr>
          <p:cNvCxnSpPr>
            <a:cxnSpLocks/>
            <a:endCxn id="41" idx="1"/>
          </p:cNvCxnSpPr>
          <p:nvPr/>
        </p:nvCxnSpPr>
        <p:spPr>
          <a:xfrm>
            <a:off x="8145247" y="2143023"/>
            <a:ext cx="1312133" cy="57062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 name="Textplatzhalter 2">
            <a:extLst>
              <a:ext uri="{FF2B5EF4-FFF2-40B4-BE49-F238E27FC236}">
                <a16:creationId xmlns:a16="http://schemas.microsoft.com/office/drawing/2014/main" id="{E144BCDE-4459-CFD5-C67D-FDEA7396E7DD}"/>
              </a:ext>
            </a:extLst>
          </p:cNvPr>
          <p:cNvSpPr txBox="1">
            <a:spLocks/>
          </p:cNvSpPr>
          <p:nvPr/>
        </p:nvSpPr>
        <p:spPr>
          <a:xfrm>
            <a:off x="285957" y="457520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ist geprüft</a:t>
            </a:r>
          </a:p>
        </p:txBody>
      </p:sp>
      <p:sp>
        <p:nvSpPr>
          <p:cNvPr id="7" name="Textplatzhalter 2">
            <a:extLst>
              <a:ext uri="{FF2B5EF4-FFF2-40B4-BE49-F238E27FC236}">
                <a16:creationId xmlns:a16="http://schemas.microsoft.com/office/drawing/2014/main" id="{A92F65E1-8DEF-4EDF-20A0-177F3C543B45}"/>
              </a:ext>
            </a:extLst>
          </p:cNvPr>
          <p:cNvSpPr txBox="1">
            <a:spLocks/>
          </p:cNvSpPr>
          <p:nvPr/>
        </p:nvSpPr>
        <p:spPr>
          <a:xfrm>
            <a:off x="2043105" y="457520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Eingang ist erfasst</a:t>
            </a:r>
          </a:p>
        </p:txBody>
      </p:sp>
      <p:cxnSp>
        <p:nvCxnSpPr>
          <p:cNvPr id="9" name="Gerade Verbindung mit Pfeil 8">
            <a:extLst>
              <a:ext uri="{FF2B5EF4-FFF2-40B4-BE49-F238E27FC236}">
                <a16:creationId xmlns:a16="http://schemas.microsoft.com/office/drawing/2014/main" id="{517F610C-38B3-DFBF-AB76-F80D4B001B1E}"/>
              </a:ext>
            </a:extLst>
          </p:cNvPr>
          <p:cNvCxnSpPr>
            <a:cxnSpLocks/>
            <a:stCxn id="13" idx="2"/>
          </p:cNvCxnSpPr>
          <p:nvPr/>
        </p:nvCxnSpPr>
        <p:spPr>
          <a:xfrm flipH="1">
            <a:off x="914607" y="4065202"/>
            <a:ext cx="1" cy="51000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56964AF4-B9D0-48D1-4E51-E4FF6A4B3EB6}"/>
              </a:ext>
            </a:extLst>
          </p:cNvPr>
          <p:cNvCxnSpPr>
            <a:cxnSpLocks/>
          </p:cNvCxnSpPr>
          <p:nvPr/>
        </p:nvCxnSpPr>
        <p:spPr>
          <a:xfrm flipH="1">
            <a:off x="2672401" y="4065202"/>
            <a:ext cx="1" cy="51000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9" name="Textplatzhalter 2">
            <a:extLst>
              <a:ext uri="{FF2B5EF4-FFF2-40B4-BE49-F238E27FC236}">
                <a16:creationId xmlns:a16="http://schemas.microsoft.com/office/drawing/2014/main" id="{BFC97B4D-8498-7561-7554-9E8895DF8B55}"/>
              </a:ext>
            </a:extLst>
          </p:cNvPr>
          <p:cNvSpPr txBox="1">
            <a:spLocks/>
          </p:cNvSpPr>
          <p:nvPr/>
        </p:nvSpPr>
        <p:spPr>
          <a:xfrm>
            <a:off x="9081655" y="153598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Mindestmenge unterschritten</a:t>
            </a:r>
          </a:p>
        </p:txBody>
      </p:sp>
      <p:sp>
        <p:nvSpPr>
          <p:cNvPr id="20" name="Textplatzhalter 2">
            <a:extLst>
              <a:ext uri="{FF2B5EF4-FFF2-40B4-BE49-F238E27FC236}">
                <a16:creationId xmlns:a16="http://schemas.microsoft.com/office/drawing/2014/main" id="{72CCCFAD-D039-6D34-7B24-CCFB6F6997AC}"/>
              </a:ext>
            </a:extLst>
          </p:cNvPr>
          <p:cNvSpPr txBox="1">
            <a:spLocks/>
          </p:cNvSpPr>
          <p:nvPr/>
        </p:nvSpPr>
        <p:spPr>
          <a:xfrm>
            <a:off x="10646135" y="153598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Bezahlung abgesichert</a:t>
            </a:r>
          </a:p>
        </p:txBody>
      </p:sp>
      <p:cxnSp>
        <p:nvCxnSpPr>
          <p:cNvPr id="25" name="Gerade Verbindung mit Pfeil 24">
            <a:extLst>
              <a:ext uri="{FF2B5EF4-FFF2-40B4-BE49-F238E27FC236}">
                <a16:creationId xmlns:a16="http://schemas.microsoft.com/office/drawing/2014/main" id="{0FCBB8EC-C59A-FA08-7BBD-82493F1D3866}"/>
              </a:ext>
            </a:extLst>
          </p:cNvPr>
          <p:cNvCxnSpPr>
            <a:cxnSpLocks/>
            <a:endCxn id="41" idx="7"/>
          </p:cNvCxnSpPr>
          <p:nvPr/>
        </p:nvCxnSpPr>
        <p:spPr>
          <a:xfrm flipH="1">
            <a:off x="9867770" y="2143023"/>
            <a:ext cx="1407015" cy="57062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0" name="Textplatzhalter 2">
            <a:extLst>
              <a:ext uri="{FF2B5EF4-FFF2-40B4-BE49-F238E27FC236}">
                <a16:creationId xmlns:a16="http://schemas.microsoft.com/office/drawing/2014/main" id="{4321C323-C41A-1E23-02DA-ECDD852AC1D5}"/>
              </a:ext>
            </a:extLst>
          </p:cNvPr>
          <p:cNvSpPr txBox="1">
            <a:spLocks/>
          </p:cNvSpPr>
          <p:nvPr/>
        </p:nvSpPr>
        <p:spPr>
          <a:xfrm>
            <a:off x="9081654" y="471497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getätigt</a:t>
            </a:r>
          </a:p>
        </p:txBody>
      </p:sp>
      <p:cxnSp>
        <p:nvCxnSpPr>
          <p:cNvPr id="31" name="Gerade Verbindung mit Pfeil 30">
            <a:extLst>
              <a:ext uri="{FF2B5EF4-FFF2-40B4-BE49-F238E27FC236}">
                <a16:creationId xmlns:a16="http://schemas.microsoft.com/office/drawing/2014/main" id="{E5B5BFA3-14AE-A2B3-315A-4B65E9464AB6}"/>
              </a:ext>
            </a:extLst>
          </p:cNvPr>
          <p:cNvCxnSpPr>
            <a:cxnSpLocks/>
          </p:cNvCxnSpPr>
          <p:nvPr/>
        </p:nvCxnSpPr>
        <p:spPr>
          <a:xfrm>
            <a:off x="9700522" y="4177228"/>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0" name="Ellipse 9">
            <a:extLst>
              <a:ext uri="{FF2B5EF4-FFF2-40B4-BE49-F238E27FC236}">
                <a16:creationId xmlns:a16="http://schemas.microsoft.com/office/drawing/2014/main" id="{02413A78-E7AE-3CB3-7FB8-20E921AC9B44}"/>
              </a:ext>
            </a:extLst>
          </p:cNvPr>
          <p:cNvSpPr/>
          <p:nvPr/>
        </p:nvSpPr>
        <p:spPr>
          <a:xfrm>
            <a:off x="5744649" y="2539985"/>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sp>
        <p:nvSpPr>
          <p:cNvPr id="17" name="Rechteck 16">
            <a:extLst>
              <a:ext uri="{FF2B5EF4-FFF2-40B4-BE49-F238E27FC236}">
                <a16:creationId xmlns:a16="http://schemas.microsoft.com/office/drawing/2014/main" id="{C8187576-A2BE-7A4D-3A04-11092FC93A15}"/>
              </a:ext>
            </a:extLst>
          </p:cNvPr>
          <p:cNvSpPr/>
          <p:nvPr/>
        </p:nvSpPr>
        <p:spPr>
          <a:xfrm>
            <a:off x="4088077" y="34581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anmelden</a:t>
            </a:r>
          </a:p>
        </p:txBody>
      </p:sp>
      <p:sp>
        <p:nvSpPr>
          <p:cNvPr id="21" name="Rechteck 20">
            <a:extLst>
              <a:ext uri="{FF2B5EF4-FFF2-40B4-BE49-F238E27FC236}">
                <a16:creationId xmlns:a16="http://schemas.microsoft.com/office/drawing/2014/main" id="{AAF42E7D-EAB8-6D73-9F93-00334864F8D0}"/>
              </a:ext>
            </a:extLst>
          </p:cNvPr>
          <p:cNvSpPr/>
          <p:nvPr/>
        </p:nvSpPr>
        <p:spPr>
          <a:xfrm>
            <a:off x="5402032" y="34581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Für Prüfung lernen</a:t>
            </a:r>
          </a:p>
        </p:txBody>
      </p:sp>
      <p:cxnSp>
        <p:nvCxnSpPr>
          <p:cNvPr id="23" name="Gerade Verbindung mit Pfeil 22">
            <a:extLst>
              <a:ext uri="{FF2B5EF4-FFF2-40B4-BE49-F238E27FC236}">
                <a16:creationId xmlns:a16="http://schemas.microsoft.com/office/drawing/2014/main" id="{6C971036-DFF2-7D45-CE27-647C0EFA28FC}"/>
              </a:ext>
            </a:extLst>
          </p:cNvPr>
          <p:cNvCxnSpPr>
            <a:cxnSpLocks/>
            <a:endCxn id="10" idx="0"/>
          </p:cNvCxnSpPr>
          <p:nvPr/>
        </p:nvCxnSpPr>
        <p:spPr>
          <a:xfrm>
            <a:off x="6034839" y="2143023"/>
            <a:ext cx="0" cy="3969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7577C1B7-6F73-5C14-39BF-BE5BFE84296B}"/>
              </a:ext>
            </a:extLst>
          </p:cNvPr>
          <p:cNvCxnSpPr>
            <a:cxnSpLocks/>
            <a:endCxn id="17" idx="0"/>
          </p:cNvCxnSpPr>
          <p:nvPr/>
        </p:nvCxnSpPr>
        <p:spPr>
          <a:xfrm flipH="1">
            <a:off x="4716728" y="2830372"/>
            <a:ext cx="1030815" cy="62778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D3D6108E-82C3-314D-C8F0-642033B35355}"/>
              </a:ext>
            </a:extLst>
          </p:cNvPr>
          <p:cNvCxnSpPr>
            <a:cxnSpLocks/>
            <a:stCxn id="10" idx="4"/>
            <a:endCxn id="21" idx="0"/>
          </p:cNvCxnSpPr>
          <p:nvPr/>
        </p:nvCxnSpPr>
        <p:spPr>
          <a:xfrm flipH="1">
            <a:off x="6030683" y="3061197"/>
            <a:ext cx="4156" cy="3969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8" name="Textplatzhalter 2">
            <a:extLst>
              <a:ext uri="{FF2B5EF4-FFF2-40B4-BE49-F238E27FC236}">
                <a16:creationId xmlns:a16="http://schemas.microsoft.com/office/drawing/2014/main" id="{20F45BCA-46DA-B06D-18D6-270ED0BB801A}"/>
              </a:ext>
            </a:extLst>
          </p:cNvPr>
          <p:cNvSpPr txBox="1">
            <a:spLocks/>
          </p:cNvSpPr>
          <p:nvPr/>
        </p:nvSpPr>
        <p:spPr>
          <a:xfrm>
            <a:off x="4088077" y="457520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Prüfung ist angemeldet</a:t>
            </a:r>
          </a:p>
        </p:txBody>
      </p:sp>
      <p:sp>
        <p:nvSpPr>
          <p:cNvPr id="29" name="Textplatzhalter 2">
            <a:extLst>
              <a:ext uri="{FF2B5EF4-FFF2-40B4-BE49-F238E27FC236}">
                <a16:creationId xmlns:a16="http://schemas.microsoft.com/office/drawing/2014/main" id="{601EC9BD-0A4E-1DFB-C65F-3273C9720994}"/>
              </a:ext>
            </a:extLst>
          </p:cNvPr>
          <p:cNvSpPr txBox="1">
            <a:spLocks/>
          </p:cNvSpPr>
          <p:nvPr/>
        </p:nvSpPr>
        <p:spPr>
          <a:xfrm>
            <a:off x="5425164" y="457520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Für Prüfung vorbereitet</a:t>
            </a:r>
          </a:p>
        </p:txBody>
      </p:sp>
      <p:cxnSp>
        <p:nvCxnSpPr>
          <p:cNvPr id="32" name="Gerade Verbindung mit Pfeil 31">
            <a:extLst>
              <a:ext uri="{FF2B5EF4-FFF2-40B4-BE49-F238E27FC236}">
                <a16:creationId xmlns:a16="http://schemas.microsoft.com/office/drawing/2014/main" id="{2C67ADBB-5B55-86C5-517C-6D23A6C7F1CB}"/>
              </a:ext>
            </a:extLst>
          </p:cNvPr>
          <p:cNvCxnSpPr>
            <a:cxnSpLocks/>
            <a:stCxn id="17" idx="2"/>
          </p:cNvCxnSpPr>
          <p:nvPr/>
        </p:nvCxnSpPr>
        <p:spPr>
          <a:xfrm flipH="1">
            <a:off x="4716727" y="4065202"/>
            <a:ext cx="1" cy="51000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0C64D001-AF0E-DFCB-692A-324C54AF2B1B}"/>
              </a:ext>
            </a:extLst>
          </p:cNvPr>
          <p:cNvCxnSpPr>
            <a:cxnSpLocks/>
          </p:cNvCxnSpPr>
          <p:nvPr/>
        </p:nvCxnSpPr>
        <p:spPr>
          <a:xfrm flipH="1">
            <a:off x="6054460" y="4065202"/>
            <a:ext cx="1" cy="51000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7" name="Rechteck 36">
            <a:extLst>
              <a:ext uri="{FF2B5EF4-FFF2-40B4-BE49-F238E27FC236}">
                <a16:creationId xmlns:a16="http://schemas.microsoft.com/office/drawing/2014/main" id="{B109A46C-4D7C-8AF5-B383-44224CB32D09}"/>
              </a:ext>
            </a:extLst>
          </p:cNvPr>
          <p:cNvSpPr/>
          <p:nvPr/>
        </p:nvSpPr>
        <p:spPr>
          <a:xfrm>
            <a:off x="6705598" y="34581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Fragen </a:t>
            </a:r>
          </a:p>
          <a:p>
            <a:pPr algn="ctr"/>
            <a:r>
              <a:rPr lang="de-DE" sz="1200" b="1" dirty="0">
                <a:solidFill>
                  <a:srgbClr val="012656"/>
                </a:solidFill>
              </a:rPr>
              <a:t>klären</a:t>
            </a:r>
          </a:p>
        </p:txBody>
      </p:sp>
      <p:cxnSp>
        <p:nvCxnSpPr>
          <p:cNvPr id="40" name="Gerade Verbindung mit Pfeil 39">
            <a:extLst>
              <a:ext uri="{FF2B5EF4-FFF2-40B4-BE49-F238E27FC236}">
                <a16:creationId xmlns:a16="http://schemas.microsoft.com/office/drawing/2014/main" id="{EA530001-6586-7459-0582-1641A3DFDED3}"/>
              </a:ext>
            </a:extLst>
          </p:cNvPr>
          <p:cNvCxnSpPr>
            <a:cxnSpLocks/>
            <a:endCxn id="37" idx="0"/>
          </p:cNvCxnSpPr>
          <p:nvPr/>
        </p:nvCxnSpPr>
        <p:spPr>
          <a:xfrm>
            <a:off x="6299491" y="2868518"/>
            <a:ext cx="1034758" cy="58964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3" name="Textplatzhalter 2">
            <a:extLst>
              <a:ext uri="{FF2B5EF4-FFF2-40B4-BE49-F238E27FC236}">
                <a16:creationId xmlns:a16="http://schemas.microsoft.com/office/drawing/2014/main" id="{8A114899-E3B2-A402-0908-55319EB9BAE9}"/>
              </a:ext>
            </a:extLst>
          </p:cNvPr>
          <p:cNvSpPr txBox="1">
            <a:spLocks/>
          </p:cNvSpPr>
          <p:nvPr/>
        </p:nvSpPr>
        <p:spPr>
          <a:xfrm>
            <a:off x="6715987" y="457520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Fragen geklärt</a:t>
            </a:r>
          </a:p>
        </p:txBody>
      </p:sp>
      <p:cxnSp>
        <p:nvCxnSpPr>
          <p:cNvPr id="48" name="Gerade Verbindung mit Pfeil 47">
            <a:extLst>
              <a:ext uri="{FF2B5EF4-FFF2-40B4-BE49-F238E27FC236}">
                <a16:creationId xmlns:a16="http://schemas.microsoft.com/office/drawing/2014/main" id="{9DDC9DFA-7EED-41AD-A7AA-8010E838693A}"/>
              </a:ext>
            </a:extLst>
          </p:cNvPr>
          <p:cNvCxnSpPr>
            <a:cxnSpLocks/>
          </p:cNvCxnSpPr>
          <p:nvPr/>
        </p:nvCxnSpPr>
        <p:spPr>
          <a:xfrm flipH="1">
            <a:off x="7345283" y="4065202"/>
            <a:ext cx="1" cy="51000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6" name="Textplatzhalter 2">
            <a:extLst>
              <a:ext uri="{FF2B5EF4-FFF2-40B4-BE49-F238E27FC236}">
                <a16:creationId xmlns:a16="http://schemas.microsoft.com/office/drawing/2014/main" id="{06FA32D0-7803-490A-CA7B-6769D240B9F5}"/>
              </a:ext>
            </a:extLst>
          </p:cNvPr>
          <p:cNvSpPr txBox="1">
            <a:spLocks/>
          </p:cNvSpPr>
          <p:nvPr/>
        </p:nvSpPr>
        <p:spPr>
          <a:xfrm>
            <a:off x="5381579" y="1590212"/>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Vorlesung besucht</a:t>
            </a:r>
          </a:p>
        </p:txBody>
      </p:sp>
    </p:spTree>
    <p:extLst>
      <p:ext uri="{BB962C8B-B14F-4D97-AF65-F5344CB8AC3E}">
        <p14:creationId xmlns:p14="http://schemas.microsoft.com/office/powerpoint/2010/main" val="2574358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DCA7-5606-E360-FC55-64DF54372D39}"/>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6A7A018-5269-0306-6C33-5F50B2EAB9EE}"/>
              </a:ext>
            </a:extLst>
          </p:cNvPr>
          <p:cNvSpPr>
            <a:spLocks noGrp="1"/>
          </p:cNvSpPr>
          <p:nvPr>
            <p:ph type="title"/>
          </p:nvPr>
        </p:nvSpPr>
        <p:spPr/>
        <p:txBody>
          <a:bodyPr/>
          <a:lstStyle/>
          <a:p>
            <a:r>
              <a:rPr lang="de-DE" dirty="0" err="1"/>
              <a:t>Sprachkonstrukte</a:t>
            </a:r>
            <a:r>
              <a:rPr lang="de-DE" dirty="0"/>
              <a:t>: XOR</a:t>
            </a:r>
          </a:p>
        </p:txBody>
      </p:sp>
      <p:sp>
        <p:nvSpPr>
          <p:cNvPr id="6" name="Textplatzhalter 5">
            <a:extLst>
              <a:ext uri="{FF2B5EF4-FFF2-40B4-BE49-F238E27FC236}">
                <a16:creationId xmlns:a16="http://schemas.microsoft.com/office/drawing/2014/main" id="{005719F0-B193-91BE-122B-6B5EE04989FE}"/>
              </a:ext>
            </a:extLst>
          </p:cNvPr>
          <p:cNvSpPr>
            <a:spLocks noGrp="1"/>
          </p:cNvSpPr>
          <p:nvPr>
            <p:ph type="body" sz="quarter" idx="12"/>
          </p:nvPr>
        </p:nvSpPr>
        <p:spPr>
          <a:xfrm>
            <a:off x="2910840" y="1288022"/>
            <a:ext cx="8814435" cy="2140977"/>
          </a:xfrm>
        </p:spPr>
        <p:txBody>
          <a:bodyPr/>
          <a:lstStyle/>
          <a:p>
            <a:pPr marL="0" indent="0">
              <a:buNone/>
            </a:pPr>
            <a:r>
              <a:rPr lang="de-DE" sz="1800" dirty="0"/>
              <a:t>Bei einem </a:t>
            </a:r>
            <a:r>
              <a:rPr lang="de-DE" sz="1800" b="1" dirty="0"/>
              <a:t>XOR-Split-Konnektor</a:t>
            </a:r>
            <a:r>
              <a:rPr lang="de-DE" sz="1800" dirty="0"/>
              <a:t> wird der Kontrollfluss in mehreren Abläufen aufgeteilt. </a:t>
            </a:r>
            <a:r>
              <a:rPr lang="de-DE" sz="1800" b="1" dirty="0"/>
              <a:t>Genau ein Zweig </a:t>
            </a:r>
            <a:r>
              <a:rPr lang="de-DE" sz="1800" dirty="0"/>
              <a:t>wird durchgeführt. Bei einem </a:t>
            </a:r>
            <a:r>
              <a:rPr lang="de-DE" sz="1800" b="1" dirty="0"/>
              <a:t>XOR-</a:t>
            </a:r>
            <a:r>
              <a:rPr lang="de-DE" sz="1800" b="1" dirty="0" err="1"/>
              <a:t>Join</a:t>
            </a:r>
            <a:r>
              <a:rPr lang="de-DE" sz="1800" b="1" dirty="0"/>
              <a:t>-Konnektor </a:t>
            </a:r>
            <a:r>
              <a:rPr lang="de-DE" sz="1800" dirty="0"/>
              <a:t>werden Kontrollflüsse zusammen geführt. Genau in einem Kontrollfluss wird weitergegangen</a:t>
            </a:r>
          </a:p>
          <a:p>
            <a:pPr marL="0" indent="0">
              <a:lnSpc>
                <a:spcPct val="150000"/>
              </a:lnSpc>
              <a:buNone/>
            </a:pPr>
            <a:br>
              <a:rPr lang="de-DE" sz="1800" dirty="0"/>
            </a:br>
            <a:endParaRPr lang="de-DE" sz="1800" dirty="0"/>
          </a:p>
        </p:txBody>
      </p:sp>
      <p:sp>
        <p:nvSpPr>
          <p:cNvPr id="8" name="Ellipse 7">
            <a:extLst>
              <a:ext uri="{FF2B5EF4-FFF2-40B4-BE49-F238E27FC236}">
                <a16:creationId xmlns:a16="http://schemas.microsoft.com/office/drawing/2014/main" id="{67FD778D-CE4C-CB9E-5076-72F5B4D05F0D}"/>
              </a:ext>
            </a:extLst>
          </p:cNvPr>
          <p:cNvSpPr/>
          <p:nvPr/>
        </p:nvSpPr>
        <p:spPr>
          <a:xfrm>
            <a:off x="1334145" y="1347836"/>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10" name="Textfeld 9">
            <a:extLst>
              <a:ext uri="{FF2B5EF4-FFF2-40B4-BE49-F238E27FC236}">
                <a16:creationId xmlns:a16="http://schemas.microsoft.com/office/drawing/2014/main" id="{CF132157-4DB7-1585-61BD-96D9F35FB9F5}"/>
              </a:ext>
            </a:extLst>
          </p:cNvPr>
          <p:cNvSpPr txBox="1"/>
          <p:nvPr/>
        </p:nvSpPr>
        <p:spPr>
          <a:xfrm>
            <a:off x="688020" y="1904331"/>
            <a:ext cx="1834156" cy="400110"/>
          </a:xfrm>
          <a:prstGeom prst="rect">
            <a:avLst/>
          </a:prstGeom>
          <a:noFill/>
        </p:spPr>
        <p:txBody>
          <a:bodyPr wrap="none" rtlCol="0">
            <a:spAutoFit/>
          </a:bodyPr>
          <a:lstStyle/>
          <a:p>
            <a:r>
              <a:rPr lang="de-DE" sz="2000" b="1" dirty="0"/>
              <a:t>XOR</a:t>
            </a:r>
            <a:r>
              <a:rPr lang="de-DE" sz="2000" dirty="0"/>
              <a:t> Konnektor</a:t>
            </a:r>
          </a:p>
        </p:txBody>
      </p:sp>
      <p:sp>
        <p:nvSpPr>
          <p:cNvPr id="12" name="Textplatzhalter 2">
            <a:extLst>
              <a:ext uri="{FF2B5EF4-FFF2-40B4-BE49-F238E27FC236}">
                <a16:creationId xmlns:a16="http://schemas.microsoft.com/office/drawing/2014/main" id="{9CEE4529-D546-9165-104F-4E6EC56E861E}"/>
              </a:ext>
            </a:extLst>
          </p:cNvPr>
          <p:cNvSpPr txBox="1">
            <a:spLocks/>
          </p:cNvSpPr>
          <p:nvPr/>
        </p:nvSpPr>
        <p:spPr>
          <a:xfrm>
            <a:off x="1930410" y="463604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dirty="0">
                <a:solidFill>
                  <a:srgbClr val="012656"/>
                </a:solidFill>
              </a:rPr>
              <a:t>Ereignis</a:t>
            </a:r>
          </a:p>
        </p:txBody>
      </p:sp>
      <p:sp>
        <p:nvSpPr>
          <p:cNvPr id="14" name="Rechteck 13">
            <a:extLst>
              <a:ext uri="{FF2B5EF4-FFF2-40B4-BE49-F238E27FC236}">
                <a16:creationId xmlns:a16="http://schemas.microsoft.com/office/drawing/2014/main" id="{19C0F8A4-3FBC-0800-B7F2-6FD279F0C7FD}"/>
              </a:ext>
            </a:extLst>
          </p:cNvPr>
          <p:cNvSpPr/>
          <p:nvPr/>
        </p:nvSpPr>
        <p:spPr>
          <a:xfrm>
            <a:off x="2869397" y="270140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15" name="Gerade Verbindung mit Pfeil 14">
            <a:extLst>
              <a:ext uri="{FF2B5EF4-FFF2-40B4-BE49-F238E27FC236}">
                <a16:creationId xmlns:a16="http://schemas.microsoft.com/office/drawing/2014/main" id="{1F874452-5035-1E96-3385-51A4B0A88F40}"/>
              </a:ext>
            </a:extLst>
          </p:cNvPr>
          <p:cNvCxnSpPr>
            <a:cxnSpLocks/>
          </p:cNvCxnSpPr>
          <p:nvPr/>
        </p:nvCxnSpPr>
        <p:spPr>
          <a:xfrm>
            <a:off x="3462016" y="3309155"/>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A2BF8FE1-3AE8-DCCF-F6EF-431B10509F45}"/>
              </a:ext>
            </a:extLst>
          </p:cNvPr>
          <p:cNvCxnSpPr>
            <a:cxnSpLocks/>
          </p:cNvCxnSpPr>
          <p:nvPr/>
        </p:nvCxnSpPr>
        <p:spPr>
          <a:xfrm flipH="1">
            <a:off x="2543176" y="4227329"/>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4AD02CB1-AC23-BF5D-4124-A2D436C33CE0}"/>
              </a:ext>
            </a:extLst>
          </p:cNvPr>
          <p:cNvCxnSpPr>
            <a:cxnSpLocks/>
          </p:cNvCxnSpPr>
          <p:nvPr/>
        </p:nvCxnSpPr>
        <p:spPr>
          <a:xfrm>
            <a:off x="3390847" y="4227329"/>
            <a:ext cx="838308"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2" name="Textplatzhalter 2">
            <a:extLst>
              <a:ext uri="{FF2B5EF4-FFF2-40B4-BE49-F238E27FC236}">
                <a16:creationId xmlns:a16="http://schemas.microsoft.com/office/drawing/2014/main" id="{F9CFE6D3-F961-9C20-B4C7-1E714E152101}"/>
              </a:ext>
            </a:extLst>
          </p:cNvPr>
          <p:cNvSpPr txBox="1">
            <a:spLocks/>
          </p:cNvSpPr>
          <p:nvPr/>
        </p:nvSpPr>
        <p:spPr>
          <a:xfrm>
            <a:off x="7728354" y="463604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dirty="0">
                <a:solidFill>
                  <a:srgbClr val="012656"/>
                </a:solidFill>
              </a:rPr>
              <a:t>Ereignis</a:t>
            </a:r>
          </a:p>
        </p:txBody>
      </p:sp>
      <p:sp>
        <p:nvSpPr>
          <p:cNvPr id="43" name="Rechteck 42">
            <a:extLst>
              <a:ext uri="{FF2B5EF4-FFF2-40B4-BE49-F238E27FC236}">
                <a16:creationId xmlns:a16="http://schemas.microsoft.com/office/drawing/2014/main" id="{D4103FF7-787E-B0C4-6ECB-2EC23B225FA4}"/>
              </a:ext>
            </a:extLst>
          </p:cNvPr>
          <p:cNvSpPr/>
          <p:nvPr/>
        </p:nvSpPr>
        <p:spPr>
          <a:xfrm>
            <a:off x="6809514" y="2821956"/>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sp>
        <p:nvSpPr>
          <p:cNvPr id="44" name="Rechteck 43">
            <a:extLst>
              <a:ext uri="{FF2B5EF4-FFF2-40B4-BE49-F238E27FC236}">
                <a16:creationId xmlns:a16="http://schemas.microsoft.com/office/drawing/2014/main" id="{5E91EE5C-78E4-48C2-55E6-E9C10BC59455}"/>
              </a:ext>
            </a:extLst>
          </p:cNvPr>
          <p:cNvSpPr/>
          <p:nvPr/>
        </p:nvSpPr>
        <p:spPr>
          <a:xfrm>
            <a:off x="8566662" y="2821956"/>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45" name="Gerade Verbindung mit Pfeil 44">
            <a:extLst>
              <a:ext uri="{FF2B5EF4-FFF2-40B4-BE49-F238E27FC236}">
                <a16:creationId xmlns:a16="http://schemas.microsoft.com/office/drawing/2014/main" id="{CEE3B883-897A-6D57-FF8E-13146B0FE2C9}"/>
              </a:ext>
            </a:extLst>
          </p:cNvPr>
          <p:cNvCxnSpPr>
            <a:cxnSpLocks/>
          </p:cNvCxnSpPr>
          <p:nvPr/>
        </p:nvCxnSpPr>
        <p:spPr>
          <a:xfrm flipH="1">
            <a:off x="8357004" y="4227329"/>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E66562F6-EB64-2F15-33F6-8EF51E2507D4}"/>
              </a:ext>
            </a:extLst>
          </p:cNvPr>
          <p:cNvCxnSpPr>
            <a:cxnSpLocks/>
            <a:stCxn id="44" idx="2"/>
          </p:cNvCxnSpPr>
          <p:nvPr/>
        </p:nvCxnSpPr>
        <p:spPr>
          <a:xfrm flipH="1">
            <a:off x="8562200" y="3428999"/>
            <a:ext cx="633113"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Gerade Verbindung mit Pfeil 46">
            <a:extLst>
              <a:ext uri="{FF2B5EF4-FFF2-40B4-BE49-F238E27FC236}">
                <a16:creationId xmlns:a16="http://schemas.microsoft.com/office/drawing/2014/main" id="{2E12F897-1B7C-F9E3-04D7-9333601007C4}"/>
              </a:ext>
            </a:extLst>
          </p:cNvPr>
          <p:cNvCxnSpPr>
            <a:cxnSpLocks/>
            <a:stCxn id="43" idx="2"/>
          </p:cNvCxnSpPr>
          <p:nvPr/>
        </p:nvCxnSpPr>
        <p:spPr>
          <a:xfrm>
            <a:off x="7438165" y="3428999"/>
            <a:ext cx="713645"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 name="Ellipse 1">
            <a:extLst>
              <a:ext uri="{FF2B5EF4-FFF2-40B4-BE49-F238E27FC236}">
                <a16:creationId xmlns:a16="http://schemas.microsoft.com/office/drawing/2014/main" id="{E241A370-A2FF-14AD-0E22-D263B6F0B5FC}"/>
              </a:ext>
            </a:extLst>
          </p:cNvPr>
          <p:cNvSpPr/>
          <p:nvPr/>
        </p:nvSpPr>
        <p:spPr>
          <a:xfrm>
            <a:off x="3171826" y="3723575"/>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3" name="Ellipse 2">
            <a:extLst>
              <a:ext uri="{FF2B5EF4-FFF2-40B4-BE49-F238E27FC236}">
                <a16:creationId xmlns:a16="http://schemas.microsoft.com/office/drawing/2014/main" id="{E610D24B-17DA-760A-C873-4CB109D88355}"/>
              </a:ext>
            </a:extLst>
          </p:cNvPr>
          <p:cNvSpPr/>
          <p:nvPr/>
        </p:nvSpPr>
        <p:spPr>
          <a:xfrm>
            <a:off x="8066814" y="3723575"/>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4" name="Textplatzhalter 2">
            <a:extLst>
              <a:ext uri="{FF2B5EF4-FFF2-40B4-BE49-F238E27FC236}">
                <a16:creationId xmlns:a16="http://schemas.microsoft.com/office/drawing/2014/main" id="{FC34DDD8-F9C5-31B3-D081-D8F5DF85E9CF}"/>
              </a:ext>
            </a:extLst>
          </p:cNvPr>
          <p:cNvSpPr txBox="1">
            <a:spLocks/>
          </p:cNvSpPr>
          <p:nvPr/>
        </p:nvSpPr>
        <p:spPr>
          <a:xfrm>
            <a:off x="3600504" y="463604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dirty="0">
                <a:solidFill>
                  <a:srgbClr val="012656"/>
                </a:solidFill>
              </a:rPr>
              <a:t>Ereignis</a:t>
            </a:r>
          </a:p>
        </p:txBody>
      </p:sp>
    </p:spTree>
    <p:extLst>
      <p:ext uri="{BB962C8B-B14F-4D97-AF65-F5344CB8AC3E}">
        <p14:creationId xmlns:p14="http://schemas.microsoft.com/office/powerpoint/2010/main" val="250542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2E60-5EA5-96C2-3F08-C8A50DFAF1AD}"/>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F0BEE74-C316-830C-32E1-3929E2D98EFF}"/>
              </a:ext>
            </a:extLst>
          </p:cNvPr>
          <p:cNvSpPr>
            <a:spLocks noGrp="1"/>
          </p:cNvSpPr>
          <p:nvPr>
            <p:ph type="title"/>
          </p:nvPr>
        </p:nvSpPr>
        <p:spPr/>
        <p:txBody>
          <a:bodyPr/>
          <a:lstStyle/>
          <a:p>
            <a:r>
              <a:rPr lang="de-DE" dirty="0" err="1"/>
              <a:t>Sprachkonstrukte</a:t>
            </a:r>
            <a:r>
              <a:rPr lang="de-DE" dirty="0"/>
              <a:t>: XOR</a:t>
            </a:r>
          </a:p>
        </p:txBody>
      </p:sp>
      <p:sp>
        <p:nvSpPr>
          <p:cNvPr id="13" name="Rechteck 12">
            <a:extLst>
              <a:ext uri="{FF2B5EF4-FFF2-40B4-BE49-F238E27FC236}">
                <a16:creationId xmlns:a16="http://schemas.microsoft.com/office/drawing/2014/main" id="{34946E82-B3DC-7369-0231-FE3EBBE43E05}"/>
              </a:ext>
            </a:extLst>
          </p:cNvPr>
          <p:cNvSpPr/>
          <p:nvPr/>
        </p:nvSpPr>
        <p:spPr>
          <a:xfrm>
            <a:off x="1721884" y="476349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Vertrieb kontaktieren</a:t>
            </a:r>
          </a:p>
        </p:txBody>
      </p:sp>
      <p:sp>
        <p:nvSpPr>
          <p:cNvPr id="14" name="Rechteck 13">
            <a:extLst>
              <a:ext uri="{FF2B5EF4-FFF2-40B4-BE49-F238E27FC236}">
                <a16:creationId xmlns:a16="http://schemas.microsoft.com/office/drawing/2014/main" id="{00BC24B9-25C3-DD3E-0650-9CBB434E85E9}"/>
              </a:ext>
            </a:extLst>
          </p:cNvPr>
          <p:cNvSpPr/>
          <p:nvPr/>
        </p:nvSpPr>
        <p:spPr>
          <a:xfrm>
            <a:off x="2691136" y="1535980"/>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Bestand erfassen</a:t>
            </a:r>
          </a:p>
        </p:txBody>
      </p:sp>
      <p:cxnSp>
        <p:nvCxnSpPr>
          <p:cNvPr id="15" name="Gerade Verbindung mit Pfeil 14">
            <a:extLst>
              <a:ext uri="{FF2B5EF4-FFF2-40B4-BE49-F238E27FC236}">
                <a16:creationId xmlns:a16="http://schemas.microsoft.com/office/drawing/2014/main" id="{5BB319CE-22DA-6FB3-3716-F7D2969A41A2}"/>
              </a:ext>
            </a:extLst>
          </p:cNvPr>
          <p:cNvCxnSpPr>
            <a:cxnSpLocks/>
          </p:cNvCxnSpPr>
          <p:nvPr/>
        </p:nvCxnSpPr>
        <p:spPr>
          <a:xfrm>
            <a:off x="3319787" y="2143023"/>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318EF115-21AE-146A-F338-B1BCDC4D6B36}"/>
              </a:ext>
            </a:extLst>
          </p:cNvPr>
          <p:cNvCxnSpPr>
            <a:cxnSpLocks/>
          </p:cNvCxnSpPr>
          <p:nvPr/>
        </p:nvCxnSpPr>
        <p:spPr>
          <a:xfrm flipH="1">
            <a:off x="2368102" y="2965927"/>
            <a:ext cx="751733" cy="43042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7C583E1F-FB3D-2D2A-FA27-B408763F538F}"/>
              </a:ext>
            </a:extLst>
          </p:cNvPr>
          <p:cNvCxnSpPr>
            <a:cxnSpLocks/>
            <a:stCxn id="34" idx="5"/>
          </p:cNvCxnSpPr>
          <p:nvPr/>
        </p:nvCxnSpPr>
        <p:spPr>
          <a:xfrm>
            <a:off x="3524982" y="2973662"/>
            <a:ext cx="598783" cy="52983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 name="Textplatzhalter 2">
            <a:extLst>
              <a:ext uri="{FF2B5EF4-FFF2-40B4-BE49-F238E27FC236}">
                <a16:creationId xmlns:a16="http://schemas.microsoft.com/office/drawing/2014/main" id="{059DC699-2488-B8B6-A091-6B38BF21E943}"/>
              </a:ext>
            </a:extLst>
          </p:cNvPr>
          <p:cNvSpPr txBox="1">
            <a:spLocks/>
          </p:cNvSpPr>
          <p:nvPr/>
        </p:nvSpPr>
        <p:spPr>
          <a:xfrm>
            <a:off x="1721884" y="339635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 unter 500 Einheiten</a:t>
            </a:r>
          </a:p>
        </p:txBody>
      </p:sp>
      <p:sp>
        <p:nvSpPr>
          <p:cNvPr id="7" name="Textplatzhalter 2">
            <a:extLst>
              <a:ext uri="{FF2B5EF4-FFF2-40B4-BE49-F238E27FC236}">
                <a16:creationId xmlns:a16="http://schemas.microsoft.com/office/drawing/2014/main" id="{F85D379F-F615-2F29-A7B6-8537B8E02DBD}"/>
              </a:ext>
            </a:extLst>
          </p:cNvPr>
          <p:cNvSpPr txBox="1">
            <a:spLocks/>
          </p:cNvSpPr>
          <p:nvPr/>
        </p:nvSpPr>
        <p:spPr>
          <a:xfrm>
            <a:off x="3572589" y="3503492"/>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 über 500 Einheiten</a:t>
            </a:r>
          </a:p>
        </p:txBody>
      </p:sp>
      <p:cxnSp>
        <p:nvCxnSpPr>
          <p:cNvPr id="9" name="Gerade Verbindung mit Pfeil 8">
            <a:extLst>
              <a:ext uri="{FF2B5EF4-FFF2-40B4-BE49-F238E27FC236}">
                <a16:creationId xmlns:a16="http://schemas.microsoft.com/office/drawing/2014/main" id="{93B0C8BB-1F45-4534-1783-3BB70FD180CE}"/>
              </a:ext>
            </a:extLst>
          </p:cNvPr>
          <p:cNvCxnSpPr>
            <a:cxnSpLocks/>
            <a:endCxn id="13" idx="0"/>
          </p:cNvCxnSpPr>
          <p:nvPr/>
        </p:nvCxnSpPr>
        <p:spPr>
          <a:xfrm>
            <a:off x="2350534" y="4003393"/>
            <a:ext cx="1" cy="76010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2D86BDE8-A0F3-D1CA-694E-2E9C00DF9BE2}"/>
              </a:ext>
            </a:extLst>
          </p:cNvPr>
          <p:cNvSpPr/>
          <p:nvPr/>
        </p:nvSpPr>
        <p:spPr>
          <a:xfrm>
            <a:off x="3029597" y="2528780"/>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39" name="Rechteck 38">
            <a:extLst>
              <a:ext uri="{FF2B5EF4-FFF2-40B4-BE49-F238E27FC236}">
                <a16:creationId xmlns:a16="http://schemas.microsoft.com/office/drawing/2014/main" id="{B3187E37-2AE2-C1F5-4E56-82013EBB96AE}"/>
              </a:ext>
            </a:extLst>
          </p:cNvPr>
          <p:cNvSpPr/>
          <p:nvPr/>
        </p:nvSpPr>
        <p:spPr>
          <a:xfrm>
            <a:off x="3555428" y="4763494"/>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 kontaktieren</a:t>
            </a:r>
          </a:p>
        </p:txBody>
      </p:sp>
      <p:cxnSp>
        <p:nvCxnSpPr>
          <p:cNvPr id="40" name="Gerade Verbindung mit Pfeil 39">
            <a:extLst>
              <a:ext uri="{FF2B5EF4-FFF2-40B4-BE49-F238E27FC236}">
                <a16:creationId xmlns:a16="http://schemas.microsoft.com/office/drawing/2014/main" id="{BDEE94A4-ED1A-CF2B-8E5D-5D6422943D68}"/>
              </a:ext>
            </a:extLst>
          </p:cNvPr>
          <p:cNvCxnSpPr>
            <a:cxnSpLocks/>
          </p:cNvCxnSpPr>
          <p:nvPr/>
        </p:nvCxnSpPr>
        <p:spPr>
          <a:xfrm>
            <a:off x="4211985" y="4003393"/>
            <a:ext cx="1" cy="76010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8" name="Rechteck 47">
            <a:extLst>
              <a:ext uri="{FF2B5EF4-FFF2-40B4-BE49-F238E27FC236}">
                <a16:creationId xmlns:a16="http://schemas.microsoft.com/office/drawing/2014/main" id="{BAF76FA6-0576-6D93-E494-44303CEC3542}"/>
              </a:ext>
            </a:extLst>
          </p:cNvPr>
          <p:cNvSpPr/>
          <p:nvPr/>
        </p:nvSpPr>
        <p:spPr>
          <a:xfrm>
            <a:off x="7252448" y="2398885"/>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schreiben</a:t>
            </a:r>
          </a:p>
        </p:txBody>
      </p:sp>
      <p:sp>
        <p:nvSpPr>
          <p:cNvPr id="50" name="Textplatzhalter 2">
            <a:extLst>
              <a:ext uri="{FF2B5EF4-FFF2-40B4-BE49-F238E27FC236}">
                <a16:creationId xmlns:a16="http://schemas.microsoft.com/office/drawing/2014/main" id="{44F24176-F7FA-2D9E-1C1B-BD5CB319DA03}"/>
              </a:ext>
            </a:extLst>
          </p:cNvPr>
          <p:cNvSpPr txBox="1">
            <a:spLocks/>
          </p:cNvSpPr>
          <p:nvPr/>
        </p:nvSpPr>
        <p:spPr>
          <a:xfrm>
            <a:off x="7252447" y="1545332"/>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Modul  </a:t>
            </a:r>
            <a:br>
              <a:rPr lang="de-DE" sz="1200" b="1" dirty="0">
                <a:solidFill>
                  <a:srgbClr val="012656"/>
                </a:solidFill>
              </a:rPr>
            </a:br>
            <a:r>
              <a:rPr lang="de-DE" sz="1200" b="1" dirty="0">
                <a:solidFill>
                  <a:srgbClr val="012656"/>
                </a:solidFill>
              </a:rPr>
              <a:t>gehört</a:t>
            </a:r>
          </a:p>
        </p:txBody>
      </p:sp>
      <p:sp>
        <p:nvSpPr>
          <p:cNvPr id="51" name="Ellipse 50">
            <a:extLst>
              <a:ext uri="{FF2B5EF4-FFF2-40B4-BE49-F238E27FC236}">
                <a16:creationId xmlns:a16="http://schemas.microsoft.com/office/drawing/2014/main" id="{62F5015C-A831-B372-A060-7FAE0C1BFAD7}"/>
              </a:ext>
            </a:extLst>
          </p:cNvPr>
          <p:cNvSpPr/>
          <p:nvPr/>
        </p:nvSpPr>
        <p:spPr>
          <a:xfrm>
            <a:off x="7590907" y="3232781"/>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52" name="Textplatzhalter 2">
            <a:extLst>
              <a:ext uri="{FF2B5EF4-FFF2-40B4-BE49-F238E27FC236}">
                <a16:creationId xmlns:a16="http://schemas.microsoft.com/office/drawing/2014/main" id="{37384CC3-598B-E89A-E4C7-95947685FC03}"/>
              </a:ext>
            </a:extLst>
          </p:cNvPr>
          <p:cNvSpPr txBox="1">
            <a:spLocks/>
          </p:cNvSpPr>
          <p:nvPr/>
        </p:nvSpPr>
        <p:spPr>
          <a:xfrm>
            <a:off x="6096000" y="394996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bestanden</a:t>
            </a:r>
          </a:p>
        </p:txBody>
      </p:sp>
      <p:sp>
        <p:nvSpPr>
          <p:cNvPr id="53" name="Textplatzhalter 2">
            <a:extLst>
              <a:ext uri="{FF2B5EF4-FFF2-40B4-BE49-F238E27FC236}">
                <a16:creationId xmlns:a16="http://schemas.microsoft.com/office/drawing/2014/main" id="{44826A71-6D8A-788B-E0DD-87E44D7EA7C6}"/>
              </a:ext>
            </a:extLst>
          </p:cNvPr>
          <p:cNvSpPr txBox="1">
            <a:spLocks/>
          </p:cNvSpPr>
          <p:nvPr/>
        </p:nvSpPr>
        <p:spPr>
          <a:xfrm>
            <a:off x="8342480" y="394996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Nicht bestanden</a:t>
            </a:r>
          </a:p>
        </p:txBody>
      </p:sp>
      <p:sp>
        <p:nvSpPr>
          <p:cNvPr id="57" name="Rechteck 56">
            <a:extLst>
              <a:ext uri="{FF2B5EF4-FFF2-40B4-BE49-F238E27FC236}">
                <a16:creationId xmlns:a16="http://schemas.microsoft.com/office/drawing/2014/main" id="{9DB2EB62-930E-451D-7AD6-94CE76F343E7}"/>
              </a:ext>
            </a:extLst>
          </p:cNvPr>
          <p:cNvSpPr/>
          <p:nvPr/>
        </p:nvSpPr>
        <p:spPr>
          <a:xfrm>
            <a:off x="8342479" y="4858871"/>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ob 3. Versuch</a:t>
            </a:r>
          </a:p>
        </p:txBody>
      </p:sp>
      <p:cxnSp>
        <p:nvCxnSpPr>
          <p:cNvPr id="58" name="Gerade Verbindung mit Pfeil 57">
            <a:extLst>
              <a:ext uri="{FF2B5EF4-FFF2-40B4-BE49-F238E27FC236}">
                <a16:creationId xmlns:a16="http://schemas.microsoft.com/office/drawing/2014/main" id="{C5619214-7FE7-7213-6A89-CF9A7716CA7F}"/>
              </a:ext>
            </a:extLst>
          </p:cNvPr>
          <p:cNvCxnSpPr>
            <a:cxnSpLocks/>
          </p:cNvCxnSpPr>
          <p:nvPr/>
        </p:nvCxnSpPr>
        <p:spPr>
          <a:xfrm>
            <a:off x="7881097" y="2143023"/>
            <a:ext cx="0" cy="255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0" name="Gerade Verbindung mit Pfeil 59">
            <a:extLst>
              <a:ext uri="{FF2B5EF4-FFF2-40B4-BE49-F238E27FC236}">
                <a16:creationId xmlns:a16="http://schemas.microsoft.com/office/drawing/2014/main" id="{45051348-B899-1192-AAB7-16403F12C054}"/>
              </a:ext>
            </a:extLst>
          </p:cNvPr>
          <p:cNvCxnSpPr>
            <a:cxnSpLocks/>
          </p:cNvCxnSpPr>
          <p:nvPr/>
        </p:nvCxnSpPr>
        <p:spPr>
          <a:xfrm>
            <a:off x="7868166" y="2757759"/>
            <a:ext cx="0" cy="50701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1" name="Gerade Verbindung mit Pfeil 60">
            <a:extLst>
              <a:ext uri="{FF2B5EF4-FFF2-40B4-BE49-F238E27FC236}">
                <a16:creationId xmlns:a16="http://schemas.microsoft.com/office/drawing/2014/main" id="{0A13C25B-6D78-01E6-C144-4415819F8DDD}"/>
              </a:ext>
            </a:extLst>
          </p:cNvPr>
          <p:cNvCxnSpPr>
            <a:cxnSpLocks/>
            <a:stCxn id="51" idx="3"/>
            <a:endCxn id="52" idx="5"/>
          </p:cNvCxnSpPr>
          <p:nvPr/>
        </p:nvCxnSpPr>
        <p:spPr>
          <a:xfrm flipH="1">
            <a:off x="7201540" y="3677663"/>
            <a:ext cx="474362"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3" name="Gerade Verbindung mit Pfeil 62">
            <a:extLst>
              <a:ext uri="{FF2B5EF4-FFF2-40B4-BE49-F238E27FC236}">
                <a16:creationId xmlns:a16="http://schemas.microsoft.com/office/drawing/2014/main" id="{D0D70EF2-8077-1F30-5F8C-9A453C4132C3}"/>
              </a:ext>
            </a:extLst>
          </p:cNvPr>
          <p:cNvCxnSpPr>
            <a:cxnSpLocks/>
            <a:stCxn id="51" idx="5"/>
            <a:endCxn id="53" idx="4"/>
          </p:cNvCxnSpPr>
          <p:nvPr/>
        </p:nvCxnSpPr>
        <p:spPr>
          <a:xfrm>
            <a:off x="8086292" y="3677663"/>
            <a:ext cx="407949"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7" name="Gerade Verbindung mit Pfeil 66">
            <a:extLst>
              <a:ext uri="{FF2B5EF4-FFF2-40B4-BE49-F238E27FC236}">
                <a16:creationId xmlns:a16="http://schemas.microsoft.com/office/drawing/2014/main" id="{C7758153-8542-9DF3-0631-DDFBFBB1D430}"/>
              </a:ext>
            </a:extLst>
          </p:cNvPr>
          <p:cNvCxnSpPr>
            <a:cxnSpLocks/>
          </p:cNvCxnSpPr>
          <p:nvPr/>
        </p:nvCxnSpPr>
        <p:spPr>
          <a:xfrm>
            <a:off x="8971130" y="4557009"/>
            <a:ext cx="0" cy="301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1" name="Ellipse 70">
            <a:extLst>
              <a:ext uri="{FF2B5EF4-FFF2-40B4-BE49-F238E27FC236}">
                <a16:creationId xmlns:a16="http://schemas.microsoft.com/office/drawing/2014/main" id="{2D25E8DC-8BFA-E610-9F27-5546441A013B}"/>
              </a:ext>
            </a:extLst>
          </p:cNvPr>
          <p:cNvSpPr/>
          <p:nvPr/>
        </p:nvSpPr>
        <p:spPr>
          <a:xfrm>
            <a:off x="8680939" y="5686845"/>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cxnSp>
        <p:nvCxnSpPr>
          <p:cNvPr id="72" name="Gerade Verbindung mit Pfeil 71">
            <a:extLst>
              <a:ext uri="{FF2B5EF4-FFF2-40B4-BE49-F238E27FC236}">
                <a16:creationId xmlns:a16="http://schemas.microsoft.com/office/drawing/2014/main" id="{C47F0780-1037-0C1A-F9CB-9F9C7543B31B}"/>
              </a:ext>
            </a:extLst>
          </p:cNvPr>
          <p:cNvCxnSpPr>
            <a:cxnSpLocks/>
            <a:stCxn id="57" idx="2"/>
            <a:endCxn id="71" idx="0"/>
          </p:cNvCxnSpPr>
          <p:nvPr/>
        </p:nvCxnSpPr>
        <p:spPr>
          <a:xfrm flipH="1">
            <a:off x="8971129" y="5465914"/>
            <a:ext cx="1" cy="22093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0" name="Textplatzhalter 2">
            <a:extLst>
              <a:ext uri="{FF2B5EF4-FFF2-40B4-BE49-F238E27FC236}">
                <a16:creationId xmlns:a16="http://schemas.microsoft.com/office/drawing/2014/main" id="{FE6B0A1A-5901-59C4-CA74-8A26F497BB4C}"/>
              </a:ext>
            </a:extLst>
          </p:cNvPr>
          <p:cNvSpPr txBox="1">
            <a:spLocks/>
          </p:cNvSpPr>
          <p:nvPr/>
        </p:nvSpPr>
        <p:spPr>
          <a:xfrm>
            <a:off x="9776833" y="580338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3. Versuch</a:t>
            </a:r>
          </a:p>
        </p:txBody>
      </p:sp>
      <p:sp>
        <p:nvSpPr>
          <p:cNvPr id="81" name="Textplatzhalter 2">
            <a:extLst>
              <a:ext uri="{FF2B5EF4-FFF2-40B4-BE49-F238E27FC236}">
                <a16:creationId xmlns:a16="http://schemas.microsoft.com/office/drawing/2014/main" id="{FAC8B3D5-0B4A-845A-CC64-C11EC2FBC2F0}"/>
              </a:ext>
            </a:extLst>
          </p:cNvPr>
          <p:cNvSpPr txBox="1">
            <a:spLocks/>
          </p:cNvSpPr>
          <p:nvPr/>
        </p:nvSpPr>
        <p:spPr>
          <a:xfrm>
            <a:off x="6827421" y="580338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Kein 3. Versuch</a:t>
            </a:r>
          </a:p>
        </p:txBody>
      </p:sp>
      <p:cxnSp>
        <p:nvCxnSpPr>
          <p:cNvPr id="82" name="Gerade Verbindung mit Pfeil 81">
            <a:extLst>
              <a:ext uri="{FF2B5EF4-FFF2-40B4-BE49-F238E27FC236}">
                <a16:creationId xmlns:a16="http://schemas.microsoft.com/office/drawing/2014/main" id="{547AA20B-C9A7-1A3B-9006-E025035C1616}"/>
              </a:ext>
            </a:extLst>
          </p:cNvPr>
          <p:cNvCxnSpPr>
            <a:cxnSpLocks/>
            <a:stCxn id="71" idx="2"/>
            <a:endCxn id="81" idx="0"/>
          </p:cNvCxnSpPr>
          <p:nvPr/>
        </p:nvCxnSpPr>
        <p:spPr>
          <a:xfrm flipH="1">
            <a:off x="8084722" y="5947451"/>
            <a:ext cx="596217"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4" name="Gerade Verbindung mit Pfeil 83">
            <a:extLst>
              <a:ext uri="{FF2B5EF4-FFF2-40B4-BE49-F238E27FC236}">
                <a16:creationId xmlns:a16="http://schemas.microsoft.com/office/drawing/2014/main" id="{D7053163-8E60-8B53-6DC9-355AC4209299}"/>
              </a:ext>
            </a:extLst>
          </p:cNvPr>
          <p:cNvCxnSpPr>
            <a:cxnSpLocks/>
            <a:stCxn id="71" idx="6"/>
            <a:endCxn id="80" idx="3"/>
          </p:cNvCxnSpPr>
          <p:nvPr/>
        </p:nvCxnSpPr>
        <p:spPr>
          <a:xfrm>
            <a:off x="9261319" y="5947451"/>
            <a:ext cx="515514"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450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0008-DD6D-A17F-582D-F2DC26CB423A}"/>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80C154B-E1E8-6367-B99E-ECD893B97AC5}"/>
              </a:ext>
            </a:extLst>
          </p:cNvPr>
          <p:cNvSpPr>
            <a:spLocks noGrp="1"/>
          </p:cNvSpPr>
          <p:nvPr>
            <p:ph type="title"/>
          </p:nvPr>
        </p:nvSpPr>
        <p:spPr/>
        <p:txBody>
          <a:bodyPr/>
          <a:lstStyle/>
          <a:p>
            <a:r>
              <a:rPr lang="de-DE" dirty="0" err="1"/>
              <a:t>Sprachkonstrukte</a:t>
            </a:r>
            <a:r>
              <a:rPr lang="de-DE" dirty="0"/>
              <a:t>: OR</a:t>
            </a:r>
          </a:p>
        </p:txBody>
      </p:sp>
      <p:sp>
        <p:nvSpPr>
          <p:cNvPr id="6" name="Textplatzhalter 5">
            <a:extLst>
              <a:ext uri="{FF2B5EF4-FFF2-40B4-BE49-F238E27FC236}">
                <a16:creationId xmlns:a16="http://schemas.microsoft.com/office/drawing/2014/main" id="{5F60386B-8CDA-9075-B4BC-365D277BD4E4}"/>
              </a:ext>
            </a:extLst>
          </p:cNvPr>
          <p:cNvSpPr>
            <a:spLocks noGrp="1"/>
          </p:cNvSpPr>
          <p:nvPr>
            <p:ph type="body" sz="quarter" idx="12"/>
          </p:nvPr>
        </p:nvSpPr>
        <p:spPr>
          <a:xfrm>
            <a:off x="2811780" y="1288022"/>
            <a:ext cx="8913495" cy="2140977"/>
          </a:xfrm>
        </p:spPr>
        <p:txBody>
          <a:bodyPr/>
          <a:lstStyle/>
          <a:p>
            <a:pPr marL="0" indent="0">
              <a:buNone/>
            </a:pPr>
            <a:r>
              <a:rPr lang="de-DE" sz="1800" dirty="0"/>
              <a:t>Bei einem </a:t>
            </a:r>
            <a:r>
              <a:rPr lang="de-DE" sz="1800" b="1" dirty="0"/>
              <a:t>Inkl. OR-Split-Konnektor</a:t>
            </a:r>
            <a:r>
              <a:rPr lang="de-DE" sz="1800" dirty="0"/>
              <a:t> wird der Kontrollfluss in mehreren Abläufen aufgeteilt. </a:t>
            </a:r>
            <a:r>
              <a:rPr lang="de-DE" sz="1800" b="1" dirty="0"/>
              <a:t>Mind. ein Zweige </a:t>
            </a:r>
            <a:r>
              <a:rPr lang="de-DE" sz="1800" dirty="0"/>
              <a:t>wird durchgeführt. Bei einem </a:t>
            </a:r>
            <a:r>
              <a:rPr lang="de-DE" sz="1800" b="1" dirty="0"/>
              <a:t>Inkl. OR-</a:t>
            </a:r>
            <a:r>
              <a:rPr lang="de-DE" sz="1800" b="1" dirty="0" err="1"/>
              <a:t>Join</a:t>
            </a:r>
            <a:r>
              <a:rPr lang="de-DE" sz="1800" b="1" dirty="0"/>
              <a:t>-</a:t>
            </a:r>
            <a:r>
              <a:rPr lang="de-DE" sz="1800" b="1" dirty="0" err="1"/>
              <a:t>Konnector</a:t>
            </a:r>
            <a:r>
              <a:rPr lang="de-DE" sz="1800" b="1" dirty="0"/>
              <a:t> </a:t>
            </a:r>
            <a:r>
              <a:rPr lang="de-DE" sz="1800" dirty="0"/>
              <a:t>werden alle Kontrollflüsse zusammen geführt und anschließend in mind. einem Pfad im Prozess weiter gegangen</a:t>
            </a:r>
          </a:p>
          <a:p>
            <a:pPr marL="0" indent="0">
              <a:lnSpc>
                <a:spcPct val="150000"/>
              </a:lnSpc>
              <a:buNone/>
            </a:pPr>
            <a:br>
              <a:rPr lang="de-DE" sz="1800" dirty="0"/>
            </a:br>
            <a:endParaRPr lang="de-DE" sz="1800" dirty="0"/>
          </a:p>
        </p:txBody>
      </p:sp>
      <p:sp>
        <p:nvSpPr>
          <p:cNvPr id="10" name="Textfeld 9">
            <a:extLst>
              <a:ext uri="{FF2B5EF4-FFF2-40B4-BE49-F238E27FC236}">
                <a16:creationId xmlns:a16="http://schemas.microsoft.com/office/drawing/2014/main" id="{94DF5BF5-98B6-7F4C-644C-7E24265FBAB8}"/>
              </a:ext>
            </a:extLst>
          </p:cNvPr>
          <p:cNvSpPr txBox="1"/>
          <p:nvPr/>
        </p:nvSpPr>
        <p:spPr>
          <a:xfrm>
            <a:off x="688020" y="1904331"/>
            <a:ext cx="1688283" cy="400110"/>
          </a:xfrm>
          <a:prstGeom prst="rect">
            <a:avLst/>
          </a:prstGeom>
          <a:noFill/>
        </p:spPr>
        <p:txBody>
          <a:bodyPr wrap="none" rtlCol="0">
            <a:spAutoFit/>
          </a:bodyPr>
          <a:lstStyle/>
          <a:p>
            <a:r>
              <a:rPr lang="de-DE" sz="2000" b="1" dirty="0"/>
              <a:t>OR</a:t>
            </a:r>
            <a:r>
              <a:rPr lang="de-DE" sz="2000" dirty="0"/>
              <a:t> Konnektor</a:t>
            </a:r>
          </a:p>
        </p:txBody>
      </p:sp>
      <p:sp>
        <p:nvSpPr>
          <p:cNvPr id="12" name="Textplatzhalter 2">
            <a:extLst>
              <a:ext uri="{FF2B5EF4-FFF2-40B4-BE49-F238E27FC236}">
                <a16:creationId xmlns:a16="http://schemas.microsoft.com/office/drawing/2014/main" id="{E2336E81-5B56-B523-9630-A02BDCA6E861}"/>
              </a:ext>
            </a:extLst>
          </p:cNvPr>
          <p:cNvSpPr txBox="1">
            <a:spLocks/>
          </p:cNvSpPr>
          <p:nvPr/>
        </p:nvSpPr>
        <p:spPr>
          <a:xfrm>
            <a:off x="2996043" y="357120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13" name="Rechteck 12">
            <a:extLst>
              <a:ext uri="{FF2B5EF4-FFF2-40B4-BE49-F238E27FC236}">
                <a16:creationId xmlns:a16="http://schemas.microsoft.com/office/drawing/2014/main" id="{750828F5-FD1A-043F-A586-EDAC1F963CF2}"/>
              </a:ext>
            </a:extLst>
          </p:cNvPr>
          <p:cNvSpPr/>
          <p:nvPr/>
        </p:nvSpPr>
        <p:spPr>
          <a:xfrm>
            <a:off x="2010420" y="54933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Funktion1</a:t>
            </a:r>
          </a:p>
        </p:txBody>
      </p:sp>
      <p:sp>
        <p:nvSpPr>
          <p:cNvPr id="14" name="Rechteck 13">
            <a:extLst>
              <a:ext uri="{FF2B5EF4-FFF2-40B4-BE49-F238E27FC236}">
                <a16:creationId xmlns:a16="http://schemas.microsoft.com/office/drawing/2014/main" id="{D4B3A37B-1D76-4147-7BAC-F939EC225B0F}"/>
              </a:ext>
            </a:extLst>
          </p:cNvPr>
          <p:cNvSpPr/>
          <p:nvPr/>
        </p:nvSpPr>
        <p:spPr>
          <a:xfrm>
            <a:off x="3767568" y="54933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Funktion2</a:t>
            </a:r>
          </a:p>
        </p:txBody>
      </p:sp>
      <p:cxnSp>
        <p:nvCxnSpPr>
          <p:cNvPr id="15" name="Gerade Verbindung mit Pfeil 14">
            <a:extLst>
              <a:ext uri="{FF2B5EF4-FFF2-40B4-BE49-F238E27FC236}">
                <a16:creationId xmlns:a16="http://schemas.microsoft.com/office/drawing/2014/main" id="{8493034F-5C7B-AC14-C7DA-79A887EBE743}"/>
              </a:ext>
            </a:extLst>
          </p:cNvPr>
          <p:cNvCxnSpPr>
            <a:cxnSpLocks/>
          </p:cNvCxnSpPr>
          <p:nvPr/>
        </p:nvCxnSpPr>
        <p:spPr>
          <a:xfrm>
            <a:off x="3557911" y="4178247"/>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86986256-39D1-726E-436F-687330344746}"/>
              </a:ext>
            </a:extLst>
          </p:cNvPr>
          <p:cNvCxnSpPr>
            <a:cxnSpLocks/>
            <a:endCxn id="13" idx="0"/>
          </p:cNvCxnSpPr>
          <p:nvPr/>
        </p:nvCxnSpPr>
        <p:spPr>
          <a:xfrm flipH="1">
            <a:off x="2639071" y="5096421"/>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BDF3C9E9-40B7-43DC-8399-47E624E8F3A2}"/>
              </a:ext>
            </a:extLst>
          </p:cNvPr>
          <p:cNvCxnSpPr>
            <a:cxnSpLocks/>
            <a:endCxn id="14" idx="0"/>
          </p:cNvCxnSpPr>
          <p:nvPr/>
        </p:nvCxnSpPr>
        <p:spPr>
          <a:xfrm>
            <a:off x="3557911" y="5096421"/>
            <a:ext cx="838308"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2" name="Textplatzhalter 2">
            <a:extLst>
              <a:ext uri="{FF2B5EF4-FFF2-40B4-BE49-F238E27FC236}">
                <a16:creationId xmlns:a16="http://schemas.microsoft.com/office/drawing/2014/main" id="{F2E58FF8-206F-16EF-4CCB-68C344A7D36A}"/>
              </a:ext>
            </a:extLst>
          </p:cNvPr>
          <p:cNvSpPr txBox="1">
            <a:spLocks/>
          </p:cNvSpPr>
          <p:nvPr/>
        </p:nvSpPr>
        <p:spPr>
          <a:xfrm>
            <a:off x="7824249" y="550513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43" name="Rechteck 42">
            <a:extLst>
              <a:ext uri="{FF2B5EF4-FFF2-40B4-BE49-F238E27FC236}">
                <a16:creationId xmlns:a16="http://schemas.microsoft.com/office/drawing/2014/main" id="{F50B414D-0A25-AE61-167B-8A973DBD253F}"/>
              </a:ext>
            </a:extLst>
          </p:cNvPr>
          <p:cNvSpPr/>
          <p:nvPr/>
        </p:nvSpPr>
        <p:spPr>
          <a:xfrm>
            <a:off x="6905409" y="369104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Funktion1</a:t>
            </a:r>
          </a:p>
        </p:txBody>
      </p:sp>
      <p:sp>
        <p:nvSpPr>
          <p:cNvPr id="44" name="Rechteck 43">
            <a:extLst>
              <a:ext uri="{FF2B5EF4-FFF2-40B4-BE49-F238E27FC236}">
                <a16:creationId xmlns:a16="http://schemas.microsoft.com/office/drawing/2014/main" id="{9104B56E-08CA-7F92-CA4E-BDF3F7740A5F}"/>
              </a:ext>
            </a:extLst>
          </p:cNvPr>
          <p:cNvSpPr/>
          <p:nvPr/>
        </p:nvSpPr>
        <p:spPr>
          <a:xfrm>
            <a:off x="8662557" y="369104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Funktion2</a:t>
            </a:r>
          </a:p>
        </p:txBody>
      </p:sp>
      <p:cxnSp>
        <p:nvCxnSpPr>
          <p:cNvPr id="45" name="Gerade Verbindung mit Pfeil 44">
            <a:extLst>
              <a:ext uri="{FF2B5EF4-FFF2-40B4-BE49-F238E27FC236}">
                <a16:creationId xmlns:a16="http://schemas.microsoft.com/office/drawing/2014/main" id="{B9856838-FE31-B168-EEA8-E2E2E8853C5D}"/>
              </a:ext>
            </a:extLst>
          </p:cNvPr>
          <p:cNvCxnSpPr>
            <a:cxnSpLocks/>
          </p:cNvCxnSpPr>
          <p:nvPr/>
        </p:nvCxnSpPr>
        <p:spPr>
          <a:xfrm flipH="1">
            <a:off x="8452899" y="5096421"/>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DFE331B6-043E-DC47-AB88-76D2DFC821B5}"/>
              </a:ext>
            </a:extLst>
          </p:cNvPr>
          <p:cNvCxnSpPr>
            <a:cxnSpLocks/>
            <a:stCxn id="44" idx="2"/>
          </p:cNvCxnSpPr>
          <p:nvPr/>
        </p:nvCxnSpPr>
        <p:spPr>
          <a:xfrm flipH="1">
            <a:off x="8658095" y="4298091"/>
            <a:ext cx="633113"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7" name="Gerade Verbindung mit Pfeil 46">
            <a:extLst>
              <a:ext uri="{FF2B5EF4-FFF2-40B4-BE49-F238E27FC236}">
                <a16:creationId xmlns:a16="http://schemas.microsoft.com/office/drawing/2014/main" id="{4ECECFBD-F514-BB9C-FBB2-E7A75198E780}"/>
              </a:ext>
            </a:extLst>
          </p:cNvPr>
          <p:cNvCxnSpPr>
            <a:cxnSpLocks/>
            <a:stCxn id="43" idx="2"/>
          </p:cNvCxnSpPr>
          <p:nvPr/>
        </p:nvCxnSpPr>
        <p:spPr>
          <a:xfrm>
            <a:off x="7534060" y="4298091"/>
            <a:ext cx="713645" cy="35344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5" name="Textfeld 54">
            <a:extLst>
              <a:ext uri="{FF2B5EF4-FFF2-40B4-BE49-F238E27FC236}">
                <a16:creationId xmlns:a16="http://schemas.microsoft.com/office/drawing/2014/main" id="{806188C5-919C-CE80-FBF4-34D9CD87CD79}"/>
              </a:ext>
            </a:extLst>
          </p:cNvPr>
          <p:cNvSpPr txBox="1"/>
          <p:nvPr/>
        </p:nvSpPr>
        <p:spPr>
          <a:xfrm>
            <a:off x="1093907" y="3987360"/>
            <a:ext cx="1370568" cy="830997"/>
          </a:xfrm>
          <a:prstGeom prst="rect">
            <a:avLst/>
          </a:prstGeom>
          <a:noFill/>
        </p:spPr>
        <p:txBody>
          <a:bodyPr wrap="none" lIns="0" tIns="0" rIns="0" bIns="0" rtlCol="0">
            <a:spAutoFit/>
          </a:bodyPr>
          <a:lstStyle/>
          <a:p>
            <a:r>
              <a:rPr lang="de-DE" sz="5400" b="1" dirty="0">
                <a:solidFill>
                  <a:srgbClr val="C00000"/>
                </a:solidFill>
              </a:rPr>
              <a:t>Split</a:t>
            </a:r>
            <a:endParaRPr lang="de-DE" sz="1400" b="1" dirty="0">
              <a:solidFill>
                <a:srgbClr val="C00000"/>
              </a:solidFill>
            </a:endParaRPr>
          </a:p>
        </p:txBody>
      </p:sp>
      <p:sp>
        <p:nvSpPr>
          <p:cNvPr id="56" name="Textfeld 55">
            <a:extLst>
              <a:ext uri="{FF2B5EF4-FFF2-40B4-BE49-F238E27FC236}">
                <a16:creationId xmlns:a16="http://schemas.microsoft.com/office/drawing/2014/main" id="{A9114235-1A18-D550-1CE6-964EABE7EDFD}"/>
              </a:ext>
            </a:extLst>
          </p:cNvPr>
          <p:cNvSpPr txBox="1"/>
          <p:nvPr/>
        </p:nvSpPr>
        <p:spPr>
          <a:xfrm>
            <a:off x="10419705" y="3971904"/>
            <a:ext cx="1138132" cy="830997"/>
          </a:xfrm>
          <a:prstGeom prst="rect">
            <a:avLst/>
          </a:prstGeom>
          <a:noFill/>
        </p:spPr>
        <p:txBody>
          <a:bodyPr wrap="none" lIns="0" tIns="0" rIns="0" bIns="0" rtlCol="0">
            <a:spAutoFit/>
          </a:bodyPr>
          <a:lstStyle/>
          <a:p>
            <a:r>
              <a:rPr lang="de-DE" sz="5400" b="1" dirty="0" err="1">
                <a:solidFill>
                  <a:srgbClr val="C00000"/>
                </a:solidFill>
              </a:rPr>
              <a:t>Join</a:t>
            </a:r>
            <a:endParaRPr lang="de-DE" sz="1400" b="1" dirty="0">
              <a:solidFill>
                <a:srgbClr val="C00000"/>
              </a:solidFill>
            </a:endParaRPr>
          </a:p>
        </p:txBody>
      </p:sp>
      <p:sp>
        <p:nvSpPr>
          <p:cNvPr id="3" name="Ellipse 2">
            <a:extLst>
              <a:ext uri="{FF2B5EF4-FFF2-40B4-BE49-F238E27FC236}">
                <a16:creationId xmlns:a16="http://schemas.microsoft.com/office/drawing/2014/main" id="{33926170-CCE9-DDFB-79E2-A7EC683612E0}"/>
              </a:ext>
            </a:extLst>
          </p:cNvPr>
          <p:cNvSpPr/>
          <p:nvPr/>
        </p:nvSpPr>
        <p:spPr>
          <a:xfrm>
            <a:off x="1326709" y="1229305"/>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4" name="Ellipse 3">
            <a:extLst>
              <a:ext uri="{FF2B5EF4-FFF2-40B4-BE49-F238E27FC236}">
                <a16:creationId xmlns:a16="http://schemas.microsoft.com/office/drawing/2014/main" id="{FB87265F-B870-D37C-0DC7-8A0D89073170}"/>
              </a:ext>
            </a:extLst>
          </p:cNvPr>
          <p:cNvSpPr/>
          <p:nvPr/>
        </p:nvSpPr>
        <p:spPr>
          <a:xfrm>
            <a:off x="3260286" y="4549017"/>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7" name="Ellipse 6">
            <a:extLst>
              <a:ext uri="{FF2B5EF4-FFF2-40B4-BE49-F238E27FC236}">
                <a16:creationId xmlns:a16="http://schemas.microsoft.com/office/drawing/2014/main" id="{A9D1DF72-E6E4-A903-E941-6A83B99703FC}"/>
              </a:ext>
            </a:extLst>
          </p:cNvPr>
          <p:cNvSpPr/>
          <p:nvPr/>
        </p:nvSpPr>
        <p:spPr>
          <a:xfrm>
            <a:off x="8172623" y="4549017"/>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Tree>
    <p:extLst>
      <p:ext uri="{BB962C8B-B14F-4D97-AF65-F5344CB8AC3E}">
        <p14:creationId xmlns:p14="http://schemas.microsoft.com/office/powerpoint/2010/main" val="1794513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7DC2-FAB7-9861-74AA-CA916B19632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ABDF1AE-31D2-05D9-EAF6-34A8C642AC10}"/>
              </a:ext>
            </a:extLst>
          </p:cNvPr>
          <p:cNvSpPr>
            <a:spLocks noGrp="1"/>
          </p:cNvSpPr>
          <p:nvPr>
            <p:ph type="title"/>
          </p:nvPr>
        </p:nvSpPr>
        <p:spPr/>
        <p:txBody>
          <a:bodyPr/>
          <a:lstStyle/>
          <a:p>
            <a:r>
              <a:rPr lang="de-DE" dirty="0" err="1"/>
              <a:t>Sprachkonstrukte</a:t>
            </a:r>
            <a:r>
              <a:rPr lang="de-DE" dirty="0"/>
              <a:t>: OR</a:t>
            </a:r>
          </a:p>
        </p:txBody>
      </p:sp>
      <p:sp>
        <p:nvSpPr>
          <p:cNvPr id="12" name="Textplatzhalter 2">
            <a:extLst>
              <a:ext uri="{FF2B5EF4-FFF2-40B4-BE49-F238E27FC236}">
                <a16:creationId xmlns:a16="http://schemas.microsoft.com/office/drawing/2014/main" id="{CCA575A9-E1DB-816D-E62D-101154FADD2B}"/>
              </a:ext>
            </a:extLst>
          </p:cNvPr>
          <p:cNvSpPr txBox="1">
            <a:spLocks/>
          </p:cNvSpPr>
          <p:nvPr/>
        </p:nvSpPr>
        <p:spPr>
          <a:xfrm>
            <a:off x="3496013" y="194910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Kunde betriff Restaurant</a:t>
            </a:r>
          </a:p>
        </p:txBody>
      </p:sp>
      <p:sp>
        <p:nvSpPr>
          <p:cNvPr id="13" name="Rechteck 12">
            <a:extLst>
              <a:ext uri="{FF2B5EF4-FFF2-40B4-BE49-F238E27FC236}">
                <a16:creationId xmlns:a16="http://schemas.microsoft.com/office/drawing/2014/main" id="{A6F1E2AA-AF44-D5EF-53F1-CDD3F90A65C8}"/>
              </a:ext>
            </a:extLst>
          </p:cNvPr>
          <p:cNvSpPr/>
          <p:nvPr/>
        </p:nvSpPr>
        <p:spPr>
          <a:xfrm>
            <a:off x="3841369" y="38712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Kunde bestellt Beilage</a:t>
            </a:r>
          </a:p>
        </p:txBody>
      </p:sp>
      <p:sp>
        <p:nvSpPr>
          <p:cNvPr id="14" name="Rechteck 13">
            <a:extLst>
              <a:ext uri="{FF2B5EF4-FFF2-40B4-BE49-F238E27FC236}">
                <a16:creationId xmlns:a16="http://schemas.microsoft.com/office/drawing/2014/main" id="{F4B097E1-32D3-5FCF-D6B2-A59657D6328B}"/>
              </a:ext>
            </a:extLst>
          </p:cNvPr>
          <p:cNvSpPr/>
          <p:nvPr/>
        </p:nvSpPr>
        <p:spPr>
          <a:xfrm>
            <a:off x="5172348" y="38712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Kunde bestellt Nachtisch</a:t>
            </a:r>
          </a:p>
        </p:txBody>
      </p:sp>
      <p:cxnSp>
        <p:nvCxnSpPr>
          <p:cNvPr id="15" name="Gerade Verbindung mit Pfeil 14">
            <a:extLst>
              <a:ext uri="{FF2B5EF4-FFF2-40B4-BE49-F238E27FC236}">
                <a16:creationId xmlns:a16="http://schemas.microsoft.com/office/drawing/2014/main" id="{C60BD78D-63E0-8932-C668-AA1CBFC1D8E1}"/>
              </a:ext>
            </a:extLst>
          </p:cNvPr>
          <p:cNvCxnSpPr>
            <a:cxnSpLocks/>
          </p:cNvCxnSpPr>
          <p:nvPr/>
        </p:nvCxnSpPr>
        <p:spPr>
          <a:xfrm>
            <a:off x="4057881" y="2556147"/>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3DD6C0B4-5C1A-347A-C582-48B4EAE5CD62}"/>
              </a:ext>
            </a:extLst>
          </p:cNvPr>
          <p:cNvCxnSpPr>
            <a:cxnSpLocks/>
            <a:endCxn id="10" idx="0"/>
          </p:cNvCxnSpPr>
          <p:nvPr/>
        </p:nvCxnSpPr>
        <p:spPr>
          <a:xfrm flipH="1">
            <a:off x="1791879" y="3416003"/>
            <a:ext cx="2086105" cy="4552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07121405-C267-96E3-2FA0-74D14BFB5D10}"/>
              </a:ext>
            </a:extLst>
          </p:cNvPr>
          <p:cNvCxnSpPr>
            <a:cxnSpLocks/>
            <a:endCxn id="14" idx="0"/>
          </p:cNvCxnSpPr>
          <p:nvPr/>
        </p:nvCxnSpPr>
        <p:spPr>
          <a:xfrm>
            <a:off x="4255492" y="3415898"/>
            <a:ext cx="1545507" cy="4553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Gerade Verbindung mit Pfeil 8">
            <a:extLst>
              <a:ext uri="{FF2B5EF4-FFF2-40B4-BE49-F238E27FC236}">
                <a16:creationId xmlns:a16="http://schemas.microsoft.com/office/drawing/2014/main" id="{60EA1711-E6F5-1C5D-DB5A-E39676018786}"/>
              </a:ext>
            </a:extLst>
          </p:cNvPr>
          <p:cNvCxnSpPr>
            <a:cxnSpLocks/>
            <a:endCxn id="16" idx="0"/>
          </p:cNvCxnSpPr>
          <p:nvPr/>
        </p:nvCxnSpPr>
        <p:spPr>
          <a:xfrm flipH="1">
            <a:off x="3122858" y="3431979"/>
            <a:ext cx="926274" cy="43930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6C5607DF-F92B-255E-5F00-1E592A951757}"/>
              </a:ext>
            </a:extLst>
          </p:cNvPr>
          <p:cNvCxnSpPr>
            <a:cxnSpLocks/>
            <a:endCxn id="13" idx="0"/>
          </p:cNvCxnSpPr>
          <p:nvPr/>
        </p:nvCxnSpPr>
        <p:spPr>
          <a:xfrm>
            <a:off x="4106681" y="3431979"/>
            <a:ext cx="363339" cy="43930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8" name="Ellipse 7">
            <a:extLst>
              <a:ext uri="{FF2B5EF4-FFF2-40B4-BE49-F238E27FC236}">
                <a16:creationId xmlns:a16="http://schemas.microsoft.com/office/drawing/2014/main" id="{9CC3CC16-A117-A641-9BDF-D156BE57D30F}"/>
              </a:ext>
            </a:extLst>
          </p:cNvPr>
          <p:cNvSpPr/>
          <p:nvPr/>
        </p:nvSpPr>
        <p:spPr>
          <a:xfrm>
            <a:off x="3741206" y="2952035"/>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10" name="Rechteck 9">
            <a:extLst>
              <a:ext uri="{FF2B5EF4-FFF2-40B4-BE49-F238E27FC236}">
                <a16:creationId xmlns:a16="http://schemas.microsoft.com/office/drawing/2014/main" id="{B1D090FD-B3B6-EEAC-3431-6B1C1D9A6C96}"/>
              </a:ext>
            </a:extLst>
          </p:cNvPr>
          <p:cNvSpPr/>
          <p:nvPr/>
        </p:nvSpPr>
        <p:spPr>
          <a:xfrm>
            <a:off x="1163228" y="38712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Kunde bestellt Getränk</a:t>
            </a:r>
          </a:p>
        </p:txBody>
      </p:sp>
      <p:sp>
        <p:nvSpPr>
          <p:cNvPr id="16" name="Rechteck 15">
            <a:extLst>
              <a:ext uri="{FF2B5EF4-FFF2-40B4-BE49-F238E27FC236}">
                <a16:creationId xmlns:a16="http://schemas.microsoft.com/office/drawing/2014/main" id="{AFCF0D19-D304-CE98-CE61-ED8E3FBF0F69}"/>
              </a:ext>
            </a:extLst>
          </p:cNvPr>
          <p:cNvSpPr/>
          <p:nvPr/>
        </p:nvSpPr>
        <p:spPr>
          <a:xfrm>
            <a:off x="2494207" y="387128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Kunde bestellt Hauptgericht</a:t>
            </a:r>
          </a:p>
        </p:txBody>
      </p:sp>
      <p:sp>
        <p:nvSpPr>
          <p:cNvPr id="27" name="Rechteck 26">
            <a:extLst>
              <a:ext uri="{FF2B5EF4-FFF2-40B4-BE49-F238E27FC236}">
                <a16:creationId xmlns:a16="http://schemas.microsoft.com/office/drawing/2014/main" id="{C248B88B-EE1B-0729-BF4D-32A11F8AEF3F}"/>
              </a:ext>
            </a:extLst>
          </p:cNvPr>
          <p:cNvSpPr/>
          <p:nvPr/>
        </p:nvSpPr>
        <p:spPr>
          <a:xfrm>
            <a:off x="9384546" y="1801926"/>
            <a:ext cx="1443250"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Terminbestätigung per E-Mail</a:t>
            </a:r>
          </a:p>
        </p:txBody>
      </p:sp>
      <p:sp>
        <p:nvSpPr>
          <p:cNvPr id="32" name="Rechteck 31">
            <a:extLst>
              <a:ext uri="{FF2B5EF4-FFF2-40B4-BE49-F238E27FC236}">
                <a16:creationId xmlns:a16="http://schemas.microsoft.com/office/drawing/2014/main" id="{89A5153A-94D1-4726-871A-3717BC6B15CF}"/>
              </a:ext>
            </a:extLst>
          </p:cNvPr>
          <p:cNvSpPr/>
          <p:nvPr/>
        </p:nvSpPr>
        <p:spPr>
          <a:xfrm>
            <a:off x="7581902" y="1801926"/>
            <a:ext cx="1443250"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Terminbestätigung per SMS</a:t>
            </a:r>
          </a:p>
        </p:txBody>
      </p:sp>
      <p:sp>
        <p:nvSpPr>
          <p:cNvPr id="33" name="Ellipse 32">
            <a:extLst>
              <a:ext uri="{FF2B5EF4-FFF2-40B4-BE49-F238E27FC236}">
                <a16:creationId xmlns:a16="http://schemas.microsoft.com/office/drawing/2014/main" id="{6B310EE3-7015-1D04-AC4C-1B0DD144A2E1}"/>
              </a:ext>
            </a:extLst>
          </p:cNvPr>
          <p:cNvSpPr/>
          <p:nvPr/>
        </p:nvSpPr>
        <p:spPr>
          <a:xfrm>
            <a:off x="9086921" y="2872843"/>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cxnSp>
        <p:nvCxnSpPr>
          <p:cNvPr id="38" name="Gerade Verbindung mit Pfeil 37">
            <a:extLst>
              <a:ext uri="{FF2B5EF4-FFF2-40B4-BE49-F238E27FC236}">
                <a16:creationId xmlns:a16="http://schemas.microsoft.com/office/drawing/2014/main" id="{CBD6AEE9-70E8-A644-E5B4-FC4DBA79BFF1}"/>
              </a:ext>
            </a:extLst>
          </p:cNvPr>
          <p:cNvCxnSpPr>
            <a:cxnSpLocks/>
            <a:endCxn id="33" idx="0"/>
          </p:cNvCxnSpPr>
          <p:nvPr/>
        </p:nvCxnSpPr>
        <p:spPr>
          <a:xfrm>
            <a:off x="8339953" y="2344514"/>
            <a:ext cx="1044593" cy="52832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21101B37-66B7-917B-2BB9-51AF3D74CC18}"/>
              </a:ext>
            </a:extLst>
          </p:cNvPr>
          <p:cNvCxnSpPr>
            <a:cxnSpLocks/>
            <a:endCxn id="33" idx="0"/>
          </p:cNvCxnSpPr>
          <p:nvPr/>
        </p:nvCxnSpPr>
        <p:spPr>
          <a:xfrm flipH="1">
            <a:off x="9384546" y="2408969"/>
            <a:ext cx="604364" cy="46387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0" name="Textplatzhalter 2">
            <a:extLst>
              <a:ext uri="{FF2B5EF4-FFF2-40B4-BE49-F238E27FC236}">
                <a16:creationId xmlns:a16="http://schemas.microsoft.com/office/drawing/2014/main" id="{1FFD1639-F94D-312C-A213-C967D90E5D35}"/>
              </a:ext>
            </a:extLst>
          </p:cNvPr>
          <p:cNvSpPr txBox="1">
            <a:spLocks/>
          </p:cNvSpPr>
          <p:nvPr/>
        </p:nvSpPr>
        <p:spPr>
          <a:xfrm>
            <a:off x="8755895" y="3871283"/>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Termin ist bestätigt</a:t>
            </a:r>
          </a:p>
        </p:txBody>
      </p:sp>
      <p:cxnSp>
        <p:nvCxnSpPr>
          <p:cNvPr id="51" name="Gerade Verbindung mit Pfeil 50">
            <a:extLst>
              <a:ext uri="{FF2B5EF4-FFF2-40B4-BE49-F238E27FC236}">
                <a16:creationId xmlns:a16="http://schemas.microsoft.com/office/drawing/2014/main" id="{DE58271A-EAF4-8C8C-B28D-0A20D4A91700}"/>
              </a:ext>
            </a:extLst>
          </p:cNvPr>
          <p:cNvCxnSpPr>
            <a:cxnSpLocks/>
          </p:cNvCxnSpPr>
          <p:nvPr/>
        </p:nvCxnSpPr>
        <p:spPr>
          <a:xfrm>
            <a:off x="9384546" y="3407409"/>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86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CFED34-D9EC-9AD8-31A5-415C7989BC89}"/>
              </a:ext>
            </a:extLst>
          </p:cNvPr>
          <p:cNvSpPr>
            <a:spLocks noGrp="1"/>
          </p:cNvSpPr>
          <p:nvPr>
            <p:ph type="title"/>
          </p:nvPr>
        </p:nvSpPr>
        <p:spPr/>
        <p:txBody>
          <a:bodyPr/>
          <a:lstStyle/>
          <a:p>
            <a:r>
              <a:rPr lang="de-DE" dirty="0"/>
              <a:t>Zusammenfassung EPK-Konnektoren</a:t>
            </a:r>
          </a:p>
        </p:txBody>
      </p:sp>
      <p:sp>
        <p:nvSpPr>
          <p:cNvPr id="10" name="Textplatzhalter 2">
            <a:extLst>
              <a:ext uri="{FF2B5EF4-FFF2-40B4-BE49-F238E27FC236}">
                <a16:creationId xmlns:a16="http://schemas.microsoft.com/office/drawing/2014/main" id="{6F783630-2579-145F-2D90-A89B303FE6BC}"/>
              </a:ext>
            </a:extLst>
          </p:cNvPr>
          <p:cNvSpPr txBox="1">
            <a:spLocks/>
          </p:cNvSpPr>
          <p:nvPr/>
        </p:nvSpPr>
        <p:spPr>
          <a:xfrm>
            <a:off x="2642713" y="589426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11" name="Rechteck 10">
            <a:extLst>
              <a:ext uri="{FF2B5EF4-FFF2-40B4-BE49-F238E27FC236}">
                <a16:creationId xmlns:a16="http://schemas.microsoft.com/office/drawing/2014/main" id="{BE108652-D16E-B7CF-D02E-CCE0D430FAEF}"/>
              </a:ext>
            </a:extLst>
          </p:cNvPr>
          <p:cNvSpPr/>
          <p:nvPr/>
        </p:nvSpPr>
        <p:spPr>
          <a:xfrm>
            <a:off x="1723873" y="4245278"/>
            <a:ext cx="1257301" cy="53456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sp>
        <p:nvSpPr>
          <p:cNvPr id="12" name="Rechteck 11">
            <a:extLst>
              <a:ext uri="{FF2B5EF4-FFF2-40B4-BE49-F238E27FC236}">
                <a16:creationId xmlns:a16="http://schemas.microsoft.com/office/drawing/2014/main" id="{D057ACA6-5BAF-4D90-96D0-8C5A192DE771}"/>
              </a:ext>
            </a:extLst>
          </p:cNvPr>
          <p:cNvSpPr/>
          <p:nvPr/>
        </p:nvSpPr>
        <p:spPr>
          <a:xfrm>
            <a:off x="3481021" y="4245278"/>
            <a:ext cx="1257301" cy="53456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13" name="Gerade Verbindung mit Pfeil 12">
            <a:extLst>
              <a:ext uri="{FF2B5EF4-FFF2-40B4-BE49-F238E27FC236}">
                <a16:creationId xmlns:a16="http://schemas.microsoft.com/office/drawing/2014/main" id="{4E173305-870E-351F-DE65-2A97169F1644}"/>
              </a:ext>
            </a:extLst>
          </p:cNvPr>
          <p:cNvCxnSpPr>
            <a:cxnSpLocks/>
          </p:cNvCxnSpPr>
          <p:nvPr/>
        </p:nvCxnSpPr>
        <p:spPr>
          <a:xfrm>
            <a:off x="3271364" y="5650650"/>
            <a:ext cx="0" cy="2380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865B28E8-0542-73EB-7326-9C9A63D0524D}"/>
              </a:ext>
            </a:extLst>
          </p:cNvPr>
          <p:cNvCxnSpPr>
            <a:cxnSpLocks/>
            <a:stCxn id="12" idx="2"/>
          </p:cNvCxnSpPr>
          <p:nvPr/>
        </p:nvCxnSpPr>
        <p:spPr>
          <a:xfrm flipH="1">
            <a:off x="3476559" y="4779844"/>
            <a:ext cx="633113" cy="4259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6B27E39A-2A4C-4B53-DE90-515157F3A346}"/>
              </a:ext>
            </a:extLst>
          </p:cNvPr>
          <p:cNvCxnSpPr>
            <a:cxnSpLocks/>
            <a:stCxn id="11" idx="2"/>
          </p:cNvCxnSpPr>
          <p:nvPr/>
        </p:nvCxnSpPr>
        <p:spPr>
          <a:xfrm>
            <a:off x="2352524" y="4779844"/>
            <a:ext cx="713645" cy="42592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DD3132FA-6BC9-33A4-0825-5FB5A29EB7DE}"/>
              </a:ext>
            </a:extLst>
          </p:cNvPr>
          <p:cNvSpPr txBox="1"/>
          <p:nvPr/>
        </p:nvSpPr>
        <p:spPr>
          <a:xfrm>
            <a:off x="427101" y="2209373"/>
            <a:ext cx="915315" cy="553998"/>
          </a:xfrm>
          <a:prstGeom prst="rect">
            <a:avLst/>
          </a:prstGeom>
          <a:noFill/>
        </p:spPr>
        <p:txBody>
          <a:bodyPr wrap="none" lIns="0" tIns="0" rIns="0" bIns="0" rtlCol="0">
            <a:spAutoFit/>
          </a:bodyPr>
          <a:lstStyle/>
          <a:p>
            <a:r>
              <a:rPr lang="de-DE" sz="3600" b="1" dirty="0">
                <a:solidFill>
                  <a:srgbClr val="FF9600"/>
                </a:solidFill>
              </a:rPr>
              <a:t>Split</a:t>
            </a:r>
            <a:endParaRPr lang="de-DE" sz="1000" b="1" dirty="0">
              <a:solidFill>
                <a:srgbClr val="FF9600"/>
              </a:solidFill>
            </a:endParaRPr>
          </a:p>
        </p:txBody>
      </p:sp>
      <p:sp>
        <p:nvSpPr>
          <p:cNvPr id="17" name="Textfeld 16">
            <a:extLst>
              <a:ext uri="{FF2B5EF4-FFF2-40B4-BE49-F238E27FC236}">
                <a16:creationId xmlns:a16="http://schemas.microsoft.com/office/drawing/2014/main" id="{B2DFCA7A-6476-9EAA-81EB-0616CE0B2BEA}"/>
              </a:ext>
            </a:extLst>
          </p:cNvPr>
          <p:cNvSpPr txBox="1"/>
          <p:nvPr/>
        </p:nvSpPr>
        <p:spPr>
          <a:xfrm>
            <a:off x="381279" y="5034923"/>
            <a:ext cx="758221" cy="553998"/>
          </a:xfrm>
          <a:prstGeom prst="rect">
            <a:avLst/>
          </a:prstGeom>
          <a:noFill/>
        </p:spPr>
        <p:txBody>
          <a:bodyPr wrap="none" lIns="0" tIns="0" rIns="0" bIns="0" rtlCol="0">
            <a:spAutoFit/>
          </a:bodyPr>
          <a:lstStyle/>
          <a:p>
            <a:r>
              <a:rPr lang="de-DE" sz="3600" b="1" dirty="0" err="1">
                <a:solidFill>
                  <a:srgbClr val="FF9600"/>
                </a:solidFill>
              </a:rPr>
              <a:t>Join</a:t>
            </a:r>
            <a:endParaRPr lang="de-DE" sz="1000" b="1" dirty="0">
              <a:solidFill>
                <a:srgbClr val="FF9600"/>
              </a:solidFill>
            </a:endParaRPr>
          </a:p>
        </p:txBody>
      </p:sp>
      <p:sp>
        <p:nvSpPr>
          <p:cNvPr id="19" name="Ellipse 18">
            <a:extLst>
              <a:ext uri="{FF2B5EF4-FFF2-40B4-BE49-F238E27FC236}">
                <a16:creationId xmlns:a16="http://schemas.microsoft.com/office/drawing/2014/main" id="{6FC0A61D-4DE6-3AE3-CDCC-FBFCAF33D6A9}"/>
              </a:ext>
            </a:extLst>
          </p:cNvPr>
          <p:cNvSpPr/>
          <p:nvPr/>
        </p:nvSpPr>
        <p:spPr>
          <a:xfrm>
            <a:off x="2991087" y="5103246"/>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
        <p:nvSpPr>
          <p:cNvPr id="50" name="Textplatzhalter 2">
            <a:extLst>
              <a:ext uri="{FF2B5EF4-FFF2-40B4-BE49-F238E27FC236}">
                <a16:creationId xmlns:a16="http://schemas.microsoft.com/office/drawing/2014/main" id="{8073D06F-94C5-4777-260E-31BA41BD7AE7}"/>
              </a:ext>
            </a:extLst>
          </p:cNvPr>
          <p:cNvSpPr txBox="1">
            <a:spLocks/>
          </p:cNvSpPr>
          <p:nvPr/>
        </p:nvSpPr>
        <p:spPr>
          <a:xfrm>
            <a:off x="6231619" y="57651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dirty="0">
                <a:solidFill>
                  <a:srgbClr val="012656"/>
                </a:solidFill>
              </a:rPr>
              <a:t>Ereignis</a:t>
            </a:r>
          </a:p>
        </p:txBody>
      </p:sp>
      <p:sp>
        <p:nvSpPr>
          <p:cNvPr id="51" name="Rechteck 50">
            <a:extLst>
              <a:ext uri="{FF2B5EF4-FFF2-40B4-BE49-F238E27FC236}">
                <a16:creationId xmlns:a16="http://schemas.microsoft.com/office/drawing/2014/main" id="{5646909F-303A-52B9-599C-B7DFEF6D8852}"/>
              </a:ext>
            </a:extLst>
          </p:cNvPr>
          <p:cNvSpPr/>
          <p:nvPr/>
        </p:nvSpPr>
        <p:spPr>
          <a:xfrm>
            <a:off x="5312779" y="4236231"/>
            <a:ext cx="1257301" cy="53456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sp>
        <p:nvSpPr>
          <p:cNvPr id="52" name="Rechteck 51">
            <a:extLst>
              <a:ext uri="{FF2B5EF4-FFF2-40B4-BE49-F238E27FC236}">
                <a16:creationId xmlns:a16="http://schemas.microsoft.com/office/drawing/2014/main" id="{224469AF-37D6-E4DF-7CA5-3FA49280B384}"/>
              </a:ext>
            </a:extLst>
          </p:cNvPr>
          <p:cNvSpPr/>
          <p:nvPr/>
        </p:nvSpPr>
        <p:spPr>
          <a:xfrm>
            <a:off x="7069927" y="4236231"/>
            <a:ext cx="1257301" cy="53456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53" name="Gerade Verbindung mit Pfeil 52">
            <a:extLst>
              <a:ext uri="{FF2B5EF4-FFF2-40B4-BE49-F238E27FC236}">
                <a16:creationId xmlns:a16="http://schemas.microsoft.com/office/drawing/2014/main" id="{8A1E436E-B802-4910-EE3E-35B145B026CC}"/>
              </a:ext>
            </a:extLst>
          </p:cNvPr>
          <p:cNvCxnSpPr>
            <a:cxnSpLocks/>
          </p:cNvCxnSpPr>
          <p:nvPr/>
        </p:nvCxnSpPr>
        <p:spPr>
          <a:xfrm flipH="1">
            <a:off x="6860269" y="5356458"/>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4E6D2C72-58C8-2B80-53D4-1246414C1F15}"/>
              </a:ext>
            </a:extLst>
          </p:cNvPr>
          <p:cNvCxnSpPr>
            <a:cxnSpLocks/>
            <a:stCxn id="52" idx="2"/>
          </p:cNvCxnSpPr>
          <p:nvPr/>
        </p:nvCxnSpPr>
        <p:spPr>
          <a:xfrm flipH="1">
            <a:off x="7065465" y="4770797"/>
            <a:ext cx="633113" cy="2550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5" name="Gerade Verbindung mit Pfeil 54">
            <a:extLst>
              <a:ext uri="{FF2B5EF4-FFF2-40B4-BE49-F238E27FC236}">
                <a16:creationId xmlns:a16="http://schemas.microsoft.com/office/drawing/2014/main" id="{218BB2CA-1E50-D138-5263-B2346F5894A0}"/>
              </a:ext>
            </a:extLst>
          </p:cNvPr>
          <p:cNvCxnSpPr>
            <a:cxnSpLocks/>
            <a:stCxn id="51" idx="2"/>
          </p:cNvCxnSpPr>
          <p:nvPr/>
        </p:nvCxnSpPr>
        <p:spPr>
          <a:xfrm>
            <a:off x="5941430" y="4770797"/>
            <a:ext cx="713645" cy="2550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56" name="Ellipse 55">
            <a:extLst>
              <a:ext uri="{FF2B5EF4-FFF2-40B4-BE49-F238E27FC236}">
                <a16:creationId xmlns:a16="http://schemas.microsoft.com/office/drawing/2014/main" id="{945E0166-D4BF-0F5A-5BA9-BB62E08F6154}"/>
              </a:ext>
            </a:extLst>
          </p:cNvPr>
          <p:cNvSpPr/>
          <p:nvPr/>
        </p:nvSpPr>
        <p:spPr>
          <a:xfrm>
            <a:off x="6570079" y="4967004"/>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62" name="Rechteck 61">
            <a:extLst>
              <a:ext uri="{FF2B5EF4-FFF2-40B4-BE49-F238E27FC236}">
                <a16:creationId xmlns:a16="http://schemas.microsoft.com/office/drawing/2014/main" id="{8A180381-E873-B2FF-0208-D13E1DC8FE67}"/>
              </a:ext>
            </a:extLst>
          </p:cNvPr>
          <p:cNvSpPr/>
          <p:nvPr/>
        </p:nvSpPr>
        <p:spPr>
          <a:xfrm>
            <a:off x="9715111" y="161965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64" name="Gerade Verbindung mit Pfeil 63">
            <a:extLst>
              <a:ext uri="{FF2B5EF4-FFF2-40B4-BE49-F238E27FC236}">
                <a16:creationId xmlns:a16="http://schemas.microsoft.com/office/drawing/2014/main" id="{CDEC02F6-E47E-1757-DF69-8CB40998A765}"/>
              </a:ext>
            </a:extLst>
          </p:cNvPr>
          <p:cNvCxnSpPr>
            <a:cxnSpLocks/>
          </p:cNvCxnSpPr>
          <p:nvPr/>
        </p:nvCxnSpPr>
        <p:spPr>
          <a:xfrm>
            <a:off x="10333077" y="2229387"/>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DB40631D-A906-7233-7EC7-214751F5759D}"/>
              </a:ext>
            </a:extLst>
          </p:cNvPr>
          <p:cNvCxnSpPr>
            <a:cxnSpLocks/>
          </p:cNvCxnSpPr>
          <p:nvPr/>
        </p:nvCxnSpPr>
        <p:spPr>
          <a:xfrm flipH="1">
            <a:off x="9443971" y="3170421"/>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6" name="Gerade Verbindung mit Pfeil 65">
            <a:extLst>
              <a:ext uri="{FF2B5EF4-FFF2-40B4-BE49-F238E27FC236}">
                <a16:creationId xmlns:a16="http://schemas.microsoft.com/office/drawing/2014/main" id="{CB54B353-B798-E061-5EEF-BFA21D8E34C2}"/>
              </a:ext>
            </a:extLst>
          </p:cNvPr>
          <p:cNvCxnSpPr>
            <a:cxnSpLocks/>
          </p:cNvCxnSpPr>
          <p:nvPr/>
        </p:nvCxnSpPr>
        <p:spPr>
          <a:xfrm>
            <a:off x="10333077" y="3147561"/>
            <a:ext cx="929526" cy="43204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7" name="Textplatzhalter 2">
            <a:extLst>
              <a:ext uri="{FF2B5EF4-FFF2-40B4-BE49-F238E27FC236}">
                <a16:creationId xmlns:a16="http://schemas.microsoft.com/office/drawing/2014/main" id="{048A64FA-8CA4-0694-BD6E-DD33D4E0C3E3}"/>
              </a:ext>
            </a:extLst>
          </p:cNvPr>
          <p:cNvSpPr txBox="1">
            <a:spLocks/>
          </p:cNvSpPr>
          <p:nvPr/>
        </p:nvSpPr>
        <p:spPr>
          <a:xfrm>
            <a:off x="8795883" y="423623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68" name="Rechteck 67">
            <a:extLst>
              <a:ext uri="{FF2B5EF4-FFF2-40B4-BE49-F238E27FC236}">
                <a16:creationId xmlns:a16="http://schemas.microsoft.com/office/drawing/2014/main" id="{2360703F-D72E-BD46-49BC-200FDAEE989A}"/>
              </a:ext>
            </a:extLst>
          </p:cNvPr>
          <p:cNvSpPr/>
          <p:nvPr/>
        </p:nvSpPr>
        <p:spPr>
          <a:xfrm>
            <a:off x="9765992" y="5788317"/>
            <a:ext cx="1257301" cy="53456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70" name="Gerade Verbindung mit Pfeil 69">
            <a:extLst>
              <a:ext uri="{FF2B5EF4-FFF2-40B4-BE49-F238E27FC236}">
                <a16:creationId xmlns:a16="http://schemas.microsoft.com/office/drawing/2014/main" id="{8686F20C-9423-83A3-669E-C5D8CC08F454}"/>
              </a:ext>
            </a:extLst>
          </p:cNvPr>
          <p:cNvCxnSpPr>
            <a:cxnSpLocks/>
          </p:cNvCxnSpPr>
          <p:nvPr/>
        </p:nvCxnSpPr>
        <p:spPr>
          <a:xfrm flipH="1">
            <a:off x="10324325" y="5394736"/>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EA101D1B-ACEA-9309-5A35-94BE1F928A2E}"/>
              </a:ext>
            </a:extLst>
          </p:cNvPr>
          <p:cNvCxnSpPr>
            <a:cxnSpLocks/>
            <a:endCxn id="79" idx="7"/>
          </p:cNvCxnSpPr>
          <p:nvPr/>
        </p:nvCxnSpPr>
        <p:spPr>
          <a:xfrm flipH="1">
            <a:off x="10529521" y="4841968"/>
            <a:ext cx="713645" cy="1329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6512813D-6D4B-57A4-D4F0-F9DD06D6F7AB}"/>
              </a:ext>
            </a:extLst>
          </p:cNvPr>
          <p:cNvCxnSpPr>
            <a:cxnSpLocks/>
            <a:endCxn id="79" idx="1"/>
          </p:cNvCxnSpPr>
          <p:nvPr/>
        </p:nvCxnSpPr>
        <p:spPr>
          <a:xfrm>
            <a:off x="9405485" y="4855496"/>
            <a:ext cx="713646" cy="1194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8" name="Ellipse 77">
            <a:extLst>
              <a:ext uri="{FF2B5EF4-FFF2-40B4-BE49-F238E27FC236}">
                <a16:creationId xmlns:a16="http://schemas.microsoft.com/office/drawing/2014/main" id="{26334F87-E75F-8D48-CD27-AFFE5ED17264}"/>
              </a:ext>
            </a:extLst>
          </p:cNvPr>
          <p:cNvSpPr/>
          <p:nvPr/>
        </p:nvSpPr>
        <p:spPr>
          <a:xfrm>
            <a:off x="10053573" y="2626991"/>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79" name="Ellipse 78">
            <a:extLst>
              <a:ext uri="{FF2B5EF4-FFF2-40B4-BE49-F238E27FC236}">
                <a16:creationId xmlns:a16="http://schemas.microsoft.com/office/drawing/2014/main" id="{E7AAD865-7C94-B0BB-9230-60AAC889EE8E}"/>
              </a:ext>
            </a:extLst>
          </p:cNvPr>
          <p:cNvSpPr/>
          <p:nvPr/>
        </p:nvSpPr>
        <p:spPr>
          <a:xfrm>
            <a:off x="10034136" y="4898591"/>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80" name="Textfeld 79">
            <a:extLst>
              <a:ext uri="{FF2B5EF4-FFF2-40B4-BE49-F238E27FC236}">
                <a16:creationId xmlns:a16="http://schemas.microsoft.com/office/drawing/2014/main" id="{D3A09403-2112-2516-DD1E-AACC02AEC166}"/>
              </a:ext>
            </a:extLst>
          </p:cNvPr>
          <p:cNvSpPr txBox="1"/>
          <p:nvPr/>
        </p:nvSpPr>
        <p:spPr>
          <a:xfrm>
            <a:off x="6386487" y="1034148"/>
            <a:ext cx="1038746" cy="677108"/>
          </a:xfrm>
          <a:prstGeom prst="rect">
            <a:avLst/>
          </a:prstGeom>
          <a:noFill/>
        </p:spPr>
        <p:txBody>
          <a:bodyPr wrap="none" lIns="0" tIns="0" rIns="0" bIns="0" rtlCol="0">
            <a:spAutoFit/>
          </a:bodyPr>
          <a:lstStyle/>
          <a:p>
            <a:r>
              <a:rPr lang="de-DE" sz="4400" b="1" dirty="0">
                <a:solidFill>
                  <a:srgbClr val="FF9600"/>
                </a:solidFill>
              </a:rPr>
              <a:t>XOR</a:t>
            </a:r>
            <a:endParaRPr lang="de-DE" sz="1100" b="1" dirty="0">
              <a:solidFill>
                <a:srgbClr val="FF9600"/>
              </a:solidFill>
            </a:endParaRPr>
          </a:p>
        </p:txBody>
      </p:sp>
      <p:sp>
        <p:nvSpPr>
          <p:cNvPr id="81" name="Textfeld 80">
            <a:extLst>
              <a:ext uri="{FF2B5EF4-FFF2-40B4-BE49-F238E27FC236}">
                <a16:creationId xmlns:a16="http://schemas.microsoft.com/office/drawing/2014/main" id="{678CC6F3-0176-2444-AF17-BF00604E14FA}"/>
              </a:ext>
            </a:extLst>
          </p:cNvPr>
          <p:cNvSpPr txBox="1"/>
          <p:nvPr/>
        </p:nvSpPr>
        <p:spPr>
          <a:xfrm>
            <a:off x="9851606" y="1034148"/>
            <a:ext cx="1091646" cy="677108"/>
          </a:xfrm>
          <a:prstGeom prst="rect">
            <a:avLst/>
          </a:prstGeom>
          <a:noFill/>
        </p:spPr>
        <p:txBody>
          <a:bodyPr wrap="none" lIns="0" tIns="0" rIns="0" bIns="0" rtlCol="0">
            <a:spAutoFit/>
          </a:bodyPr>
          <a:lstStyle/>
          <a:p>
            <a:r>
              <a:rPr lang="de-DE" sz="4400" b="1" dirty="0">
                <a:solidFill>
                  <a:srgbClr val="FF9600"/>
                </a:solidFill>
              </a:rPr>
              <a:t>AND</a:t>
            </a:r>
            <a:endParaRPr lang="de-DE" sz="1100" b="1" dirty="0">
              <a:solidFill>
                <a:srgbClr val="FF9600"/>
              </a:solidFill>
            </a:endParaRPr>
          </a:p>
        </p:txBody>
      </p:sp>
      <p:sp>
        <p:nvSpPr>
          <p:cNvPr id="82" name="Textfeld 81">
            <a:extLst>
              <a:ext uri="{FF2B5EF4-FFF2-40B4-BE49-F238E27FC236}">
                <a16:creationId xmlns:a16="http://schemas.microsoft.com/office/drawing/2014/main" id="{4E32B651-D359-4DE1-0E8A-E964D1CD6B8D}"/>
              </a:ext>
            </a:extLst>
          </p:cNvPr>
          <p:cNvSpPr txBox="1"/>
          <p:nvPr/>
        </p:nvSpPr>
        <p:spPr>
          <a:xfrm>
            <a:off x="2957675" y="1034148"/>
            <a:ext cx="718145" cy="677108"/>
          </a:xfrm>
          <a:prstGeom prst="rect">
            <a:avLst/>
          </a:prstGeom>
          <a:noFill/>
        </p:spPr>
        <p:txBody>
          <a:bodyPr wrap="none" lIns="0" tIns="0" rIns="0" bIns="0" rtlCol="0">
            <a:spAutoFit/>
          </a:bodyPr>
          <a:lstStyle/>
          <a:p>
            <a:r>
              <a:rPr lang="de-DE" sz="4400" b="1" dirty="0">
                <a:solidFill>
                  <a:srgbClr val="FF9600"/>
                </a:solidFill>
              </a:rPr>
              <a:t>OR</a:t>
            </a:r>
            <a:endParaRPr lang="de-DE" sz="1100" b="1" dirty="0">
              <a:solidFill>
                <a:srgbClr val="FF9600"/>
              </a:solidFill>
            </a:endParaRPr>
          </a:p>
        </p:txBody>
      </p:sp>
      <p:cxnSp>
        <p:nvCxnSpPr>
          <p:cNvPr id="84" name="Gerader Verbinder 83">
            <a:extLst>
              <a:ext uri="{FF2B5EF4-FFF2-40B4-BE49-F238E27FC236}">
                <a16:creationId xmlns:a16="http://schemas.microsoft.com/office/drawing/2014/main" id="{1D03ACDC-155A-A6AB-20F5-1C0E66AEF179}"/>
              </a:ext>
            </a:extLst>
          </p:cNvPr>
          <p:cNvCxnSpPr/>
          <p:nvPr/>
        </p:nvCxnSpPr>
        <p:spPr>
          <a:xfrm>
            <a:off x="4965700" y="1206500"/>
            <a:ext cx="0" cy="5174764"/>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Gerader Verbinder 84">
            <a:extLst>
              <a:ext uri="{FF2B5EF4-FFF2-40B4-BE49-F238E27FC236}">
                <a16:creationId xmlns:a16="http://schemas.microsoft.com/office/drawing/2014/main" id="{6D868FA5-6923-0378-4D80-097CEEE3F842}"/>
              </a:ext>
            </a:extLst>
          </p:cNvPr>
          <p:cNvCxnSpPr/>
          <p:nvPr/>
        </p:nvCxnSpPr>
        <p:spPr>
          <a:xfrm>
            <a:off x="8470900" y="1206500"/>
            <a:ext cx="0" cy="5174764"/>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platzhalter 2">
            <a:extLst>
              <a:ext uri="{FF2B5EF4-FFF2-40B4-BE49-F238E27FC236}">
                <a16:creationId xmlns:a16="http://schemas.microsoft.com/office/drawing/2014/main" id="{5D7A016A-43CB-C2DB-A688-6E8765D74D40}"/>
              </a:ext>
            </a:extLst>
          </p:cNvPr>
          <p:cNvSpPr txBox="1">
            <a:spLocks/>
          </p:cNvSpPr>
          <p:nvPr/>
        </p:nvSpPr>
        <p:spPr>
          <a:xfrm>
            <a:off x="8796272"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20" name="Textplatzhalter 2">
            <a:extLst>
              <a:ext uri="{FF2B5EF4-FFF2-40B4-BE49-F238E27FC236}">
                <a16:creationId xmlns:a16="http://schemas.microsoft.com/office/drawing/2014/main" id="{686DBBB1-A8F7-88BA-F36C-F05BBD13A0BA}"/>
              </a:ext>
            </a:extLst>
          </p:cNvPr>
          <p:cNvSpPr txBox="1">
            <a:spLocks/>
          </p:cNvSpPr>
          <p:nvPr/>
        </p:nvSpPr>
        <p:spPr>
          <a:xfrm>
            <a:off x="10633953"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22" name="Textplatzhalter 2">
            <a:extLst>
              <a:ext uri="{FF2B5EF4-FFF2-40B4-BE49-F238E27FC236}">
                <a16:creationId xmlns:a16="http://schemas.microsoft.com/office/drawing/2014/main" id="{EE475B49-E2AF-67B0-5F25-9BAD2FF1620C}"/>
              </a:ext>
            </a:extLst>
          </p:cNvPr>
          <p:cNvSpPr txBox="1">
            <a:spLocks/>
          </p:cNvSpPr>
          <p:nvPr/>
        </p:nvSpPr>
        <p:spPr>
          <a:xfrm>
            <a:off x="10614516" y="423623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29" name="Rechteck 28">
            <a:extLst>
              <a:ext uri="{FF2B5EF4-FFF2-40B4-BE49-F238E27FC236}">
                <a16:creationId xmlns:a16="http://schemas.microsoft.com/office/drawing/2014/main" id="{DD810B24-A330-70E5-94ED-ED3A583EE042}"/>
              </a:ext>
            </a:extLst>
          </p:cNvPr>
          <p:cNvSpPr/>
          <p:nvPr/>
        </p:nvSpPr>
        <p:spPr>
          <a:xfrm>
            <a:off x="6190187" y="161965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30" name="Gerade Verbindung mit Pfeil 29">
            <a:extLst>
              <a:ext uri="{FF2B5EF4-FFF2-40B4-BE49-F238E27FC236}">
                <a16:creationId xmlns:a16="http://schemas.microsoft.com/office/drawing/2014/main" id="{0AA496D5-EA2E-73AF-AC43-4FB2A39E09E3}"/>
              </a:ext>
            </a:extLst>
          </p:cNvPr>
          <p:cNvCxnSpPr>
            <a:cxnSpLocks/>
          </p:cNvCxnSpPr>
          <p:nvPr/>
        </p:nvCxnSpPr>
        <p:spPr>
          <a:xfrm>
            <a:off x="6808153" y="2229387"/>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C3ABE545-54DB-48E5-FF05-55FF548F3A19}"/>
              </a:ext>
            </a:extLst>
          </p:cNvPr>
          <p:cNvCxnSpPr>
            <a:cxnSpLocks/>
          </p:cNvCxnSpPr>
          <p:nvPr/>
        </p:nvCxnSpPr>
        <p:spPr>
          <a:xfrm flipH="1">
            <a:off x="5919047" y="3170421"/>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BA62AB9A-269C-A74E-7207-BE7CD2AC13C7}"/>
              </a:ext>
            </a:extLst>
          </p:cNvPr>
          <p:cNvCxnSpPr>
            <a:cxnSpLocks/>
          </p:cNvCxnSpPr>
          <p:nvPr/>
        </p:nvCxnSpPr>
        <p:spPr>
          <a:xfrm>
            <a:off x="6808153" y="3147561"/>
            <a:ext cx="929526" cy="43204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Textplatzhalter 2">
            <a:extLst>
              <a:ext uri="{FF2B5EF4-FFF2-40B4-BE49-F238E27FC236}">
                <a16:creationId xmlns:a16="http://schemas.microsoft.com/office/drawing/2014/main" id="{6DFD6513-0A90-7F1C-1829-E31F7133CECF}"/>
              </a:ext>
            </a:extLst>
          </p:cNvPr>
          <p:cNvSpPr txBox="1">
            <a:spLocks/>
          </p:cNvSpPr>
          <p:nvPr/>
        </p:nvSpPr>
        <p:spPr>
          <a:xfrm>
            <a:off x="5271348"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35" name="Textplatzhalter 2">
            <a:extLst>
              <a:ext uri="{FF2B5EF4-FFF2-40B4-BE49-F238E27FC236}">
                <a16:creationId xmlns:a16="http://schemas.microsoft.com/office/drawing/2014/main" id="{FE88BA0A-E914-FC6A-284F-4F94D4BD10AA}"/>
              </a:ext>
            </a:extLst>
          </p:cNvPr>
          <p:cNvSpPr txBox="1">
            <a:spLocks/>
          </p:cNvSpPr>
          <p:nvPr/>
        </p:nvSpPr>
        <p:spPr>
          <a:xfrm>
            <a:off x="7109029"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36" name="Ellipse 35">
            <a:extLst>
              <a:ext uri="{FF2B5EF4-FFF2-40B4-BE49-F238E27FC236}">
                <a16:creationId xmlns:a16="http://schemas.microsoft.com/office/drawing/2014/main" id="{2070457B-2698-93AF-8D8B-6EA0D1BF30A7}"/>
              </a:ext>
            </a:extLst>
          </p:cNvPr>
          <p:cNvSpPr/>
          <p:nvPr/>
        </p:nvSpPr>
        <p:spPr>
          <a:xfrm>
            <a:off x="6517963" y="2616154"/>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37" name="Rechteck 36">
            <a:extLst>
              <a:ext uri="{FF2B5EF4-FFF2-40B4-BE49-F238E27FC236}">
                <a16:creationId xmlns:a16="http://schemas.microsoft.com/office/drawing/2014/main" id="{3F394FF2-31BF-B1CB-1343-F71A8E5C9618}"/>
              </a:ext>
            </a:extLst>
          </p:cNvPr>
          <p:cNvSpPr/>
          <p:nvPr/>
        </p:nvSpPr>
        <p:spPr>
          <a:xfrm>
            <a:off x="2618556" y="161965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38" name="Gerade Verbindung mit Pfeil 37">
            <a:extLst>
              <a:ext uri="{FF2B5EF4-FFF2-40B4-BE49-F238E27FC236}">
                <a16:creationId xmlns:a16="http://schemas.microsoft.com/office/drawing/2014/main" id="{9F04989A-7107-F68F-6CB4-9ACBA9702578}"/>
              </a:ext>
            </a:extLst>
          </p:cNvPr>
          <p:cNvCxnSpPr>
            <a:cxnSpLocks/>
          </p:cNvCxnSpPr>
          <p:nvPr/>
        </p:nvCxnSpPr>
        <p:spPr>
          <a:xfrm>
            <a:off x="3236522" y="2229387"/>
            <a:ext cx="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B5E29258-4B9B-1E9C-0FF5-0A28372F811F}"/>
              </a:ext>
            </a:extLst>
          </p:cNvPr>
          <p:cNvCxnSpPr>
            <a:cxnSpLocks/>
          </p:cNvCxnSpPr>
          <p:nvPr/>
        </p:nvCxnSpPr>
        <p:spPr>
          <a:xfrm flipH="1">
            <a:off x="2347416" y="3170421"/>
            <a:ext cx="899790" cy="3969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5F1550D3-7C95-6785-726F-70C9C6659F4E}"/>
              </a:ext>
            </a:extLst>
          </p:cNvPr>
          <p:cNvCxnSpPr>
            <a:cxnSpLocks/>
          </p:cNvCxnSpPr>
          <p:nvPr/>
        </p:nvCxnSpPr>
        <p:spPr>
          <a:xfrm>
            <a:off x="3236522" y="3147561"/>
            <a:ext cx="929526" cy="43204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8" name="Textplatzhalter 2">
            <a:extLst>
              <a:ext uri="{FF2B5EF4-FFF2-40B4-BE49-F238E27FC236}">
                <a16:creationId xmlns:a16="http://schemas.microsoft.com/office/drawing/2014/main" id="{52FB1162-B2EB-608B-DF32-00062D45EAEC}"/>
              </a:ext>
            </a:extLst>
          </p:cNvPr>
          <p:cNvSpPr txBox="1">
            <a:spLocks/>
          </p:cNvSpPr>
          <p:nvPr/>
        </p:nvSpPr>
        <p:spPr>
          <a:xfrm>
            <a:off x="1699717"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49" name="Textplatzhalter 2">
            <a:extLst>
              <a:ext uri="{FF2B5EF4-FFF2-40B4-BE49-F238E27FC236}">
                <a16:creationId xmlns:a16="http://schemas.microsoft.com/office/drawing/2014/main" id="{8FE9910F-39D6-7B36-F3AD-4600ECFA3A31}"/>
              </a:ext>
            </a:extLst>
          </p:cNvPr>
          <p:cNvSpPr txBox="1">
            <a:spLocks/>
          </p:cNvSpPr>
          <p:nvPr/>
        </p:nvSpPr>
        <p:spPr>
          <a:xfrm>
            <a:off x="3537398" y="35796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800" b="1">
                <a:solidFill>
                  <a:srgbClr val="012656"/>
                </a:solidFill>
              </a:rPr>
              <a:t>Ereignis</a:t>
            </a:r>
            <a:endParaRPr lang="de-DE" sz="1800" b="1" dirty="0">
              <a:solidFill>
                <a:srgbClr val="012656"/>
              </a:solidFill>
            </a:endParaRPr>
          </a:p>
        </p:txBody>
      </p:sp>
      <p:sp>
        <p:nvSpPr>
          <p:cNvPr id="58" name="Ellipse 57">
            <a:extLst>
              <a:ext uri="{FF2B5EF4-FFF2-40B4-BE49-F238E27FC236}">
                <a16:creationId xmlns:a16="http://schemas.microsoft.com/office/drawing/2014/main" id="{815D127F-EB27-EE66-A0D0-0185E8C518D8}"/>
              </a:ext>
            </a:extLst>
          </p:cNvPr>
          <p:cNvSpPr/>
          <p:nvPr/>
        </p:nvSpPr>
        <p:spPr>
          <a:xfrm>
            <a:off x="2965027" y="2620986"/>
            <a:ext cx="595250" cy="53456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chemeClr val="tx1"/>
                </a:solidFill>
                <a:sym typeface="Symbol"/>
              </a:rPr>
              <a:t></a:t>
            </a:r>
            <a:endParaRPr lang="de-DE" sz="4000" b="1" dirty="0">
              <a:solidFill>
                <a:schemeClr val="tx1"/>
              </a:solidFill>
            </a:endParaRPr>
          </a:p>
        </p:txBody>
      </p:sp>
    </p:spTree>
    <p:extLst>
      <p:ext uri="{BB962C8B-B14F-4D97-AF65-F5344CB8AC3E}">
        <p14:creationId xmlns:p14="http://schemas.microsoft.com/office/powerpoint/2010/main" val="1560786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3694EF-F38C-C9F8-0768-12E987084958}"/>
              </a:ext>
            </a:extLst>
          </p:cNvPr>
          <p:cNvSpPr>
            <a:spLocks noGrp="1"/>
          </p:cNvSpPr>
          <p:nvPr>
            <p:ph type="title"/>
          </p:nvPr>
        </p:nvSpPr>
        <p:spPr/>
        <p:txBody>
          <a:bodyPr/>
          <a:lstStyle/>
          <a:p>
            <a:r>
              <a:rPr lang="de-DE" dirty="0" err="1"/>
              <a:t>Sprachkonstrukte</a:t>
            </a:r>
            <a:r>
              <a:rPr lang="de-DE" dirty="0"/>
              <a:t>: Überblick</a:t>
            </a:r>
          </a:p>
        </p:txBody>
      </p:sp>
      <p:graphicFrame>
        <p:nvGraphicFramePr>
          <p:cNvPr id="4" name="Tabelle 3">
            <a:extLst>
              <a:ext uri="{FF2B5EF4-FFF2-40B4-BE49-F238E27FC236}">
                <a16:creationId xmlns:a16="http://schemas.microsoft.com/office/drawing/2014/main" id="{C786A673-3B5C-83A2-E13D-81B2092F8098}"/>
              </a:ext>
            </a:extLst>
          </p:cNvPr>
          <p:cNvGraphicFramePr>
            <a:graphicFrameLocks noGrp="1"/>
          </p:cNvGraphicFramePr>
          <p:nvPr>
            <p:extLst>
              <p:ext uri="{D42A27DB-BD31-4B8C-83A1-F6EECF244321}">
                <p14:modId xmlns:p14="http://schemas.microsoft.com/office/powerpoint/2010/main" val="3847256449"/>
              </p:ext>
            </p:extLst>
          </p:nvPr>
        </p:nvGraphicFramePr>
        <p:xfrm>
          <a:off x="294188" y="1295613"/>
          <a:ext cx="11687175" cy="4637780"/>
        </p:xfrm>
        <a:graphic>
          <a:graphicData uri="http://schemas.openxmlformats.org/drawingml/2006/table">
            <a:tbl>
              <a:tblPr/>
              <a:tblGrid>
                <a:gridCol w="3895725">
                  <a:extLst>
                    <a:ext uri="{9D8B030D-6E8A-4147-A177-3AD203B41FA5}">
                      <a16:colId xmlns:a16="http://schemas.microsoft.com/office/drawing/2014/main" val="1288500944"/>
                    </a:ext>
                  </a:extLst>
                </a:gridCol>
                <a:gridCol w="3895725">
                  <a:extLst>
                    <a:ext uri="{9D8B030D-6E8A-4147-A177-3AD203B41FA5}">
                      <a16:colId xmlns:a16="http://schemas.microsoft.com/office/drawing/2014/main" val="3288395157"/>
                    </a:ext>
                  </a:extLst>
                </a:gridCol>
                <a:gridCol w="3895725">
                  <a:extLst>
                    <a:ext uri="{9D8B030D-6E8A-4147-A177-3AD203B41FA5}">
                      <a16:colId xmlns:a16="http://schemas.microsoft.com/office/drawing/2014/main" val="4075396614"/>
                    </a:ext>
                  </a:extLst>
                </a:gridCol>
              </a:tblGrid>
              <a:tr h="544725">
                <a:tc>
                  <a:txBody>
                    <a:bodyPr/>
                    <a:lstStyle/>
                    <a:p>
                      <a:pPr>
                        <a:buNone/>
                      </a:pPr>
                      <a:r>
                        <a:rPr lang="de-DE" sz="2400" b="1" dirty="0">
                          <a:solidFill>
                            <a:schemeClr val="bg1"/>
                          </a:solidFill>
                        </a:rPr>
                        <a:t>Element</a:t>
                      </a:r>
                    </a:p>
                  </a:txBody>
                  <a:tcPr anchor="ctr">
                    <a:lnL>
                      <a:noFill/>
                    </a:lnL>
                    <a:lnR>
                      <a:noFill/>
                    </a:lnR>
                    <a:lnT>
                      <a:noFill/>
                    </a:lnT>
                    <a:lnB>
                      <a:noFill/>
                    </a:lnB>
                    <a:solidFill>
                      <a:schemeClr val="bg2">
                        <a:lumMod val="25000"/>
                      </a:schemeClr>
                    </a:solidFill>
                  </a:tcPr>
                </a:tc>
                <a:tc>
                  <a:txBody>
                    <a:bodyPr/>
                    <a:lstStyle/>
                    <a:p>
                      <a:pPr>
                        <a:buNone/>
                      </a:pPr>
                      <a:r>
                        <a:rPr lang="de-DE" sz="2400" b="1" dirty="0">
                          <a:solidFill>
                            <a:schemeClr val="bg1"/>
                          </a:solidFill>
                        </a:rPr>
                        <a:t>Frage</a:t>
                      </a:r>
                    </a:p>
                  </a:txBody>
                  <a:tcPr anchor="ctr">
                    <a:lnL>
                      <a:noFill/>
                    </a:lnL>
                    <a:lnR>
                      <a:noFill/>
                    </a:lnR>
                    <a:lnT>
                      <a:noFill/>
                    </a:lnT>
                    <a:lnB>
                      <a:noFill/>
                    </a:lnB>
                    <a:solidFill>
                      <a:schemeClr val="bg2">
                        <a:lumMod val="25000"/>
                      </a:schemeClr>
                    </a:solidFill>
                  </a:tcPr>
                </a:tc>
                <a:tc>
                  <a:txBody>
                    <a:bodyPr/>
                    <a:lstStyle/>
                    <a:p>
                      <a:pPr>
                        <a:buNone/>
                      </a:pPr>
                      <a:r>
                        <a:rPr lang="de-DE" sz="2400" b="1" dirty="0">
                          <a:solidFill>
                            <a:schemeClr val="bg1"/>
                          </a:solidFill>
                        </a:rPr>
                        <a:t>Beispiel</a:t>
                      </a:r>
                    </a:p>
                  </a:txBody>
                  <a:tcPr anchor="ctr">
                    <a:lnL>
                      <a:noFill/>
                    </a:lnL>
                    <a:lnR>
                      <a:noFill/>
                    </a:lnR>
                    <a:lnT>
                      <a:noFill/>
                    </a:lnT>
                    <a:lnB>
                      <a:noFill/>
                    </a:lnB>
                    <a:solidFill>
                      <a:schemeClr val="bg2">
                        <a:lumMod val="25000"/>
                      </a:schemeClr>
                    </a:solidFill>
                  </a:tcPr>
                </a:tc>
                <a:extLst>
                  <a:ext uri="{0D108BD9-81ED-4DB2-BD59-A6C34878D82A}">
                    <a16:rowId xmlns:a16="http://schemas.microsoft.com/office/drawing/2014/main" val="1967543030"/>
                  </a:ext>
                </a:extLst>
              </a:tr>
              <a:tr h="676494">
                <a:tc>
                  <a:txBody>
                    <a:bodyPr/>
                    <a:lstStyle/>
                    <a:p>
                      <a:pPr>
                        <a:buNone/>
                      </a:pPr>
                      <a:r>
                        <a:rPr lang="de-DE" b="1" dirty="0"/>
                        <a:t>Ereignis</a:t>
                      </a:r>
                      <a:endParaRPr lang="de-DE" dirty="0"/>
                    </a:p>
                  </a:txBody>
                  <a:tcPr anchor="ctr">
                    <a:lnL>
                      <a:noFill/>
                    </a:lnL>
                    <a:lnR>
                      <a:noFill/>
                    </a:lnR>
                    <a:lnT>
                      <a:noFill/>
                    </a:lnT>
                    <a:lnB>
                      <a:noFill/>
                    </a:lnB>
                    <a:solidFill>
                      <a:schemeClr val="bg1">
                        <a:lumMod val="95000"/>
                      </a:schemeClr>
                    </a:solidFill>
                  </a:tcPr>
                </a:tc>
                <a:tc>
                  <a:txBody>
                    <a:bodyPr/>
                    <a:lstStyle/>
                    <a:p>
                      <a:pPr>
                        <a:buNone/>
                      </a:pPr>
                      <a:r>
                        <a:rPr lang="de-DE" dirty="0"/>
                        <a:t>Was ist eingetreten?</a:t>
                      </a:r>
                    </a:p>
                  </a:txBody>
                  <a:tcPr anchor="ctr">
                    <a:lnL>
                      <a:noFill/>
                    </a:lnL>
                    <a:lnR>
                      <a:noFill/>
                    </a:lnR>
                    <a:lnT>
                      <a:noFill/>
                    </a:lnT>
                    <a:lnB>
                      <a:noFill/>
                    </a:lnB>
                    <a:solidFill>
                      <a:schemeClr val="bg1">
                        <a:lumMod val="95000"/>
                      </a:schemeClr>
                    </a:solidFill>
                  </a:tcPr>
                </a:tc>
                <a:tc>
                  <a:txBody>
                    <a:bodyPr/>
                    <a:lstStyle/>
                    <a:p>
                      <a:pPr>
                        <a:buNone/>
                      </a:pPr>
                      <a:r>
                        <a:rPr lang="de-DE" dirty="0"/>
                        <a:t>Bestellung eingegangen</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124651074"/>
                  </a:ext>
                </a:extLst>
              </a:tr>
              <a:tr h="554028">
                <a:tc>
                  <a:txBody>
                    <a:bodyPr/>
                    <a:lstStyle/>
                    <a:p>
                      <a:pPr>
                        <a:buNone/>
                      </a:pPr>
                      <a:r>
                        <a:rPr lang="de-DE" b="1" dirty="0"/>
                        <a:t>Funktion</a:t>
                      </a:r>
                      <a:endParaRPr lang="de-DE" dirty="0"/>
                    </a:p>
                  </a:txBody>
                  <a:tcPr anchor="ctr">
                    <a:lnL>
                      <a:noFill/>
                    </a:lnL>
                    <a:lnR>
                      <a:noFill/>
                    </a:lnR>
                    <a:lnT>
                      <a:noFill/>
                    </a:lnT>
                    <a:lnB>
                      <a:noFill/>
                    </a:lnB>
                    <a:noFill/>
                  </a:tcPr>
                </a:tc>
                <a:tc>
                  <a:txBody>
                    <a:bodyPr/>
                    <a:lstStyle/>
                    <a:p>
                      <a:pPr>
                        <a:buNone/>
                      </a:pPr>
                      <a:r>
                        <a:rPr lang="de-DE" dirty="0"/>
                        <a:t>Was wird getan?</a:t>
                      </a:r>
                    </a:p>
                  </a:txBody>
                  <a:tcPr anchor="ctr">
                    <a:lnL>
                      <a:noFill/>
                    </a:lnL>
                    <a:lnR>
                      <a:noFill/>
                    </a:lnR>
                    <a:lnT>
                      <a:noFill/>
                    </a:lnT>
                    <a:lnB>
                      <a:noFill/>
                    </a:lnB>
                    <a:noFill/>
                  </a:tcPr>
                </a:tc>
                <a:tc>
                  <a:txBody>
                    <a:bodyPr/>
                    <a:lstStyle/>
                    <a:p>
                      <a:pPr>
                        <a:buNone/>
                      </a:pPr>
                      <a:r>
                        <a:rPr lang="de-DE"/>
                        <a:t>Bestellung prüfen</a:t>
                      </a:r>
                    </a:p>
                  </a:txBody>
                  <a:tcPr anchor="ctr">
                    <a:lnL>
                      <a:noFill/>
                    </a:lnL>
                    <a:lnR>
                      <a:noFill/>
                    </a:lnR>
                    <a:lnT>
                      <a:noFill/>
                    </a:lnT>
                    <a:lnB>
                      <a:noFill/>
                    </a:lnB>
                    <a:noFill/>
                  </a:tcPr>
                </a:tc>
                <a:extLst>
                  <a:ext uri="{0D108BD9-81ED-4DB2-BD59-A6C34878D82A}">
                    <a16:rowId xmlns:a16="http://schemas.microsoft.com/office/drawing/2014/main" val="1148681681"/>
                  </a:ext>
                </a:extLst>
              </a:tr>
              <a:tr h="557714">
                <a:tc>
                  <a:txBody>
                    <a:bodyPr/>
                    <a:lstStyle/>
                    <a:p>
                      <a:pPr>
                        <a:buNone/>
                      </a:pPr>
                      <a:r>
                        <a:rPr lang="de-DE" b="1" dirty="0"/>
                        <a:t>Konnektoren</a:t>
                      </a:r>
                    </a:p>
                  </a:txBody>
                  <a:tcPr anchor="ctr">
                    <a:lnL>
                      <a:noFill/>
                    </a:lnL>
                    <a:lnR>
                      <a:noFill/>
                    </a:lnR>
                    <a:lnT>
                      <a:noFill/>
                    </a:lnT>
                    <a:lnB>
                      <a:noFill/>
                    </a:lnB>
                    <a:solidFill>
                      <a:schemeClr val="bg1">
                        <a:lumMod val="95000"/>
                      </a:schemeClr>
                    </a:solidFill>
                  </a:tcPr>
                </a:tc>
                <a:tc>
                  <a:txBody>
                    <a:bodyPr/>
                    <a:lstStyle/>
                    <a:p>
                      <a:pPr>
                        <a:buNone/>
                      </a:pPr>
                      <a:r>
                        <a:rPr lang="de-DE" dirty="0"/>
                        <a:t>Wie verläuft der Kontrollfluss?</a:t>
                      </a:r>
                    </a:p>
                  </a:txBody>
                  <a:tcPr anchor="ctr">
                    <a:lnL>
                      <a:noFill/>
                    </a:lnL>
                    <a:lnR>
                      <a:noFill/>
                    </a:lnR>
                    <a:lnT>
                      <a:noFill/>
                    </a:lnT>
                    <a:lnB>
                      <a:noFill/>
                    </a:lnB>
                    <a:solidFill>
                      <a:schemeClr val="bg1">
                        <a:lumMod val="95000"/>
                      </a:schemeClr>
                    </a:solidFill>
                  </a:tcPr>
                </a:tc>
                <a:tc>
                  <a:txBody>
                    <a:bodyPr/>
                    <a:lstStyle/>
                    <a:p>
                      <a:pPr>
                        <a:buNone/>
                      </a:pPr>
                      <a:r>
                        <a:rPr lang="de-DE" dirty="0"/>
                        <a:t>UND / X / OR</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683282075"/>
                  </a:ext>
                </a:extLst>
              </a:tr>
              <a:tr h="513096">
                <a:tc>
                  <a:txBody>
                    <a:bodyPr/>
                    <a:lstStyle/>
                    <a:p>
                      <a:pPr>
                        <a:buNone/>
                      </a:pPr>
                      <a:r>
                        <a:rPr lang="de-DE" b="1" dirty="0"/>
                        <a:t>Organisationseinheit</a:t>
                      </a:r>
                      <a:endParaRPr lang="de-DE" dirty="0"/>
                    </a:p>
                  </a:txBody>
                  <a:tcPr anchor="ctr">
                    <a:lnL>
                      <a:noFill/>
                    </a:lnL>
                    <a:lnR>
                      <a:noFill/>
                    </a:lnR>
                    <a:lnT>
                      <a:noFill/>
                    </a:lnT>
                    <a:lnB>
                      <a:noFill/>
                    </a:lnB>
                    <a:noFill/>
                  </a:tcPr>
                </a:tc>
                <a:tc>
                  <a:txBody>
                    <a:bodyPr/>
                    <a:lstStyle/>
                    <a:p>
                      <a:pPr>
                        <a:buNone/>
                      </a:pPr>
                      <a:r>
                        <a:rPr lang="de-DE" dirty="0"/>
                        <a:t>Wer ist Verantwortlich?</a:t>
                      </a:r>
                    </a:p>
                  </a:txBody>
                  <a:tcPr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Vertriebsmitarbeiter</a:t>
                      </a:r>
                    </a:p>
                  </a:txBody>
                  <a:tcPr anchor="ctr">
                    <a:lnL>
                      <a:noFill/>
                    </a:lnL>
                    <a:lnR>
                      <a:noFill/>
                    </a:lnR>
                    <a:lnT>
                      <a:noFill/>
                    </a:lnT>
                    <a:lnB>
                      <a:noFill/>
                    </a:lnB>
                    <a:noFill/>
                  </a:tcPr>
                </a:tc>
                <a:extLst>
                  <a:ext uri="{0D108BD9-81ED-4DB2-BD59-A6C34878D82A}">
                    <a16:rowId xmlns:a16="http://schemas.microsoft.com/office/drawing/2014/main" val="3182288838"/>
                  </a:ext>
                </a:extLst>
              </a:tr>
              <a:tr h="438735">
                <a:tc>
                  <a:txBody>
                    <a:bodyPr/>
                    <a:lstStyle/>
                    <a:p>
                      <a:pPr>
                        <a:buNone/>
                      </a:pPr>
                      <a:r>
                        <a:rPr lang="de-DE" b="1" dirty="0"/>
                        <a:t>Datenobjekt</a:t>
                      </a:r>
                      <a:endParaRPr lang="de-DE" dirty="0"/>
                    </a:p>
                  </a:txBody>
                  <a:tcPr anchor="ctr">
                    <a:lnL>
                      <a:noFill/>
                    </a:lnL>
                    <a:lnR>
                      <a:noFill/>
                    </a:lnR>
                    <a:lnT>
                      <a:noFill/>
                    </a:lnT>
                    <a:lnB>
                      <a:noFill/>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Womit wird gearbeitet?</a:t>
                      </a:r>
                    </a:p>
                  </a:txBody>
                  <a:tcPr anchor="ctr">
                    <a:lnL>
                      <a:noFill/>
                    </a:lnL>
                    <a:lnR>
                      <a:noFill/>
                    </a:lnR>
                    <a:lnT>
                      <a:noFill/>
                    </a:lnT>
                    <a:lnB>
                      <a:noFill/>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Bestellformular, Kundendaten</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777596354"/>
                  </a:ext>
                </a:extLst>
              </a:tr>
              <a:tr h="676494">
                <a:tc>
                  <a:txBody>
                    <a:bodyPr/>
                    <a:lstStyle/>
                    <a:p>
                      <a:pPr>
                        <a:buNone/>
                      </a:pPr>
                      <a:r>
                        <a:rPr lang="de-DE" b="1" dirty="0"/>
                        <a:t>Anwendungssystem</a:t>
                      </a:r>
                      <a:endParaRPr lang="de-DE" dirty="0"/>
                    </a:p>
                  </a:txBody>
                  <a:tcPr anchor="ctr">
                    <a:lnL>
                      <a:noFill/>
                    </a:lnL>
                    <a:lnR>
                      <a:noFill/>
                    </a:lnR>
                    <a:lnT>
                      <a:noFill/>
                    </a:lnT>
                    <a:lnB>
                      <a:noFill/>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Womit wird unterstützt?</a:t>
                      </a:r>
                    </a:p>
                  </a:txBody>
                  <a:tcPr anchor="ctr">
                    <a:lnL>
                      <a:noFill/>
                    </a:lnL>
                    <a:lnR>
                      <a:noFill/>
                    </a:lnR>
                    <a:lnT>
                      <a:noFill/>
                    </a:lnT>
                    <a:lnB>
                      <a:noFill/>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SAP, CRM-System</a:t>
                      </a:r>
                    </a:p>
                  </a:txBody>
                  <a:tcPr anchor="ctr">
                    <a:lnL>
                      <a:noFill/>
                    </a:lnL>
                    <a:lnR>
                      <a:noFill/>
                    </a:lnR>
                    <a:lnT>
                      <a:noFill/>
                    </a:lnT>
                    <a:lnB>
                      <a:noFill/>
                    </a:lnB>
                    <a:solidFill>
                      <a:schemeClr val="bg1"/>
                    </a:solidFill>
                  </a:tcPr>
                </a:tc>
                <a:extLst>
                  <a:ext uri="{0D108BD9-81ED-4DB2-BD59-A6C34878D82A}">
                    <a16:rowId xmlns:a16="http://schemas.microsoft.com/office/drawing/2014/main" val="2903838064"/>
                  </a:ext>
                </a:extLst>
              </a:tr>
              <a:tr h="676494">
                <a:tc>
                  <a:txBody>
                    <a:bodyPr/>
                    <a:lstStyle/>
                    <a:p>
                      <a:pPr>
                        <a:buNone/>
                      </a:pPr>
                      <a:r>
                        <a:rPr lang="de-DE" dirty="0"/>
                        <a:t>Prozesswegweiser</a:t>
                      </a:r>
                    </a:p>
                  </a:txBody>
                  <a:tcPr anchor="ctr">
                    <a:lnL>
                      <a:noFill/>
                    </a:lnL>
                    <a:lnR>
                      <a:noFill/>
                    </a:lnR>
                    <a:lnT>
                      <a:noFill/>
                    </a:lnT>
                    <a:lnB>
                      <a:noFill/>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Unterteilung von Prozessen</a:t>
                      </a:r>
                    </a:p>
                  </a:txBody>
                  <a:tcPr anchor="ctr">
                    <a:lnL>
                      <a:noFill/>
                    </a:lnL>
                    <a:lnR>
                      <a:noFill/>
                    </a:lnR>
                    <a:lnT>
                      <a:noFill/>
                    </a:lnT>
                    <a:lnB>
                      <a:noFill/>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Verweis auf Unterprozesse</a:t>
                      </a:r>
                    </a:p>
                  </a:txBody>
                  <a:tcPr anchor="ctr">
                    <a:lnL>
                      <a:noFill/>
                    </a:lnL>
                    <a:lnR>
                      <a:noFill/>
                    </a:lnR>
                    <a:lnT>
                      <a:noFill/>
                    </a:lnT>
                    <a:lnB>
                      <a:noFill/>
                    </a:lnB>
                    <a:solidFill>
                      <a:schemeClr val="bg1"/>
                    </a:solidFill>
                  </a:tcPr>
                </a:tc>
                <a:extLst>
                  <a:ext uri="{0D108BD9-81ED-4DB2-BD59-A6C34878D82A}">
                    <a16:rowId xmlns:a16="http://schemas.microsoft.com/office/drawing/2014/main" val="1366823200"/>
                  </a:ext>
                </a:extLst>
              </a:tr>
            </a:tbl>
          </a:graphicData>
        </a:graphic>
      </p:graphicFrame>
      <p:sp>
        <p:nvSpPr>
          <p:cNvPr id="5" name="Textplatzhalter 2">
            <a:extLst>
              <a:ext uri="{FF2B5EF4-FFF2-40B4-BE49-F238E27FC236}">
                <a16:creationId xmlns:a16="http://schemas.microsoft.com/office/drawing/2014/main" id="{141BF004-45F7-A0B3-746E-E9F38A707F18}"/>
              </a:ext>
            </a:extLst>
          </p:cNvPr>
          <p:cNvSpPr>
            <a:spLocks noGrp="1"/>
          </p:cNvSpPr>
          <p:nvPr>
            <p:ph type="body" sz="quarter" idx="12"/>
          </p:nvPr>
        </p:nvSpPr>
        <p:spPr>
          <a:xfrm>
            <a:off x="2742675" y="1934017"/>
            <a:ext cx="1067205" cy="470168"/>
          </a:xfrm>
          <a:prstGeom prst="hexagon">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de-DE" sz="1400" b="1" dirty="0">
                <a:solidFill>
                  <a:srgbClr val="012656"/>
                </a:solidFill>
              </a:rPr>
              <a:t>Ereignis</a:t>
            </a:r>
          </a:p>
        </p:txBody>
      </p:sp>
      <p:sp>
        <p:nvSpPr>
          <p:cNvPr id="6" name="Rechteck 5">
            <a:extLst>
              <a:ext uri="{FF2B5EF4-FFF2-40B4-BE49-F238E27FC236}">
                <a16:creationId xmlns:a16="http://schemas.microsoft.com/office/drawing/2014/main" id="{DCF3F7F2-993F-9FEE-0D2C-E43CB93A6901}"/>
              </a:ext>
            </a:extLst>
          </p:cNvPr>
          <p:cNvSpPr/>
          <p:nvPr/>
        </p:nvSpPr>
        <p:spPr>
          <a:xfrm>
            <a:off x="2742674" y="2555493"/>
            <a:ext cx="1067205" cy="470168"/>
          </a:xfrm>
          <a:prstGeom prst="rect">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rgbClr val="012656"/>
                </a:solidFill>
              </a:rPr>
              <a:t>Funktion</a:t>
            </a:r>
          </a:p>
        </p:txBody>
      </p:sp>
      <p:grpSp>
        <p:nvGrpSpPr>
          <p:cNvPr id="7" name="Gruppieren 6">
            <a:extLst>
              <a:ext uri="{FF2B5EF4-FFF2-40B4-BE49-F238E27FC236}">
                <a16:creationId xmlns:a16="http://schemas.microsoft.com/office/drawing/2014/main" id="{FD596F1F-58E0-1895-D059-1D2869DE2407}"/>
              </a:ext>
            </a:extLst>
          </p:cNvPr>
          <p:cNvGrpSpPr/>
          <p:nvPr/>
        </p:nvGrpSpPr>
        <p:grpSpPr>
          <a:xfrm>
            <a:off x="2742674" y="4750718"/>
            <a:ext cx="1067205" cy="470168"/>
            <a:chOff x="8229196" y="2431605"/>
            <a:chExt cx="1257301" cy="607043"/>
          </a:xfrm>
          <a:solidFill>
            <a:schemeClr val="bg1"/>
          </a:solidFill>
        </p:grpSpPr>
        <p:sp>
          <p:nvSpPr>
            <p:cNvPr id="8" name="Rechteck 7">
              <a:extLst>
                <a:ext uri="{FF2B5EF4-FFF2-40B4-BE49-F238E27FC236}">
                  <a16:creationId xmlns:a16="http://schemas.microsoft.com/office/drawing/2014/main" id="{9FDD8287-3AF0-A43F-9E0D-3DD766ADAACB}"/>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System</a:t>
              </a:r>
              <a:endParaRPr lang="de-DE" sz="1400" b="1" dirty="0">
                <a:solidFill>
                  <a:srgbClr val="012656"/>
                </a:solidFill>
              </a:endParaRPr>
            </a:p>
          </p:txBody>
        </p:sp>
        <p:cxnSp>
          <p:nvCxnSpPr>
            <p:cNvPr id="9" name="Gerader Verbinder 8">
              <a:extLst>
                <a:ext uri="{FF2B5EF4-FFF2-40B4-BE49-F238E27FC236}">
                  <a16:creationId xmlns:a16="http://schemas.microsoft.com/office/drawing/2014/main" id="{1ED37879-9066-0BB8-A9B0-7294061B62B1}"/>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36C6D6FA-BF6B-088D-69A7-C930B9166CC5}"/>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sp>
        <p:nvSpPr>
          <p:cNvPr id="11" name="Ellipse 10">
            <a:extLst>
              <a:ext uri="{FF2B5EF4-FFF2-40B4-BE49-F238E27FC236}">
                <a16:creationId xmlns:a16="http://schemas.microsoft.com/office/drawing/2014/main" id="{EA5C7939-5EFF-FE70-7926-AB3A18D40DEB}"/>
              </a:ext>
            </a:extLst>
          </p:cNvPr>
          <p:cNvSpPr/>
          <p:nvPr/>
        </p:nvSpPr>
        <p:spPr>
          <a:xfrm>
            <a:off x="2821515" y="3637470"/>
            <a:ext cx="909526" cy="471509"/>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rgbClr val="012656"/>
                </a:solidFill>
              </a:rPr>
              <a:t>Unit</a:t>
            </a:r>
          </a:p>
        </p:txBody>
      </p:sp>
      <p:sp>
        <p:nvSpPr>
          <p:cNvPr id="12" name="Rechteck 11">
            <a:extLst>
              <a:ext uri="{FF2B5EF4-FFF2-40B4-BE49-F238E27FC236}">
                <a16:creationId xmlns:a16="http://schemas.microsoft.com/office/drawing/2014/main" id="{F5B1C452-FCF0-A808-67E5-565C54BC2517}"/>
              </a:ext>
            </a:extLst>
          </p:cNvPr>
          <p:cNvSpPr/>
          <p:nvPr/>
        </p:nvSpPr>
        <p:spPr>
          <a:xfrm>
            <a:off x="2742674" y="4181141"/>
            <a:ext cx="1067205" cy="470168"/>
          </a:xfrm>
          <a:prstGeom prst="rect">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rgbClr val="012656"/>
                </a:solidFill>
              </a:rPr>
              <a:t>Daten</a:t>
            </a:r>
          </a:p>
        </p:txBody>
      </p:sp>
      <p:sp>
        <p:nvSpPr>
          <p:cNvPr id="14" name="Ellipse 13">
            <a:extLst>
              <a:ext uri="{FF2B5EF4-FFF2-40B4-BE49-F238E27FC236}">
                <a16:creationId xmlns:a16="http://schemas.microsoft.com/office/drawing/2014/main" id="{28B39E9C-52F4-90E8-3F5D-809D04D5D1E5}"/>
              </a:ext>
            </a:extLst>
          </p:cNvPr>
          <p:cNvSpPr/>
          <p:nvPr/>
        </p:nvSpPr>
        <p:spPr>
          <a:xfrm>
            <a:off x="3444822" y="3237499"/>
            <a:ext cx="286219" cy="2570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6" name="Ellipse 15">
            <a:extLst>
              <a:ext uri="{FF2B5EF4-FFF2-40B4-BE49-F238E27FC236}">
                <a16:creationId xmlns:a16="http://schemas.microsoft.com/office/drawing/2014/main" id="{4CCE9C28-452A-354F-2F03-B98CAC39AE73}"/>
              </a:ext>
            </a:extLst>
          </p:cNvPr>
          <p:cNvSpPr/>
          <p:nvPr/>
        </p:nvSpPr>
        <p:spPr>
          <a:xfrm>
            <a:off x="2821515" y="3237499"/>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8" name="Ellipse 17">
            <a:extLst>
              <a:ext uri="{FF2B5EF4-FFF2-40B4-BE49-F238E27FC236}">
                <a16:creationId xmlns:a16="http://schemas.microsoft.com/office/drawing/2014/main" id="{E9F89DC9-F899-155A-9DD5-1D7A81E67D39}"/>
              </a:ext>
            </a:extLst>
          </p:cNvPr>
          <p:cNvSpPr/>
          <p:nvPr/>
        </p:nvSpPr>
        <p:spPr>
          <a:xfrm>
            <a:off x="3133169" y="3237499"/>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grpSp>
        <p:nvGrpSpPr>
          <p:cNvPr id="3" name="Gruppieren 2">
            <a:extLst>
              <a:ext uri="{FF2B5EF4-FFF2-40B4-BE49-F238E27FC236}">
                <a16:creationId xmlns:a16="http://schemas.microsoft.com/office/drawing/2014/main" id="{89758363-E370-2EA2-52F7-D017720940F9}"/>
              </a:ext>
            </a:extLst>
          </p:cNvPr>
          <p:cNvGrpSpPr/>
          <p:nvPr/>
        </p:nvGrpSpPr>
        <p:grpSpPr>
          <a:xfrm>
            <a:off x="2742675" y="5299284"/>
            <a:ext cx="1196866" cy="400476"/>
            <a:chOff x="8230420" y="5444237"/>
            <a:chExt cx="1443873" cy="670190"/>
          </a:xfrm>
          <a:solidFill>
            <a:schemeClr val="bg1"/>
          </a:solidFill>
        </p:grpSpPr>
        <p:sp>
          <p:nvSpPr>
            <p:cNvPr id="13" name="Textplatzhalter 2">
              <a:extLst>
                <a:ext uri="{FF2B5EF4-FFF2-40B4-BE49-F238E27FC236}">
                  <a16:creationId xmlns:a16="http://schemas.microsoft.com/office/drawing/2014/main" id="{D1BBD8DE-D985-1B7C-A871-A77A84949AE6}"/>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050" b="1" dirty="0">
                <a:solidFill>
                  <a:schemeClr val="tx1"/>
                </a:solidFill>
              </a:endParaRPr>
            </a:p>
          </p:txBody>
        </p:sp>
        <p:sp>
          <p:nvSpPr>
            <p:cNvPr id="15" name="Rechteck 14">
              <a:extLst>
                <a:ext uri="{FF2B5EF4-FFF2-40B4-BE49-F238E27FC236}">
                  <a16:creationId xmlns:a16="http://schemas.microsoft.com/office/drawing/2014/main" id="{B833BE9B-4636-FD22-BEB5-7F3721D4C491}"/>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tx1"/>
                  </a:solidFill>
                </a:rPr>
                <a:t>Prozess-</a:t>
              </a:r>
              <a:r>
                <a:rPr lang="de-DE" sz="1050" b="1" dirty="0" err="1">
                  <a:solidFill>
                    <a:schemeClr val="tx1"/>
                  </a:solidFill>
                </a:rPr>
                <a:t>wegweiser</a:t>
              </a:r>
              <a:endParaRPr lang="de-DE" sz="1050" b="1" dirty="0">
                <a:solidFill>
                  <a:schemeClr val="tx1"/>
                </a:solidFill>
              </a:endParaRPr>
            </a:p>
          </p:txBody>
        </p:sp>
      </p:grpSp>
    </p:spTree>
    <p:extLst>
      <p:ext uri="{BB962C8B-B14F-4D97-AF65-F5344CB8AC3E}">
        <p14:creationId xmlns:p14="http://schemas.microsoft.com/office/powerpoint/2010/main" val="1320974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A3019-780A-AFDA-FADA-C70E8415C71A}"/>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AC982D1-446D-6453-8A85-0F3307D4CA45}"/>
              </a:ext>
            </a:extLst>
          </p:cNvPr>
          <p:cNvSpPr>
            <a:spLocks noGrp="1"/>
          </p:cNvSpPr>
          <p:nvPr>
            <p:ph type="title"/>
          </p:nvPr>
        </p:nvSpPr>
        <p:spPr/>
        <p:txBody>
          <a:bodyPr/>
          <a:lstStyle/>
          <a:p>
            <a:r>
              <a:rPr lang="de-DE" dirty="0" err="1"/>
              <a:t>Sprachkonstrukte</a:t>
            </a:r>
            <a:r>
              <a:rPr lang="de-DE" dirty="0"/>
              <a:t>: Unit</a:t>
            </a:r>
          </a:p>
        </p:txBody>
      </p:sp>
      <p:sp>
        <p:nvSpPr>
          <p:cNvPr id="6" name="Textplatzhalter 5">
            <a:extLst>
              <a:ext uri="{FF2B5EF4-FFF2-40B4-BE49-F238E27FC236}">
                <a16:creationId xmlns:a16="http://schemas.microsoft.com/office/drawing/2014/main" id="{22721E8C-7674-15AA-906B-0FBEEDECFA67}"/>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In einer EPK (Ereignisgesteuerte Prozesskette) sind </a:t>
            </a:r>
            <a:r>
              <a:rPr lang="de-DE" sz="1800" b="1" dirty="0"/>
              <a:t>Organisationseinheiten</a:t>
            </a:r>
            <a:r>
              <a:rPr lang="de-DE" sz="1800" dirty="0"/>
              <a:t> (auch Unit) die Stellen oder Rollen, die für die Ausführung von Prozessschritten (Funktionen) verantwortlich sind</a:t>
            </a:r>
            <a:r>
              <a:rPr lang="de-DE" sz="1800" b="1" dirty="0"/>
              <a:t>. </a:t>
            </a:r>
            <a:br>
              <a:rPr lang="de-DE" sz="1800" dirty="0"/>
            </a:br>
            <a:endParaRPr lang="de-DE" sz="1800" dirty="0"/>
          </a:p>
        </p:txBody>
      </p:sp>
      <p:sp>
        <p:nvSpPr>
          <p:cNvPr id="2" name="Textplatzhalter 5">
            <a:extLst>
              <a:ext uri="{FF2B5EF4-FFF2-40B4-BE49-F238E27FC236}">
                <a16:creationId xmlns:a16="http://schemas.microsoft.com/office/drawing/2014/main" id="{B96F8A98-C49E-5D87-D5C8-B41AE77B67B0}"/>
              </a:ext>
            </a:extLst>
          </p:cNvPr>
          <p:cNvSpPr txBox="1">
            <a:spLocks/>
          </p:cNvSpPr>
          <p:nvPr/>
        </p:nvSpPr>
        <p:spPr>
          <a:xfrm>
            <a:off x="7848598" y="4539803"/>
            <a:ext cx="2714036" cy="606177"/>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ctr">
              <a:buNone/>
            </a:pPr>
            <a:r>
              <a:rPr lang="de-DE" sz="1400" b="1" dirty="0">
                <a:solidFill>
                  <a:srgbClr val="FF9600"/>
                </a:solidFill>
              </a:rPr>
              <a:t>Organisationseinheiten werden einer Funktion durch einen Strich (kein Pfeil) zugeordnet.</a:t>
            </a:r>
          </a:p>
        </p:txBody>
      </p:sp>
      <p:sp>
        <p:nvSpPr>
          <p:cNvPr id="3" name="Textplatzhalter 5">
            <a:extLst>
              <a:ext uri="{FF2B5EF4-FFF2-40B4-BE49-F238E27FC236}">
                <a16:creationId xmlns:a16="http://schemas.microsoft.com/office/drawing/2014/main" id="{B465BD6A-9973-89CC-FB47-628AD81CF332}"/>
              </a:ext>
            </a:extLst>
          </p:cNvPr>
          <p:cNvSpPr txBox="1">
            <a:spLocks/>
          </p:cNvSpPr>
          <p:nvPr/>
        </p:nvSpPr>
        <p:spPr>
          <a:xfrm>
            <a:off x="731695" y="3111780"/>
            <a:ext cx="5836354"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Organisationseinheiten</a:t>
            </a:r>
          </a:p>
          <a:p>
            <a:r>
              <a:rPr lang="de-DE" sz="1800" b="1" dirty="0"/>
              <a:t>Abteilung</a:t>
            </a:r>
            <a:r>
              <a:rPr lang="de-DE" sz="1800" dirty="0"/>
              <a:t> (z. B. Vertrieb, Einkauf, Buchhaltung) </a:t>
            </a:r>
          </a:p>
          <a:p>
            <a:r>
              <a:rPr lang="de-DE" sz="1800" b="1" dirty="0"/>
              <a:t>Rolle</a:t>
            </a:r>
            <a:r>
              <a:rPr lang="de-DE" sz="1800" dirty="0"/>
              <a:t> (z. B. Sachbearbeiter, Teamleiter, Kundenberater) </a:t>
            </a:r>
          </a:p>
          <a:p>
            <a:r>
              <a:rPr lang="de-DE" sz="1800" b="1" dirty="0"/>
              <a:t>Person</a:t>
            </a:r>
            <a:r>
              <a:rPr lang="de-DE" sz="1800" dirty="0"/>
              <a:t> (z. B. Max Mustermann)</a:t>
            </a:r>
          </a:p>
          <a:p>
            <a:r>
              <a:rPr lang="de-DE" sz="1800" b="1" dirty="0"/>
              <a:t>Organisationseinheit im Unternehmen </a:t>
            </a:r>
            <a:r>
              <a:rPr lang="de-DE" sz="1800" dirty="0"/>
              <a:t>(z. B. Filiale Berlin, Lager 1)</a:t>
            </a:r>
          </a:p>
          <a:p>
            <a:r>
              <a:rPr lang="de-DE" sz="1800" b="1" dirty="0"/>
              <a:t>Externe Organisation </a:t>
            </a:r>
            <a:r>
              <a:rPr lang="de-DE" sz="1800" dirty="0"/>
              <a:t>(z. B. Lieferant, Kunde)</a:t>
            </a:r>
          </a:p>
        </p:txBody>
      </p:sp>
      <p:sp>
        <p:nvSpPr>
          <p:cNvPr id="7" name="Ellipse 6">
            <a:extLst>
              <a:ext uri="{FF2B5EF4-FFF2-40B4-BE49-F238E27FC236}">
                <a16:creationId xmlns:a16="http://schemas.microsoft.com/office/drawing/2014/main" id="{F6A60EEF-8588-31CA-F34B-EFA62CF0F0F0}"/>
              </a:ext>
            </a:extLst>
          </p:cNvPr>
          <p:cNvSpPr/>
          <p:nvPr/>
        </p:nvSpPr>
        <p:spPr>
          <a:xfrm>
            <a:off x="664845" y="1288023"/>
            <a:ext cx="1584136" cy="900000"/>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Unit</a:t>
            </a:r>
          </a:p>
        </p:txBody>
      </p:sp>
      <p:sp>
        <p:nvSpPr>
          <p:cNvPr id="10" name="Rechteck 9">
            <a:extLst>
              <a:ext uri="{FF2B5EF4-FFF2-40B4-BE49-F238E27FC236}">
                <a16:creationId xmlns:a16="http://schemas.microsoft.com/office/drawing/2014/main" id="{9825496C-5D9E-B675-3766-C47FEF782DC5}"/>
              </a:ext>
            </a:extLst>
          </p:cNvPr>
          <p:cNvSpPr/>
          <p:nvPr/>
        </p:nvSpPr>
        <p:spPr>
          <a:xfrm>
            <a:off x="7848598" y="366678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sp>
        <p:nvSpPr>
          <p:cNvPr id="12" name="Ellipse 11">
            <a:extLst>
              <a:ext uri="{FF2B5EF4-FFF2-40B4-BE49-F238E27FC236}">
                <a16:creationId xmlns:a16="http://schemas.microsoft.com/office/drawing/2014/main" id="{89C974D8-E824-CF70-B92B-D4F78691044C}"/>
              </a:ext>
            </a:extLst>
          </p:cNvPr>
          <p:cNvSpPr/>
          <p:nvPr/>
        </p:nvSpPr>
        <p:spPr>
          <a:xfrm>
            <a:off x="9491098" y="3665055"/>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Unit</a:t>
            </a:r>
          </a:p>
        </p:txBody>
      </p:sp>
      <p:cxnSp>
        <p:nvCxnSpPr>
          <p:cNvPr id="14" name="Gerader Verbinder 13">
            <a:extLst>
              <a:ext uri="{FF2B5EF4-FFF2-40B4-BE49-F238E27FC236}">
                <a16:creationId xmlns:a16="http://schemas.microsoft.com/office/drawing/2014/main" id="{0938EA57-326C-D3D4-9252-40B51BB18D84}"/>
              </a:ext>
            </a:extLst>
          </p:cNvPr>
          <p:cNvCxnSpPr>
            <a:stCxn id="12" idx="2"/>
            <a:endCxn id="10" idx="3"/>
          </p:cNvCxnSpPr>
          <p:nvPr/>
        </p:nvCxnSpPr>
        <p:spPr>
          <a:xfrm flipH="1">
            <a:off x="9105899" y="3969443"/>
            <a:ext cx="385199" cy="86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985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38FC7-880A-0AC0-C3FF-3F823B57CD13}"/>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D4EADC5C-BF04-716F-CC96-8129DA6C9D39}"/>
              </a:ext>
            </a:extLst>
          </p:cNvPr>
          <p:cNvSpPr>
            <a:spLocks noGrp="1"/>
          </p:cNvSpPr>
          <p:nvPr>
            <p:ph type="title"/>
          </p:nvPr>
        </p:nvSpPr>
        <p:spPr/>
        <p:txBody>
          <a:bodyPr/>
          <a:lstStyle/>
          <a:p>
            <a:r>
              <a:rPr lang="de-DE" dirty="0" err="1"/>
              <a:t>Sprachkonstrukte</a:t>
            </a:r>
            <a:r>
              <a:rPr lang="de-DE" dirty="0"/>
              <a:t>: Beispiel</a:t>
            </a:r>
          </a:p>
        </p:txBody>
      </p:sp>
      <p:sp>
        <p:nvSpPr>
          <p:cNvPr id="9" name="Ellipse 8">
            <a:extLst>
              <a:ext uri="{FF2B5EF4-FFF2-40B4-BE49-F238E27FC236}">
                <a16:creationId xmlns:a16="http://schemas.microsoft.com/office/drawing/2014/main" id="{FECB2F2D-283B-DD7F-B897-7388A0DB1FF2}"/>
              </a:ext>
            </a:extLst>
          </p:cNvPr>
          <p:cNvSpPr/>
          <p:nvPr/>
        </p:nvSpPr>
        <p:spPr>
          <a:xfrm>
            <a:off x="8503369" y="2924190"/>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11" name="Textplatzhalter 2">
            <a:extLst>
              <a:ext uri="{FF2B5EF4-FFF2-40B4-BE49-F238E27FC236}">
                <a16:creationId xmlns:a16="http://schemas.microsoft.com/office/drawing/2014/main" id="{7F0A15ED-3A65-CAE6-F67A-A771E0D49242}"/>
              </a:ext>
            </a:extLst>
          </p:cNvPr>
          <p:cNvSpPr txBox="1">
            <a:spLocks/>
          </p:cNvSpPr>
          <p:nvPr/>
        </p:nvSpPr>
        <p:spPr>
          <a:xfrm>
            <a:off x="6640735"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Lagerbestand ist geprüft</a:t>
            </a:r>
          </a:p>
        </p:txBody>
      </p:sp>
      <p:sp>
        <p:nvSpPr>
          <p:cNvPr id="13" name="Rechteck 12">
            <a:extLst>
              <a:ext uri="{FF2B5EF4-FFF2-40B4-BE49-F238E27FC236}">
                <a16:creationId xmlns:a16="http://schemas.microsoft.com/office/drawing/2014/main" id="{5F37F7AD-A701-3B04-307F-F8F3E4CD1EA6}"/>
              </a:ext>
            </a:extLst>
          </p:cNvPr>
          <p:cNvSpPr/>
          <p:nvPr/>
        </p:nvSpPr>
        <p:spPr>
          <a:xfrm>
            <a:off x="8212638" y="385411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tätigen</a:t>
            </a:r>
          </a:p>
        </p:txBody>
      </p:sp>
      <p:cxnSp>
        <p:nvCxnSpPr>
          <p:cNvPr id="15" name="Gerade Verbindung mit Pfeil 14">
            <a:extLst>
              <a:ext uri="{FF2B5EF4-FFF2-40B4-BE49-F238E27FC236}">
                <a16:creationId xmlns:a16="http://schemas.microsoft.com/office/drawing/2014/main" id="{7F44481A-1910-A125-1B2B-167D68D8285C}"/>
              </a:ext>
            </a:extLst>
          </p:cNvPr>
          <p:cNvCxnSpPr>
            <a:cxnSpLocks/>
            <a:stCxn id="9" idx="4"/>
          </p:cNvCxnSpPr>
          <p:nvPr/>
        </p:nvCxnSpPr>
        <p:spPr>
          <a:xfrm flipH="1">
            <a:off x="8793558" y="3445402"/>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760BC712-565D-35B3-7CDF-87B0712EA287}"/>
              </a:ext>
            </a:extLst>
          </p:cNvPr>
          <p:cNvCxnSpPr>
            <a:cxnSpLocks/>
            <a:endCxn id="9" idx="0"/>
          </p:cNvCxnSpPr>
          <p:nvPr/>
        </p:nvCxnSpPr>
        <p:spPr>
          <a:xfrm>
            <a:off x="8793559" y="2429894"/>
            <a:ext cx="0" cy="49429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91E8FE9A-F24A-8911-8464-40ECF347F183}"/>
              </a:ext>
            </a:extLst>
          </p:cNvPr>
          <p:cNvCxnSpPr>
            <a:cxnSpLocks/>
            <a:endCxn id="9" idx="1"/>
          </p:cNvCxnSpPr>
          <p:nvPr/>
        </p:nvCxnSpPr>
        <p:spPr>
          <a:xfrm>
            <a:off x="7276231" y="2429894"/>
            <a:ext cx="1312133" cy="57062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8" name="Textplatzhalter 2">
            <a:extLst>
              <a:ext uri="{FF2B5EF4-FFF2-40B4-BE49-F238E27FC236}">
                <a16:creationId xmlns:a16="http://schemas.microsoft.com/office/drawing/2014/main" id="{C8FCD49C-70CA-73C9-0D9B-5E8EEB5E9AD4}"/>
              </a:ext>
            </a:extLst>
          </p:cNvPr>
          <p:cNvSpPr txBox="1">
            <a:spLocks/>
          </p:cNvSpPr>
          <p:nvPr/>
        </p:nvSpPr>
        <p:spPr>
          <a:xfrm>
            <a:off x="821263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Mindestmenge unterschritten</a:t>
            </a:r>
          </a:p>
        </p:txBody>
      </p:sp>
      <p:sp>
        <p:nvSpPr>
          <p:cNvPr id="19" name="Textplatzhalter 2">
            <a:extLst>
              <a:ext uri="{FF2B5EF4-FFF2-40B4-BE49-F238E27FC236}">
                <a16:creationId xmlns:a16="http://schemas.microsoft.com/office/drawing/2014/main" id="{CB2466BD-809D-0E2D-B740-E10AB127DCD6}"/>
              </a:ext>
            </a:extLst>
          </p:cNvPr>
          <p:cNvSpPr txBox="1">
            <a:spLocks/>
          </p:cNvSpPr>
          <p:nvPr/>
        </p:nvSpPr>
        <p:spPr>
          <a:xfrm>
            <a:off x="977711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Bezahlung abgesichert</a:t>
            </a:r>
          </a:p>
        </p:txBody>
      </p:sp>
      <p:cxnSp>
        <p:nvCxnSpPr>
          <p:cNvPr id="20" name="Gerade Verbindung mit Pfeil 19">
            <a:extLst>
              <a:ext uri="{FF2B5EF4-FFF2-40B4-BE49-F238E27FC236}">
                <a16:creationId xmlns:a16="http://schemas.microsoft.com/office/drawing/2014/main" id="{ABFDBC2E-046C-DC1E-44AD-BC177B825CFF}"/>
              </a:ext>
            </a:extLst>
          </p:cNvPr>
          <p:cNvCxnSpPr>
            <a:cxnSpLocks/>
            <a:endCxn id="9" idx="7"/>
          </p:cNvCxnSpPr>
          <p:nvPr/>
        </p:nvCxnSpPr>
        <p:spPr>
          <a:xfrm flipH="1">
            <a:off x="8998754" y="2429894"/>
            <a:ext cx="1407015" cy="57062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Textplatzhalter 2">
            <a:extLst>
              <a:ext uri="{FF2B5EF4-FFF2-40B4-BE49-F238E27FC236}">
                <a16:creationId xmlns:a16="http://schemas.microsoft.com/office/drawing/2014/main" id="{C79F09F7-D4BE-3A20-035F-35FEB7DCF9A3}"/>
              </a:ext>
            </a:extLst>
          </p:cNvPr>
          <p:cNvSpPr txBox="1">
            <a:spLocks/>
          </p:cNvSpPr>
          <p:nvPr/>
        </p:nvSpPr>
        <p:spPr>
          <a:xfrm>
            <a:off x="8212638" y="500184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getätigt</a:t>
            </a:r>
          </a:p>
        </p:txBody>
      </p:sp>
      <p:cxnSp>
        <p:nvCxnSpPr>
          <p:cNvPr id="22" name="Gerade Verbindung mit Pfeil 21">
            <a:extLst>
              <a:ext uri="{FF2B5EF4-FFF2-40B4-BE49-F238E27FC236}">
                <a16:creationId xmlns:a16="http://schemas.microsoft.com/office/drawing/2014/main" id="{043F9454-27D1-9BE0-63DD-02464B391DDE}"/>
              </a:ext>
            </a:extLst>
          </p:cNvPr>
          <p:cNvCxnSpPr>
            <a:cxnSpLocks/>
          </p:cNvCxnSpPr>
          <p:nvPr/>
        </p:nvCxnSpPr>
        <p:spPr>
          <a:xfrm>
            <a:off x="8831506" y="4464099"/>
            <a:ext cx="0" cy="5377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142C53CB-8583-EB7B-7BCB-E79124A7ED9F}"/>
              </a:ext>
            </a:extLst>
          </p:cNvPr>
          <p:cNvSpPr/>
          <p:nvPr/>
        </p:nvSpPr>
        <p:spPr>
          <a:xfrm>
            <a:off x="2431332" y="230897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schreiben</a:t>
            </a:r>
          </a:p>
        </p:txBody>
      </p:sp>
      <p:sp>
        <p:nvSpPr>
          <p:cNvPr id="24" name="Textplatzhalter 2">
            <a:extLst>
              <a:ext uri="{FF2B5EF4-FFF2-40B4-BE49-F238E27FC236}">
                <a16:creationId xmlns:a16="http://schemas.microsoft.com/office/drawing/2014/main" id="{92374124-3E8A-0D90-2A7E-90944241149A}"/>
              </a:ext>
            </a:extLst>
          </p:cNvPr>
          <p:cNvSpPr txBox="1">
            <a:spLocks/>
          </p:cNvSpPr>
          <p:nvPr/>
        </p:nvSpPr>
        <p:spPr>
          <a:xfrm>
            <a:off x="2431331" y="145542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Modul  </a:t>
            </a:r>
            <a:br>
              <a:rPr lang="de-DE" sz="1200" b="1" dirty="0">
                <a:solidFill>
                  <a:srgbClr val="012656"/>
                </a:solidFill>
              </a:rPr>
            </a:br>
            <a:r>
              <a:rPr lang="de-DE" sz="1200" b="1" dirty="0">
                <a:solidFill>
                  <a:srgbClr val="012656"/>
                </a:solidFill>
              </a:rPr>
              <a:t>gehört</a:t>
            </a:r>
          </a:p>
        </p:txBody>
      </p:sp>
      <p:sp>
        <p:nvSpPr>
          <p:cNvPr id="25" name="Ellipse 24">
            <a:extLst>
              <a:ext uri="{FF2B5EF4-FFF2-40B4-BE49-F238E27FC236}">
                <a16:creationId xmlns:a16="http://schemas.microsoft.com/office/drawing/2014/main" id="{16AAD6C2-FCC5-0A71-B688-6DF3E7D01177}"/>
              </a:ext>
            </a:extLst>
          </p:cNvPr>
          <p:cNvSpPr/>
          <p:nvPr/>
        </p:nvSpPr>
        <p:spPr>
          <a:xfrm>
            <a:off x="2769791" y="3142869"/>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26" name="Textplatzhalter 2">
            <a:extLst>
              <a:ext uri="{FF2B5EF4-FFF2-40B4-BE49-F238E27FC236}">
                <a16:creationId xmlns:a16="http://schemas.microsoft.com/office/drawing/2014/main" id="{ABC213CB-815E-109F-8B33-69A4B489FEA6}"/>
              </a:ext>
            </a:extLst>
          </p:cNvPr>
          <p:cNvSpPr txBox="1">
            <a:spLocks/>
          </p:cNvSpPr>
          <p:nvPr/>
        </p:nvSpPr>
        <p:spPr>
          <a:xfrm>
            <a:off x="127488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bestanden</a:t>
            </a:r>
          </a:p>
        </p:txBody>
      </p:sp>
      <p:sp>
        <p:nvSpPr>
          <p:cNvPr id="27" name="Textplatzhalter 2">
            <a:extLst>
              <a:ext uri="{FF2B5EF4-FFF2-40B4-BE49-F238E27FC236}">
                <a16:creationId xmlns:a16="http://schemas.microsoft.com/office/drawing/2014/main" id="{327A5979-FABB-BCBA-E28E-03463D05BCA4}"/>
              </a:ext>
            </a:extLst>
          </p:cNvPr>
          <p:cNvSpPr txBox="1">
            <a:spLocks/>
          </p:cNvSpPr>
          <p:nvPr/>
        </p:nvSpPr>
        <p:spPr>
          <a:xfrm>
            <a:off x="352136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Nicht bestanden</a:t>
            </a:r>
          </a:p>
        </p:txBody>
      </p:sp>
      <p:sp>
        <p:nvSpPr>
          <p:cNvPr id="28" name="Rechteck 27">
            <a:extLst>
              <a:ext uri="{FF2B5EF4-FFF2-40B4-BE49-F238E27FC236}">
                <a16:creationId xmlns:a16="http://schemas.microsoft.com/office/drawing/2014/main" id="{B4E91399-682B-999D-1BE6-240C82169853}"/>
              </a:ext>
            </a:extLst>
          </p:cNvPr>
          <p:cNvSpPr/>
          <p:nvPr/>
        </p:nvSpPr>
        <p:spPr>
          <a:xfrm>
            <a:off x="3521363" y="47689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ob 3. Versuch</a:t>
            </a:r>
          </a:p>
        </p:txBody>
      </p:sp>
      <p:cxnSp>
        <p:nvCxnSpPr>
          <p:cNvPr id="29" name="Gerade Verbindung mit Pfeil 28">
            <a:extLst>
              <a:ext uri="{FF2B5EF4-FFF2-40B4-BE49-F238E27FC236}">
                <a16:creationId xmlns:a16="http://schemas.microsoft.com/office/drawing/2014/main" id="{5A7E47CB-AF27-F2C8-3D33-68671AEF5949}"/>
              </a:ext>
            </a:extLst>
          </p:cNvPr>
          <p:cNvCxnSpPr>
            <a:cxnSpLocks/>
          </p:cNvCxnSpPr>
          <p:nvPr/>
        </p:nvCxnSpPr>
        <p:spPr>
          <a:xfrm>
            <a:off x="3059981" y="2053111"/>
            <a:ext cx="0" cy="255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C29F3541-DBF1-CAE4-4082-7F1FE2A56553}"/>
              </a:ext>
            </a:extLst>
          </p:cNvPr>
          <p:cNvCxnSpPr>
            <a:cxnSpLocks/>
            <a:stCxn id="23" idx="2"/>
            <a:endCxn id="25" idx="0"/>
          </p:cNvCxnSpPr>
          <p:nvPr/>
        </p:nvCxnSpPr>
        <p:spPr>
          <a:xfrm flipH="1">
            <a:off x="3059981" y="2916016"/>
            <a:ext cx="2" cy="2268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31633E38-4ED6-8650-571C-2D621414AD86}"/>
              </a:ext>
            </a:extLst>
          </p:cNvPr>
          <p:cNvCxnSpPr>
            <a:cxnSpLocks/>
            <a:stCxn id="25" idx="3"/>
            <a:endCxn id="26" idx="5"/>
          </p:cNvCxnSpPr>
          <p:nvPr/>
        </p:nvCxnSpPr>
        <p:spPr>
          <a:xfrm flipH="1">
            <a:off x="2380424" y="3587751"/>
            <a:ext cx="474362"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EDE8A73D-ABFF-5C2D-9A7B-152CD1D4829A}"/>
              </a:ext>
            </a:extLst>
          </p:cNvPr>
          <p:cNvCxnSpPr>
            <a:cxnSpLocks/>
            <a:stCxn id="25" idx="5"/>
            <a:endCxn id="27" idx="4"/>
          </p:cNvCxnSpPr>
          <p:nvPr/>
        </p:nvCxnSpPr>
        <p:spPr>
          <a:xfrm>
            <a:off x="3265176" y="3587751"/>
            <a:ext cx="407949"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4A842BF9-B283-4E40-1645-023E65E50C73}"/>
              </a:ext>
            </a:extLst>
          </p:cNvPr>
          <p:cNvCxnSpPr>
            <a:cxnSpLocks/>
          </p:cNvCxnSpPr>
          <p:nvPr/>
        </p:nvCxnSpPr>
        <p:spPr>
          <a:xfrm>
            <a:off x="4150014" y="4467097"/>
            <a:ext cx="0" cy="301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79ACDAC3-A850-056C-09A3-1B37D3B0CE05}"/>
              </a:ext>
            </a:extLst>
          </p:cNvPr>
          <p:cNvSpPr/>
          <p:nvPr/>
        </p:nvSpPr>
        <p:spPr>
          <a:xfrm>
            <a:off x="3859823" y="5596933"/>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cxnSp>
        <p:nvCxnSpPr>
          <p:cNvPr id="35" name="Gerade Verbindung mit Pfeil 34">
            <a:extLst>
              <a:ext uri="{FF2B5EF4-FFF2-40B4-BE49-F238E27FC236}">
                <a16:creationId xmlns:a16="http://schemas.microsoft.com/office/drawing/2014/main" id="{CE8E5B5A-90B6-C1DE-EAA8-620EA80CADC3}"/>
              </a:ext>
            </a:extLst>
          </p:cNvPr>
          <p:cNvCxnSpPr>
            <a:cxnSpLocks/>
            <a:stCxn id="28" idx="2"/>
            <a:endCxn id="34" idx="0"/>
          </p:cNvCxnSpPr>
          <p:nvPr/>
        </p:nvCxnSpPr>
        <p:spPr>
          <a:xfrm flipH="1">
            <a:off x="4150013" y="5376002"/>
            <a:ext cx="1" cy="22093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7BC5DE14-5C9A-F48D-D2FC-CAA4FF9C9736}"/>
              </a:ext>
            </a:extLst>
          </p:cNvPr>
          <p:cNvSpPr txBox="1">
            <a:spLocks/>
          </p:cNvSpPr>
          <p:nvPr/>
        </p:nvSpPr>
        <p:spPr>
          <a:xfrm>
            <a:off x="4955717"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3. Versuch</a:t>
            </a:r>
          </a:p>
        </p:txBody>
      </p:sp>
      <p:sp>
        <p:nvSpPr>
          <p:cNvPr id="37" name="Textplatzhalter 2">
            <a:extLst>
              <a:ext uri="{FF2B5EF4-FFF2-40B4-BE49-F238E27FC236}">
                <a16:creationId xmlns:a16="http://schemas.microsoft.com/office/drawing/2014/main" id="{30CA8CA0-B662-1BDB-9C65-BA04B716E60E}"/>
              </a:ext>
            </a:extLst>
          </p:cNvPr>
          <p:cNvSpPr txBox="1">
            <a:spLocks/>
          </p:cNvSpPr>
          <p:nvPr/>
        </p:nvSpPr>
        <p:spPr>
          <a:xfrm>
            <a:off x="2006305"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Kein 3. Versuch</a:t>
            </a:r>
          </a:p>
        </p:txBody>
      </p:sp>
      <p:cxnSp>
        <p:nvCxnSpPr>
          <p:cNvPr id="38" name="Gerade Verbindung mit Pfeil 37">
            <a:extLst>
              <a:ext uri="{FF2B5EF4-FFF2-40B4-BE49-F238E27FC236}">
                <a16:creationId xmlns:a16="http://schemas.microsoft.com/office/drawing/2014/main" id="{51E9F044-CA27-03DC-4697-6094A3ECEE59}"/>
              </a:ext>
            </a:extLst>
          </p:cNvPr>
          <p:cNvCxnSpPr>
            <a:cxnSpLocks/>
            <a:stCxn id="34" idx="2"/>
            <a:endCxn id="37" idx="0"/>
          </p:cNvCxnSpPr>
          <p:nvPr/>
        </p:nvCxnSpPr>
        <p:spPr>
          <a:xfrm flipH="1">
            <a:off x="3263606" y="5857539"/>
            <a:ext cx="596217"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DB7863F7-FB5E-9BD1-BE64-91990C170084}"/>
              </a:ext>
            </a:extLst>
          </p:cNvPr>
          <p:cNvCxnSpPr>
            <a:cxnSpLocks/>
            <a:stCxn id="34" idx="6"/>
            <a:endCxn id="36" idx="3"/>
          </p:cNvCxnSpPr>
          <p:nvPr/>
        </p:nvCxnSpPr>
        <p:spPr>
          <a:xfrm>
            <a:off x="4440203" y="5857539"/>
            <a:ext cx="515514"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95586BE1-B79F-C312-57E1-9810F5932ABC}"/>
              </a:ext>
            </a:extLst>
          </p:cNvPr>
          <p:cNvSpPr/>
          <p:nvPr/>
        </p:nvSpPr>
        <p:spPr>
          <a:xfrm>
            <a:off x="4189453" y="2342506"/>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Studier-ende</a:t>
            </a:r>
          </a:p>
        </p:txBody>
      </p:sp>
      <p:cxnSp>
        <p:nvCxnSpPr>
          <p:cNvPr id="46" name="Gerader Verbinder 45">
            <a:extLst>
              <a:ext uri="{FF2B5EF4-FFF2-40B4-BE49-F238E27FC236}">
                <a16:creationId xmlns:a16="http://schemas.microsoft.com/office/drawing/2014/main" id="{CA0FB599-6B82-8057-FB17-DE118940F113}"/>
              </a:ext>
            </a:extLst>
          </p:cNvPr>
          <p:cNvCxnSpPr>
            <a:stCxn id="41" idx="2"/>
            <a:endCxn id="23" idx="3"/>
          </p:cNvCxnSpPr>
          <p:nvPr/>
        </p:nvCxnSpPr>
        <p:spPr>
          <a:xfrm flipH="1" flipV="1">
            <a:off x="3688633" y="2612495"/>
            <a:ext cx="500820" cy="34399"/>
          </a:xfrm>
          <a:prstGeom prst="line">
            <a:avLst/>
          </a:prstGeom>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ADC0D718-A51C-BF62-59D0-793AF2060F6F}"/>
              </a:ext>
            </a:extLst>
          </p:cNvPr>
          <p:cNvSpPr/>
          <p:nvPr/>
        </p:nvSpPr>
        <p:spPr>
          <a:xfrm>
            <a:off x="5254885" y="4767227"/>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1050" b="1" dirty="0">
                <a:solidFill>
                  <a:schemeClr val="bg1"/>
                </a:solidFill>
              </a:rPr>
              <a:t>Prüfungs-amt</a:t>
            </a:r>
          </a:p>
        </p:txBody>
      </p:sp>
      <p:cxnSp>
        <p:nvCxnSpPr>
          <p:cNvPr id="50" name="Gerader Verbinder 49">
            <a:extLst>
              <a:ext uri="{FF2B5EF4-FFF2-40B4-BE49-F238E27FC236}">
                <a16:creationId xmlns:a16="http://schemas.microsoft.com/office/drawing/2014/main" id="{79951431-8153-7ED1-AF7A-6A6337626386}"/>
              </a:ext>
            </a:extLst>
          </p:cNvPr>
          <p:cNvCxnSpPr>
            <a:stCxn id="48" idx="2"/>
            <a:endCxn id="28" idx="3"/>
          </p:cNvCxnSpPr>
          <p:nvPr/>
        </p:nvCxnSpPr>
        <p:spPr>
          <a:xfrm flipH="1">
            <a:off x="4778664" y="5071615"/>
            <a:ext cx="476221" cy="866"/>
          </a:xfrm>
          <a:prstGeom prst="line">
            <a:avLst/>
          </a:prstGeom>
        </p:spPr>
        <p:style>
          <a:lnRef idx="1">
            <a:schemeClr val="accent1"/>
          </a:lnRef>
          <a:fillRef idx="0">
            <a:schemeClr val="accent1"/>
          </a:fillRef>
          <a:effectRef idx="0">
            <a:schemeClr val="accent1"/>
          </a:effectRef>
          <a:fontRef idx="minor">
            <a:schemeClr val="tx1"/>
          </a:fontRef>
        </p:style>
      </p:cxnSp>
      <p:sp>
        <p:nvSpPr>
          <p:cNvPr id="51" name="Ellipse 50">
            <a:extLst>
              <a:ext uri="{FF2B5EF4-FFF2-40B4-BE49-F238E27FC236}">
                <a16:creationId xmlns:a16="http://schemas.microsoft.com/office/drawing/2014/main" id="{16D7D023-0D94-A327-CF9C-7352C34C5065}"/>
              </a:ext>
            </a:extLst>
          </p:cNvPr>
          <p:cNvSpPr/>
          <p:nvPr/>
        </p:nvSpPr>
        <p:spPr>
          <a:xfrm>
            <a:off x="9956710" y="3860054"/>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Einkauf</a:t>
            </a:r>
          </a:p>
        </p:txBody>
      </p:sp>
      <p:cxnSp>
        <p:nvCxnSpPr>
          <p:cNvPr id="52" name="Gerader Verbinder 51">
            <a:extLst>
              <a:ext uri="{FF2B5EF4-FFF2-40B4-BE49-F238E27FC236}">
                <a16:creationId xmlns:a16="http://schemas.microsoft.com/office/drawing/2014/main" id="{4C4E8CBD-31C1-5873-70A0-F5733EC78B21}"/>
              </a:ext>
            </a:extLst>
          </p:cNvPr>
          <p:cNvCxnSpPr>
            <a:stCxn id="51" idx="2"/>
          </p:cNvCxnSpPr>
          <p:nvPr/>
        </p:nvCxnSpPr>
        <p:spPr>
          <a:xfrm flipH="1" flipV="1">
            <a:off x="9455890" y="4130043"/>
            <a:ext cx="500820" cy="3439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7819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2EA0-33D6-9A8D-85DD-C7BD776D0ED4}"/>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27ECA90-51F1-50F9-9F1F-92AC2A144355}"/>
              </a:ext>
            </a:extLst>
          </p:cNvPr>
          <p:cNvSpPr>
            <a:spLocks noGrp="1"/>
          </p:cNvSpPr>
          <p:nvPr>
            <p:ph type="title"/>
          </p:nvPr>
        </p:nvSpPr>
        <p:spPr/>
        <p:txBody>
          <a:bodyPr/>
          <a:lstStyle/>
          <a:p>
            <a:r>
              <a:rPr lang="de-DE" dirty="0" err="1"/>
              <a:t>Sprachkonstrukte</a:t>
            </a:r>
            <a:r>
              <a:rPr lang="de-DE" dirty="0"/>
              <a:t>: Daten</a:t>
            </a:r>
          </a:p>
        </p:txBody>
      </p:sp>
      <p:sp>
        <p:nvSpPr>
          <p:cNvPr id="6" name="Textplatzhalter 5">
            <a:extLst>
              <a:ext uri="{FF2B5EF4-FFF2-40B4-BE49-F238E27FC236}">
                <a16:creationId xmlns:a16="http://schemas.microsoft.com/office/drawing/2014/main" id="{A3EB1863-6450-83F1-A531-542C506BBF3A}"/>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In einer erweiterten Ereignisgesteuerten Prozesskette (eEPK) ist ein Datenobjekt ein Element, das </a:t>
            </a:r>
            <a:r>
              <a:rPr lang="de-DE" sz="1800" b="1" dirty="0"/>
              <a:t>die Daten beschreibt</a:t>
            </a:r>
            <a:r>
              <a:rPr lang="de-DE" sz="1800" dirty="0"/>
              <a:t>, die von einer Funktion benötigt oder erzeugt werden. </a:t>
            </a:r>
            <a:br>
              <a:rPr lang="de-DE" sz="1800" dirty="0"/>
            </a:br>
            <a:endParaRPr lang="de-DE" sz="1800" dirty="0"/>
          </a:p>
        </p:txBody>
      </p:sp>
      <p:sp>
        <p:nvSpPr>
          <p:cNvPr id="3" name="Textplatzhalter 5">
            <a:extLst>
              <a:ext uri="{FF2B5EF4-FFF2-40B4-BE49-F238E27FC236}">
                <a16:creationId xmlns:a16="http://schemas.microsoft.com/office/drawing/2014/main" id="{64362BF7-FFB0-9873-95A8-0AFF34B00653}"/>
              </a:ext>
            </a:extLst>
          </p:cNvPr>
          <p:cNvSpPr txBox="1">
            <a:spLocks/>
          </p:cNvSpPr>
          <p:nvPr/>
        </p:nvSpPr>
        <p:spPr>
          <a:xfrm>
            <a:off x="967915" y="3111780"/>
            <a:ext cx="4377517"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Datenobjekte</a:t>
            </a:r>
          </a:p>
          <a:p>
            <a:r>
              <a:rPr lang="de-DE" sz="1800" dirty="0"/>
              <a:t>Kundendaten </a:t>
            </a:r>
          </a:p>
          <a:p>
            <a:r>
              <a:rPr lang="de-DE" sz="1800" dirty="0"/>
              <a:t>Bestellung </a:t>
            </a:r>
          </a:p>
          <a:p>
            <a:r>
              <a:rPr lang="de-DE" sz="1800" dirty="0"/>
              <a:t>Rechnung </a:t>
            </a:r>
          </a:p>
          <a:p>
            <a:r>
              <a:rPr lang="de-DE" sz="1800" dirty="0"/>
              <a:t>Lagerbestand </a:t>
            </a:r>
          </a:p>
          <a:p>
            <a:r>
              <a:rPr lang="de-DE" sz="1800" dirty="0"/>
              <a:t>Personalakte </a:t>
            </a:r>
          </a:p>
          <a:p>
            <a:r>
              <a:rPr lang="de-DE" sz="1800" dirty="0"/>
              <a:t>Datenbankeintrag</a:t>
            </a:r>
          </a:p>
        </p:txBody>
      </p:sp>
      <p:sp>
        <p:nvSpPr>
          <p:cNvPr id="10" name="Rechteck 9">
            <a:extLst>
              <a:ext uri="{FF2B5EF4-FFF2-40B4-BE49-F238E27FC236}">
                <a16:creationId xmlns:a16="http://schemas.microsoft.com/office/drawing/2014/main" id="{B2E5E19C-A88E-425E-2404-BE9EF22CC0D0}"/>
              </a:ext>
            </a:extLst>
          </p:cNvPr>
          <p:cNvSpPr/>
          <p:nvPr/>
        </p:nvSpPr>
        <p:spPr>
          <a:xfrm>
            <a:off x="6655216" y="413094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14" name="Gerader Verbinder 13">
            <a:extLst>
              <a:ext uri="{FF2B5EF4-FFF2-40B4-BE49-F238E27FC236}">
                <a16:creationId xmlns:a16="http://schemas.microsoft.com/office/drawing/2014/main" id="{9473F0BC-3ABC-7508-584E-911F7EA87612}"/>
              </a:ext>
            </a:extLst>
          </p:cNvPr>
          <p:cNvCxnSpPr>
            <a:cxnSpLocks/>
            <a:endCxn id="10" idx="3"/>
          </p:cNvCxnSpPr>
          <p:nvPr/>
        </p:nvCxnSpPr>
        <p:spPr>
          <a:xfrm flipH="1">
            <a:off x="7912517" y="3619088"/>
            <a:ext cx="385199" cy="815377"/>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hteck 7">
            <a:extLst>
              <a:ext uri="{FF2B5EF4-FFF2-40B4-BE49-F238E27FC236}">
                <a16:creationId xmlns:a16="http://schemas.microsoft.com/office/drawing/2014/main" id="{108BB445-883C-5E25-607E-698F23F7B967}"/>
              </a:ext>
            </a:extLst>
          </p:cNvPr>
          <p:cNvSpPr/>
          <p:nvPr/>
        </p:nvSpPr>
        <p:spPr>
          <a:xfrm>
            <a:off x="675422" y="1341363"/>
            <a:ext cx="1526758" cy="784617"/>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Daten</a:t>
            </a:r>
          </a:p>
        </p:txBody>
      </p:sp>
      <p:sp>
        <p:nvSpPr>
          <p:cNvPr id="9" name="Rechteck 8">
            <a:extLst>
              <a:ext uri="{FF2B5EF4-FFF2-40B4-BE49-F238E27FC236}">
                <a16:creationId xmlns:a16="http://schemas.microsoft.com/office/drawing/2014/main" id="{97EAE9C9-23E1-855A-6708-0EE71441022A}"/>
              </a:ext>
            </a:extLst>
          </p:cNvPr>
          <p:cNvSpPr/>
          <p:nvPr/>
        </p:nvSpPr>
        <p:spPr>
          <a:xfrm>
            <a:off x="8297716" y="3314700"/>
            <a:ext cx="1394924" cy="687702"/>
          </a:xfrm>
          <a:prstGeom prst="rect">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chemeClr val="bg1"/>
                </a:solidFill>
              </a:rPr>
              <a:t>Daten</a:t>
            </a:r>
          </a:p>
        </p:txBody>
      </p:sp>
      <p:sp>
        <p:nvSpPr>
          <p:cNvPr id="7" name="Textplatzhalter 5">
            <a:extLst>
              <a:ext uri="{FF2B5EF4-FFF2-40B4-BE49-F238E27FC236}">
                <a16:creationId xmlns:a16="http://schemas.microsoft.com/office/drawing/2014/main" id="{FD5E80C4-B080-3D63-ED98-38CC8245AA82}"/>
              </a:ext>
            </a:extLst>
          </p:cNvPr>
          <p:cNvSpPr txBox="1">
            <a:spLocks/>
          </p:cNvSpPr>
          <p:nvPr/>
        </p:nvSpPr>
        <p:spPr>
          <a:xfrm>
            <a:off x="6655217" y="4963800"/>
            <a:ext cx="3037424" cy="606177"/>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ctr">
              <a:buNone/>
            </a:pPr>
            <a:r>
              <a:rPr lang="de-DE" sz="1400" b="1" dirty="0">
                <a:solidFill>
                  <a:srgbClr val="FF9600"/>
                </a:solidFill>
              </a:rPr>
              <a:t>Daten werden einer Funktion durch einen Strich (kein Pfeil) zugeordnet.</a:t>
            </a:r>
          </a:p>
        </p:txBody>
      </p:sp>
    </p:spTree>
    <p:extLst>
      <p:ext uri="{BB962C8B-B14F-4D97-AF65-F5344CB8AC3E}">
        <p14:creationId xmlns:p14="http://schemas.microsoft.com/office/powerpoint/2010/main" val="1040988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ECF3-F44F-E172-D34A-D69DEF326591}"/>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B5FC1583-C59E-3DF6-B25A-7D9CE0132BAD}"/>
              </a:ext>
            </a:extLst>
          </p:cNvPr>
          <p:cNvSpPr>
            <a:spLocks noGrp="1"/>
          </p:cNvSpPr>
          <p:nvPr>
            <p:ph type="title"/>
          </p:nvPr>
        </p:nvSpPr>
        <p:spPr/>
        <p:txBody>
          <a:bodyPr/>
          <a:lstStyle/>
          <a:p>
            <a:r>
              <a:rPr lang="de-DE" dirty="0" err="1"/>
              <a:t>Sprachkonstrukte</a:t>
            </a:r>
            <a:r>
              <a:rPr lang="de-DE" dirty="0"/>
              <a:t>: Beispiel</a:t>
            </a:r>
          </a:p>
        </p:txBody>
      </p:sp>
      <p:sp>
        <p:nvSpPr>
          <p:cNvPr id="9" name="Ellipse 8">
            <a:extLst>
              <a:ext uri="{FF2B5EF4-FFF2-40B4-BE49-F238E27FC236}">
                <a16:creationId xmlns:a16="http://schemas.microsoft.com/office/drawing/2014/main" id="{6C6EA243-8E9D-83F1-69AE-95F00F329983}"/>
              </a:ext>
            </a:extLst>
          </p:cNvPr>
          <p:cNvSpPr/>
          <p:nvPr/>
        </p:nvSpPr>
        <p:spPr>
          <a:xfrm>
            <a:off x="8503369" y="2924190"/>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tx1"/>
                </a:solidFill>
                <a:sym typeface="Symbol"/>
              </a:rPr>
              <a:t></a:t>
            </a:r>
            <a:endParaRPr lang="de-DE" sz="3200" b="1" dirty="0">
              <a:solidFill>
                <a:schemeClr val="tx1"/>
              </a:solidFill>
            </a:endParaRPr>
          </a:p>
        </p:txBody>
      </p:sp>
      <p:sp>
        <p:nvSpPr>
          <p:cNvPr id="11" name="Textplatzhalter 2">
            <a:extLst>
              <a:ext uri="{FF2B5EF4-FFF2-40B4-BE49-F238E27FC236}">
                <a16:creationId xmlns:a16="http://schemas.microsoft.com/office/drawing/2014/main" id="{4B8CB109-F124-4749-AC8C-29ACF6A34B17}"/>
              </a:ext>
            </a:extLst>
          </p:cNvPr>
          <p:cNvSpPr txBox="1">
            <a:spLocks/>
          </p:cNvSpPr>
          <p:nvPr/>
        </p:nvSpPr>
        <p:spPr>
          <a:xfrm>
            <a:off x="6640735"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Lagerbestand ist geprüft</a:t>
            </a:r>
          </a:p>
        </p:txBody>
      </p:sp>
      <p:sp>
        <p:nvSpPr>
          <p:cNvPr id="13" name="Rechteck 12">
            <a:extLst>
              <a:ext uri="{FF2B5EF4-FFF2-40B4-BE49-F238E27FC236}">
                <a16:creationId xmlns:a16="http://schemas.microsoft.com/office/drawing/2014/main" id="{8BEC717C-B706-11B1-B0CA-23D1F9987D28}"/>
              </a:ext>
            </a:extLst>
          </p:cNvPr>
          <p:cNvSpPr/>
          <p:nvPr/>
        </p:nvSpPr>
        <p:spPr>
          <a:xfrm>
            <a:off x="8212638" y="385411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tätigen</a:t>
            </a:r>
          </a:p>
        </p:txBody>
      </p:sp>
      <p:cxnSp>
        <p:nvCxnSpPr>
          <p:cNvPr id="15" name="Gerade Verbindung mit Pfeil 14">
            <a:extLst>
              <a:ext uri="{FF2B5EF4-FFF2-40B4-BE49-F238E27FC236}">
                <a16:creationId xmlns:a16="http://schemas.microsoft.com/office/drawing/2014/main" id="{2DB64B7D-ED77-1C58-36B9-8651CD9E3220}"/>
              </a:ext>
            </a:extLst>
          </p:cNvPr>
          <p:cNvCxnSpPr>
            <a:cxnSpLocks/>
            <a:stCxn id="9" idx="4"/>
          </p:cNvCxnSpPr>
          <p:nvPr/>
        </p:nvCxnSpPr>
        <p:spPr>
          <a:xfrm flipH="1">
            <a:off x="8793558" y="3445402"/>
            <a:ext cx="1" cy="4087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E1E1A8BF-5297-A9CC-6682-B975746E4E4A}"/>
              </a:ext>
            </a:extLst>
          </p:cNvPr>
          <p:cNvCxnSpPr>
            <a:cxnSpLocks/>
            <a:endCxn id="9" idx="0"/>
          </p:cNvCxnSpPr>
          <p:nvPr/>
        </p:nvCxnSpPr>
        <p:spPr>
          <a:xfrm>
            <a:off x="8793559" y="2429894"/>
            <a:ext cx="0" cy="49429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F6F1FB8-6F4A-D6E0-2079-521BAE25DEE3}"/>
              </a:ext>
            </a:extLst>
          </p:cNvPr>
          <p:cNvCxnSpPr>
            <a:cxnSpLocks/>
            <a:endCxn id="9" idx="1"/>
          </p:cNvCxnSpPr>
          <p:nvPr/>
        </p:nvCxnSpPr>
        <p:spPr>
          <a:xfrm>
            <a:off x="7276231" y="2429894"/>
            <a:ext cx="1312133" cy="57062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8" name="Textplatzhalter 2">
            <a:extLst>
              <a:ext uri="{FF2B5EF4-FFF2-40B4-BE49-F238E27FC236}">
                <a16:creationId xmlns:a16="http://schemas.microsoft.com/office/drawing/2014/main" id="{41949DB2-BFAF-27C5-42AF-3D3755DCC08A}"/>
              </a:ext>
            </a:extLst>
          </p:cNvPr>
          <p:cNvSpPr txBox="1">
            <a:spLocks/>
          </p:cNvSpPr>
          <p:nvPr/>
        </p:nvSpPr>
        <p:spPr>
          <a:xfrm>
            <a:off x="821263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Mindestmenge unterschritten</a:t>
            </a:r>
          </a:p>
        </p:txBody>
      </p:sp>
      <p:sp>
        <p:nvSpPr>
          <p:cNvPr id="19" name="Textplatzhalter 2">
            <a:extLst>
              <a:ext uri="{FF2B5EF4-FFF2-40B4-BE49-F238E27FC236}">
                <a16:creationId xmlns:a16="http://schemas.microsoft.com/office/drawing/2014/main" id="{3F163EE4-078E-4B8A-B50D-3FCDF342CB9E}"/>
              </a:ext>
            </a:extLst>
          </p:cNvPr>
          <p:cNvSpPr txBox="1">
            <a:spLocks/>
          </p:cNvSpPr>
          <p:nvPr/>
        </p:nvSpPr>
        <p:spPr>
          <a:xfrm>
            <a:off x="977711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Bezahlung abgesichert</a:t>
            </a:r>
          </a:p>
        </p:txBody>
      </p:sp>
      <p:cxnSp>
        <p:nvCxnSpPr>
          <p:cNvPr id="20" name="Gerade Verbindung mit Pfeil 19">
            <a:extLst>
              <a:ext uri="{FF2B5EF4-FFF2-40B4-BE49-F238E27FC236}">
                <a16:creationId xmlns:a16="http://schemas.microsoft.com/office/drawing/2014/main" id="{28D2E0E1-B2F9-DC26-C676-4996DCA672F3}"/>
              </a:ext>
            </a:extLst>
          </p:cNvPr>
          <p:cNvCxnSpPr>
            <a:cxnSpLocks/>
            <a:endCxn id="9" idx="7"/>
          </p:cNvCxnSpPr>
          <p:nvPr/>
        </p:nvCxnSpPr>
        <p:spPr>
          <a:xfrm flipH="1">
            <a:off x="8998754" y="2429894"/>
            <a:ext cx="1407015" cy="57062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Textplatzhalter 2">
            <a:extLst>
              <a:ext uri="{FF2B5EF4-FFF2-40B4-BE49-F238E27FC236}">
                <a16:creationId xmlns:a16="http://schemas.microsoft.com/office/drawing/2014/main" id="{F6FBAE55-5AED-8053-4EAF-BC6C76F8DED7}"/>
              </a:ext>
            </a:extLst>
          </p:cNvPr>
          <p:cNvSpPr txBox="1">
            <a:spLocks/>
          </p:cNvSpPr>
          <p:nvPr/>
        </p:nvSpPr>
        <p:spPr>
          <a:xfrm>
            <a:off x="8212638" y="500184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getätigt</a:t>
            </a:r>
          </a:p>
        </p:txBody>
      </p:sp>
      <p:cxnSp>
        <p:nvCxnSpPr>
          <p:cNvPr id="22" name="Gerade Verbindung mit Pfeil 21">
            <a:extLst>
              <a:ext uri="{FF2B5EF4-FFF2-40B4-BE49-F238E27FC236}">
                <a16:creationId xmlns:a16="http://schemas.microsoft.com/office/drawing/2014/main" id="{6B188028-2233-D5E0-333F-0D68B2485550}"/>
              </a:ext>
            </a:extLst>
          </p:cNvPr>
          <p:cNvCxnSpPr>
            <a:cxnSpLocks/>
          </p:cNvCxnSpPr>
          <p:nvPr/>
        </p:nvCxnSpPr>
        <p:spPr>
          <a:xfrm>
            <a:off x="8831506" y="4464099"/>
            <a:ext cx="0" cy="5377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E8E5C7C0-D269-7AE1-E3C5-75A73BFCE8FB}"/>
              </a:ext>
            </a:extLst>
          </p:cNvPr>
          <p:cNvSpPr/>
          <p:nvPr/>
        </p:nvSpPr>
        <p:spPr>
          <a:xfrm>
            <a:off x="2431332" y="230897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schreiben</a:t>
            </a:r>
          </a:p>
        </p:txBody>
      </p:sp>
      <p:sp>
        <p:nvSpPr>
          <p:cNvPr id="24" name="Textplatzhalter 2">
            <a:extLst>
              <a:ext uri="{FF2B5EF4-FFF2-40B4-BE49-F238E27FC236}">
                <a16:creationId xmlns:a16="http://schemas.microsoft.com/office/drawing/2014/main" id="{6F555C16-014A-90B1-1DC4-7048DD214C41}"/>
              </a:ext>
            </a:extLst>
          </p:cNvPr>
          <p:cNvSpPr txBox="1">
            <a:spLocks/>
          </p:cNvSpPr>
          <p:nvPr/>
        </p:nvSpPr>
        <p:spPr>
          <a:xfrm>
            <a:off x="2431331" y="145542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Modul  </a:t>
            </a:r>
            <a:br>
              <a:rPr lang="de-DE" sz="1200" b="1" dirty="0">
                <a:solidFill>
                  <a:srgbClr val="012656"/>
                </a:solidFill>
              </a:rPr>
            </a:br>
            <a:r>
              <a:rPr lang="de-DE" sz="1200" b="1" dirty="0">
                <a:solidFill>
                  <a:srgbClr val="012656"/>
                </a:solidFill>
              </a:rPr>
              <a:t>gehört</a:t>
            </a:r>
          </a:p>
        </p:txBody>
      </p:sp>
      <p:sp>
        <p:nvSpPr>
          <p:cNvPr id="25" name="Ellipse 24">
            <a:extLst>
              <a:ext uri="{FF2B5EF4-FFF2-40B4-BE49-F238E27FC236}">
                <a16:creationId xmlns:a16="http://schemas.microsoft.com/office/drawing/2014/main" id="{446CC8C9-AAF0-E284-7B93-E8301024C893}"/>
              </a:ext>
            </a:extLst>
          </p:cNvPr>
          <p:cNvSpPr/>
          <p:nvPr/>
        </p:nvSpPr>
        <p:spPr>
          <a:xfrm>
            <a:off x="2769791" y="3142869"/>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sp>
        <p:nvSpPr>
          <p:cNvPr id="26" name="Textplatzhalter 2">
            <a:extLst>
              <a:ext uri="{FF2B5EF4-FFF2-40B4-BE49-F238E27FC236}">
                <a16:creationId xmlns:a16="http://schemas.microsoft.com/office/drawing/2014/main" id="{401D1DEE-274A-35E7-4E7D-B6DF80416E04}"/>
              </a:ext>
            </a:extLst>
          </p:cNvPr>
          <p:cNvSpPr txBox="1">
            <a:spLocks/>
          </p:cNvSpPr>
          <p:nvPr/>
        </p:nvSpPr>
        <p:spPr>
          <a:xfrm>
            <a:off x="127488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bestanden</a:t>
            </a:r>
          </a:p>
        </p:txBody>
      </p:sp>
      <p:sp>
        <p:nvSpPr>
          <p:cNvPr id="27" name="Textplatzhalter 2">
            <a:extLst>
              <a:ext uri="{FF2B5EF4-FFF2-40B4-BE49-F238E27FC236}">
                <a16:creationId xmlns:a16="http://schemas.microsoft.com/office/drawing/2014/main" id="{E5429650-4E75-DDBE-1988-659E1745E365}"/>
              </a:ext>
            </a:extLst>
          </p:cNvPr>
          <p:cNvSpPr txBox="1">
            <a:spLocks/>
          </p:cNvSpPr>
          <p:nvPr/>
        </p:nvSpPr>
        <p:spPr>
          <a:xfrm>
            <a:off x="352136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Nicht bestanden</a:t>
            </a:r>
          </a:p>
        </p:txBody>
      </p:sp>
      <p:sp>
        <p:nvSpPr>
          <p:cNvPr id="28" name="Rechteck 27">
            <a:extLst>
              <a:ext uri="{FF2B5EF4-FFF2-40B4-BE49-F238E27FC236}">
                <a16:creationId xmlns:a16="http://schemas.microsoft.com/office/drawing/2014/main" id="{A8F796C5-65B5-A6A8-019A-746776B65A6E}"/>
              </a:ext>
            </a:extLst>
          </p:cNvPr>
          <p:cNvSpPr/>
          <p:nvPr/>
        </p:nvSpPr>
        <p:spPr>
          <a:xfrm>
            <a:off x="3521363" y="47689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ob 3. Versuch</a:t>
            </a:r>
          </a:p>
        </p:txBody>
      </p:sp>
      <p:cxnSp>
        <p:nvCxnSpPr>
          <p:cNvPr id="29" name="Gerade Verbindung mit Pfeil 28">
            <a:extLst>
              <a:ext uri="{FF2B5EF4-FFF2-40B4-BE49-F238E27FC236}">
                <a16:creationId xmlns:a16="http://schemas.microsoft.com/office/drawing/2014/main" id="{55315C74-6F6B-9655-4687-A0BED6591EE5}"/>
              </a:ext>
            </a:extLst>
          </p:cNvPr>
          <p:cNvCxnSpPr>
            <a:cxnSpLocks/>
          </p:cNvCxnSpPr>
          <p:nvPr/>
        </p:nvCxnSpPr>
        <p:spPr>
          <a:xfrm>
            <a:off x="3059981" y="2053111"/>
            <a:ext cx="0" cy="255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E4A09328-FD6F-4BC5-60AA-13609B8B815D}"/>
              </a:ext>
            </a:extLst>
          </p:cNvPr>
          <p:cNvCxnSpPr>
            <a:cxnSpLocks/>
            <a:stCxn id="23" idx="2"/>
            <a:endCxn id="25" idx="0"/>
          </p:cNvCxnSpPr>
          <p:nvPr/>
        </p:nvCxnSpPr>
        <p:spPr>
          <a:xfrm flipH="1">
            <a:off x="3059981" y="2916016"/>
            <a:ext cx="2" cy="2268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257CF9E5-BBEC-1189-2117-07B3571D2560}"/>
              </a:ext>
            </a:extLst>
          </p:cNvPr>
          <p:cNvCxnSpPr>
            <a:cxnSpLocks/>
            <a:stCxn id="25" idx="3"/>
            <a:endCxn id="26" idx="5"/>
          </p:cNvCxnSpPr>
          <p:nvPr/>
        </p:nvCxnSpPr>
        <p:spPr>
          <a:xfrm flipH="1">
            <a:off x="2380424" y="3587751"/>
            <a:ext cx="474362"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AC55E298-3F2F-6B01-CCE9-0981F3974C81}"/>
              </a:ext>
            </a:extLst>
          </p:cNvPr>
          <p:cNvCxnSpPr>
            <a:cxnSpLocks/>
            <a:stCxn id="25" idx="5"/>
            <a:endCxn id="27" idx="4"/>
          </p:cNvCxnSpPr>
          <p:nvPr/>
        </p:nvCxnSpPr>
        <p:spPr>
          <a:xfrm>
            <a:off x="3265176" y="3587751"/>
            <a:ext cx="407949" cy="2723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228E689C-49CF-CD71-8938-C0F366AD953F}"/>
              </a:ext>
            </a:extLst>
          </p:cNvPr>
          <p:cNvCxnSpPr>
            <a:cxnSpLocks/>
          </p:cNvCxnSpPr>
          <p:nvPr/>
        </p:nvCxnSpPr>
        <p:spPr>
          <a:xfrm>
            <a:off x="4150014" y="4467097"/>
            <a:ext cx="0" cy="30186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B460B88D-E051-B0F3-C061-96C1729452EA}"/>
              </a:ext>
            </a:extLst>
          </p:cNvPr>
          <p:cNvSpPr/>
          <p:nvPr/>
        </p:nvSpPr>
        <p:spPr>
          <a:xfrm>
            <a:off x="3859823" y="5596933"/>
            <a:ext cx="580380" cy="52121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dirty="0">
                <a:solidFill>
                  <a:schemeClr val="tx1"/>
                </a:solidFill>
                <a:sym typeface="Symbol"/>
              </a:rPr>
              <a:t>X</a:t>
            </a:r>
            <a:endParaRPr lang="de-DE" sz="3200" dirty="0">
              <a:solidFill>
                <a:schemeClr val="tx1"/>
              </a:solidFill>
            </a:endParaRPr>
          </a:p>
        </p:txBody>
      </p:sp>
      <p:cxnSp>
        <p:nvCxnSpPr>
          <p:cNvPr id="35" name="Gerade Verbindung mit Pfeil 34">
            <a:extLst>
              <a:ext uri="{FF2B5EF4-FFF2-40B4-BE49-F238E27FC236}">
                <a16:creationId xmlns:a16="http://schemas.microsoft.com/office/drawing/2014/main" id="{BB47AE97-3786-BE12-F4C4-751229615085}"/>
              </a:ext>
            </a:extLst>
          </p:cNvPr>
          <p:cNvCxnSpPr>
            <a:cxnSpLocks/>
            <a:stCxn id="28" idx="2"/>
            <a:endCxn id="34" idx="0"/>
          </p:cNvCxnSpPr>
          <p:nvPr/>
        </p:nvCxnSpPr>
        <p:spPr>
          <a:xfrm flipH="1">
            <a:off x="4150013" y="5376002"/>
            <a:ext cx="1" cy="22093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2E60D10F-CFDA-8866-10B4-2D01DF431BEA}"/>
              </a:ext>
            </a:extLst>
          </p:cNvPr>
          <p:cNvSpPr txBox="1">
            <a:spLocks/>
          </p:cNvSpPr>
          <p:nvPr/>
        </p:nvSpPr>
        <p:spPr>
          <a:xfrm>
            <a:off x="4955717"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3. Versuch</a:t>
            </a:r>
          </a:p>
        </p:txBody>
      </p:sp>
      <p:sp>
        <p:nvSpPr>
          <p:cNvPr id="37" name="Textplatzhalter 2">
            <a:extLst>
              <a:ext uri="{FF2B5EF4-FFF2-40B4-BE49-F238E27FC236}">
                <a16:creationId xmlns:a16="http://schemas.microsoft.com/office/drawing/2014/main" id="{D7E2C0F7-2E19-75CC-4FB3-AEF762B17A9C}"/>
              </a:ext>
            </a:extLst>
          </p:cNvPr>
          <p:cNvSpPr txBox="1">
            <a:spLocks/>
          </p:cNvSpPr>
          <p:nvPr/>
        </p:nvSpPr>
        <p:spPr>
          <a:xfrm>
            <a:off x="2006305"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Kein 3. Versuch</a:t>
            </a:r>
          </a:p>
        </p:txBody>
      </p:sp>
      <p:cxnSp>
        <p:nvCxnSpPr>
          <p:cNvPr id="38" name="Gerade Verbindung mit Pfeil 37">
            <a:extLst>
              <a:ext uri="{FF2B5EF4-FFF2-40B4-BE49-F238E27FC236}">
                <a16:creationId xmlns:a16="http://schemas.microsoft.com/office/drawing/2014/main" id="{697FEBEC-2DF0-B9B1-1058-B562E781F0FB}"/>
              </a:ext>
            </a:extLst>
          </p:cNvPr>
          <p:cNvCxnSpPr>
            <a:cxnSpLocks/>
            <a:stCxn id="34" idx="2"/>
            <a:endCxn id="37" idx="0"/>
          </p:cNvCxnSpPr>
          <p:nvPr/>
        </p:nvCxnSpPr>
        <p:spPr>
          <a:xfrm flipH="1">
            <a:off x="3263606" y="5857539"/>
            <a:ext cx="596217"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2760CAAD-4875-9633-FD29-2891F7E36A65}"/>
              </a:ext>
            </a:extLst>
          </p:cNvPr>
          <p:cNvCxnSpPr>
            <a:cxnSpLocks/>
            <a:stCxn id="34" idx="6"/>
            <a:endCxn id="36" idx="3"/>
          </p:cNvCxnSpPr>
          <p:nvPr/>
        </p:nvCxnSpPr>
        <p:spPr>
          <a:xfrm>
            <a:off x="4440203" y="5857539"/>
            <a:ext cx="515514" cy="1594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5294BA81-603F-F62A-2EEC-D0B9DFFA8649}"/>
              </a:ext>
            </a:extLst>
          </p:cNvPr>
          <p:cNvSpPr/>
          <p:nvPr/>
        </p:nvSpPr>
        <p:spPr>
          <a:xfrm>
            <a:off x="5254885" y="4767227"/>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rgbClr val="012656"/>
                </a:solidFill>
              </a:rPr>
              <a:t>Prüfungs-amt</a:t>
            </a:r>
          </a:p>
        </p:txBody>
      </p:sp>
      <p:cxnSp>
        <p:nvCxnSpPr>
          <p:cNvPr id="50" name="Gerader Verbinder 49">
            <a:extLst>
              <a:ext uri="{FF2B5EF4-FFF2-40B4-BE49-F238E27FC236}">
                <a16:creationId xmlns:a16="http://schemas.microsoft.com/office/drawing/2014/main" id="{B1842210-6AF4-4900-DFF9-63CDEF1F3B16}"/>
              </a:ext>
            </a:extLst>
          </p:cNvPr>
          <p:cNvCxnSpPr>
            <a:stCxn id="48" idx="2"/>
            <a:endCxn id="28" idx="3"/>
          </p:cNvCxnSpPr>
          <p:nvPr/>
        </p:nvCxnSpPr>
        <p:spPr>
          <a:xfrm flipH="1">
            <a:off x="4778664" y="5071615"/>
            <a:ext cx="476221" cy="866"/>
          </a:xfrm>
          <a:prstGeom prst="line">
            <a:avLst/>
          </a:prstGeom>
        </p:spPr>
        <p:style>
          <a:lnRef idx="1">
            <a:schemeClr val="accent1"/>
          </a:lnRef>
          <a:fillRef idx="0">
            <a:schemeClr val="accent1"/>
          </a:fillRef>
          <a:effectRef idx="0">
            <a:schemeClr val="accent1"/>
          </a:effectRef>
          <a:fontRef idx="minor">
            <a:schemeClr val="tx1"/>
          </a:fontRef>
        </p:style>
      </p:cxnSp>
      <p:sp>
        <p:nvSpPr>
          <p:cNvPr id="51" name="Ellipse 50">
            <a:extLst>
              <a:ext uri="{FF2B5EF4-FFF2-40B4-BE49-F238E27FC236}">
                <a16:creationId xmlns:a16="http://schemas.microsoft.com/office/drawing/2014/main" id="{D66BA496-84C8-FB96-C83B-BC9AFF8C4DA3}"/>
              </a:ext>
            </a:extLst>
          </p:cNvPr>
          <p:cNvSpPr/>
          <p:nvPr/>
        </p:nvSpPr>
        <p:spPr>
          <a:xfrm>
            <a:off x="9956710" y="3860054"/>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a:t>
            </a:r>
          </a:p>
        </p:txBody>
      </p:sp>
      <p:cxnSp>
        <p:nvCxnSpPr>
          <p:cNvPr id="52" name="Gerader Verbinder 51">
            <a:extLst>
              <a:ext uri="{FF2B5EF4-FFF2-40B4-BE49-F238E27FC236}">
                <a16:creationId xmlns:a16="http://schemas.microsoft.com/office/drawing/2014/main" id="{8B60AA7E-5D22-EB5C-485A-AB57823FE3A7}"/>
              </a:ext>
            </a:extLst>
          </p:cNvPr>
          <p:cNvCxnSpPr>
            <a:stCxn id="51" idx="2"/>
          </p:cNvCxnSpPr>
          <p:nvPr/>
        </p:nvCxnSpPr>
        <p:spPr>
          <a:xfrm flipH="1" flipV="1">
            <a:off x="9455890" y="4130043"/>
            <a:ext cx="500820" cy="34399"/>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F7896591-5158-DC2C-D0A7-635E0A69D9AC}"/>
              </a:ext>
            </a:extLst>
          </p:cNvPr>
          <p:cNvSpPr/>
          <p:nvPr/>
        </p:nvSpPr>
        <p:spPr>
          <a:xfrm>
            <a:off x="4182555" y="2317170"/>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Stud.-</a:t>
            </a:r>
          </a:p>
          <a:p>
            <a:pPr algn="ctr"/>
            <a:r>
              <a:rPr lang="de-DE" sz="1200" b="1" dirty="0">
                <a:solidFill>
                  <a:srgbClr val="012656"/>
                </a:solidFill>
              </a:rPr>
              <a:t>Stammdaten</a:t>
            </a:r>
          </a:p>
        </p:txBody>
      </p:sp>
      <p:sp>
        <p:nvSpPr>
          <p:cNvPr id="7" name="Ellipse 6">
            <a:extLst>
              <a:ext uri="{FF2B5EF4-FFF2-40B4-BE49-F238E27FC236}">
                <a16:creationId xmlns:a16="http://schemas.microsoft.com/office/drawing/2014/main" id="{B8043D96-F171-434B-163E-DBC9412B8FA9}"/>
              </a:ext>
            </a:extLst>
          </p:cNvPr>
          <p:cNvSpPr/>
          <p:nvPr/>
        </p:nvSpPr>
        <p:spPr>
          <a:xfrm>
            <a:off x="4336044" y="1512171"/>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rgbClr val="012656"/>
                </a:solidFill>
              </a:rPr>
              <a:t>Prüfungs-amt</a:t>
            </a:r>
          </a:p>
        </p:txBody>
      </p:sp>
      <p:cxnSp>
        <p:nvCxnSpPr>
          <p:cNvPr id="8" name="Gerader Verbinder 7">
            <a:extLst>
              <a:ext uri="{FF2B5EF4-FFF2-40B4-BE49-F238E27FC236}">
                <a16:creationId xmlns:a16="http://schemas.microsoft.com/office/drawing/2014/main" id="{5BE5532F-6A62-B342-E764-84F0FEBADE52}"/>
              </a:ext>
            </a:extLst>
          </p:cNvPr>
          <p:cNvCxnSpPr>
            <a:cxnSpLocks/>
            <a:stCxn id="7" idx="2"/>
            <a:endCxn id="23" idx="3"/>
          </p:cNvCxnSpPr>
          <p:nvPr/>
        </p:nvCxnSpPr>
        <p:spPr>
          <a:xfrm flipH="1">
            <a:off x="3688633" y="1816559"/>
            <a:ext cx="647411" cy="7959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D75E57A-54E9-D1E0-D5E4-56691F602936}"/>
              </a:ext>
            </a:extLst>
          </p:cNvPr>
          <p:cNvCxnSpPr>
            <a:cxnSpLocks/>
            <a:stCxn id="6" idx="1"/>
            <a:endCxn id="23" idx="3"/>
          </p:cNvCxnSpPr>
          <p:nvPr/>
        </p:nvCxnSpPr>
        <p:spPr>
          <a:xfrm flipH="1">
            <a:off x="3688633" y="2602483"/>
            <a:ext cx="493922" cy="10012"/>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hteck 48">
            <a:extLst>
              <a:ext uri="{FF2B5EF4-FFF2-40B4-BE49-F238E27FC236}">
                <a16:creationId xmlns:a16="http://schemas.microsoft.com/office/drawing/2014/main" id="{1EA80BDF-EC18-0FD6-6CF2-0464E06F3FCF}"/>
              </a:ext>
            </a:extLst>
          </p:cNvPr>
          <p:cNvSpPr/>
          <p:nvPr/>
        </p:nvSpPr>
        <p:spPr>
          <a:xfrm>
            <a:off x="5202678" y="4044407"/>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Stud.-</a:t>
            </a:r>
          </a:p>
          <a:p>
            <a:pPr algn="ctr"/>
            <a:r>
              <a:rPr lang="de-DE" sz="1200" b="1" dirty="0">
                <a:solidFill>
                  <a:srgbClr val="012656"/>
                </a:solidFill>
              </a:rPr>
              <a:t>Stammdaten</a:t>
            </a:r>
          </a:p>
        </p:txBody>
      </p:sp>
      <p:cxnSp>
        <p:nvCxnSpPr>
          <p:cNvPr id="53" name="Gerader Verbinder 52">
            <a:extLst>
              <a:ext uri="{FF2B5EF4-FFF2-40B4-BE49-F238E27FC236}">
                <a16:creationId xmlns:a16="http://schemas.microsoft.com/office/drawing/2014/main" id="{CB3CF3AB-8F73-A063-CD1E-27F017A9E178}"/>
              </a:ext>
            </a:extLst>
          </p:cNvPr>
          <p:cNvCxnSpPr>
            <a:cxnSpLocks/>
            <a:stCxn id="49" idx="1"/>
            <a:endCxn id="28" idx="3"/>
          </p:cNvCxnSpPr>
          <p:nvPr/>
        </p:nvCxnSpPr>
        <p:spPr>
          <a:xfrm flipH="1">
            <a:off x="4778664" y="4329720"/>
            <a:ext cx="424014" cy="742761"/>
          </a:xfrm>
          <a:prstGeom prst="line">
            <a:avLst/>
          </a:prstGeom>
        </p:spPr>
        <p:style>
          <a:lnRef idx="1">
            <a:schemeClr val="accent1"/>
          </a:lnRef>
          <a:fillRef idx="0">
            <a:schemeClr val="accent1"/>
          </a:fillRef>
          <a:effectRef idx="0">
            <a:schemeClr val="accent1"/>
          </a:effectRef>
          <a:fontRef idx="minor">
            <a:schemeClr val="tx1"/>
          </a:fontRef>
        </p:style>
      </p:cxnSp>
      <p:sp>
        <p:nvSpPr>
          <p:cNvPr id="60" name="Rechteck 59">
            <a:extLst>
              <a:ext uri="{FF2B5EF4-FFF2-40B4-BE49-F238E27FC236}">
                <a16:creationId xmlns:a16="http://schemas.microsoft.com/office/drawing/2014/main" id="{62EC1E82-62EF-BDD6-35D7-B710BA4C2174}"/>
              </a:ext>
            </a:extLst>
          </p:cNvPr>
          <p:cNvSpPr/>
          <p:nvPr/>
        </p:nvSpPr>
        <p:spPr>
          <a:xfrm>
            <a:off x="9893953" y="4615033"/>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Einkaufs-</a:t>
            </a:r>
          </a:p>
          <a:p>
            <a:pPr algn="ctr"/>
            <a:r>
              <a:rPr lang="de-DE" sz="1200" b="1" dirty="0">
                <a:solidFill>
                  <a:srgbClr val="012656"/>
                </a:solidFill>
              </a:rPr>
              <a:t>daten</a:t>
            </a:r>
          </a:p>
        </p:txBody>
      </p:sp>
      <p:cxnSp>
        <p:nvCxnSpPr>
          <p:cNvPr id="61" name="Gerader Verbinder 60">
            <a:extLst>
              <a:ext uri="{FF2B5EF4-FFF2-40B4-BE49-F238E27FC236}">
                <a16:creationId xmlns:a16="http://schemas.microsoft.com/office/drawing/2014/main" id="{8BB82F88-8572-DBB6-7BCA-0A864AD83277}"/>
              </a:ext>
            </a:extLst>
          </p:cNvPr>
          <p:cNvCxnSpPr>
            <a:cxnSpLocks/>
            <a:endCxn id="13" idx="3"/>
          </p:cNvCxnSpPr>
          <p:nvPr/>
        </p:nvCxnSpPr>
        <p:spPr>
          <a:xfrm flipH="1" flipV="1">
            <a:off x="9469939" y="4157640"/>
            <a:ext cx="456228" cy="7113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644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C6DB-091A-6B57-CDEB-81612470FE3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50711FB-D4BD-A1F3-62C0-109A462E8FA6}"/>
              </a:ext>
            </a:extLst>
          </p:cNvPr>
          <p:cNvSpPr>
            <a:spLocks noGrp="1"/>
          </p:cNvSpPr>
          <p:nvPr>
            <p:ph type="title"/>
          </p:nvPr>
        </p:nvSpPr>
        <p:spPr/>
        <p:txBody>
          <a:bodyPr/>
          <a:lstStyle/>
          <a:p>
            <a:r>
              <a:rPr lang="de-DE" dirty="0" err="1"/>
              <a:t>Sprachkonstrukte</a:t>
            </a:r>
            <a:endParaRPr lang="de-DE" dirty="0"/>
          </a:p>
        </p:txBody>
      </p:sp>
      <p:sp>
        <p:nvSpPr>
          <p:cNvPr id="6" name="Textplatzhalter 5">
            <a:extLst>
              <a:ext uri="{FF2B5EF4-FFF2-40B4-BE49-F238E27FC236}">
                <a16:creationId xmlns:a16="http://schemas.microsoft.com/office/drawing/2014/main" id="{5C9E4EAA-FA08-4828-D19D-50E53B220250}"/>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Ein </a:t>
            </a:r>
            <a:r>
              <a:rPr lang="de-DE" sz="1800" b="1" dirty="0"/>
              <a:t>System</a:t>
            </a:r>
            <a:r>
              <a:rPr lang="de-DE" sz="1800" dirty="0"/>
              <a:t> ist ein </a:t>
            </a:r>
            <a:r>
              <a:rPr lang="de-DE" sz="1800" b="1" dirty="0"/>
              <a:t>Anwendungssystem oder IT-System</a:t>
            </a:r>
            <a:r>
              <a:rPr lang="de-DE" sz="1800" dirty="0"/>
              <a:t>, das eine oder mehrere Funktionen eines Geschäftsprozesses unterstützt oder automatisiert. </a:t>
            </a:r>
          </a:p>
        </p:txBody>
      </p:sp>
      <p:sp>
        <p:nvSpPr>
          <p:cNvPr id="3" name="Textplatzhalter 5">
            <a:extLst>
              <a:ext uri="{FF2B5EF4-FFF2-40B4-BE49-F238E27FC236}">
                <a16:creationId xmlns:a16="http://schemas.microsoft.com/office/drawing/2014/main" id="{A28FA089-5BCA-FF6B-6B46-B6317A0FBC7A}"/>
              </a:ext>
            </a:extLst>
          </p:cNvPr>
          <p:cNvSpPr txBox="1">
            <a:spLocks/>
          </p:cNvSpPr>
          <p:nvPr/>
        </p:nvSpPr>
        <p:spPr>
          <a:xfrm>
            <a:off x="731695" y="3111780"/>
            <a:ext cx="5836354"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Systeme in einem Prozess</a:t>
            </a:r>
          </a:p>
          <a:p>
            <a:r>
              <a:rPr lang="de-DE" sz="1800" dirty="0"/>
              <a:t>ERP-System (SAP, Microsoft Dynamics) </a:t>
            </a:r>
          </a:p>
          <a:p>
            <a:r>
              <a:rPr lang="de-DE" sz="1800" dirty="0"/>
              <a:t>CRM-System (Salesforce)</a:t>
            </a:r>
          </a:p>
          <a:p>
            <a:r>
              <a:rPr lang="de-DE" sz="1800" dirty="0"/>
              <a:t>Dokumentenmanagementsystem (DMS)</a:t>
            </a:r>
          </a:p>
          <a:p>
            <a:r>
              <a:rPr lang="de-DE" sz="1800" dirty="0"/>
              <a:t>Warenwirtschaftssystem Produktionsleitsystem</a:t>
            </a:r>
          </a:p>
        </p:txBody>
      </p:sp>
      <p:sp>
        <p:nvSpPr>
          <p:cNvPr id="10" name="Rechteck 9">
            <a:extLst>
              <a:ext uri="{FF2B5EF4-FFF2-40B4-BE49-F238E27FC236}">
                <a16:creationId xmlns:a16="http://schemas.microsoft.com/office/drawing/2014/main" id="{9F3E7C49-D14A-DE9A-120B-BDD39661906E}"/>
              </a:ext>
            </a:extLst>
          </p:cNvPr>
          <p:cNvSpPr/>
          <p:nvPr/>
        </p:nvSpPr>
        <p:spPr>
          <a:xfrm>
            <a:off x="7935376" y="424524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Funktion</a:t>
            </a:r>
          </a:p>
        </p:txBody>
      </p:sp>
      <p:cxnSp>
        <p:nvCxnSpPr>
          <p:cNvPr id="14" name="Gerader Verbinder 13">
            <a:extLst>
              <a:ext uri="{FF2B5EF4-FFF2-40B4-BE49-F238E27FC236}">
                <a16:creationId xmlns:a16="http://schemas.microsoft.com/office/drawing/2014/main" id="{579F212F-8A60-D4C3-B1E3-02F812331288}"/>
              </a:ext>
            </a:extLst>
          </p:cNvPr>
          <p:cNvCxnSpPr>
            <a:cxnSpLocks/>
            <a:endCxn id="10" idx="3"/>
          </p:cNvCxnSpPr>
          <p:nvPr/>
        </p:nvCxnSpPr>
        <p:spPr>
          <a:xfrm flipH="1">
            <a:off x="9192677" y="3733388"/>
            <a:ext cx="385199" cy="815377"/>
          </a:xfrm>
          <a:prstGeom prst="line">
            <a:avLst/>
          </a:prstGeom>
        </p:spPr>
        <p:style>
          <a:lnRef idx="1">
            <a:schemeClr val="accent1"/>
          </a:lnRef>
          <a:fillRef idx="0">
            <a:schemeClr val="accent1"/>
          </a:fillRef>
          <a:effectRef idx="0">
            <a:schemeClr val="accent1"/>
          </a:effectRef>
          <a:fontRef idx="minor">
            <a:schemeClr val="tx1"/>
          </a:fontRef>
        </p:style>
      </p:cxnSp>
      <p:grpSp>
        <p:nvGrpSpPr>
          <p:cNvPr id="11" name="Gruppieren 10">
            <a:extLst>
              <a:ext uri="{FF2B5EF4-FFF2-40B4-BE49-F238E27FC236}">
                <a16:creationId xmlns:a16="http://schemas.microsoft.com/office/drawing/2014/main" id="{F8EEB6C6-713E-148A-114A-6BF60E85F758}"/>
              </a:ext>
            </a:extLst>
          </p:cNvPr>
          <p:cNvGrpSpPr/>
          <p:nvPr/>
        </p:nvGrpSpPr>
        <p:grpSpPr>
          <a:xfrm>
            <a:off x="466725" y="1342687"/>
            <a:ext cx="1682115" cy="900000"/>
            <a:chOff x="8229196" y="2431605"/>
            <a:chExt cx="1257301" cy="607043"/>
          </a:xfrm>
          <a:solidFill>
            <a:schemeClr val="bg1">
              <a:lumMod val="95000"/>
            </a:schemeClr>
          </a:solidFill>
        </p:grpSpPr>
        <p:sp>
          <p:nvSpPr>
            <p:cNvPr id="13" name="Rechteck 12">
              <a:extLst>
                <a:ext uri="{FF2B5EF4-FFF2-40B4-BE49-F238E27FC236}">
                  <a16:creationId xmlns:a16="http://schemas.microsoft.com/office/drawing/2014/main" id="{1B84141F-FDF5-4541-3EB2-8D70EFD2CA93}"/>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System</a:t>
              </a:r>
            </a:p>
          </p:txBody>
        </p:sp>
        <p:cxnSp>
          <p:nvCxnSpPr>
            <p:cNvPr id="15" name="Gerader Verbinder 14">
              <a:extLst>
                <a:ext uri="{FF2B5EF4-FFF2-40B4-BE49-F238E27FC236}">
                  <a16:creationId xmlns:a16="http://schemas.microsoft.com/office/drawing/2014/main" id="{D77F1CB3-2620-E715-AACC-432643949E3C}"/>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A49385EF-8137-0403-8CEF-2FBDE9A94103}"/>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grpSp>
        <p:nvGrpSpPr>
          <p:cNvPr id="17" name="Gruppieren 16">
            <a:extLst>
              <a:ext uri="{FF2B5EF4-FFF2-40B4-BE49-F238E27FC236}">
                <a16:creationId xmlns:a16="http://schemas.microsoft.com/office/drawing/2014/main" id="{1E42F8C8-0547-D7C1-5C39-07CEAD89FE0A}"/>
              </a:ext>
            </a:extLst>
          </p:cNvPr>
          <p:cNvGrpSpPr/>
          <p:nvPr/>
        </p:nvGrpSpPr>
        <p:grpSpPr>
          <a:xfrm>
            <a:off x="9577877" y="3604259"/>
            <a:ext cx="1364444" cy="579127"/>
            <a:chOff x="8229196" y="2431605"/>
            <a:chExt cx="1257301" cy="607043"/>
          </a:xfrm>
          <a:solidFill>
            <a:schemeClr val="bg1">
              <a:lumMod val="95000"/>
            </a:schemeClr>
          </a:solidFill>
        </p:grpSpPr>
        <p:sp>
          <p:nvSpPr>
            <p:cNvPr id="18" name="Rechteck 17">
              <a:extLst>
                <a:ext uri="{FF2B5EF4-FFF2-40B4-BE49-F238E27FC236}">
                  <a16:creationId xmlns:a16="http://schemas.microsoft.com/office/drawing/2014/main" id="{1DB8391D-9FED-5206-78AD-9E9E88E30FB6}"/>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System</a:t>
              </a:r>
            </a:p>
          </p:txBody>
        </p:sp>
        <p:cxnSp>
          <p:nvCxnSpPr>
            <p:cNvPr id="19" name="Gerader Verbinder 18">
              <a:extLst>
                <a:ext uri="{FF2B5EF4-FFF2-40B4-BE49-F238E27FC236}">
                  <a16:creationId xmlns:a16="http://schemas.microsoft.com/office/drawing/2014/main" id="{1E6F3C34-15A2-62E0-1630-0258C9132D18}"/>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4F9F5B73-BAC0-99FC-5FF3-F1AA9538C948}"/>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sp>
        <p:nvSpPr>
          <p:cNvPr id="7" name="Textplatzhalter 5">
            <a:extLst>
              <a:ext uri="{FF2B5EF4-FFF2-40B4-BE49-F238E27FC236}">
                <a16:creationId xmlns:a16="http://schemas.microsoft.com/office/drawing/2014/main" id="{19FAD42F-0891-ABD9-27C2-354E32F75CF5}"/>
              </a:ext>
            </a:extLst>
          </p:cNvPr>
          <p:cNvSpPr txBox="1">
            <a:spLocks/>
          </p:cNvSpPr>
          <p:nvPr/>
        </p:nvSpPr>
        <p:spPr>
          <a:xfrm>
            <a:off x="7935376" y="4963800"/>
            <a:ext cx="3037424" cy="606177"/>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ctr">
              <a:buNone/>
            </a:pPr>
            <a:r>
              <a:rPr lang="de-DE" sz="1400" b="1" dirty="0">
                <a:solidFill>
                  <a:srgbClr val="FF9600"/>
                </a:solidFill>
              </a:rPr>
              <a:t>Systeme werden einer Funktion durch einen Strich (kein Pfeil) zugeordnet.</a:t>
            </a:r>
          </a:p>
        </p:txBody>
      </p:sp>
    </p:spTree>
    <p:extLst>
      <p:ext uri="{BB962C8B-B14F-4D97-AF65-F5344CB8AC3E}">
        <p14:creationId xmlns:p14="http://schemas.microsoft.com/office/powerpoint/2010/main" val="2710987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77A42-A145-3A1A-D25F-3D0CD2A6AF9F}"/>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33D236A-CD2B-9A43-9102-0BA2C8B8293E}"/>
              </a:ext>
            </a:extLst>
          </p:cNvPr>
          <p:cNvSpPr>
            <a:spLocks noGrp="1"/>
          </p:cNvSpPr>
          <p:nvPr>
            <p:ph type="title"/>
          </p:nvPr>
        </p:nvSpPr>
        <p:spPr/>
        <p:txBody>
          <a:bodyPr/>
          <a:lstStyle/>
          <a:p>
            <a:r>
              <a:rPr lang="de-DE" dirty="0" err="1"/>
              <a:t>Sprachkonstrukte</a:t>
            </a:r>
            <a:r>
              <a:rPr lang="de-DE" dirty="0"/>
              <a:t>: Beispiel</a:t>
            </a:r>
          </a:p>
        </p:txBody>
      </p:sp>
      <p:sp>
        <p:nvSpPr>
          <p:cNvPr id="9" name="Ellipse 8">
            <a:extLst>
              <a:ext uri="{FF2B5EF4-FFF2-40B4-BE49-F238E27FC236}">
                <a16:creationId xmlns:a16="http://schemas.microsoft.com/office/drawing/2014/main" id="{26010E3C-57EC-D78B-A49C-AA38E7EED69C}"/>
              </a:ext>
            </a:extLst>
          </p:cNvPr>
          <p:cNvSpPr/>
          <p:nvPr/>
        </p:nvSpPr>
        <p:spPr>
          <a:xfrm>
            <a:off x="8503369" y="2924190"/>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sp>
        <p:nvSpPr>
          <p:cNvPr id="11" name="Textplatzhalter 2">
            <a:extLst>
              <a:ext uri="{FF2B5EF4-FFF2-40B4-BE49-F238E27FC236}">
                <a16:creationId xmlns:a16="http://schemas.microsoft.com/office/drawing/2014/main" id="{F1B85201-FAF4-226A-CF2E-32575508502B}"/>
              </a:ext>
            </a:extLst>
          </p:cNvPr>
          <p:cNvSpPr txBox="1">
            <a:spLocks/>
          </p:cNvSpPr>
          <p:nvPr/>
        </p:nvSpPr>
        <p:spPr>
          <a:xfrm>
            <a:off x="6640735"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Lagerbestand ist geprüft</a:t>
            </a:r>
          </a:p>
        </p:txBody>
      </p:sp>
      <p:sp>
        <p:nvSpPr>
          <p:cNvPr id="13" name="Rechteck 12">
            <a:extLst>
              <a:ext uri="{FF2B5EF4-FFF2-40B4-BE49-F238E27FC236}">
                <a16:creationId xmlns:a16="http://schemas.microsoft.com/office/drawing/2014/main" id="{647F2EC3-E99F-9851-F26F-3862E23036CB}"/>
              </a:ext>
            </a:extLst>
          </p:cNvPr>
          <p:cNvSpPr/>
          <p:nvPr/>
        </p:nvSpPr>
        <p:spPr>
          <a:xfrm>
            <a:off x="8212638" y="385411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tätigen</a:t>
            </a:r>
          </a:p>
        </p:txBody>
      </p:sp>
      <p:cxnSp>
        <p:nvCxnSpPr>
          <p:cNvPr id="15" name="Gerade Verbindung mit Pfeil 14">
            <a:extLst>
              <a:ext uri="{FF2B5EF4-FFF2-40B4-BE49-F238E27FC236}">
                <a16:creationId xmlns:a16="http://schemas.microsoft.com/office/drawing/2014/main" id="{8ECBB1F7-D205-9462-FEC6-B30A95D308FE}"/>
              </a:ext>
            </a:extLst>
          </p:cNvPr>
          <p:cNvCxnSpPr>
            <a:cxnSpLocks/>
            <a:stCxn id="9" idx="4"/>
          </p:cNvCxnSpPr>
          <p:nvPr/>
        </p:nvCxnSpPr>
        <p:spPr>
          <a:xfrm flipH="1">
            <a:off x="8793558" y="3445402"/>
            <a:ext cx="1" cy="4087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6340E00F-D730-3F46-249E-40DD756B29CB}"/>
              </a:ext>
            </a:extLst>
          </p:cNvPr>
          <p:cNvCxnSpPr>
            <a:cxnSpLocks/>
            <a:endCxn id="9" idx="0"/>
          </p:cNvCxnSpPr>
          <p:nvPr/>
        </p:nvCxnSpPr>
        <p:spPr>
          <a:xfrm>
            <a:off x="8793559" y="2429894"/>
            <a:ext cx="0" cy="49429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A733BDF7-EE44-6CF6-220E-27F5EE3A62B6}"/>
              </a:ext>
            </a:extLst>
          </p:cNvPr>
          <p:cNvCxnSpPr>
            <a:cxnSpLocks/>
            <a:endCxn id="9" idx="1"/>
          </p:cNvCxnSpPr>
          <p:nvPr/>
        </p:nvCxnSpPr>
        <p:spPr>
          <a:xfrm>
            <a:off x="7276231" y="2429894"/>
            <a:ext cx="1312133" cy="57062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8" name="Textplatzhalter 2">
            <a:extLst>
              <a:ext uri="{FF2B5EF4-FFF2-40B4-BE49-F238E27FC236}">
                <a16:creationId xmlns:a16="http://schemas.microsoft.com/office/drawing/2014/main" id="{B7C39FB0-EF0F-DBB4-31A4-4FE5E4B6795F}"/>
              </a:ext>
            </a:extLst>
          </p:cNvPr>
          <p:cNvSpPr txBox="1">
            <a:spLocks/>
          </p:cNvSpPr>
          <p:nvPr/>
        </p:nvSpPr>
        <p:spPr>
          <a:xfrm>
            <a:off x="821263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dirty="0">
                <a:solidFill>
                  <a:srgbClr val="012656"/>
                </a:solidFill>
              </a:rPr>
              <a:t>Mindestmenge unterschritten</a:t>
            </a:r>
          </a:p>
        </p:txBody>
      </p:sp>
      <p:sp>
        <p:nvSpPr>
          <p:cNvPr id="19" name="Textplatzhalter 2">
            <a:extLst>
              <a:ext uri="{FF2B5EF4-FFF2-40B4-BE49-F238E27FC236}">
                <a16:creationId xmlns:a16="http://schemas.microsoft.com/office/drawing/2014/main" id="{072D8679-3E87-129A-30DF-475FF9B661B6}"/>
              </a:ext>
            </a:extLst>
          </p:cNvPr>
          <p:cNvSpPr txBox="1">
            <a:spLocks/>
          </p:cNvSpPr>
          <p:nvPr/>
        </p:nvSpPr>
        <p:spPr>
          <a:xfrm>
            <a:off x="9777119" y="182285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Bezahlung abgesichert</a:t>
            </a:r>
          </a:p>
        </p:txBody>
      </p:sp>
      <p:cxnSp>
        <p:nvCxnSpPr>
          <p:cNvPr id="20" name="Gerade Verbindung mit Pfeil 19">
            <a:extLst>
              <a:ext uri="{FF2B5EF4-FFF2-40B4-BE49-F238E27FC236}">
                <a16:creationId xmlns:a16="http://schemas.microsoft.com/office/drawing/2014/main" id="{EEBC3D33-8404-9E7F-16A6-9E9C2C5E9B63}"/>
              </a:ext>
            </a:extLst>
          </p:cNvPr>
          <p:cNvCxnSpPr>
            <a:cxnSpLocks/>
            <a:endCxn id="9" idx="7"/>
          </p:cNvCxnSpPr>
          <p:nvPr/>
        </p:nvCxnSpPr>
        <p:spPr>
          <a:xfrm flipH="1">
            <a:off x="8998754" y="2429894"/>
            <a:ext cx="1407015" cy="57062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1" name="Textplatzhalter 2">
            <a:extLst>
              <a:ext uri="{FF2B5EF4-FFF2-40B4-BE49-F238E27FC236}">
                <a16:creationId xmlns:a16="http://schemas.microsoft.com/office/drawing/2014/main" id="{ED04233D-BEB5-E2DE-22E3-B01A6AB6E947}"/>
              </a:ext>
            </a:extLst>
          </p:cNvPr>
          <p:cNvSpPr txBox="1">
            <a:spLocks/>
          </p:cNvSpPr>
          <p:nvPr/>
        </p:nvSpPr>
        <p:spPr>
          <a:xfrm>
            <a:off x="8212638" y="5001848"/>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getätigt</a:t>
            </a:r>
          </a:p>
        </p:txBody>
      </p:sp>
      <p:cxnSp>
        <p:nvCxnSpPr>
          <p:cNvPr id="22" name="Gerade Verbindung mit Pfeil 21">
            <a:extLst>
              <a:ext uri="{FF2B5EF4-FFF2-40B4-BE49-F238E27FC236}">
                <a16:creationId xmlns:a16="http://schemas.microsoft.com/office/drawing/2014/main" id="{24607FFD-240C-C0E0-DF69-E5E6AD01E7B1}"/>
              </a:ext>
            </a:extLst>
          </p:cNvPr>
          <p:cNvCxnSpPr>
            <a:cxnSpLocks/>
          </p:cNvCxnSpPr>
          <p:nvPr/>
        </p:nvCxnSpPr>
        <p:spPr>
          <a:xfrm>
            <a:off x="8831506" y="4464099"/>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7FF2E33B-06D0-73CE-4393-5C582FC0A80B}"/>
              </a:ext>
            </a:extLst>
          </p:cNvPr>
          <p:cNvSpPr/>
          <p:nvPr/>
        </p:nvSpPr>
        <p:spPr>
          <a:xfrm>
            <a:off x="2431332" y="230897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schreiben</a:t>
            </a:r>
          </a:p>
        </p:txBody>
      </p:sp>
      <p:sp>
        <p:nvSpPr>
          <p:cNvPr id="24" name="Textplatzhalter 2">
            <a:extLst>
              <a:ext uri="{FF2B5EF4-FFF2-40B4-BE49-F238E27FC236}">
                <a16:creationId xmlns:a16="http://schemas.microsoft.com/office/drawing/2014/main" id="{1A7CE614-4117-1999-D7D0-2016B730AAA3}"/>
              </a:ext>
            </a:extLst>
          </p:cNvPr>
          <p:cNvSpPr txBox="1">
            <a:spLocks/>
          </p:cNvSpPr>
          <p:nvPr/>
        </p:nvSpPr>
        <p:spPr>
          <a:xfrm>
            <a:off x="2431331" y="145542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Modul  </a:t>
            </a:r>
            <a:br>
              <a:rPr lang="de-DE" sz="1200" b="1" dirty="0">
                <a:solidFill>
                  <a:srgbClr val="012656"/>
                </a:solidFill>
              </a:rPr>
            </a:br>
            <a:r>
              <a:rPr lang="de-DE" sz="1200" b="1" dirty="0">
                <a:solidFill>
                  <a:srgbClr val="012656"/>
                </a:solidFill>
              </a:rPr>
              <a:t>gehört</a:t>
            </a:r>
          </a:p>
        </p:txBody>
      </p:sp>
      <p:sp>
        <p:nvSpPr>
          <p:cNvPr id="25" name="Ellipse 24">
            <a:extLst>
              <a:ext uri="{FF2B5EF4-FFF2-40B4-BE49-F238E27FC236}">
                <a16:creationId xmlns:a16="http://schemas.microsoft.com/office/drawing/2014/main" id="{05CEAC71-5786-9297-D748-86CC6249DCFA}"/>
              </a:ext>
            </a:extLst>
          </p:cNvPr>
          <p:cNvSpPr/>
          <p:nvPr/>
        </p:nvSpPr>
        <p:spPr>
          <a:xfrm>
            <a:off x="2769791" y="3142869"/>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sp>
        <p:nvSpPr>
          <p:cNvPr id="26" name="Textplatzhalter 2">
            <a:extLst>
              <a:ext uri="{FF2B5EF4-FFF2-40B4-BE49-F238E27FC236}">
                <a16:creationId xmlns:a16="http://schemas.microsoft.com/office/drawing/2014/main" id="{3DEFE879-9F29-0509-D714-E24416ECFCCC}"/>
              </a:ext>
            </a:extLst>
          </p:cNvPr>
          <p:cNvSpPr txBox="1">
            <a:spLocks/>
          </p:cNvSpPr>
          <p:nvPr/>
        </p:nvSpPr>
        <p:spPr>
          <a:xfrm>
            <a:off x="127488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bestanden</a:t>
            </a:r>
          </a:p>
        </p:txBody>
      </p:sp>
      <p:sp>
        <p:nvSpPr>
          <p:cNvPr id="27" name="Textplatzhalter 2">
            <a:extLst>
              <a:ext uri="{FF2B5EF4-FFF2-40B4-BE49-F238E27FC236}">
                <a16:creationId xmlns:a16="http://schemas.microsoft.com/office/drawing/2014/main" id="{D617790C-AAE2-4656-EAA1-A287B8E304F4}"/>
              </a:ext>
            </a:extLst>
          </p:cNvPr>
          <p:cNvSpPr txBox="1">
            <a:spLocks/>
          </p:cNvSpPr>
          <p:nvPr/>
        </p:nvSpPr>
        <p:spPr>
          <a:xfrm>
            <a:off x="352136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Nicht bestanden</a:t>
            </a:r>
          </a:p>
        </p:txBody>
      </p:sp>
      <p:sp>
        <p:nvSpPr>
          <p:cNvPr id="28" name="Rechteck 27">
            <a:extLst>
              <a:ext uri="{FF2B5EF4-FFF2-40B4-BE49-F238E27FC236}">
                <a16:creationId xmlns:a16="http://schemas.microsoft.com/office/drawing/2014/main" id="{FC5736D5-D42C-10B3-E677-EF2D9F28F3C6}"/>
              </a:ext>
            </a:extLst>
          </p:cNvPr>
          <p:cNvSpPr/>
          <p:nvPr/>
        </p:nvSpPr>
        <p:spPr>
          <a:xfrm>
            <a:off x="3521363" y="47689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ob 3. Versuch</a:t>
            </a:r>
          </a:p>
        </p:txBody>
      </p:sp>
      <p:cxnSp>
        <p:nvCxnSpPr>
          <p:cNvPr id="29" name="Gerade Verbindung mit Pfeil 28">
            <a:extLst>
              <a:ext uri="{FF2B5EF4-FFF2-40B4-BE49-F238E27FC236}">
                <a16:creationId xmlns:a16="http://schemas.microsoft.com/office/drawing/2014/main" id="{D67DAFA0-9035-A9DB-7288-04FB4C13997B}"/>
              </a:ext>
            </a:extLst>
          </p:cNvPr>
          <p:cNvCxnSpPr>
            <a:cxnSpLocks/>
          </p:cNvCxnSpPr>
          <p:nvPr/>
        </p:nvCxnSpPr>
        <p:spPr>
          <a:xfrm>
            <a:off x="3059981" y="2053111"/>
            <a:ext cx="0" cy="2558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B03661BD-218A-F2EC-5327-02CC2E6E478D}"/>
              </a:ext>
            </a:extLst>
          </p:cNvPr>
          <p:cNvCxnSpPr>
            <a:cxnSpLocks/>
            <a:stCxn id="23" idx="2"/>
            <a:endCxn id="25" idx="0"/>
          </p:cNvCxnSpPr>
          <p:nvPr/>
        </p:nvCxnSpPr>
        <p:spPr>
          <a:xfrm flipH="1">
            <a:off x="3059981" y="2916016"/>
            <a:ext cx="2" cy="22685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62ABBB0D-9501-2015-4274-5FF32A8B481F}"/>
              </a:ext>
            </a:extLst>
          </p:cNvPr>
          <p:cNvCxnSpPr>
            <a:cxnSpLocks/>
            <a:stCxn id="25" idx="3"/>
            <a:endCxn id="26" idx="5"/>
          </p:cNvCxnSpPr>
          <p:nvPr/>
        </p:nvCxnSpPr>
        <p:spPr>
          <a:xfrm flipH="1">
            <a:off x="2380424" y="3587751"/>
            <a:ext cx="474362" cy="27230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F47CE873-9F94-CEE4-B453-33AC0121B196}"/>
              </a:ext>
            </a:extLst>
          </p:cNvPr>
          <p:cNvCxnSpPr>
            <a:cxnSpLocks/>
            <a:stCxn id="25" idx="5"/>
            <a:endCxn id="27" idx="4"/>
          </p:cNvCxnSpPr>
          <p:nvPr/>
        </p:nvCxnSpPr>
        <p:spPr>
          <a:xfrm>
            <a:off x="3265176" y="3587751"/>
            <a:ext cx="407949" cy="27230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2681EAC0-1A3D-2B0C-B058-F10FFB18F5EE}"/>
              </a:ext>
            </a:extLst>
          </p:cNvPr>
          <p:cNvCxnSpPr>
            <a:cxnSpLocks/>
          </p:cNvCxnSpPr>
          <p:nvPr/>
        </p:nvCxnSpPr>
        <p:spPr>
          <a:xfrm>
            <a:off x="4150014" y="4467097"/>
            <a:ext cx="0" cy="3018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6DD8E9C0-3881-7D4A-FA30-962B224A428C}"/>
              </a:ext>
            </a:extLst>
          </p:cNvPr>
          <p:cNvSpPr/>
          <p:nvPr/>
        </p:nvSpPr>
        <p:spPr>
          <a:xfrm>
            <a:off x="3859823" y="5596933"/>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cxnSp>
        <p:nvCxnSpPr>
          <p:cNvPr id="35" name="Gerade Verbindung mit Pfeil 34">
            <a:extLst>
              <a:ext uri="{FF2B5EF4-FFF2-40B4-BE49-F238E27FC236}">
                <a16:creationId xmlns:a16="http://schemas.microsoft.com/office/drawing/2014/main" id="{2A9BA40A-EC7B-3F22-2434-6DD0267A54D9}"/>
              </a:ext>
            </a:extLst>
          </p:cNvPr>
          <p:cNvCxnSpPr>
            <a:cxnSpLocks/>
            <a:stCxn id="28" idx="2"/>
            <a:endCxn id="34" idx="0"/>
          </p:cNvCxnSpPr>
          <p:nvPr/>
        </p:nvCxnSpPr>
        <p:spPr>
          <a:xfrm flipH="1">
            <a:off x="4150013" y="5376002"/>
            <a:ext cx="1" cy="22093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97E05648-595B-36E4-C5F3-6E88DB2763D3}"/>
              </a:ext>
            </a:extLst>
          </p:cNvPr>
          <p:cNvSpPr txBox="1">
            <a:spLocks/>
          </p:cNvSpPr>
          <p:nvPr/>
        </p:nvSpPr>
        <p:spPr>
          <a:xfrm>
            <a:off x="4955717"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3. Versuch</a:t>
            </a:r>
          </a:p>
        </p:txBody>
      </p:sp>
      <p:sp>
        <p:nvSpPr>
          <p:cNvPr id="37" name="Textplatzhalter 2">
            <a:extLst>
              <a:ext uri="{FF2B5EF4-FFF2-40B4-BE49-F238E27FC236}">
                <a16:creationId xmlns:a16="http://schemas.microsoft.com/office/drawing/2014/main" id="{FD3922D6-47AC-6060-567D-6B49241F7157}"/>
              </a:ext>
            </a:extLst>
          </p:cNvPr>
          <p:cNvSpPr txBox="1">
            <a:spLocks/>
          </p:cNvSpPr>
          <p:nvPr/>
        </p:nvSpPr>
        <p:spPr>
          <a:xfrm>
            <a:off x="2006305"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Kein 3. Versuch</a:t>
            </a:r>
          </a:p>
        </p:txBody>
      </p:sp>
      <p:cxnSp>
        <p:nvCxnSpPr>
          <p:cNvPr id="38" name="Gerade Verbindung mit Pfeil 37">
            <a:extLst>
              <a:ext uri="{FF2B5EF4-FFF2-40B4-BE49-F238E27FC236}">
                <a16:creationId xmlns:a16="http://schemas.microsoft.com/office/drawing/2014/main" id="{B3EBDA1F-F904-6E3A-B66B-89D41B68DC56}"/>
              </a:ext>
            </a:extLst>
          </p:cNvPr>
          <p:cNvCxnSpPr>
            <a:cxnSpLocks/>
            <a:stCxn id="34" idx="2"/>
            <a:endCxn id="37" idx="0"/>
          </p:cNvCxnSpPr>
          <p:nvPr/>
        </p:nvCxnSpPr>
        <p:spPr>
          <a:xfrm flipH="1">
            <a:off x="3263606" y="5857539"/>
            <a:ext cx="596217" cy="15945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0EB75F2E-C2CC-3230-E248-2D099793F168}"/>
              </a:ext>
            </a:extLst>
          </p:cNvPr>
          <p:cNvCxnSpPr>
            <a:cxnSpLocks/>
            <a:stCxn id="34" idx="6"/>
            <a:endCxn id="36" idx="3"/>
          </p:cNvCxnSpPr>
          <p:nvPr/>
        </p:nvCxnSpPr>
        <p:spPr>
          <a:xfrm>
            <a:off x="4440203" y="5857539"/>
            <a:ext cx="515514" cy="15945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C17796A4-6C64-A774-8565-82F2FF7918F7}"/>
              </a:ext>
            </a:extLst>
          </p:cNvPr>
          <p:cNvSpPr/>
          <p:nvPr/>
        </p:nvSpPr>
        <p:spPr>
          <a:xfrm>
            <a:off x="5254885" y="4767227"/>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Prüfungs-amt</a:t>
            </a:r>
          </a:p>
        </p:txBody>
      </p:sp>
      <p:cxnSp>
        <p:nvCxnSpPr>
          <p:cNvPr id="50" name="Gerader Verbinder 49">
            <a:extLst>
              <a:ext uri="{FF2B5EF4-FFF2-40B4-BE49-F238E27FC236}">
                <a16:creationId xmlns:a16="http://schemas.microsoft.com/office/drawing/2014/main" id="{04F9EDFD-8D24-05A8-3152-CC2F9DCF53A6}"/>
              </a:ext>
            </a:extLst>
          </p:cNvPr>
          <p:cNvCxnSpPr>
            <a:stCxn id="48" idx="2"/>
            <a:endCxn id="28" idx="3"/>
          </p:cNvCxnSpPr>
          <p:nvPr/>
        </p:nvCxnSpPr>
        <p:spPr>
          <a:xfrm flipH="1">
            <a:off x="4778664" y="5071615"/>
            <a:ext cx="476221" cy="86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51" name="Ellipse 50">
            <a:extLst>
              <a:ext uri="{FF2B5EF4-FFF2-40B4-BE49-F238E27FC236}">
                <a16:creationId xmlns:a16="http://schemas.microsoft.com/office/drawing/2014/main" id="{7101F8C9-8492-FB10-D163-497629915E6B}"/>
              </a:ext>
            </a:extLst>
          </p:cNvPr>
          <p:cNvSpPr/>
          <p:nvPr/>
        </p:nvSpPr>
        <p:spPr>
          <a:xfrm>
            <a:off x="9956710" y="3860054"/>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Einkauf</a:t>
            </a:r>
          </a:p>
        </p:txBody>
      </p:sp>
      <p:cxnSp>
        <p:nvCxnSpPr>
          <p:cNvPr id="52" name="Gerader Verbinder 51">
            <a:extLst>
              <a:ext uri="{FF2B5EF4-FFF2-40B4-BE49-F238E27FC236}">
                <a16:creationId xmlns:a16="http://schemas.microsoft.com/office/drawing/2014/main" id="{10DEC9B1-7F7F-A113-97CB-86F8F3D880F7}"/>
              </a:ext>
            </a:extLst>
          </p:cNvPr>
          <p:cNvCxnSpPr>
            <a:stCxn id="51" idx="2"/>
          </p:cNvCxnSpPr>
          <p:nvPr/>
        </p:nvCxnSpPr>
        <p:spPr>
          <a:xfrm flipH="1" flipV="1">
            <a:off x="9455890" y="4130043"/>
            <a:ext cx="500820" cy="34399"/>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A0EF6D83-7AE0-F00E-279E-CA0BC6105D52}"/>
              </a:ext>
            </a:extLst>
          </p:cNvPr>
          <p:cNvSpPr/>
          <p:nvPr/>
        </p:nvSpPr>
        <p:spPr>
          <a:xfrm>
            <a:off x="4182555" y="2317170"/>
            <a:ext cx="1257301" cy="570626"/>
          </a:xfrm>
          <a:prstGeom prst="rect">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Stud.-</a:t>
            </a:r>
          </a:p>
          <a:p>
            <a:pPr algn="ctr"/>
            <a:r>
              <a:rPr lang="de-DE" sz="1200" b="1" dirty="0">
                <a:solidFill>
                  <a:schemeClr val="bg1"/>
                </a:solidFill>
              </a:rPr>
              <a:t>Stammdaten</a:t>
            </a:r>
          </a:p>
        </p:txBody>
      </p:sp>
      <p:sp>
        <p:nvSpPr>
          <p:cNvPr id="7" name="Ellipse 6">
            <a:extLst>
              <a:ext uri="{FF2B5EF4-FFF2-40B4-BE49-F238E27FC236}">
                <a16:creationId xmlns:a16="http://schemas.microsoft.com/office/drawing/2014/main" id="{991B493E-1AB2-270A-BBFE-5D087D8AA904}"/>
              </a:ext>
            </a:extLst>
          </p:cNvPr>
          <p:cNvSpPr/>
          <p:nvPr/>
        </p:nvSpPr>
        <p:spPr>
          <a:xfrm>
            <a:off x="4336044" y="1512171"/>
            <a:ext cx="1071536" cy="608775"/>
          </a:xfrm>
          <a:prstGeom prst="ellipse">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chemeClr val="bg1"/>
                </a:solidFill>
              </a:rPr>
              <a:t>Prüfungs-amt</a:t>
            </a:r>
          </a:p>
        </p:txBody>
      </p:sp>
      <p:cxnSp>
        <p:nvCxnSpPr>
          <p:cNvPr id="8" name="Gerader Verbinder 7">
            <a:extLst>
              <a:ext uri="{FF2B5EF4-FFF2-40B4-BE49-F238E27FC236}">
                <a16:creationId xmlns:a16="http://schemas.microsoft.com/office/drawing/2014/main" id="{33E621F4-4B0A-A099-5E0B-CC1B4E604F35}"/>
              </a:ext>
            </a:extLst>
          </p:cNvPr>
          <p:cNvCxnSpPr>
            <a:cxnSpLocks/>
            <a:stCxn id="7" idx="2"/>
            <a:endCxn id="23" idx="3"/>
          </p:cNvCxnSpPr>
          <p:nvPr/>
        </p:nvCxnSpPr>
        <p:spPr>
          <a:xfrm flipH="1">
            <a:off x="3688633" y="1816559"/>
            <a:ext cx="647411" cy="79593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E5365686-FCB0-04E1-DB19-F18BEAC68CC6}"/>
              </a:ext>
            </a:extLst>
          </p:cNvPr>
          <p:cNvCxnSpPr>
            <a:cxnSpLocks/>
            <a:stCxn id="6" idx="1"/>
            <a:endCxn id="23" idx="3"/>
          </p:cNvCxnSpPr>
          <p:nvPr/>
        </p:nvCxnSpPr>
        <p:spPr>
          <a:xfrm flipH="1">
            <a:off x="3688633" y="2602483"/>
            <a:ext cx="493922" cy="10012"/>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49" name="Rechteck 48">
            <a:extLst>
              <a:ext uri="{FF2B5EF4-FFF2-40B4-BE49-F238E27FC236}">
                <a16:creationId xmlns:a16="http://schemas.microsoft.com/office/drawing/2014/main" id="{878C4DB1-E27D-F7D7-3B5C-3B178CE6CE05}"/>
              </a:ext>
            </a:extLst>
          </p:cNvPr>
          <p:cNvSpPr/>
          <p:nvPr/>
        </p:nvSpPr>
        <p:spPr>
          <a:xfrm>
            <a:off x="5202678" y="4044407"/>
            <a:ext cx="1257301" cy="570626"/>
          </a:xfrm>
          <a:prstGeom prst="rect">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Stud.-</a:t>
            </a:r>
          </a:p>
          <a:p>
            <a:pPr algn="ctr"/>
            <a:r>
              <a:rPr lang="de-DE" sz="1200" b="1" dirty="0">
                <a:solidFill>
                  <a:schemeClr val="bg1"/>
                </a:solidFill>
              </a:rPr>
              <a:t>Stammdaten</a:t>
            </a:r>
          </a:p>
        </p:txBody>
      </p:sp>
      <p:cxnSp>
        <p:nvCxnSpPr>
          <p:cNvPr id="53" name="Gerader Verbinder 52">
            <a:extLst>
              <a:ext uri="{FF2B5EF4-FFF2-40B4-BE49-F238E27FC236}">
                <a16:creationId xmlns:a16="http://schemas.microsoft.com/office/drawing/2014/main" id="{E185E3B7-10C3-FF9D-D68F-6BF58584A7CA}"/>
              </a:ext>
            </a:extLst>
          </p:cNvPr>
          <p:cNvCxnSpPr>
            <a:cxnSpLocks/>
            <a:stCxn id="49" idx="1"/>
            <a:endCxn id="28" idx="3"/>
          </p:cNvCxnSpPr>
          <p:nvPr/>
        </p:nvCxnSpPr>
        <p:spPr>
          <a:xfrm flipH="1">
            <a:off x="4778664" y="4329720"/>
            <a:ext cx="424014" cy="74276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60" name="Rechteck 59">
            <a:extLst>
              <a:ext uri="{FF2B5EF4-FFF2-40B4-BE49-F238E27FC236}">
                <a16:creationId xmlns:a16="http://schemas.microsoft.com/office/drawing/2014/main" id="{B893313A-A2EB-9D7D-2829-F298557B11DB}"/>
              </a:ext>
            </a:extLst>
          </p:cNvPr>
          <p:cNvSpPr/>
          <p:nvPr/>
        </p:nvSpPr>
        <p:spPr>
          <a:xfrm>
            <a:off x="9893953" y="4615033"/>
            <a:ext cx="1257301" cy="570626"/>
          </a:xfrm>
          <a:prstGeom prst="rect">
            <a:avLst/>
          </a:prstGeom>
          <a:solidFill>
            <a:srgbClr val="FF9600"/>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Einkaufs-</a:t>
            </a:r>
          </a:p>
          <a:p>
            <a:pPr algn="ctr"/>
            <a:r>
              <a:rPr lang="de-DE" sz="1200" b="1" dirty="0">
                <a:solidFill>
                  <a:schemeClr val="bg1"/>
                </a:solidFill>
              </a:rPr>
              <a:t>daten</a:t>
            </a:r>
          </a:p>
        </p:txBody>
      </p:sp>
      <p:cxnSp>
        <p:nvCxnSpPr>
          <p:cNvPr id="61" name="Gerader Verbinder 60">
            <a:extLst>
              <a:ext uri="{FF2B5EF4-FFF2-40B4-BE49-F238E27FC236}">
                <a16:creationId xmlns:a16="http://schemas.microsoft.com/office/drawing/2014/main" id="{F92CE1FE-59F7-2B59-1B63-6555852F4E6D}"/>
              </a:ext>
            </a:extLst>
          </p:cNvPr>
          <p:cNvCxnSpPr>
            <a:cxnSpLocks/>
            <a:endCxn id="13" idx="3"/>
          </p:cNvCxnSpPr>
          <p:nvPr/>
        </p:nvCxnSpPr>
        <p:spPr>
          <a:xfrm flipH="1" flipV="1">
            <a:off x="9469939" y="4157640"/>
            <a:ext cx="456228" cy="71137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63" name="Gruppieren 62">
            <a:extLst>
              <a:ext uri="{FF2B5EF4-FFF2-40B4-BE49-F238E27FC236}">
                <a16:creationId xmlns:a16="http://schemas.microsoft.com/office/drawing/2014/main" id="{C4B21300-6CDF-3E1E-A3AF-13982EBF24E5}"/>
              </a:ext>
            </a:extLst>
          </p:cNvPr>
          <p:cNvGrpSpPr/>
          <p:nvPr/>
        </p:nvGrpSpPr>
        <p:grpSpPr>
          <a:xfrm>
            <a:off x="572966" y="2359164"/>
            <a:ext cx="1364444" cy="579127"/>
            <a:chOff x="8229196" y="2431605"/>
            <a:chExt cx="1257301" cy="607043"/>
          </a:xfrm>
          <a:solidFill>
            <a:srgbClr val="FF9600"/>
          </a:solidFill>
        </p:grpSpPr>
        <p:sp>
          <p:nvSpPr>
            <p:cNvPr id="64" name="Rechteck 63">
              <a:extLst>
                <a:ext uri="{FF2B5EF4-FFF2-40B4-BE49-F238E27FC236}">
                  <a16:creationId xmlns:a16="http://schemas.microsoft.com/office/drawing/2014/main" id="{99E78642-5DF4-582D-1D4C-4DA010EA8406}"/>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chemeClr val="bg1"/>
                  </a:solidFill>
                </a:rPr>
                <a:t>Teams</a:t>
              </a:r>
              <a:endParaRPr lang="de-DE" b="1" dirty="0">
                <a:solidFill>
                  <a:schemeClr val="bg1"/>
                </a:solidFill>
              </a:endParaRPr>
            </a:p>
          </p:txBody>
        </p:sp>
        <p:cxnSp>
          <p:nvCxnSpPr>
            <p:cNvPr id="65" name="Gerader Verbinder 64">
              <a:extLst>
                <a:ext uri="{FF2B5EF4-FFF2-40B4-BE49-F238E27FC236}">
                  <a16:creationId xmlns:a16="http://schemas.microsoft.com/office/drawing/2014/main" id="{D482C7A3-F6E1-7538-C88D-6104B92CF6C5}"/>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F72B57F7-74C5-E64B-D2B3-4B2406FACEE5}"/>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cxnSp>
        <p:nvCxnSpPr>
          <p:cNvPr id="67" name="Gerader Verbinder 66">
            <a:extLst>
              <a:ext uri="{FF2B5EF4-FFF2-40B4-BE49-F238E27FC236}">
                <a16:creationId xmlns:a16="http://schemas.microsoft.com/office/drawing/2014/main" id="{E55B0C5B-8873-5F9A-5CC0-916E3A6902C3}"/>
              </a:ext>
            </a:extLst>
          </p:cNvPr>
          <p:cNvCxnSpPr>
            <a:cxnSpLocks/>
            <a:stCxn id="23" idx="1"/>
            <a:endCxn id="64" idx="3"/>
          </p:cNvCxnSpPr>
          <p:nvPr/>
        </p:nvCxnSpPr>
        <p:spPr>
          <a:xfrm flipH="1">
            <a:off x="1937410" y="2612495"/>
            <a:ext cx="493922" cy="36233"/>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70" name="Gruppieren 69">
            <a:extLst>
              <a:ext uri="{FF2B5EF4-FFF2-40B4-BE49-F238E27FC236}">
                <a16:creationId xmlns:a16="http://schemas.microsoft.com/office/drawing/2014/main" id="{D74EFE15-5591-0F96-173E-52C0BD6B4343}"/>
              </a:ext>
            </a:extLst>
          </p:cNvPr>
          <p:cNvGrpSpPr/>
          <p:nvPr/>
        </p:nvGrpSpPr>
        <p:grpSpPr>
          <a:xfrm>
            <a:off x="1788890" y="4775331"/>
            <a:ext cx="1364444" cy="579127"/>
            <a:chOff x="8229196" y="2431605"/>
            <a:chExt cx="1257301" cy="607043"/>
          </a:xfrm>
          <a:solidFill>
            <a:srgbClr val="FF9600"/>
          </a:solidFill>
        </p:grpSpPr>
        <p:sp>
          <p:nvSpPr>
            <p:cNvPr id="71" name="Rechteck 70">
              <a:extLst>
                <a:ext uri="{FF2B5EF4-FFF2-40B4-BE49-F238E27FC236}">
                  <a16:creationId xmlns:a16="http://schemas.microsoft.com/office/drawing/2014/main" id="{1CC5B481-2D90-29F6-D7A9-549937074419}"/>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chemeClr val="bg1"/>
                  </a:solidFill>
                </a:rPr>
                <a:t>HIS-5</a:t>
              </a:r>
              <a:endParaRPr lang="de-DE" b="1" dirty="0">
                <a:solidFill>
                  <a:schemeClr val="bg1"/>
                </a:solidFill>
              </a:endParaRPr>
            </a:p>
          </p:txBody>
        </p:sp>
        <p:cxnSp>
          <p:nvCxnSpPr>
            <p:cNvPr id="72" name="Gerader Verbinder 71">
              <a:extLst>
                <a:ext uri="{FF2B5EF4-FFF2-40B4-BE49-F238E27FC236}">
                  <a16:creationId xmlns:a16="http://schemas.microsoft.com/office/drawing/2014/main" id="{C0E6F458-12E2-6BD0-5F2E-00DB5B5FFF38}"/>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B7F8A255-BEB1-0311-C305-39C03129D884}"/>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cxnSp>
        <p:nvCxnSpPr>
          <p:cNvPr id="74" name="Gerader Verbinder 73">
            <a:extLst>
              <a:ext uri="{FF2B5EF4-FFF2-40B4-BE49-F238E27FC236}">
                <a16:creationId xmlns:a16="http://schemas.microsoft.com/office/drawing/2014/main" id="{891070C8-FFF0-E84E-CE21-4EE2456D3AFC}"/>
              </a:ext>
            </a:extLst>
          </p:cNvPr>
          <p:cNvCxnSpPr>
            <a:cxnSpLocks/>
            <a:stCxn id="28" idx="1"/>
            <a:endCxn id="71" idx="3"/>
          </p:cNvCxnSpPr>
          <p:nvPr/>
        </p:nvCxnSpPr>
        <p:spPr>
          <a:xfrm flipH="1" flipV="1">
            <a:off x="3153334" y="5064895"/>
            <a:ext cx="368029" cy="758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77" name="Gruppieren 76">
            <a:extLst>
              <a:ext uri="{FF2B5EF4-FFF2-40B4-BE49-F238E27FC236}">
                <a16:creationId xmlns:a16="http://schemas.microsoft.com/office/drawing/2014/main" id="{5CF23538-A364-45C4-3C54-E17238F47697}"/>
              </a:ext>
            </a:extLst>
          </p:cNvPr>
          <p:cNvGrpSpPr/>
          <p:nvPr/>
        </p:nvGrpSpPr>
        <p:grpSpPr>
          <a:xfrm>
            <a:off x="9664669" y="3052315"/>
            <a:ext cx="1364444" cy="579127"/>
            <a:chOff x="8229196" y="2431605"/>
            <a:chExt cx="1257301" cy="607043"/>
          </a:xfrm>
          <a:solidFill>
            <a:srgbClr val="FF9600"/>
          </a:solidFill>
        </p:grpSpPr>
        <p:sp>
          <p:nvSpPr>
            <p:cNvPr id="78" name="Rechteck 77">
              <a:extLst>
                <a:ext uri="{FF2B5EF4-FFF2-40B4-BE49-F238E27FC236}">
                  <a16:creationId xmlns:a16="http://schemas.microsoft.com/office/drawing/2014/main" id="{8424B10F-BC10-5C60-5094-C632A83F0858}"/>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chemeClr val="bg1"/>
                  </a:solidFill>
                </a:rPr>
                <a:t>Bestell-</a:t>
              </a:r>
            </a:p>
            <a:p>
              <a:pPr algn="ctr"/>
              <a:r>
                <a:rPr lang="de-DE" sz="1200" b="1" dirty="0">
                  <a:solidFill>
                    <a:schemeClr val="bg1"/>
                  </a:solidFill>
                </a:rPr>
                <a:t>Software</a:t>
              </a:r>
              <a:endParaRPr lang="de-DE" sz="1600" b="1" dirty="0">
                <a:solidFill>
                  <a:schemeClr val="bg1"/>
                </a:solidFill>
              </a:endParaRPr>
            </a:p>
          </p:txBody>
        </p:sp>
        <p:cxnSp>
          <p:nvCxnSpPr>
            <p:cNvPr id="79" name="Gerader Verbinder 78">
              <a:extLst>
                <a:ext uri="{FF2B5EF4-FFF2-40B4-BE49-F238E27FC236}">
                  <a16:creationId xmlns:a16="http://schemas.microsoft.com/office/drawing/2014/main" id="{4FBB458C-1D5F-1673-D7DD-D1CDB34E39AF}"/>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80" name="Gerader Verbinder 79">
              <a:extLst>
                <a:ext uri="{FF2B5EF4-FFF2-40B4-BE49-F238E27FC236}">
                  <a16:creationId xmlns:a16="http://schemas.microsoft.com/office/drawing/2014/main" id="{96337449-76CA-5052-19E3-9D97BEA93894}"/>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cxnSp>
        <p:nvCxnSpPr>
          <p:cNvPr id="81" name="Gerader Verbinder 80">
            <a:extLst>
              <a:ext uri="{FF2B5EF4-FFF2-40B4-BE49-F238E27FC236}">
                <a16:creationId xmlns:a16="http://schemas.microsoft.com/office/drawing/2014/main" id="{C1596CAE-5166-32D0-34F7-D5ED80F24794}"/>
              </a:ext>
            </a:extLst>
          </p:cNvPr>
          <p:cNvCxnSpPr>
            <a:cxnSpLocks/>
            <a:stCxn id="13" idx="3"/>
            <a:endCxn id="78" idx="1"/>
          </p:cNvCxnSpPr>
          <p:nvPr/>
        </p:nvCxnSpPr>
        <p:spPr>
          <a:xfrm flipV="1">
            <a:off x="9469939" y="3341879"/>
            <a:ext cx="194730" cy="81576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6514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0DB09-BA88-5E94-86CF-BCBC68AC1A2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22CB5BB-375C-BF22-DD43-FD2D3B880254}"/>
              </a:ext>
            </a:extLst>
          </p:cNvPr>
          <p:cNvSpPr>
            <a:spLocks noGrp="1"/>
          </p:cNvSpPr>
          <p:nvPr>
            <p:ph type="title"/>
          </p:nvPr>
        </p:nvSpPr>
        <p:spPr/>
        <p:txBody>
          <a:bodyPr/>
          <a:lstStyle/>
          <a:p>
            <a:r>
              <a:rPr lang="de-DE" dirty="0" err="1"/>
              <a:t>Sprachkonstrukte</a:t>
            </a:r>
            <a:endParaRPr lang="de-DE" dirty="0"/>
          </a:p>
        </p:txBody>
      </p:sp>
      <p:sp>
        <p:nvSpPr>
          <p:cNvPr id="6" name="Textplatzhalter 5">
            <a:extLst>
              <a:ext uri="{FF2B5EF4-FFF2-40B4-BE49-F238E27FC236}">
                <a16:creationId xmlns:a16="http://schemas.microsoft.com/office/drawing/2014/main" id="{7D974FAC-C2CA-8FDA-0EA6-1589840A397A}"/>
              </a:ext>
            </a:extLst>
          </p:cNvPr>
          <p:cNvSpPr>
            <a:spLocks noGrp="1"/>
          </p:cNvSpPr>
          <p:nvPr>
            <p:ph type="body" sz="quarter" idx="12"/>
          </p:nvPr>
        </p:nvSpPr>
        <p:spPr>
          <a:xfrm>
            <a:off x="2705100" y="1288023"/>
            <a:ext cx="9020175" cy="900000"/>
          </a:xfrm>
        </p:spPr>
        <p:txBody>
          <a:bodyPr/>
          <a:lstStyle/>
          <a:p>
            <a:pPr marL="0" indent="0">
              <a:lnSpc>
                <a:spcPct val="150000"/>
              </a:lnSpc>
              <a:buNone/>
            </a:pPr>
            <a:r>
              <a:rPr lang="de-DE" sz="1800" dirty="0"/>
              <a:t>Ein EPK-Prozesswegweiser ist eine grafische Übersicht, die mithilfe einer EPK den Ablauf eines Geschäftsprozesses darstellt und den Beteiligten </a:t>
            </a:r>
            <a:r>
              <a:rPr lang="de-DE" sz="1800" b="1" dirty="0"/>
              <a:t>als Orientierung dient</a:t>
            </a:r>
            <a:r>
              <a:rPr lang="de-DE" sz="1800" dirty="0"/>
              <a:t>.</a:t>
            </a:r>
            <a:br>
              <a:rPr lang="de-DE" sz="1800" dirty="0"/>
            </a:br>
            <a:endParaRPr lang="de-DE" sz="1800" dirty="0"/>
          </a:p>
        </p:txBody>
      </p:sp>
      <p:sp>
        <p:nvSpPr>
          <p:cNvPr id="3" name="Textplatzhalter 5">
            <a:extLst>
              <a:ext uri="{FF2B5EF4-FFF2-40B4-BE49-F238E27FC236}">
                <a16:creationId xmlns:a16="http://schemas.microsoft.com/office/drawing/2014/main" id="{ED40E3C1-E31E-09A5-A2D4-97C336F9F9B4}"/>
              </a:ext>
            </a:extLst>
          </p:cNvPr>
          <p:cNvSpPr txBox="1">
            <a:spLocks/>
          </p:cNvSpPr>
          <p:nvPr/>
        </p:nvSpPr>
        <p:spPr>
          <a:xfrm>
            <a:off x="967915" y="3111780"/>
            <a:ext cx="4377517" cy="3462224"/>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800" b="1" dirty="0"/>
              <a:t>Beispiele für Datenobjekte</a:t>
            </a:r>
          </a:p>
          <a:p>
            <a:r>
              <a:rPr lang="de-DE" sz="1800" dirty="0"/>
              <a:t>Kundendaten </a:t>
            </a:r>
          </a:p>
          <a:p>
            <a:r>
              <a:rPr lang="de-DE" sz="1800" dirty="0"/>
              <a:t>Bestellung </a:t>
            </a:r>
          </a:p>
          <a:p>
            <a:r>
              <a:rPr lang="de-DE" sz="1800" dirty="0"/>
              <a:t>Rechnung </a:t>
            </a:r>
          </a:p>
          <a:p>
            <a:r>
              <a:rPr lang="de-DE" sz="1800" dirty="0"/>
              <a:t>Lagerbestand </a:t>
            </a:r>
          </a:p>
          <a:p>
            <a:r>
              <a:rPr lang="de-DE" sz="1800" dirty="0"/>
              <a:t>Personalakte </a:t>
            </a:r>
          </a:p>
          <a:p>
            <a:r>
              <a:rPr lang="de-DE" sz="1800" dirty="0"/>
              <a:t>Datenbankeintrag</a:t>
            </a:r>
          </a:p>
        </p:txBody>
      </p:sp>
      <p:grpSp>
        <p:nvGrpSpPr>
          <p:cNvPr id="13" name="Gruppieren 12">
            <a:extLst>
              <a:ext uri="{FF2B5EF4-FFF2-40B4-BE49-F238E27FC236}">
                <a16:creationId xmlns:a16="http://schemas.microsoft.com/office/drawing/2014/main" id="{79969946-115E-18E2-3E5F-DAB27F1DDCA3}"/>
              </a:ext>
            </a:extLst>
          </p:cNvPr>
          <p:cNvGrpSpPr/>
          <p:nvPr/>
        </p:nvGrpSpPr>
        <p:grpSpPr>
          <a:xfrm>
            <a:off x="6681205" y="4312386"/>
            <a:ext cx="1443873" cy="670190"/>
            <a:chOff x="8230420" y="5444237"/>
            <a:chExt cx="1443873" cy="670190"/>
          </a:xfrm>
          <a:solidFill>
            <a:schemeClr val="bg1"/>
          </a:solidFill>
        </p:grpSpPr>
        <p:sp>
          <p:nvSpPr>
            <p:cNvPr id="15" name="Textplatzhalter 2">
              <a:extLst>
                <a:ext uri="{FF2B5EF4-FFF2-40B4-BE49-F238E27FC236}">
                  <a16:creationId xmlns:a16="http://schemas.microsoft.com/office/drawing/2014/main" id="{CE83C56F-BC9E-0CAD-7DA3-B95D167B9F14}"/>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000" b="1" dirty="0">
                <a:solidFill>
                  <a:srgbClr val="012656"/>
                </a:solidFill>
              </a:endParaRPr>
            </a:p>
          </p:txBody>
        </p:sp>
        <p:sp>
          <p:nvSpPr>
            <p:cNvPr id="16" name="Rechteck 15">
              <a:extLst>
                <a:ext uri="{FF2B5EF4-FFF2-40B4-BE49-F238E27FC236}">
                  <a16:creationId xmlns:a16="http://schemas.microsoft.com/office/drawing/2014/main" id="{034DD84B-4563-EB31-3835-926564011796}"/>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Prozess-</a:t>
              </a:r>
              <a:r>
                <a:rPr lang="de-DE" sz="1200" b="1" dirty="0" err="1">
                  <a:solidFill>
                    <a:srgbClr val="012656"/>
                  </a:solidFill>
                </a:rPr>
                <a:t>wegweiser</a:t>
              </a:r>
              <a:endParaRPr lang="de-DE" sz="1200" b="1" dirty="0">
                <a:solidFill>
                  <a:srgbClr val="012656"/>
                </a:solidFill>
              </a:endParaRPr>
            </a:p>
          </p:txBody>
        </p:sp>
      </p:grpSp>
      <p:sp>
        <p:nvSpPr>
          <p:cNvPr id="20" name="Textplatzhalter 2">
            <a:extLst>
              <a:ext uri="{FF2B5EF4-FFF2-40B4-BE49-F238E27FC236}">
                <a16:creationId xmlns:a16="http://schemas.microsoft.com/office/drawing/2014/main" id="{D0ED0505-ABDF-06CB-F303-B05EDC362369}"/>
              </a:ext>
            </a:extLst>
          </p:cNvPr>
          <p:cNvSpPr txBox="1">
            <a:spLocks/>
          </p:cNvSpPr>
          <p:nvPr/>
        </p:nvSpPr>
        <p:spPr>
          <a:xfrm>
            <a:off x="6587489" y="3331336"/>
            <a:ext cx="1257301" cy="607043"/>
          </a:xfrm>
          <a:prstGeom prst="hexagon">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21" name="Gerade Verbindung mit Pfeil 20">
            <a:extLst>
              <a:ext uri="{FF2B5EF4-FFF2-40B4-BE49-F238E27FC236}">
                <a16:creationId xmlns:a16="http://schemas.microsoft.com/office/drawing/2014/main" id="{C25D95C9-327B-B731-C6BC-543C06D214E5}"/>
              </a:ext>
            </a:extLst>
          </p:cNvPr>
          <p:cNvCxnSpPr>
            <a:cxnSpLocks/>
          </p:cNvCxnSpPr>
          <p:nvPr/>
        </p:nvCxnSpPr>
        <p:spPr>
          <a:xfrm>
            <a:off x="9728832" y="4001526"/>
            <a:ext cx="0" cy="4055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nvGrpSpPr>
          <p:cNvPr id="25" name="Gruppieren 24">
            <a:extLst>
              <a:ext uri="{FF2B5EF4-FFF2-40B4-BE49-F238E27FC236}">
                <a16:creationId xmlns:a16="http://schemas.microsoft.com/office/drawing/2014/main" id="{B30ADC07-DCF6-05D1-97E7-14ABE10A5EAE}"/>
              </a:ext>
            </a:extLst>
          </p:cNvPr>
          <p:cNvGrpSpPr/>
          <p:nvPr/>
        </p:nvGrpSpPr>
        <p:grpSpPr>
          <a:xfrm>
            <a:off x="9029323" y="3331336"/>
            <a:ext cx="1443873" cy="670190"/>
            <a:chOff x="8230420" y="5444237"/>
            <a:chExt cx="1443873" cy="670190"/>
          </a:xfrm>
          <a:solidFill>
            <a:schemeClr val="bg1"/>
          </a:solidFill>
        </p:grpSpPr>
        <p:sp>
          <p:nvSpPr>
            <p:cNvPr id="26" name="Textplatzhalter 2">
              <a:extLst>
                <a:ext uri="{FF2B5EF4-FFF2-40B4-BE49-F238E27FC236}">
                  <a16:creationId xmlns:a16="http://schemas.microsoft.com/office/drawing/2014/main" id="{3CFE31B0-50CA-884F-94D8-07C5610CDA34}"/>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000" b="1" dirty="0">
                <a:solidFill>
                  <a:srgbClr val="012656"/>
                </a:solidFill>
              </a:endParaRPr>
            </a:p>
          </p:txBody>
        </p:sp>
        <p:sp>
          <p:nvSpPr>
            <p:cNvPr id="27" name="Rechteck 26">
              <a:extLst>
                <a:ext uri="{FF2B5EF4-FFF2-40B4-BE49-F238E27FC236}">
                  <a16:creationId xmlns:a16="http://schemas.microsoft.com/office/drawing/2014/main" id="{1BD1BDD4-6479-7E3F-8006-12BD5E5375A9}"/>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Prozess-</a:t>
              </a:r>
              <a:r>
                <a:rPr lang="de-DE" sz="1200" b="1" dirty="0" err="1">
                  <a:solidFill>
                    <a:srgbClr val="012656"/>
                  </a:solidFill>
                </a:rPr>
                <a:t>wegweiser</a:t>
              </a:r>
              <a:endParaRPr lang="de-DE" sz="1200" b="1" dirty="0">
                <a:solidFill>
                  <a:srgbClr val="012656"/>
                </a:solidFill>
              </a:endParaRPr>
            </a:p>
          </p:txBody>
        </p:sp>
      </p:grpSp>
      <p:cxnSp>
        <p:nvCxnSpPr>
          <p:cNvPr id="28" name="Gerade Verbindung mit Pfeil 27">
            <a:extLst>
              <a:ext uri="{FF2B5EF4-FFF2-40B4-BE49-F238E27FC236}">
                <a16:creationId xmlns:a16="http://schemas.microsoft.com/office/drawing/2014/main" id="{8FE348EB-FF2E-AFC5-33EC-D875D160443C}"/>
              </a:ext>
            </a:extLst>
          </p:cNvPr>
          <p:cNvCxnSpPr>
            <a:cxnSpLocks/>
          </p:cNvCxnSpPr>
          <p:nvPr/>
        </p:nvCxnSpPr>
        <p:spPr>
          <a:xfrm>
            <a:off x="7229474" y="3938379"/>
            <a:ext cx="0" cy="4055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3" name="Textplatzhalter 2">
            <a:extLst>
              <a:ext uri="{FF2B5EF4-FFF2-40B4-BE49-F238E27FC236}">
                <a16:creationId xmlns:a16="http://schemas.microsoft.com/office/drawing/2014/main" id="{C18C3415-E497-F1C0-ECE4-EA8FAB9C1E77}"/>
              </a:ext>
            </a:extLst>
          </p:cNvPr>
          <p:cNvSpPr txBox="1">
            <a:spLocks/>
          </p:cNvSpPr>
          <p:nvPr/>
        </p:nvSpPr>
        <p:spPr>
          <a:xfrm>
            <a:off x="9100181" y="4407106"/>
            <a:ext cx="1257301" cy="607043"/>
          </a:xfrm>
          <a:prstGeom prst="hexagon">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100" b="1">
                <a:solidFill>
                  <a:srgbClr val="012656"/>
                </a:solidFill>
              </a:rPr>
              <a:t>Ereignis</a:t>
            </a:r>
            <a:endParaRPr lang="de-DE" sz="1100" b="1" dirty="0">
              <a:solidFill>
                <a:srgbClr val="012656"/>
              </a:solidFill>
            </a:endParaRPr>
          </a:p>
        </p:txBody>
      </p:sp>
      <p:sp>
        <p:nvSpPr>
          <p:cNvPr id="12" name="Rechteck 11">
            <a:extLst>
              <a:ext uri="{FF2B5EF4-FFF2-40B4-BE49-F238E27FC236}">
                <a16:creationId xmlns:a16="http://schemas.microsoft.com/office/drawing/2014/main" id="{D350FDCE-EFD2-2873-58C3-898866FE6627}"/>
              </a:ext>
            </a:extLst>
          </p:cNvPr>
          <p:cNvSpPr/>
          <p:nvPr/>
        </p:nvSpPr>
        <p:spPr>
          <a:xfrm>
            <a:off x="339264" y="1279540"/>
            <a:ext cx="1903039" cy="1048088"/>
          </a:xfrm>
          <a:prstGeom prst="rect">
            <a:avLst/>
          </a:prstGeom>
          <a:no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Prozess-</a:t>
            </a:r>
            <a:r>
              <a:rPr lang="de-DE" b="1" dirty="0" err="1">
                <a:solidFill>
                  <a:srgbClr val="012656"/>
                </a:solidFill>
              </a:rPr>
              <a:t>wegweiser</a:t>
            </a:r>
            <a:endParaRPr lang="de-DE" b="1" dirty="0">
              <a:solidFill>
                <a:srgbClr val="012656"/>
              </a:solidFill>
            </a:endParaRPr>
          </a:p>
        </p:txBody>
      </p:sp>
      <p:sp>
        <p:nvSpPr>
          <p:cNvPr id="7" name="Textplatzhalter 2">
            <a:extLst>
              <a:ext uri="{FF2B5EF4-FFF2-40B4-BE49-F238E27FC236}">
                <a16:creationId xmlns:a16="http://schemas.microsoft.com/office/drawing/2014/main" id="{D64EFE4E-4C41-3D9D-87C6-B4D7C360E59E}"/>
              </a:ext>
            </a:extLst>
          </p:cNvPr>
          <p:cNvSpPr txBox="1">
            <a:spLocks/>
          </p:cNvSpPr>
          <p:nvPr/>
        </p:nvSpPr>
        <p:spPr>
          <a:xfrm>
            <a:off x="570662" y="1425686"/>
            <a:ext cx="1903039" cy="1048088"/>
          </a:xfrm>
          <a:prstGeom prst="hexagon">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200" b="1" dirty="0">
              <a:solidFill>
                <a:srgbClr val="012656"/>
              </a:solidFill>
            </a:endParaRPr>
          </a:p>
        </p:txBody>
      </p:sp>
      <p:sp>
        <p:nvSpPr>
          <p:cNvPr id="8" name="Textfeld 7">
            <a:extLst>
              <a:ext uri="{FF2B5EF4-FFF2-40B4-BE49-F238E27FC236}">
                <a16:creationId xmlns:a16="http://schemas.microsoft.com/office/drawing/2014/main" id="{63FA921A-E665-C3A7-9CD1-5392BC901FAF}"/>
              </a:ext>
            </a:extLst>
          </p:cNvPr>
          <p:cNvSpPr txBox="1"/>
          <p:nvPr/>
        </p:nvSpPr>
        <p:spPr>
          <a:xfrm>
            <a:off x="562061" y="1577351"/>
            <a:ext cx="1920240" cy="646331"/>
          </a:xfrm>
          <a:prstGeom prst="rect">
            <a:avLst/>
          </a:prstGeom>
          <a:noFill/>
        </p:spPr>
        <p:txBody>
          <a:bodyPr wrap="square">
            <a:spAutoFit/>
          </a:bodyPr>
          <a:lstStyle/>
          <a:p>
            <a:pPr algn="ctr"/>
            <a:r>
              <a:rPr lang="de-DE" sz="1800" b="1" dirty="0">
                <a:solidFill>
                  <a:srgbClr val="012656"/>
                </a:solidFill>
              </a:rPr>
              <a:t>Prozess-</a:t>
            </a:r>
            <a:r>
              <a:rPr lang="de-DE" sz="1800" b="1" dirty="0" err="1">
                <a:solidFill>
                  <a:srgbClr val="012656"/>
                </a:solidFill>
              </a:rPr>
              <a:t>wegweiser</a:t>
            </a:r>
            <a:endParaRPr lang="de-DE" sz="1800" b="1" dirty="0">
              <a:solidFill>
                <a:srgbClr val="012656"/>
              </a:solidFill>
            </a:endParaRPr>
          </a:p>
        </p:txBody>
      </p:sp>
    </p:spTree>
    <p:extLst>
      <p:ext uri="{BB962C8B-B14F-4D97-AF65-F5344CB8AC3E}">
        <p14:creationId xmlns:p14="http://schemas.microsoft.com/office/powerpoint/2010/main" val="675855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5AE4-02E7-6981-A18A-357FBEE99280}"/>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EAD86B48-291E-7C25-C134-19EC492D1071}"/>
              </a:ext>
            </a:extLst>
          </p:cNvPr>
          <p:cNvSpPr>
            <a:spLocks noGrp="1"/>
          </p:cNvSpPr>
          <p:nvPr>
            <p:ph type="title"/>
          </p:nvPr>
        </p:nvSpPr>
        <p:spPr/>
        <p:txBody>
          <a:bodyPr/>
          <a:lstStyle/>
          <a:p>
            <a:r>
              <a:rPr lang="de-DE" dirty="0" err="1"/>
              <a:t>Sprachkonstrukte</a:t>
            </a:r>
            <a:r>
              <a:rPr lang="de-DE" dirty="0"/>
              <a:t>: Prozesswegweiser</a:t>
            </a:r>
          </a:p>
        </p:txBody>
      </p:sp>
      <p:sp>
        <p:nvSpPr>
          <p:cNvPr id="23" name="Rechteck 22">
            <a:extLst>
              <a:ext uri="{FF2B5EF4-FFF2-40B4-BE49-F238E27FC236}">
                <a16:creationId xmlns:a16="http://schemas.microsoft.com/office/drawing/2014/main" id="{975DAA72-1FBB-80AC-E8A8-B9A44BADA346}"/>
              </a:ext>
            </a:extLst>
          </p:cNvPr>
          <p:cNvSpPr/>
          <p:nvPr/>
        </p:nvSpPr>
        <p:spPr>
          <a:xfrm>
            <a:off x="2431332" y="2308973"/>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schreiben</a:t>
            </a:r>
          </a:p>
        </p:txBody>
      </p:sp>
      <p:sp>
        <p:nvSpPr>
          <p:cNvPr id="24" name="Textplatzhalter 2">
            <a:extLst>
              <a:ext uri="{FF2B5EF4-FFF2-40B4-BE49-F238E27FC236}">
                <a16:creationId xmlns:a16="http://schemas.microsoft.com/office/drawing/2014/main" id="{359B08EC-99B6-96A7-DC74-EFA05BFC1EF2}"/>
              </a:ext>
            </a:extLst>
          </p:cNvPr>
          <p:cNvSpPr txBox="1">
            <a:spLocks/>
          </p:cNvSpPr>
          <p:nvPr/>
        </p:nvSpPr>
        <p:spPr>
          <a:xfrm>
            <a:off x="2431331" y="145542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Modul  </a:t>
            </a:r>
            <a:br>
              <a:rPr lang="de-DE" sz="1200" b="1" dirty="0">
                <a:solidFill>
                  <a:srgbClr val="012656"/>
                </a:solidFill>
              </a:rPr>
            </a:br>
            <a:r>
              <a:rPr lang="de-DE" sz="1200" b="1" dirty="0">
                <a:solidFill>
                  <a:srgbClr val="012656"/>
                </a:solidFill>
              </a:rPr>
              <a:t>gehört</a:t>
            </a:r>
          </a:p>
        </p:txBody>
      </p:sp>
      <p:sp>
        <p:nvSpPr>
          <p:cNvPr id="25" name="Ellipse 24">
            <a:extLst>
              <a:ext uri="{FF2B5EF4-FFF2-40B4-BE49-F238E27FC236}">
                <a16:creationId xmlns:a16="http://schemas.microsoft.com/office/drawing/2014/main" id="{56BEF563-004A-980E-7A91-651CBC2D66C9}"/>
              </a:ext>
            </a:extLst>
          </p:cNvPr>
          <p:cNvSpPr/>
          <p:nvPr/>
        </p:nvSpPr>
        <p:spPr>
          <a:xfrm>
            <a:off x="2769791" y="3142869"/>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sp>
        <p:nvSpPr>
          <p:cNvPr id="26" name="Textplatzhalter 2">
            <a:extLst>
              <a:ext uri="{FF2B5EF4-FFF2-40B4-BE49-F238E27FC236}">
                <a16:creationId xmlns:a16="http://schemas.microsoft.com/office/drawing/2014/main" id="{12F11241-97D3-C740-E8C4-00BD18BAAFD5}"/>
              </a:ext>
            </a:extLst>
          </p:cNvPr>
          <p:cNvSpPr txBox="1">
            <a:spLocks/>
          </p:cNvSpPr>
          <p:nvPr/>
        </p:nvSpPr>
        <p:spPr>
          <a:xfrm>
            <a:off x="127488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bestanden</a:t>
            </a:r>
          </a:p>
        </p:txBody>
      </p:sp>
      <p:sp>
        <p:nvSpPr>
          <p:cNvPr id="27" name="Textplatzhalter 2">
            <a:extLst>
              <a:ext uri="{FF2B5EF4-FFF2-40B4-BE49-F238E27FC236}">
                <a16:creationId xmlns:a16="http://schemas.microsoft.com/office/drawing/2014/main" id="{5E01E13F-8563-5CC0-056F-7C687517E084}"/>
              </a:ext>
            </a:extLst>
          </p:cNvPr>
          <p:cNvSpPr txBox="1">
            <a:spLocks/>
          </p:cNvSpPr>
          <p:nvPr/>
        </p:nvSpPr>
        <p:spPr>
          <a:xfrm>
            <a:off x="3521364" y="386005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Nicht bestanden</a:t>
            </a:r>
          </a:p>
        </p:txBody>
      </p:sp>
      <p:sp>
        <p:nvSpPr>
          <p:cNvPr id="28" name="Rechteck 27">
            <a:extLst>
              <a:ext uri="{FF2B5EF4-FFF2-40B4-BE49-F238E27FC236}">
                <a16:creationId xmlns:a16="http://schemas.microsoft.com/office/drawing/2014/main" id="{285345C5-80E8-D766-96CF-647569203E7C}"/>
              </a:ext>
            </a:extLst>
          </p:cNvPr>
          <p:cNvSpPr/>
          <p:nvPr/>
        </p:nvSpPr>
        <p:spPr>
          <a:xfrm>
            <a:off x="3521363" y="476895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Prüfung ob 3. Versuch</a:t>
            </a:r>
          </a:p>
        </p:txBody>
      </p:sp>
      <p:cxnSp>
        <p:nvCxnSpPr>
          <p:cNvPr id="29" name="Gerade Verbindung mit Pfeil 28">
            <a:extLst>
              <a:ext uri="{FF2B5EF4-FFF2-40B4-BE49-F238E27FC236}">
                <a16:creationId xmlns:a16="http://schemas.microsoft.com/office/drawing/2014/main" id="{61A78E8B-9756-447B-5820-4E7B17D81276}"/>
              </a:ext>
            </a:extLst>
          </p:cNvPr>
          <p:cNvCxnSpPr>
            <a:cxnSpLocks/>
          </p:cNvCxnSpPr>
          <p:nvPr/>
        </p:nvCxnSpPr>
        <p:spPr>
          <a:xfrm>
            <a:off x="3059981" y="2053111"/>
            <a:ext cx="0" cy="2558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CBD1210A-F050-BAAF-2949-82842BFB3064}"/>
              </a:ext>
            </a:extLst>
          </p:cNvPr>
          <p:cNvCxnSpPr>
            <a:cxnSpLocks/>
            <a:stCxn id="23" idx="2"/>
            <a:endCxn id="25" idx="0"/>
          </p:cNvCxnSpPr>
          <p:nvPr/>
        </p:nvCxnSpPr>
        <p:spPr>
          <a:xfrm flipH="1">
            <a:off x="3059981" y="2916016"/>
            <a:ext cx="2" cy="22685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159D8EB3-FB46-6B07-A921-984F2C257D4A}"/>
              </a:ext>
            </a:extLst>
          </p:cNvPr>
          <p:cNvCxnSpPr>
            <a:cxnSpLocks/>
            <a:stCxn id="25" idx="3"/>
            <a:endCxn id="26" idx="5"/>
          </p:cNvCxnSpPr>
          <p:nvPr/>
        </p:nvCxnSpPr>
        <p:spPr>
          <a:xfrm flipH="1">
            <a:off x="2380424" y="3587751"/>
            <a:ext cx="474362" cy="27230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4F5702D0-1EB6-78CF-1072-56FD72580BCC}"/>
              </a:ext>
            </a:extLst>
          </p:cNvPr>
          <p:cNvCxnSpPr>
            <a:cxnSpLocks/>
            <a:stCxn id="25" idx="5"/>
            <a:endCxn id="27" idx="4"/>
          </p:cNvCxnSpPr>
          <p:nvPr/>
        </p:nvCxnSpPr>
        <p:spPr>
          <a:xfrm>
            <a:off x="3265176" y="3587751"/>
            <a:ext cx="407949" cy="27230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07036667-CEA2-63A9-F9AD-E3BEC3844287}"/>
              </a:ext>
            </a:extLst>
          </p:cNvPr>
          <p:cNvCxnSpPr>
            <a:cxnSpLocks/>
          </p:cNvCxnSpPr>
          <p:nvPr/>
        </p:nvCxnSpPr>
        <p:spPr>
          <a:xfrm>
            <a:off x="4150014" y="4467097"/>
            <a:ext cx="0" cy="30186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2793E1D2-B4F2-E87B-D889-F1A74074CA8E}"/>
              </a:ext>
            </a:extLst>
          </p:cNvPr>
          <p:cNvSpPr/>
          <p:nvPr/>
        </p:nvSpPr>
        <p:spPr>
          <a:xfrm>
            <a:off x="3859823" y="5596933"/>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cxnSp>
        <p:nvCxnSpPr>
          <p:cNvPr id="35" name="Gerade Verbindung mit Pfeil 34">
            <a:extLst>
              <a:ext uri="{FF2B5EF4-FFF2-40B4-BE49-F238E27FC236}">
                <a16:creationId xmlns:a16="http://schemas.microsoft.com/office/drawing/2014/main" id="{069181A5-D180-4204-4CF9-7EB4A4DEA9DE}"/>
              </a:ext>
            </a:extLst>
          </p:cNvPr>
          <p:cNvCxnSpPr>
            <a:cxnSpLocks/>
            <a:stCxn id="28" idx="2"/>
            <a:endCxn id="34" idx="0"/>
          </p:cNvCxnSpPr>
          <p:nvPr/>
        </p:nvCxnSpPr>
        <p:spPr>
          <a:xfrm flipH="1">
            <a:off x="4150013" y="5376002"/>
            <a:ext cx="1" cy="22093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5FC39D35-A4E1-1E40-EDF3-7872A103A67F}"/>
              </a:ext>
            </a:extLst>
          </p:cNvPr>
          <p:cNvSpPr txBox="1">
            <a:spLocks/>
          </p:cNvSpPr>
          <p:nvPr/>
        </p:nvSpPr>
        <p:spPr>
          <a:xfrm>
            <a:off x="4955717"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3. Versuch</a:t>
            </a:r>
          </a:p>
        </p:txBody>
      </p:sp>
      <p:sp>
        <p:nvSpPr>
          <p:cNvPr id="37" name="Textplatzhalter 2">
            <a:extLst>
              <a:ext uri="{FF2B5EF4-FFF2-40B4-BE49-F238E27FC236}">
                <a16:creationId xmlns:a16="http://schemas.microsoft.com/office/drawing/2014/main" id="{0703BBCE-009B-0485-C1D5-AC1439E04DF8}"/>
              </a:ext>
            </a:extLst>
          </p:cNvPr>
          <p:cNvSpPr txBox="1">
            <a:spLocks/>
          </p:cNvSpPr>
          <p:nvPr/>
        </p:nvSpPr>
        <p:spPr>
          <a:xfrm>
            <a:off x="2006305" y="571347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Kein 3. Versuch</a:t>
            </a:r>
          </a:p>
        </p:txBody>
      </p:sp>
      <p:cxnSp>
        <p:nvCxnSpPr>
          <p:cNvPr id="38" name="Gerade Verbindung mit Pfeil 37">
            <a:extLst>
              <a:ext uri="{FF2B5EF4-FFF2-40B4-BE49-F238E27FC236}">
                <a16:creationId xmlns:a16="http://schemas.microsoft.com/office/drawing/2014/main" id="{3B6016C6-9986-540C-07CE-E66F63D0C5DA}"/>
              </a:ext>
            </a:extLst>
          </p:cNvPr>
          <p:cNvCxnSpPr>
            <a:cxnSpLocks/>
            <a:stCxn id="34" idx="2"/>
            <a:endCxn id="37" idx="0"/>
          </p:cNvCxnSpPr>
          <p:nvPr/>
        </p:nvCxnSpPr>
        <p:spPr>
          <a:xfrm flipH="1">
            <a:off x="3263606" y="5857539"/>
            <a:ext cx="596217" cy="15945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A077CCA6-E52D-D429-34EB-225A3D4EF546}"/>
              </a:ext>
            </a:extLst>
          </p:cNvPr>
          <p:cNvCxnSpPr>
            <a:cxnSpLocks/>
            <a:stCxn id="34" idx="6"/>
            <a:endCxn id="36" idx="3"/>
          </p:cNvCxnSpPr>
          <p:nvPr/>
        </p:nvCxnSpPr>
        <p:spPr>
          <a:xfrm>
            <a:off x="4440203" y="5857539"/>
            <a:ext cx="515514" cy="159457"/>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8" name="Ellipse 47">
            <a:extLst>
              <a:ext uri="{FF2B5EF4-FFF2-40B4-BE49-F238E27FC236}">
                <a16:creationId xmlns:a16="http://schemas.microsoft.com/office/drawing/2014/main" id="{465ABAAD-65B7-3F49-87DC-E3467958D48D}"/>
              </a:ext>
            </a:extLst>
          </p:cNvPr>
          <p:cNvSpPr/>
          <p:nvPr/>
        </p:nvSpPr>
        <p:spPr>
          <a:xfrm>
            <a:off x="5254885" y="4767227"/>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rgbClr val="012656"/>
                </a:solidFill>
              </a:rPr>
              <a:t>Prüfungs-amt</a:t>
            </a:r>
          </a:p>
        </p:txBody>
      </p:sp>
      <p:cxnSp>
        <p:nvCxnSpPr>
          <p:cNvPr id="50" name="Gerader Verbinder 49">
            <a:extLst>
              <a:ext uri="{FF2B5EF4-FFF2-40B4-BE49-F238E27FC236}">
                <a16:creationId xmlns:a16="http://schemas.microsoft.com/office/drawing/2014/main" id="{92851F93-F613-CC2B-A4FC-C53D017BF4C6}"/>
              </a:ext>
            </a:extLst>
          </p:cNvPr>
          <p:cNvCxnSpPr>
            <a:stCxn id="48" idx="2"/>
            <a:endCxn id="28" idx="3"/>
          </p:cNvCxnSpPr>
          <p:nvPr/>
        </p:nvCxnSpPr>
        <p:spPr>
          <a:xfrm flipH="1">
            <a:off x="4778664" y="5071615"/>
            <a:ext cx="476221" cy="86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3DB934F3-B22F-9065-98FF-F1552EBE53F8}"/>
              </a:ext>
            </a:extLst>
          </p:cNvPr>
          <p:cNvSpPr/>
          <p:nvPr/>
        </p:nvSpPr>
        <p:spPr>
          <a:xfrm>
            <a:off x="4182555" y="2317170"/>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Stud.-</a:t>
            </a:r>
          </a:p>
          <a:p>
            <a:pPr algn="ctr"/>
            <a:r>
              <a:rPr lang="de-DE" sz="1200" b="1" dirty="0">
                <a:solidFill>
                  <a:srgbClr val="012656"/>
                </a:solidFill>
              </a:rPr>
              <a:t>Stammdaten</a:t>
            </a:r>
          </a:p>
        </p:txBody>
      </p:sp>
      <p:sp>
        <p:nvSpPr>
          <p:cNvPr id="7" name="Ellipse 6">
            <a:extLst>
              <a:ext uri="{FF2B5EF4-FFF2-40B4-BE49-F238E27FC236}">
                <a16:creationId xmlns:a16="http://schemas.microsoft.com/office/drawing/2014/main" id="{CC0966E5-E25F-C946-3441-842902769935}"/>
              </a:ext>
            </a:extLst>
          </p:cNvPr>
          <p:cNvSpPr/>
          <p:nvPr/>
        </p:nvSpPr>
        <p:spPr>
          <a:xfrm>
            <a:off x="4336044" y="1512171"/>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50" b="1" dirty="0">
                <a:solidFill>
                  <a:srgbClr val="012656"/>
                </a:solidFill>
              </a:rPr>
              <a:t>Prüfungs-amt</a:t>
            </a:r>
          </a:p>
        </p:txBody>
      </p:sp>
      <p:cxnSp>
        <p:nvCxnSpPr>
          <p:cNvPr id="8" name="Gerader Verbinder 7">
            <a:extLst>
              <a:ext uri="{FF2B5EF4-FFF2-40B4-BE49-F238E27FC236}">
                <a16:creationId xmlns:a16="http://schemas.microsoft.com/office/drawing/2014/main" id="{ED38464E-A9DE-D90A-192E-DD66BA922E91}"/>
              </a:ext>
            </a:extLst>
          </p:cNvPr>
          <p:cNvCxnSpPr>
            <a:cxnSpLocks/>
            <a:stCxn id="7" idx="2"/>
            <a:endCxn id="23" idx="3"/>
          </p:cNvCxnSpPr>
          <p:nvPr/>
        </p:nvCxnSpPr>
        <p:spPr>
          <a:xfrm flipH="1">
            <a:off x="3688633" y="1816559"/>
            <a:ext cx="647411" cy="795936"/>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012E9F2-6F37-FA69-90E6-FF2B6838D2B9}"/>
              </a:ext>
            </a:extLst>
          </p:cNvPr>
          <p:cNvCxnSpPr>
            <a:cxnSpLocks/>
            <a:stCxn id="6" idx="1"/>
            <a:endCxn id="23" idx="3"/>
          </p:cNvCxnSpPr>
          <p:nvPr/>
        </p:nvCxnSpPr>
        <p:spPr>
          <a:xfrm flipH="1">
            <a:off x="3688633" y="2602483"/>
            <a:ext cx="493922" cy="10012"/>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49" name="Rechteck 48">
            <a:extLst>
              <a:ext uri="{FF2B5EF4-FFF2-40B4-BE49-F238E27FC236}">
                <a16:creationId xmlns:a16="http://schemas.microsoft.com/office/drawing/2014/main" id="{32E04788-948D-0483-949F-234B15019ED4}"/>
              </a:ext>
            </a:extLst>
          </p:cNvPr>
          <p:cNvSpPr/>
          <p:nvPr/>
        </p:nvSpPr>
        <p:spPr>
          <a:xfrm>
            <a:off x="5202678" y="4044407"/>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Stud.-</a:t>
            </a:r>
          </a:p>
          <a:p>
            <a:pPr algn="ctr"/>
            <a:r>
              <a:rPr lang="de-DE" sz="1200" b="1" dirty="0">
                <a:solidFill>
                  <a:srgbClr val="012656"/>
                </a:solidFill>
              </a:rPr>
              <a:t>Stammdaten</a:t>
            </a:r>
          </a:p>
        </p:txBody>
      </p:sp>
      <p:cxnSp>
        <p:nvCxnSpPr>
          <p:cNvPr id="53" name="Gerader Verbinder 52">
            <a:extLst>
              <a:ext uri="{FF2B5EF4-FFF2-40B4-BE49-F238E27FC236}">
                <a16:creationId xmlns:a16="http://schemas.microsoft.com/office/drawing/2014/main" id="{837A3108-7F49-7800-57B9-1AC722857A44}"/>
              </a:ext>
            </a:extLst>
          </p:cNvPr>
          <p:cNvCxnSpPr>
            <a:cxnSpLocks/>
            <a:stCxn id="49" idx="1"/>
            <a:endCxn id="28" idx="3"/>
          </p:cNvCxnSpPr>
          <p:nvPr/>
        </p:nvCxnSpPr>
        <p:spPr>
          <a:xfrm flipH="1">
            <a:off x="4778664" y="4329720"/>
            <a:ext cx="424014" cy="74276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2" name="Gruppieren 1">
            <a:extLst>
              <a:ext uri="{FF2B5EF4-FFF2-40B4-BE49-F238E27FC236}">
                <a16:creationId xmlns:a16="http://schemas.microsoft.com/office/drawing/2014/main" id="{3384A32A-9BA8-B129-ECE1-8D4173F57F33}"/>
              </a:ext>
            </a:extLst>
          </p:cNvPr>
          <p:cNvGrpSpPr/>
          <p:nvPr/>
        </p:nvGrpSpPr>
        <p:grpSpPr>
          <a:xfrm>
            <a:off x="6819523" y="5713474"/>
            <a:ext cx="1443873" cy="670190"/>
            <a:chOff x="8230420" y="5444237"/>
            <a:chExt cx="1443873" cy="670190"/>
          </a:xfrm>
          <a:solidFill>
            <a:srgbClr val="FF9600"/>
          </a:solidFill>
        </p:grpSpPr>
        <p:sp>
          <p:nvSpPr>
            <p:cNvPr id="3" name="Textplatzhalter 2">
              <a:extLst>
                <a:ext uri="{FF2B5EF4-FFF2-40B4-BE49-F238E27FC236}">
                  <a16:creationId xmlns:a16="http://schemas.microsoft.com/office/drawing/2014/main" id="{DBDDBF23-BF2C-9F56-49D2-30F1256FD2AB}"/>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200" b="1" dirty="0">
                <a:solidFill>
                  <a:schemeClr val="bg1"/>
                </a:solidFill>
              </a:endParaRPr>
            </a:p>
          </p:txBody>
        </p:sp>
        <p:sp>
          <p:nvSpPr>
            <p:cNvPr id="4" name="Rechteck 3">
              <a:extLst>
                <a:ext uri="{FF2B5EF4-FFF2-40B4-BE49-F238E27FC236}">
                  <a16:creationId xmlns:a16="http://schemas.microsoft.com/office/drawing/2014/main" id="{24A3BFB9-DAA2-B060-1239-B4BEFFB95336}"/>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chemeClr val="bg1"/>
                  </a:solidFill>
                </a:rPr>
                <a:t>Prozess </a:t>
              </a:r>
              <a:r>
                <a:rPr lang="de-DE" b="1" dirty="0" err="1">
                  <a:solidFill>
                    <a:schemeClr val="bg1"/>
                  </a:solidFill>
                </a:rPr>
                <a:t>exmatr</a:t>
              </a:r>
              <a:r>
                <a:rPr lang="de-DE" b="1" dirty="0">
                  <a:solidFill>
                    <a:schemeClr val="bg1"/>
                  </a:solidFill>
                </a:rPr>
                <a:t>.</a:t>
              </a:r>
            </a:p>
          </p:txBody>
        </p:sp>
      </p:grpSp>
      <p:cxnSp>
        <p:nvCxnSpPr>
          <p:cNvPr id="10" name="Gerade Verbindung mit Pfeil 9">
            <a:extLst>
              <a:ext uri="{FF2B5EF4-FFF2-40B4-BE49-F238E27FC236}">
                <a16:creationId xmlns:a16="http://schemas.microsoft.com/office/drawing/2014/main" id="{6F4A6F90-7B65-F26E-7FF3-90D72B09FEB2}"/>
              </a:ext>
            </a:extLst>
          </p:cNvPr>
          <p:cNvCxnSpPr>
            <a:cxnSpLocks/>
            <a:endCxn id="4" idx="1"/>
          </p:cNvCxnSpPr>
          <p:nvPr/>
        </p:nvCxnSpPr>
        <p:spPr>
          <a:xfrm flipV="1">
            <a:off x="6202222" y="6016996"/>
            <a:ext cx="617301" cy="21420"/>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grpSp>
        <p:nvGrpSpPr>
          <p:cNvPr id="40" name="Gruppieren 39">
            <a:extLst>
              <a:ext uri="{FF2B5EF4-FFF2-40B4-BE49-F238E27FC236}">
                <a16:creationId xmlns:a16="http://schemas.microsoft.com/office/drawing/2014/main" id="{3629B144-157D-5E73-1BB3-F26C003A6263}"/>
              </a:ext>
            </a:extLst>
          </p:cNvPr>
          <p:cNvGrpSpPr/>
          <p:nvPr/>
        </p:nvGrpSpPr>
        <p:grpSpPr>
          <a:xfrm>
            <a:off x="9276973" y="1879432"/>
            <a:ext cx="1443873" cy="670190"/>
            <a:chOff x="8230420" y="5444237"/>
            <a:chExt cx="1443873" cy="670190"/>
          </a:xfrm>
          <a:solidFill>
            <a:srgbClr val="FF9600"/>
          </a:solidFill>
        </p:grpSpPr>
        <p:sp>
          <p:nvSpPr>
            <p:cNvPr id="41" name="Textplatzhalter 2">
              <a:extLst>
                <a:ext uri="{FF2B5EF4-FFF2-40B4-BE49-F238E27FC236}">
                  <a16:creationId xmlns:a16="http://schemas.microsoft.com/office/drawing/2014/main" id="{4FBC9F51-CBEE-2F69-65D3-FD28C90CC765}"/>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200" b="1" dirty="0">
                <a:solidFill>
                  <a:schemeClr val="bg1"/>
                </a:solidFill>
              </a:endParaRPr>
            </a:p>
          </p:txBody>
        </p:sp>
        <p:sp>
          <p:nvSpPr>
            <p:cNvPr id="42" name="Rechteck 41">
              <a:extLst>
                <a:ext uri="{FF2B5EF4-FFF2-40B4-BE49-F238E27FC236}">
                  <a16:creationId xmlns:a16="http://schemas.microsoft.com/office/drawing/2014/main" id="{D4C424FD-C809-AE76-1FFD-BC031A23F4BE}"/>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chemeClr val="bg1"/>
                  </a:solidFill>
                </a:rPr>
                <a:t>Prozess </a:t>
              </a:r>
              <a:r>
                <a:rPr lang="de-DE" b="1" dirty="0" err="1">
                  <a:solidFill>
                    <a:schemeClr val="bg1"/>
                  </a:solidFill>
                </a:rPr>
                <a:t>exmatr</a:t>
              </a:r>
              <a:r>
                <a:rPr lang="de-DE" b="1" dirty="0">
                  <a:solidFill>
                    <a:schemeClr val="bg1"/>
                  </a:solidFill>
                </a:rPr>
                <a:t>.</a:t>
              </a:r>
            </a:p>
          </p:txBody>
        </p:sp>
      </p:grpSp>
      <p:sp>
        <p:nvSpPr>
          <p:cNvPr id="46" name="Rechteck 45">
            <a:extLst>
              <a:ext uri="{FF2B5EF4-FFF2-40B4-BE49-F238E27FC236}">
                <a16:creationId xmlns:a16="http://schemas.microsoft.com/office/drawing/2014/main" id="{74338933-3C39-A099-2B12-C097B86D4B35}"/>
              </a:ext>
            </a:extLst>
          </p:cNvPr>
          <p:cNvSpPr/>
          <p:nvPr/>
        </p:nvSpPr>
        <p:spPr>
          <a:xfrm>
            <a:off x="9422209" y="3029442"/>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Stud. benachrichtigen</a:t>
            </a:r>
          </a:p>
        </p:txBody>
      </p:sp>
      <p:cxnSp>
        <p:nvCxnSpPr>
          <p:cNvPr id="54" name="Gerade Verbindung mit Pfeil 53">
            <a:extLst>
              <a:ext uri="{FF2B5EF4-FFF2-40B4-BE49-F238E27FC236}">
                <a16:creationId xmlns:a16="http://schemas.microsoft.com/office/drawing/2014/main" id="{07A35141-74AF-0599-A82F-B6AB5E2E6CEF}"/>
              </a:ext>
            </a:extLst>
          </p:cNvPr>
          <p:cNvCxnSpPr>
            <a:cxnSpLocks/>
            <a:endCxn id="46" idx="0"/>
          </p:cNvCxnSpPr>
          <p:nvPr/>
        </p:nvCxnSpPr>
        <p:spPr>
          <a:xfrm>
            <a:off x="10028923" y="2549622"/>
            <a:ext cx="21937" cy="479820"/>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087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23E7A-DCAD-23C4-73A5-9307B5C5B77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AA708E4C-06B1-C274-8EFF-5CF49DE2ED4D}"/>
              </a:ext>
            </a:extLst>
          </p:cNvPr>
          <p:cNvSpPr>
            <a:spLocks noGrp="1"/>
          </p:cNvSpPr>
          <p:nvPr>
            <p:ph type="title"/>
          </p:nvPr>
        </p:nvSpPr>
        <p:spPr/>
        <p:txBody>
          <a:bodyPr/>
          <a:lstStyle/>
          <a:p>
            <a:r>
              <a:rPr lang="de-DE" dirty="0"/>
              <a:t>Syntaxregeln</a:t>
            </a:r>
          </a:p>
        </p:txBody>
      </p:sp>
      <p:sp>
        <p:nvSpPr>
          <p:cNvPr id="6" name="Textplatzhalter 5">
            <a:extLst>
              <a:ext uri="{FF2B5EF4-FFF2-40B4-BE49-F238E27FC236}">
                <a16:creationId xmlns:a16="http://schemas.microsoft.com/office/drawing/2014/main" id="{1C3BD576-F8DE-5CFC-9588-9BB882D6319E}"/>
              </a:ext>
            </a:extLst>
          </p:cNvPr>
          <p:cNvSpPr>
            <a:spLocks noGrp="1"/>
          </p:cNvSpPr>
          <p:nvPr>
            <p:ph type="body" sz="quarter" idx="12"/>
          </p:nvPr>
        </p:nvSpPr>
        <p:spPr>
          <a:xfrm>
            <a:off x="276489" y="1345173"/>
            <a:ext cx="11729362" cy="5161440"/>
          </a:xfrm>
        </p:spPr>
        <p:txBody>
          <a:bodyPr/>
          <a:lstStyle/>
          <a:p>
            <a:pPr marL="0" indent="0">
              <a:lnSpc>
                <a:spcPct val="150000"/>
              </a:lnSpc>
              <a:buNone/>
            </a:pPr>
            <a:r>
              <a:rPr lang="de-DE" sz="1800" b="1" dirty="0"/>
              <a:t>Syntaxregeln, die bei der Erstellung eines Geschäftsprozesses durch EPK zu beachten sind:</a:t>
            </a:r>
          </a:p>
          <a:p>
            <a:pPr>
              <a:lnSpc>
                <a:spcPct val="150000"/>
              </a:lnSpc>
              <a:buFont typeface="+mj-lt"/>
              <a:buAutoNum type="arabicPeriod"/>
            </a:pPr>
            <a:r>
              <a:rPr lang="de-DE" sz="1800" dirty="0"/>
              <a:t>Prozess startet und endet mit mind. 1 Ereignis</a:t>
            </a:r>
          </a:p>
          <a:p>
            <a:pPr>
              <a:lnSpc>
                <a:spcPct val="150000"/>
              </a:lnSpc>
              <a:buFont typeface="+mj-lt"/>
              <a:buAutoNum type="arabicPeriod"/>
            </a:pPr>
            <a:r>
              <a:rPr lang="de-DE" sz="1800" dirty="0"/>
              <a:t>Ereignis &amp; Funktion sind immer abwechselnd</a:t>
            </a:r>
          </a:p>
          <a:p>
            <a:pPr>
              <a:lnSpc>
                <a:spcPct val="150000"/>
              </a:lnSpc>
              <a:buFont typeface="+mj-lt"/>
              <a:buAutoNum type="arabicPeriod"/>
            </a:pPr>
            <a:r>
              <a:rPr lang="de-DE" sz="1800" dirty="0"/>
              <a:t>Zwei Konnektoren können direkt aufeinander folgen</a:t>
            </a:r>
          </a:p>
          <a:p>
            <a:pPr>
              <a:lnSpc>
                <a:spcPct val="150000"/>
              </a:lnSpc>
              <a:buFont typeface="+mj-lt"/>
              <a:buAutoNum type="arabicPeriod"/>
            </a:pPr>
            <a:r>
              <a:rPr lang="de-DE" sz="1800" dirty="0"/>
              <a:t>Ereignisse und Funktionen haben höchstens 1 Pfeil als Eingang / Ausgang</a:t>
            </a:r>
          </a:p>
          <a:p>
            <a:pPr>
              <a:lnSpc>
                <a:spcPct val="150000"/>
              </a:lnSpc>
              <a:buFont typeface="+mj-lt"/>
              <a:buAutoNum type="arabicPeriod"/>
            </a:pPr>
            <a:r>
              <a:rPr lang="de-DE" sz="1800" dirty="0"/>
              <a:t>Daten/System/Organisationseinheit werden mit Funktionen verbunden</a:t>
            </a:r>
          </a:p>
          <a:p>
            <a:pPr>
              <a:lnSpc>
                <a:spcPct val="150000"/>
              </a:lnSpc>
              <a:buFont typeface="+mj-lt"/>
              <a:buAutoNum type="arabicPeriod"/>
            </a:pPr>
            <a:r>
              <a:rPr lang="de-DE" sz="1800" dirty="0"/>
              <a:t>Daten/System/Organisationseinheit sind optional</a:t>
            </a:r>
          </a:p>
          <a:p>
            <a:pPr>
              <a:lnSpc>
                <a:spcPct val="150000"/>
              </a:lnSpc>
              <a:buFont typeface="+mj-lt"/>
              <a:buAutoNum type="arabicPeriod"/>
            </a:pPr>
            <a:r>
              <a:rPr lang="de-DE" sz="1800" dirty="0"/>
              <a:t>Auf ein Ereignis kann kein OR </a:t>
            </a:r>
            <a:r>
              <a:rPr lang="de-DE" sz="1800" dirty="0" err="1"/>
              <a:t>bzw</a:t>
            </a:r>
            <a:r>
              <a:rPr lang="de-DE" sz="1800" dirty="0"/>
              <a:t> XOR folgen. Nur AND ist erlaubt</a:t>
            </a:r>
          </a:p>
        </p:txBody>
      </p:sp>
    </p:spTree>
    <p:extLst>
      <p:ext uri="{BB962C8B-B14F-4D97-AF65-F5344CB8AC3E}">
        <p14:creationId xmlns:p14="http://schemas.microsoft.com/office/powerpoint/2010/main" val="79308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35ECCE-17BD-6C6D-54EA-12C042FC6A26}"/>
              </a:ext>
            </a:extLst>
          </p:cNvPr>
          <p:cNvSpPr>
            <a:spLocks noGrp="1"/>
          </p:cNvSpPr>
          <p:nvPr>
            <p:ph type="title"/>
          </p:nvPr>
        </p:nvSpPr>
        <p:spPr/>
        <p:txBody>
          <a:bodyPr/>
          <a:lstStyle/>
          <a:p>
            <a:r>
              <a:rPr lang="de-DE" dirty="0"/>
              <a:t>Syntaxregeln</a:t>
            </a:r>
          </a:p>
        </p:txBody>
      </p:sp>
      <p:sp>
        <p:nvSpPr>
          <p:cNvPr id="5" name="Rechteck 4">
            <a:extLst>
              <a:ext uri="{FF2B5EF4-FFF2-40B4-BE49-F238E27FC236}">
                <a16:creationId xmlns:a16="http://schemas.microsoft.com/office/drawing/2014/main" id="{04A2F212-C4F0-2A1D-080F-A8BF8D226FAE}"/>
              </a:ext>
            </a:extLst>
          </p:cNvPr>
          <p:cNvSpPr/>
          <p:nvPr/>
        </p:nvSpPr>
        <p:spPr>
          <a:xfrm>
            <a:off x="2082821" y="2772701"/>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6" name="Textplatzhalter 2">
            <a:extLst>
              <a:ext uri="{FF2B5EF4-FFF2-40B4-BE49-F238E27FC236}">
                <a16:creationId xmlns:a16="http://schemas.microsoft.com/office/drawing/2014/main" id="{2A5AAAA7-79AB-E6E8-3ACC-0B742EDDF299}"/>
              </a:ext>
            </a:extLst>
          </p:cNvPr>
          <p:cNvSpPr txBox="1">
            <a:spLocks/>
          </p:cNvSpPr>
          <p:nvPr/>
        </p:nvSpPr>
        <p:spPr>
          <a:xfrm>
            <a:off x="2082822" y="392520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8" name="Gerade Verbindung mit Pfeil 7">
            <a:extLst>
              <a:ext uri="{FF2B5EF4-FFF2-40B4-BE49-F238E27FC236}">
                <a16:creationId xmlns:a16="http://schemas.microsoft.com/office/drawing/2014/main" id="{D2F4585F-FFC0-D80C-01FC-BE3EBA6AFEF0}"/>
              </a:ext>
            </a:extLst>
          </p:cNvPr>
          <p:cNvCxnSpPr>
            <a:cxnSpLocks/>
          </p:cNvCxnSpPr>
          <p:nvPr/>
        </p:nvCxnSpPr>
        <p:spPr>
          <a:xfrm>
            <a:off x="2711472" y="3379744"/>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9" name="Rechteck 8">
            <a:extLst>
              <a:ext uri="{FF2B5EF4-FFF2-40B4-BE49-F238E27FC236}">
                <a16:creationId xmlns:a16="http://schemas.microsoft.com/office/drawing/2014/main" id="{D58DB014-2406-9845-B609-3B71A21ACD83}"/>
              </a:ext>
            </a:extLst>
          </p:cNvPr>
          <p:cNvSpPr/>
          <p:nvPr/>
        </p:nvSpPr>
        <p:spPr>
          <a:xfrm>
            <a:off x="2082821" y="509905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cxnSp>
        <p:nvCxnSpPr>
          <p:cNvPr id="10" name="Gerade Verbindung mit Pfeil 9">
            <a:extLst>
              <a:ext uri="{FF2B5EF4-FFF2-40B4-BE49-F238E27FC236}">
                <a16:creationId xmlns:a16="http://schemas.microsoft.com/office/drawing/2014/main" id="{68E4D29E-7E8F-5C18-6B53-24218F26A880}"/>
              </a:ext>
            </a:extLst>
          </p:cNvPr>
          <p:cNvCxnSpPr>
            <a:cxnSpLocks/>
          </p:cNvCxnSpPr>
          <p:nvPr/>
        </p:nvCxnSpPr>
        <p:spPr>
          <a:xfrm>
            <a:off x="2711472" y="4532243"/>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42258FDA-DDA9-B5DE-E4D2-61923D8CF31C}"/>
              </a:ext>
            </a:extLst>
          </p:cNvPr>
          <p:cNvSpPr>
            <a:spLocks noGrp="1"/>
          </p:cNvSpPr>
          <p:nvPr>
            <p:ph type="body" sz="quarter" idx="12"/>
          </p:nvPr>
        </p:nvSpPr>
        <p:spPr/>
        <p:txBody>
          <a:bodyPr/>
          <a:lstStyle/>
          <a:p>
            <a:pPr marL="0" indent="0">
              <a:buNone/>
            </a:pPr>
            <a:r>
              <a:rPr lang="de-DE" sz="2400" dirty="0"/>
              <a:t>1. Prozess startet und endet mit </a:t>
            </a:r>
            <a:r>
              <a:rPr lang="de-DE" sz="2400" b="1" u="sng" dirty="0"/>
              <a:t>mind</a:t>
            </a:r>
            <a:r>
              <a:rPr lang="de-DE" sz="2400" b="1" dirty="0"/>
              <a:t>. 1 Ereignis (Startereignis(se) / Endereignis(se))</a:t>
            </a:r>
          </a:p>
        </p:txBody>
      </p:sp>
      <p:sp>
        <p:nvSpPr>
          <p:cNvPr id="13" name="Textplatzhalter 2">
            <a:extLst>
              <a:ext uri="{FF2B5EF4-FFF2-40B4-BE49-F238E27FC236}">
                <a16:creationId xmlns:a16="http://schemas.microsoft.com/office/drawing/2014/main" id="{0050A2B0-A980-D63C-04A0-3AB19A3D8047}"/>
              </a:ext>
            </a:extLst>
          </p:cNvPr>
          <p:cNvSpPr txBox="1">
            <a:spLocks/>
          </p:cNvSpPr>
          <p:nvPr/>
        </p:nvSpPr>
        <p:spPr>
          <a:xfrm>
            <a:off x="8149100" y="2749714"/>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14" name="Rechteck 13">
            <a:extLst>
              <a:ext uri="{FF2B5EF4-FFF2-40B4-BE49-F238E27FC236}">
                <a16:creationId xmlns:a16="http://schemas.microsoft.com/office/drawing/2014/main" id="{D623E19F-56F1-4FEE-068B-25FAE02B5CB9}"/>
              </a:ext>
            </a:extLst>
          </p:cNvPr>
          <p:cNvSpPr/>
          <p:nvPr/>
        </p:nvSpPr>
        <p:spPr>
          <a:xfrm>
            <a:off x="8149099" y="3923572"/>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5" name="Textplatzhalter 2">
            <a:extLst>
              <a:ext uri="{FF2B5EF4-FFF2-40B4-BE49-F238E27FC236}">
                <a16:creationId xmlns:a16="http://schemas.microsoft.com/office/drawing/2014/main" id="{E33C7BA6-BB2A-CEE1-4BAB-3DC7820B5B83}"/>
              </a:ext>
            </a:extLst>
          </p:cNvPr>
          <p:cNvSpPr txBox="1">
            <a:spLocks/>
          </p:cNvSpPr>
          <p:nvPr/>
        </p:nvSpPr>
        <p:spPr>
          <a:xfrm>
            <a:off x="8149100" y="5076071"/>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16" name="Gerade Verbindung mit Pfeil 15">
            <a:extLst>
              <a:ext uri="{FF2B5EF4-FFF2-40B4-BE49-F238E27FC236}">
                <a16:creationId xmlns:a16="http://schemas.microsoft.com/office/drawing/2014/main" id="{AE041C1E-879E-D4BD-19E5-EADA9C7C12C6}"/>
              </a:ext>
            </a:extLst>
          </p:cNvPr>
          <p:cNvCxnSpPr>
            <a:cxnSpLocks/>
            <a:endCxn id="14" idx="0"/>
          </p:cNvCxnSpPr>
          <p:nvPr/>
        </p:nvCxnSpPr>
        <p:spPr>
          <a:xfrm>
            <a:off x="8777750" y="3351526"/>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19767B0B-8EA7-F3D9-C53E-F5F36074E58F}"/>
              </a:ext>
            </a:extLst>
          </p:cNvPr>
          <p:cNvCxnSpPr>
            <a:cxnSpLocks/>
          </p:cNvCxnSpPr>
          <p:nvPr/>
        </p:nvCxnSpPr>
        <p:spPr>
          <a:xfrm>
            <a:off x="8777750" y="4530615"/>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B36EF9B7-E847-701D-931F-8BEA43D163C4}"/>
              </a:ext>
            </a:extLst>
          </p:cNvPr>
          <p:cNvSpPr txBox="1"/>
          <p:nvPr/>
        </p:nvSpPr>
        <p:spPr>
          <a:xfrm>
            <a:off x="2572009" y="2034037"/>
            <a:ext cx="291747" cy="738664"/>
          </a:xfrm>
          <a:prstGeom prst="rect">
            <a:avLst/>
          </a:prstGeom>
          <a:noFill/>
        </p:spPr>
        <p:txBody>
          <a:bodyPr wrap="none" lIns="0" tIns="0" rIns="0" bIns="0" rtlCol="0">
            <a:spAutoFit/>
          </a:bodyPr>
          <a:lstStyle/>
          <a:p>
            <a:r>
              <a:rPr lang="de-DE" sz="4800" b="1" dirty="0">
                <a:solidFill>
                  <a:srgbClr val="FF0000"/>
                </a:solidFill>
              </a:rPr>
              <a:t>x</a:t>
            </a:r>
          </a:p>
        </p:txBody>
      </p:sp>
      <p:pic>
        <p:nvPicPr>
          <p:cNvPr id="23" name="Grafik 22" descr="Häkchen mit einfarbiger Füllung">
            <a:extLst>
              <a:ext uri="{FF2B5EF4-FFF2-40B4-BE49-F238E27FC236}">
                <a16:creationId xmlns:a16="http://schemas.microsoft.com/office/drawing/2014/main" id="{41763D8D-2BC2-CAA9-11FF-D41E96BED1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91410" y="2142671"/>
            <a:ext cx="572677" cy="572677"/>
          </a:xfrm>
          <a:prstGeom prst="rect">
            <a:avLst/>
          </a:prstGeom>
        </p:spPr>
      </p:pic>
      <p:sp>
        <p:nvSpPr>
          <p:cNvPr id="24" name="Rechteck 23">
            <a:extLst>
              <a:ext uri="{FF2B5EF4-FFF2-40B4-BE49-F238E27FC236}">
                <a16:creationId xmlns:a16="http://schemas.microsoft.com/office/drawing/2014/main" id="{476194D9-E64F-6E7C-D945-7BF08BCAE044}"/>
              </a:ext>
            </a:extLst>
          </p:cNvPr>
          <p:cNvSpPr/>
          <p:nvPr/>
        </p:nvSpPr>
        <p:spPr>
          <a:xfrm>
            <a:off x="3882514" y="2772701"/>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5" name="Textplatzhalter 2">
            <a:extLst>
              <a:ext uri="{FF2B5EF4-FFF2-40B4-BE49-F238E27FC236}">
                <a16:creationId xmlns:a16="http://schemas.microsoft.com/office/drawing/2014/main" id="{E0B014DC-CB32-96F5-9510-AAE7020E7F7E}"/>
              </a:ext>
            </a:extLst>
          </p:cNvPr>
          <p:cNvSpPr txBox="1">
            <a:spLocks/>
          </p:cNvSpPr>
          <p:nvPr/>
        </p:nvSpPr>
        <p:spPr>
          <a:xfrm>
            <a:off x="3882515" y="392520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26" name="Gerade Verbindung mit Pfeil 25">
            <a:extLst>
              <a:ext uri="{FF2B5EF4-FFF2-40B4-BE49-F238E27FC236}">
                <a16:creationId xmlns:a16="http://schemas.microsoft.com/office/drawing/2014/main" id="{3FC6A0D0-D989-67D5-ED6D-8A0EB62AEC00}"/>
              </a:ext>
            </a:extLst>
          </p:cNvPr>
          <p:cNvCxnSpPr>
            <a:cxnSpLocks/>
          </p:cNvCxnSpPr>
          <p:nvPr/>
        </p:nvCxnSpPr>
        <p:spPr>
          <a:xfrm>
            <a:off x="4511165" y="3379744"/>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67CC48F0-03D0-48E3-FF7D-7809C26CF350}"/>
              </a:ext>
            </a:extLst>
          </p:cNvPr>
          <p:cNvSpPr txBox="1"/>
          <p:nvPr/>
        </p:nvSpPr>
        <p:spPr>
          <a:xfrm>
            <a:off x="6006010" y="2034037"/>
            <a:ext cx="291747" cy="738664"/>
          </a:xfrm>
          <a:prstGeom prst="rect">
            <a:avLst/>
          </a:prstGeom>
          <a:noFill/>
        </p:spPr>
        <p:txBody>
          <a:bodyPr wrap="none" lIns="0" tIns="0" rIns="0" bIns="0" rtlCol="0">
            <a:spAutoFit/>
          </a:bodyPr>
          <a:lstStyle/>
          <a:p>
            <a:r>
              <a:rPr lang="de-DE" sz="4800" b="1" dirty="0">
                <a:solidFill>
                  <a:srgbClr val="FF0000"/>
                </a:solidFill>
              </a:rPr>
              <a:t>x</a:t>
            </a:r>
          </a:p>
        </p:txBody>
      </p:sp>
      <p:sp>
        <p:nvSpPr>
          <p:cNvPr id="30" name="Textplatzhalter 2">
            <a:extLst>
              <a:ext uri="{FF2B5EF4-FFF2-40B4-BE49-F238E27FC236}">
                <a16:creationId xmlns:a16="http://schemas.microsoft.com/office/drawing/2014/main" id="{A9A3FF76-5B5F-EE80-A520-12B8A8DAF5CC}"/>
              </a:ext>
            </a:extLst>
          </p:cNvPr>
          <p:cNvSpPr txBox="1">
            <a:spLocks/>
          </p:cNvSpPr>
          <p:nvPr/>
        </p:nvSpPr>
        <p:spPr>
          <a:xfrm>
            <a:off x="5566869" y="2744483"/>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31" name="Rechteck 30">
            <a:extLst>
              <a:ext uri="{FF2B5EF4-FFF2-40B4-BE49-F238E27FC236}">
                <a16:creationId xmlns:a16="http://schemas.microsoft.com/office/drawing/2014/main" id="{15F1A2FB-AF6A-DEA3-CCAC-23E27CB17027}"/>
              </a:ext>
            </a:extLst>
          </p:cNvPr>
          <p:cNvSpPr/>
          <p:nvPr/>
        </p:nvSpPr>
        <p:spPr>
          <a:xfrm>
            <a:off x="5566868" y="3918341"/>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cxnSp>
        <p:nvCxnSpPr>
          <p:cNvPr id="32" name="Gerade Verbindung mit Pfeil 31">
            <a:extLst>
              <a:ext uri="{FF2B5EF4-FFF2-40B4-BE49-F238E27FC236}">
                <a16:creationId xmlns:a16="http://schemas.microsoft.com/office/drawing/2014/main" id="{C0D54E88-2ACC-6722-E0DC-50BC9CCB91A4}"/>
              </a:ext>
            </a:extLst>
          </p:cNvPr>
          <p:cNvCxnSpPr>
            <a:cxnSpLocks/>
          </p:cNvCxnSpPr>
          <p:nvPr/>
        </p:nvCxnSpPr>
        <p:spPr>
          <a:xfrm>
            <a:off x="6195519" y="3351526"/>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271ADC72-09C6-9934-0AE1-2719CE3E2415}"/>
              </a:ext>
            </a:extLst>
          </p:cNvPr>
          <p:cNvSpPr txBox="1"/>
          <p:nvPr/>
        </p:nvSpPr>
        <p:spPr>
          <a:xfrm>
            <a:off x="4326234" y="2034037"/>
            <a:ext cx="291747" cy="738664"/>
          </a:xfrm>
          <a:prstGeom prst="rect">
            <a:avLst/>
          </a:prstGeom>
          <a:noFill/>
        </p:spPr>
        <p:txBody>
          <a:bodyPr wrap="none" lIns="0" tIns="0" rIns="0" bIns="0" rtlCol="0">
            <a:spAutoFit/>
          </a:bodyPr>
          <a:lstStyle/>
          <a:p>
            <a:r>
              <a:rPr lang="de-DE" sz="4800" b="1" dirty="0">
                <a:solidFill>
                  <a:srgbClr val="FF0000"/>
                </a:solidFill>
              </a:rPr>
              <a:t>x</a:t>
            </a:r>
          </a:p>
        </p:txBody>
      </p:sp>
    </p:spTree>
    <p:extLst>
      <p:ext uri="{BB962C8B-B14F-4D97-AF65-F5344CB8AC3E}">
        <p14:creationId xmlns:p14="http://schemas.microsoft.com/office/powerpoint/2010/main" val="1420943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EA9E-13D3-FCFB-C4DB-C267F8AEF0C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ACB259-558E-8BC6-98A0-5088A70E802E}"/>
              </a:ext>
            </a:extLst>
          </p:cNvPr>
          <p:cNvSpPr>
            <a:spLocks noGrp="1"/>
          </p:cNvSpPr>
          <p:nvPr>
            <p:ph type="title"/>
          </p:nvPr>
        </p:nvSpPr>
        <p:spPr/>
        <p:txBody>
          <a:bodyPr/>
          <a:lstStyle/>
          <a:p>
            <a:r>
              <a:rPr lang="de-DE" dirty="0"/>
              <a:t>Syntaxregeln</a:t>
            </a:r>
          </a:p>
        </p:txBody>
      </p:sp>
      <p:sp>
        <p:nvSpPr>
          <p:cNvPr id="5" name="Rechteck 4">
            <a:extLst>
              <a:ext uri="{FF2B5EF4-FFF2-40B4-BE49-F238E27FC236}">
                <a16:creationId xmlns:a16="http://schemas.microsoft.com/office/drawing/2014/main" id="{0FFE6361-A6E4-81C8-0EEA-3CEA37DD5193}"/>
              </a:ext>
            </a:extLst>
          </p:cNvPr>
          <p:cNvSpPr/>
          <p:nvPr/>
        </p:nvSpPr>
        <p:spPr>
          <a:xfrm>
            <a:off x="2082821" y="261414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6" name="Textplatzhalter 2">
            <a:extLst>
              <a:ext uri="{FF2B5EF4-FFF2-40B4-BE49-F238E27FC236}">
                <a16:creationId xmlns:a16="http://schemas.microsoft.com/office/drawing/2014/main" id="{319AFB38-DD11-FB33-8FFD-BE8B1E02E61F}"/>
              </a:ext>
            </a:extLst>
          </p:cNvPr>
          <p:cNvSpPr txBox="1">
            <a:spLocks/>
          </p:cNvSpPr>
          <p:nvPr/>
        </p:nvSpPr>
        <p:spPr>
          <a:xfrm>
            <a:off x="2082822" y="376664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8" name="Gerade Verbindung mit Pfeil 7">
            <a:extLst>
              <a:ext uri="{FF2B5EF4-FFF2-40B4-BE49-F238E27FC236}">
                <a16:creationId xmlns:a16="http://schemas.microsoft.com/office/drawing/2014/main" id="{2109CA40-68AE-84D2-7C49-89E63651AE43}"/>
              </a:ext>
            </a:extLst>
          </p:cNvPr>
          <p:cNvCxnSpPr>
            <a:cxnSpLocks/>
          </p:cNvCxnSpPr>
          <p:nvPr/>
        </p:nvCxnSpPr>
        <p:spPr>
          <a:xfrm>
            <a:off x="2711472" y="3221190"/>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42191FC3-CC2C-0397-3C08-3636475CD3A7}"/>
              </a:ext>
            </a:extLst>
          </p:cNvPr>
          <p:cNvCxnSpPr>
            <a:cxnSpLocks/>
          </p:cNvCxnSpPr>
          <p:nvPr/>
        </p:nvCxnSpPr>
        <p:spPr>
          <a:xfrm>
            <a:off x="2711472" y="4373689"/>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2" name="Textplatzhalter 11">
            <a:extLst>
              <a:ext uri="{FF2B5EF4-FFF2-40B4-BE49-F238E27FC236}">
                <a16:creationId xmlns:a16="http://schemas.microsoft.com/office/drawing/2014/main" id="{8AD71346-378C-790D-C07E-D7349B51BB2E}"/>
              </a:ext>
            </a:extLst>
          </p:cNvPr>
          <p:cNvSpPr>
            <a:spLocks noGrp="1"/>
          </p:cNvSpPr>
          <p:nvPr>
            <p:ph type="body" sz="quarter" idx="12"/>
          </p:nvPr>
        </p:nvSpPr>
        <p:spPr/>
        <p:txBody>
          <a:bodyPr/>
          <a:lstStyle/>
          <a:p>
            <a:pPr marL="0" indent="0">
              <a:buNone/>
            </a:pPr>
            <a:r>
              <a:rPr lang="de-DE" sz="2400" dirty="0"/>
              <a:t>2. Ereignis &amp; Funktion sind immer abwechselnd</a:t>
            </a:r>
          </a:p>
        </p:txBody>
      </p:sp>
      <p:cxnSp>
        <p:nvCxnSpPr>
          <p:cNvPr id="16" name="Gerade Verbindung mit Pfeil 15">
            <a:extLst>
              <a:ext uri="{FF2B5EF4-FFF2-40B4-BE49-F238E27FC236}">
                <a16:creationId xmlns:a16="http://schemas.microsoft.com/office/drawing/2014/main" id="{6AF8F9E3-6C30-8924-B7F9-4094B37B91C2}"/>
              </a:ext>
            </a:extLst>
          </p:cNvPr>
          <p:cNvCxnSpPr>
            <a:cxnSpLocks/>
            <a:endCxn id="14" idx="0"/>
          </p:cNvCxnSpPr>
          <p:nvPr/>
        </p:nvCxnSpPr>
        <p:spPr>
          <a:xfrm>
            <a:off x="8777750" y="2909564"/>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34220638-2759-32B7-A0E8-8E1A09A3EA9A}"/>
              </a:ext>
            </a:extLst>
          </p:cNvPr>
          <p:cNvCxnSpPr>
            <a:cxnSpLocks/>
          </p:cNvCxnSpPr>
          <p:nvPr/>
        </p:nvCxnSpPr>
        <p:spPr>
          <a:xfrm>
            <a:off x="8777750" y="3811721"/>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AAFECEBB-789B-B7DA-82B9-6EAF1BD5CDAE}"/>
              </a:ext>
            </a:extLst>
          </p:cNvPr>
          <p:cNvSpPr txBox="1"/>
          <p:nvPr/>
        </p:nvSpPr>
        <p:spPr>
          <a:xfrm>
            <a:off x="2572009" y="1875483"/>
            <a:ext cx="291747" cy="738664"/>
          </a:xfrm>
          <a:prstGeom prst="rect">
            <a:avLst/>
          </a:prstGeom>
          <a:noFill/>
        </p:spPr>
        <p:txBody>
          <a:bodyPr wrap="none" lIns="0" tIns="0" rIns="0" bIns="0" rtlCol="0">
            <a:spAutoFit/>
          </a:bodyPr>
          <a:lstStyle/>
          <a:p>
            <a:r>
              <a:rPr lang="de-DE" sz="4800" b="1" dirty="0">
                <a:solidFill>
                  <a:srgbClr val="FF0000"/>
                </a:solidFill>
              </a:rPr>
              <a:t>x</a:t>
            </a:r>
          </a:p>
        </p:txBody>
      </p:sp>
      <p:pic>
        <p:nvPicPr>
          <p:cNvPr id="23" name="Grafik 22" descr="Häkchen mit einfarbiger Füllung">
            <a:extLst>
              <a:ext uri="{FF2B5EF4-FFF2-40B4-BE49-F238E27FC236}">
                <a16:creationId xmlns:a16="http://schemas.microsoft.com/office/drawing/2014/main" id="{8B208FEC-083F-6935-CA98-AFAECF1B2F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87280" y="1875483"/>
            <a:ext cx="572677" cy="572677"/>
          </a:xfrm>
          <a:prstGeom prst="rect">
            <a:avLst/>
          </a:prstGeom>
        </p:spPr>
      </p:pic>
      <p:sp>
        <p:nvSpPr>
          <p:cNvPr id="24" name="Rechteck 23">
            <a:extLst>
              <a:ext uri="{FF2B5EF4-FFF2-40B4-BE49-F238E27FC236}">
                <a16:creationId xmlns:a16="http://schemas.microsoft.com/office/drawing/2014/main" id="{FAFD5C8E-F1A2-E508-C310-89351560828C}"/>
              </a:ext>
            </a:extLst>
          </p:cNvPr>
          <p:cNvSpPr/>
          <p:nvPr/>
        </p:nvSpPr>
        <p:spPr>
          <a:xfrm>
            <a:off x="3882514" y="261414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9" name="Textfeld 28">
            <a:extLst>
              <a:ext uri="{FF2B5EF4-FFF2-40B4-BE49-F238E27FC236}">
                <a16:creationId xmlns:a16="http://schemas.microsoft.com/office/drawing/2014/main" id="{B362D37B-BB27-A600-6D55-B74F8E69095A}"/>
              </a:ext>
            </a:extLst>
          </p:cNvPr>
          <p:cNvSpPr txBox="1"/>
          <p:nvPr/>
        </p:nvSpPr>
        <p:spPr>
          <a:xfrm>
            <a:off x="6006010" y="1875483"/>
            <a:ext cx="291747" cy="738664"/>
          </a:xfrm>
          <a:prstGeom prst="rect">
            <a:avLst/>
          </a:prstGeom>
          <a:noFill/>
        </p:spPr>
        <p:txBody>
          <a:bodyPr wrap="none" lIns="0" tIns="0" rIns="0" bIns="0" rtlCol="0">
            <a:spAutoFit/>
          </a:bodyPr>
          <a:lstStyle/>
          <a:p>
            <a:r>
              <a:rPr lang="de-DE" sz="4800" b="1" dirty="0">
                <a:solidFill>
                  <a:srgbClr val="FF0000"/>
                </a:solidFill>
              </a:rPr>
              <a:t>x</a:t>
            </a:r>
          </a:p>
        </p:txBody>
      </p:sp>
      <p:sp>
        <p:nvSpPr>
          <p:cNvPr id="30" name="Textplatzhalter 2">
            <a:extLst>
              <a:ext uri="{FF2B5EF4-FFF2-40B4-BE49-F238E27FC236}">
                <a16:creationId xmlns:a16="http://schemas.microsoft.com/office/drawing/2014/main" id="{0C3BB633-E633-0843-E309-6679E9078F6E}"/>
              </a:ext>
            </a:extLst>
          </p:cNvPr>
          <p:cNvSpPr txBox="1">
            <a:spLocks/>
          </p:cNvSpPr>
          <p:nvPr/>
        </p:nvSpPr>
        <p:spPr>
          <a:xfrm>
            <a:off x="5566869" y="2585929"/>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32" name="Gerade Verbindung mit Pfeil 31">
            <a:extLst>
              <a:ext uri="{FF2B5EF4-FFF2-40B4-BE49-F238E27FC236}">
                <a16:creationId xmlns:a16="http://schemas.microsoft.com/office/drawing/2014/main" id="{9672D188-6926-2BE5-93D5-426FAFE9F05C}"/>
              </a:ext>
            </a:extLst>
          </p:cNvPr>
          <p:cNvCxnSpPr>
            <a:cxnSpLocks/>
          </p:cNvCxnSpPr>
          <p:nvPr/>
        </p:nvCxnSpPr>
        <p:spPr>
          <a:xfrm>
            <a:off x="6195519" y="3192972"/>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0EFDDE1F-FDBB-793A-C7CD-D4E006A988C0}"/>
              </a:ext>
            </a:extLst>
          </p:cNvPr>
          <p:cNvSpPr txBox="1"/>
          <p:nvPr/>
        </p:nvSpPr>
        <p:spPr>
          <a:xfrm>
            <a:off x="4326234" y="1875483"/>
            <a:ext cx="291747" cy="738664"/>
          </a:xfrm>
          <a:prstGeom prst="rect">
            <a:avLst/>
          </a:prstGeom>
          <a:noFill/>
        </p:spPr>
        <p:txBody>
          <a:bodyPr wrap="none" lIns="0" tIns="0" rIns="0" bIns="0" rtlCol="0">
            <a:spAutoFit/>
          </a:bodyPr>
          <a:lstStyle/>
          <a:p>
            <a:r>
              <a:rPr lang="de-DE" sz="4800" b="1" dirty="0">
                <a:solidFill>
                  <a:srgbClr val="FF0000"/>
                </a:solidFill>
              </a:rPr>
              <a:t>x</a:t>
            </a:r>
          </a:p>
        </p:txBody>
      </p:sp>
      <p:sp>
        <p:nvSpPr>
          <p:cNvPr id="3" name="Textplatzhalter 2">
            <a:extLst>
              <a:ext uri="{FF2B5EF4-FFF2-40B4-BE49-F238E27FC236}">
                <a16:creationId xmlns:a16="http://schemas.microsoft.com/office/drawing/2014/main" id="{AD4AEB3A-216D-A9C8-DB72-CC53E32C1ED6}"/>
              </a:ext>
            </a:extLst>
          </p:cNvPr>
          <p:cNvSpPr txBox="1">
            <a:spLocks/>
          </p:cNvSpPr>
          <p:nvPr/>
        </p:nvSpPr>
        <p:spPr>
          <a:xfrm>
            <a:off x="5566868" y="376664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7" name="Gerade Verbindung mit Pfeil 6">
            <a:extLst>
              <a:ext uri="{FF2B5EF4-FFF2-40B4-BE49-F238E27FC236}">
                <a16:creationId xmlns:a16="http://schemas.microsoft.com/office/drawing/2014/main" id="{6D37A81F-C9A6-C64A-EFBC-0C39EF7BCA64}"/>
              </a:ext>
            </a:extLst>
          </p:cNvPr>
          <p:cNvCxnSpPr>
            <a:cxnSpLocks/>
          </p:cNvCxnSpPr>
          <p:nvPr/>
        </p:nvCxnSpPr>
        <p:spPr>
          <a:xfrm>
            <a:off x="4511164" y="3221190"/>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11" name="Rechteck 10">
            <a:extLst>
              <a:ext uri="{FF2B5EF4-FFF2-40B4-BE49-F238E27FC236}">
                <a16:creationId xmlns:a16="http://schemas.microsoft.com/office/drawing/2014/main" id="{63D20EED-ABE1-D146-D592-F223BB60FD9B}"/>
              </a:ext>
            </a:extLst>
          </p:cNvPr>
          <p:cNvSpPr/>
          <p:nvPr/>
        </p:nvSpPr>
        <p:spPr>
          <a:xfrm>
            <a:off x="3843456" y="376501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8" name="Rechteck 17">
            <a:extLst>
              <a:ext uri="{FF2B5EF4-FFF2-40B4-BE49-F238E27FC236}">
                <a16:creationId xmlns:a16="http://schemas.microsoft.com/office/drawing/2014/main" id="{CACCD7BB-E4A3-D37F-7FC8-E8A6ECA41316}"/>
              </a:ext>
            </a:extLst>
          </p:cNvPr>
          <p:cNvSpPr/>
          <p:nvPr/>
        </p:nvSpPr>
        <p:spPr>
          <a:xfrm>
            <a:off x="8149099" y="524762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cxnSp>
        <p:nvCxnSpPr>
          <p:cNvPr id="19" name="Gerade Verbindung mit Pfeil 18">
            <a:extLst>
              <a:ext uri="{FF2B5EF4-FFF2-40B4-BE49-F238E27FC236}">
                <a16:creationId xmlns:a16="http://schemas.microsoft.com/office/drawing/2014/main" id="{DA42A8A5-DA0E-0B6C-227F-2A586C780D57}"/>
              </a:ext>
            </a:extLst>
          </p:cNvPr>
          <p:cNvCxnSpPr>
            <a:cxnSpLocks/>
            <a:endCxn id="18" idx="0"/>
          </p:cNvCxnSpPr>
          <p:nvPr/>
        </p:nvCxnSpPr>
        <p:spPr>
          <a:xfrm>
            <a:off x="8777750" y="4675581"/>
            <a:ext cx="0" cy="57204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0" name="Textplatzhalter 2">
            <a:extLst>
              <a:ext uri="{FF2B5EF4-FFF2-40B4-BE49-F238E27FC236}">
                <a16:creationId xmlns:a16="http://schemas.microsoft.com/office/drawing/2014/main" id="{F7BB26DD-07ED-5CF2-A707-14F71480E68A}"/>
              </a:ext>
            </a:extLst>
          </p:cNvPr>
          <p:cNvSpPr txBox="1">
            <a:spLocks/>
          </p:cNvSpPr>
          <p:nvPr/>
        </p:nvSpPr>
        <p:spPr>
          <a:xfrm>
            <a:off x="2082820" y="4954142"/>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13" name="Textplatzhalter 2">
            <a:extLst>
              <a:ext uri="{FF2B5EF4-FFF2-40B4-BE49-F238E27FC236}">
                <a16:creationId xmlns:a16="http://schemas.microsoft.com/office/drawing/2014/main" id="{0933DB17-A6D5-EB9B-30BD-178B22A80135}"/>
              </a:ext>
            </a:extLst>
          </p:cNvPr>
          <p:cNvSpPr txBox="1">
            <a:spLocks/>
          </p:cNvSpPr>
          <p:nvPr/>
        </p:nvSpPr>
        <p:spPr>
          <a:xfrm>
            <a:off x="8149100" y="2591160"/>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14" name="Rechteck 13">
            <a:extLst>
              <a:ext uri="{FF2B5EF4-FFF2-40B4-BE49-F238E27FC236}">
                <a16:creationId xmlns:a16="http://schemas.microsoft.com/office/drawing/2014/main" id="{8352E26B-4240-2296-26EA-0466EE8BACD0}"/>
              </a:ext>
            </a:extLst>
          </p:cNvPr>
          <p:cNvSpPr/>
          <p:nvPr/>
        </p:nvSpPr>
        <p:spPr>
          <a:xfrm>
            <a:off x="8149099" y="3481610"/>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5" name="Textplatzhalter 2">
            <a:extLst>
              <a:ext uri="{FF2B5EF4-FFF2-40B4-BE49-F238E27FC236}">
                <a16:creationId xmlns:a16="http://schemas.microsoft.com/office/drawing/2014/main" id="{D36CF94A-3492-B71C-C87A-004882EDFA1C}"/>
              </a:ext>
            </a:extLst>
          </p:cNvPr>
          <p:cNvSpPr txBox="1">
            <a:spLocks/>
          </p:cNvSpPr>
          <p:nvPr/>
        </p:nvSpPr>
        <p:spPr>
          <a:xfrm>
            <a:off x="8149100" y="435717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Tree>
    <p:extLst>
      <p:ext uri="{BB962C8B-B14F-4D97-AF65-F5344CB8AC3E}">
        <p14:creationId xmlns:p14="http://schemas.microsoft.com/office/powerpoint/2010/main" val="3663410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72092-A308-2CD9-1A38-089B14CB3BE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C7477E7-4747-DF3B-AF0F-5B72F3F1E531}"/>
              </a:ext>
            </a:extLst>
          </p:cNvPr>
          <p:cNvSpPr>
            <a:spLocks noGrp="1"/>
          </p:cNvSpPr>
          <p:nvPr>
            <p:ph type="title"/>
          </p:nvPr>
        </p:nvSpPr>
        <p:spPr/>
        <p:txBody>
          <a:bodyPr/>
          <a:lstStyle/>
          <a:p>
            <a:r>
              <a:rPr lang="de-DE" dirty="0"/>
              <a:t>Syntaxregeln</a:t>
            </a:r>
          </a:p>
        </p:txBody>
      </p:sp>
      <p:sp>
        <p:nvSpPr>
          <p:cNvPr id="12" name="Textplatzhalter 11">
            <a:extLst>
              <a:ext uri="{FF2B5EF4-FFF2-40B4-BE49-F238E27FC236}">
                <a16:creationId xmlns:a16="http://schemas.microsoft.com/office/drawing/2014/main" id="{E89C3456-969B-481B-8DB5-5775D2A3117D}"/>
              </a:ext>
            </a:extLst>
          </p:cNvPr>
          <p:cNvSpPr>
            <a:spLocks noGrp="1"/>
          </p:cNvSpPr>
          <p:nvPr>
            <p:ph type="body" sz="quarter" idx="12"/>
          </p:nvPr>
        </p:nvSpPr>
        <p:spPr/>
        <p:txBody>
          <a:bodyPr/>
          <a:lstStyle/>
          <a:p>
            <a:pPr marL="0" indent="0">
              <a:lnSpc>
                <a:spcPct val="150000"/>
              </a:lnSpc>
              <a:buNone/>
            </a:pPr>
            <a:r>
              <a:rPr lang="de-DE" sz="2400" dirty="0"/>
              <a:t>3. Zwei Konnektoren können direkt aufeinander folgen</a:t>
            </a:r>
          </a:p>
          <a:p>
            <a:pPr marL="0" indent="0">
              <a:lnSpc>
                <a:spcPct val="150000"/>
              </a:lnSpc>
              <a:buNone/>
            </a:pPr>
            <a:endParaRPr lang="de-DE" sz="2400" dirty="0"/>
          </a:p>
        </p:txBody>
      </p:sp>
      <p:pic>
        <p:nvPicPr>
          <p:cNvPr id="23" name="Grafik 22" descr="Häkchen mit einfarbiger Füllung">
            <a:extLst>
              <a:ext uri="{FF2B5EF4-FFF2-40B4-BE49-F238E27FC236}">
                <a16:creationId xmlns:a16="http://schemas.microsoft.com/office/drawing/2014/main" id="{B28A866D-0A63-DD74-FB82-39B903B6DE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16980" y="1874600"/>
            <a:ext cx="572677" cy="572677"/>
          </a:xfrm>
          <a:prstGeom prst="rect">
            <a:avLst/>
          </a:prstGeom>
        </p:spPr>
      </p:pic>
      <p:sp>
        <p:nvSpPr>
          <p:cNvPr id="9" name="Ellipse 8">
            <a:extLst>
              <a:ext uri="{FF2B5EF4-FFF2-40B4-BE49-F238E27FC236}">
                <a16:creationId xmlns:a16="http://schemas.microsoft.com/office/drawing/2014/main" id="{9DE94616-E263-2D27-3AD6-0172B253ED01}"/>
              </a:ext>
            </a:extLst>
          </p:cNvPr>
          <p:cNvSpPr/>
          <p:nvPr/>
        </p:nvSpPr>
        <p:spPr>
          <a:xfrm>
            <a:off x="4655298" y="3429000"/>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sp>
        <p:nvSpPr>
          <p:cNvPr id="25" name="Ellipse 24">
            <a:extLst>
              <a:ext uri="{FF2B5EF4-FFF2-40B4-BE49-F238E27FC236}">
                <a16:creationId xmlns:a16="http://schemas.microsoft.com/office/drawing/2014/main" id="{B02E0965-A93F-6902-B917-9A118B2A6044}"/>
              </a:ext>
            </a:extLst>
          </p:cNvPr>
          <p:cNvSpPr/>
          <p:nvPr/>
        </p:nvSpPr>
        <p:spPr>
          <a:xfrm>
            <a:off x="4631969" y="4566346"/>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cxnSp>
        <p:nvCxnSpPr>
          <p:cNvPr id="26" name="Gerade Verbindung mit Pfeil 25">
            <a:extLst>
              <a:ext uri="{FF2B5EF4-FFF2-40B4-BE49-F238E27FC236}">
                <a16:creationId xmlns:a16="http://schemas.microsoft.com/office/drawing/2014/main" id="{B3605522-72C5-7EF3-D6B5-244BF765E4CF}"/>
              </a:ext>
            </a:extLst>
          </p:cNvPr>
          <p:cNvCxnSpPr>
            <a:cxnSpLocks/>
            <a:endCxn id="25" idx="0"/>
          </p:cNvCxnSpPr>
          <p:nvPr/>
        </p:nvCxnSpPr>
        <p:spPr>
          <a:xfrm>
            <a:off x="4922159" y="3975815"/>
            <a:ext cx="0" cy="59053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7" name="Rechteck 26">
            <a:extLst>
              <a:ext uri="{FF2B5EF4-FFF2-40B4-BE49-F238E27FC236}">
                <a16:creationId xmlns:a16="http://schemas.microsoft.com/office/drawing/2014/main" id="{F8792DDB-B172-69A9-A857-26F67B822D08}"/>
              </a:ext>
            </a:extLst>
          </p:cNvPr>
          <p:cNvSpPr/>
          <p:nvPr/>
        </p:nvSpPr>
        <p:spPr>
          <a:xfrm>
            <a:off x="3350007" y="2595742"/>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8" name="Rechteck 27">
            <a:extLst>
              <a:ext uri="{FF2B5EF4-FFF2-40B4-BE49-F238E27FC236}">
                <a16:creationId xmlns:a16="http://schemas.microsoft.com/office/drawing/2014/main" id="{CB50D5F7-CF29-A908-29D7-F033A17FC2D9}"/>
              </a:ext>
            </a:extLst>
          </p:cNvPr>
          <p:cNvSpPr/>
          <p:nvPr/>
        </p:nvSpPr>
        <p:spPr>
          <a:xfrm>
            <a:off x="5212349" y="2595742"/>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31" name="Textplatzhalter 2">
            <a:extLst>
              <a:ext uri="{FF2B5EF4-FFF2-40B4-BE49-F238E27FC236}">
                <a16:creationId xmlns:a16="http://schemas.microsoft.com/office/drawing/2014/main" id="{44D41631-52E1-42E4-9392-A3D089A60211}"/>
              </a:ext>
            </a:extLst>
          </p:cNvPr>
          <p:cNvSpPr txBox="1">
            <a:spLocks/>
          </p:cNvSpPr>
          <p:nvPr/>
        </p:nvSpPr>
        <p:spPr>
          <a:xfrm>
            <a:off x="3374668" y="5433423"/>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34" name="Textplatzhalter 2">
            <a:extLst>
              <a:ext uri="{FF2B5EF4-FFF2-40B4-BE49-F238E27FC236}">
                <a16:creationId xmlns:a16="http://schemas.microsoft.com/office/drawing/2014/main" id="{B4965B95-50A5-3025-5F6B-3F4C584AA063}"/>
              </a:ext>
            </a:extLst>
          </p:cNvPr>
          <p:cNvSpPr txBox="1">
            <a:spLocks/>
          </p:cNvSpPr>
          <p:nvPr/>
        </p:nvSpPr>
        <p:spPr>
          <a:xfrm>
            <a:off x="5212348" y="535725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36" name="Gerade Verbindung mit Pfeil 35">
            <a:extLst>
              <a:ext uri="{FF2B5EF4-FFF2-40B4-BE49-F238E27FC236}">
                <a16:creationId xmlns:a16="http://schemas.microsoft.com/office/drawing/2014/main" id="{524326AE-D833-4748-FBE5-10B23C870F2C}"/>
              </a:ext>
            </a:extLst>
          </p:cNvPr>
          <p:cNvCxnSpPr>
            <a:cxnSpLocks/>
            <a:stCxn id="27" idx="2"/>
            <a:endCxn id="9" idx="2"/>
          </p:cNvCxnSpPr>
          <p:nvPr/>
        </p:nvCxnSpPr>
        <p:spPr>
          <a:xfrm>
            <a:off x="3978658" y="3202785"/>
            <a:ext cx="676640"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C05589CE-15AA-0F83-649E-5B6D9B7F14C2}"/>
              </a:ext>
            </a:extLst>
          </p:cNvPr>
          <p:cNvCxnSpPr>
            <a:cxnSpLocks/>
            <a:stCxn id="28" idx="2"/>
            <a:endCxn id="9" idx="6"/>
          </p:cNvCxnSpPr>
          <p:nvPr/>
        </p:nvCxnSpPr>
        <p:spPr>
          <a:xfrm flipH="1">
            <a:off x="5235678" y="3202785"/>
            <a:ext cx="605322"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a:extLst>
              <a:ext uri="{FF2B5EF4-FFF2-40B4-BE49-F238E27FC236}">
                <a16:creationId xmlns:a16="http://schemas.microsoft.com/office/drawing/2014/main" id="{D5C77B65-8E70-6E42-9AAE-6CBDD53EB3A0}"/>
              </a:ext>
            </a:extLst>
          </p:cNvPr>
          <p:cNvCxnSpPr>
            <a:cxnSpLocks/>
          </p:cNvCxnSpPr>
          <p:nvPr/>
        </p:nvCxnSpPr>
        <p:spPr>
          <a:xfrm flipH="1">
            <a:off x="4092322" y="4969475"/>
            <a:ext cx="605322"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F5DE1EF7-EA05-3F0C-156F-EB6A5C60AF4A}"/>
              </a:ext>
            </a:extLst>
          </p:cNvPr>
          <p:cNvCxnSpPr>
            <a:cxnSpLocks/>
          </p:cNvCxnSpPr>
          <p:nvPr/>
        </p:nvCxnSpPr>
        <p:spPr>
          <a:xfrm>
            <a:off x="5212348" y="4888551"/>
            <a:ext cx="676640"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763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EF714-8952-C8B4-0840-70F38DD6386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1E239D4-47D0-19BE-5BD7-62A7F7235668}"/>
              </a:ext>
            </a:extLst>
          </p:cNvPr>
          <p:cNvSpPr>
            <a:spLocks noGrp="1"/>
          </p:cNvSpPr>
          <p:nvPr>
            <p:ph type="title"/>
          </p:nvPr>
        </p:nvSpPr>
        <p:spPr/>
        <p:txBody>
          <a:bodyPr/>
          <a:lstStyle/>
          <a:p>
            <a:r>
              <a:rPr lang="de-DE" dirty="0"/>
              <a:t>Syntaxregeln</a:t>
            </a:r>
          </a:p>
        </p:txBody>
      </p:sp>
      <p:sp>
        <p:nvSpPr>
          <p:cNvPr id="12" name="Textplatzhalter 11">
            <a:extLst>
              <a:ext uri="{FF2B5EF4-FFF2-40B4-BE49-F238E27FC236}">
                <a16:creationId xmlns:a16="http://schemas.microsoft.com/office/drawing/2014/main" id="{D3333B11-1C18-D5E8-4553-77BBC5B358BA}"/>
              </a:ext>
            </a:extLst>
          </p:cNvPr>
          <p:cNvSpPr>
            <a:spLocks noGrp="1"/>
          </p:cNvSpPr>
          <p:nvPr>
            <p:ph type="body" sz="quarter" idx="12"/>
          </p:nvPr>
        </p:nvSpPr>
        <p:spPr/>
        <p:txBody>
          <a:bodyPr/>
          <a:lstStyle/>
          <a:p>
            <a:pPr marL="0" indent="0">
              <a:lnSpc>
                <a:spcPct val="150000"/>
              </a:lnSpc>
              <a:buNone/>
            </a:pPr>
            <a:r>
              <a:rPr lang="de-DE" sz="2400" dirty="0"/>
              <a:t>4. Ereignisse und Funktionen haben höchstens 1 Pfeil als Eingang / Ausgang</a:t>
            </a:r>
          </a:p>
        </p:txBody>
      </p:sp>
      <p:pic>
        <p:nvPicPr>
          <p:cNvPr id="23" name="Grafik 22" descr="Häkchen mit einfarbiger Füllung">
            <a:extLst>
              <a:ext uri="{FF2B5EF4-FFF2-40B4-BE49-F238E27FC236}">
                <a16:creationId xmlns:a16="http://schemas.microsoft.com/office/drawing/2014/main" id="{A2AEFAEA-8ADE-7EC7-BCF2-014E27A2D7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72169" y="4104443"/>
            <a:ext cx="572677" cy="572677"/>
          </a:xfrm>
          <a:prstGeom prst="rect">
            <a:avLst/>
          </a:prstGeom>
        </p:spPr>
      </p:pic>
      <p:sp>
        <p:nvSpPr>
          <p:cNvPr id="25" name="Ellipse 24">
            <a:extLst>
              <a:ext uri="{FF2B5EF4-FFF2-40B4-BE49-F238E27FC236}">
                <a16:creationId xmlns:a16="http://schemas.microsoft.com/office/drawing/2014/main" id="{6C3A6676-DCB5-2F2C-0CFE-EB5C1A8D9377}"/>
              </a:ext>
            </a:extLst>
          </p:cNvPr>
          <p:cNvSpPr/>
          <p:nvPr/>
        </p:nvSpPr>
        <p:spPr>
          <a:xfrm>
            <a:off x="5990905" y="4766633"/>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cxnSp>
        <p:nvCxnSpPr>
          <p:cNvPr id="26" name="Gerade Verbindung mit Pfeil 25">
            <a:extLst>
              <a:ext uri="{FF2B5EF4-FFF2-40B4-BE49-F238E27FC236}">
                <a16:creationId xmlns:a16="http://schemas.microsoft.com/office/drawing/2014/main" id="{58A943E6-34F4-33E1-2C3D-F6009D993E82}"/>
              </a:ext>
            </a:extLst>
          </p:cNvPr>
          <p:cNvCxnSpPr>
            <a:cxnSpLocks/>
          </p:cNvCxnSpPr>
          <p:nvPr/>
        </p:nvCxnSpPr>
        <p:spPr>
          <a:xfrm>
            <a:off x="6253785" y="5268716"/>
            <a:ext cx="0" cy="40659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31" name="Textplatzhalter 2">
            <a:extLst>
              <a:ext uri="{FF2B5EF4-FFF2-40B4-BE49-F238E27FC236}">
                <a16:creationId xmlns:a16="http://schemas.microsoft.com/office/drawing/2014/main" id="{4C70C4F2-3BC4-F6D0-D9FE-47ECF573DB13}"/>
              </a:ext>
            </a:extLst>
          </p:cNvPr>
          <p:cNvSpPr txBox="1">
            <a:spLocks/>
          </p:cNvSpPr>
          <p:nvPr/>
        </p:nvSpPr>
        <p:spPr>
          <a:xfrm>
            <a:off x="5612445" y="2935005"/>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36" name="Gerade Verbindung mit Pfeil 35">
            <a:extLst>
              <a:ext uri="{FF2B5EF4-FFF2-40B4-BE49-F238E27FC236}">
                <a16:creationId xmlns:a16="http://schemas.microsoft.com/office/drawing/2014/main" id="{0BC7E231-FA73-17E7-A018-3BB54A0CBC7F}"/>
              </a:ext>
            </a:extLst>
          </p:cNvPr>
          <p:cNvCxnSpPr>
            <a:cxnSpLocks/>
            <a:stCxn id="27" idx="2"/>
          </p:cNvCxnSpPr>
          <p:nvPr/>
        </p:nvCxnSpPr>
        <p:spPr>
          <a:xfrm flipH="1">
            <a:off x="2298700" y="3534973"/>
            <a:ext cx="917958" cy="476653"/>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2423E5D7-147A-8459-ABF3-1377FA08F2DE}"/>
              </a:ext>
            </a:extLst>
          </p:cNvPr>
          <p:cNvCxnSpPr>
            <a:cxnSpLocks/>
          </p:cNvCxnSpPr>
          <p:nvPr/>
        </p:nvCxnSpPr>
        <p:spPr>
          <a:xfrm flipH="1">
            <a:off x="6241095" y="2467458"/>
            <a:ext cx="605322" cy="486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97BD26A2-A2AF-A4CC-0F81-BEDA350B6A97}"/>
              </a:ext>
            </a:extLst>
          </p:cNvPr>
          <p:cNvCxnSpPr>
            <a:cxnSpLocks/>
          </p:cNvCxnSpPr>
          <p:nvPr/>
        </p:nvCxnSpPr>
        <p:spPr>
          <a:xfrm>
            <a:off x="5604456" y="2441109"/>
            <a:ext cx="676640" cy="4868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A4CE7109-B71A-D46A-4A02-57BF87EF70CD}"/>
              </a:ext>
            </a:extLst>
          </p:cNvPr>
          <p:cNvCxnSpPr>
            <a:cxnSpLocks/>
          </p:cNvCxnSpPr>
          <p:nvPr/>
        </p:nvCxnSpPr>
        <p:spPr>
          <a:xfrm>
            <a:off x="2960747" y="3385843"/>
            <a:ext cx="917958" cy="5348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5A116618-FFD5-428D-343D-2440BF799BBA}"/>
              </a:ext>
            </a:extLst>
          </p:cNvPr>
          <p:cNvSpPr txBox="1"/>
          <p:nvPr/>
        </p:nvSpPr>
        <p:spPr>
          <a:xfrm>
            <a:off x="3107126" y="2100343"/>
            <a:ext cx="291747" cy="738664"/>
          </a:xfrm>
          <a:prstGeom prst="rect">
            <a:avLst/>
          </a:prstGeom>
          <a:noFill/>
        </p:spPr>
        <p:txBody>
          <a:bodyPr wrap="none" lIns="0" tIns="0" rIns="0" bIns="0" rtlCol="0">
            <a:spAutoFit/>
          </a:bodyPr>
          <a:lstStyle/>
          <a:p>
            <a:r>
              <a:rPr lang="de-DE" sz="4800" b="1" dirty="0">
                <a:solidFill>
                  <a:srgbClr val="FF0000"/>
                </a:solidFill>
              </a:rPr>
              <a:t>x</a:t>
            </a:r>
          </a:p>
        </p:txBody>
      </p:sp>
      <p:sp>
        <p:nvSpPr>
          <p:cNvPr id="13" name="Textfeld 12">
            <a:extLst>
              <a:ext uri="{FF2B5EF4-FFF2-40B4-BE49-F238E27FC236}">
                <a16:creationId xmlns:a16="http://schemas.microsoft.com/office/drawing/2014/main" id="{78385FCF-04B8-710B-EB9F-BB05F687DE55}"/>
              </a:ext>
            </a:extLst>
          </p:cNvPr>
          <p:cNvSpPr txBox="1"/>
          <p:nvPr/>
        </p:nvSpPr>
        <p:spPr>
          <a:xfrm>
            <a:off x="6135222" y="2023721"/>
            <a:ext cx="291747" cy="738664"/>
          </a:xfrm>
          <a:prstGeom prst="rect">
            <a:avLst/>
          </a:prstGeom>
          <a:noFill/>
        </p:spPr>
        <p:txBody>
          <a:bodyPr wrap="none" lIns="0" tIns="0" rIns="0" bIns="0" rtlCol="0">
            <a:spAutoFit/>
          </a:bodyPr>
          <a:lstStyle/>
          <a:p>
            <a:r>
              <a:rPr lang="de-DE" sz="4800" b="1" dirty="0">
                <a:solidFill>
                  <a:srgbClr val="FF0000"/>
                </a:solidFill>
              </a:rPr>
              <a:t>x</a:t>
            </a:r>
          </a:p>
        </p:txBody>
      </p:sp>
      <p:sp>
        <p:nvSpPr>
          <p:cNvPr id="17" name="Textplatzhalter 2">
            <a:extLst>
              <a:ext uri="{FF2B5EF4-FFF2-40B4-BE49-F238E27FC236}">
                <a16:creationId xmlns:a16="http://schemas.microsoft.com/office/drawing/2014/main" id="{7BDD262A-C89C-BAE5-BE07-88FBEA43E413}"/>
              </a:ext>
            </a:extLst>
          </p:cNvPr>
          <p:cNvSpPr txBox="1">
            <a:spLocks/>
          </p:cNvSpPr>
          <p:nvPr/>
        </p:nvSpPr>
        <p:spPr>
          <a:xfrm>
            <a:off x="5612445" y="564135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cxnSp>
        <p:nvCxnSpPr>
          <p:cNvPr id="19" name="Gerade Verbindung mit Pfeil 18">
            <a:extLst>
              <a:ext uri="{FF2B5EF4-FFF2-40B4-BE49-F238E27FC236}">
                <a16:creationId xmlns:a16="http://schemas.microsoft.com/office/drawing/2014/main" id="{78982BD0-5460-90C2-3241-226A5688AF7C}"/>
              </a:ext>
            </a:extLst>
          </p:cNvPr>
          <p:cNvCxnSpPr>
            <a:cxnSpLocks/>
          </p:cNvCxnSpPr>
          <p:nvPr/>
        </p:nvCxnSpPr>
        <p:spPr>
          <a:xfrm flipH="1">
            <a:off x="6543756" y="4531065"/>
            <a:ext cx="605322"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D24DA4C4-118A-E132-68D5-33B38688054A}"/>
              </a:ext>
            </a:extLst>
          </p:cNvPr>
          <p:cNvCxnSpPr>
            <a:cxnSpLocks/>
          </p:cNvCxnSpPr>
          <p:nvPr/>
        </p:nvCxnSpPr>
        <p:spPr>
          <a:xfrm>
            <a:off x="5314265" y="4540418"/>
            <a:ext cx="676640" cy="4868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24" name="Rechteck 23">
            <a:extLst>
              <a:ext uri="{FF2B5EF4-FFF2-40B4-BE49-F238E27FC236}">
                <a16:creationId xmlns:a16="http://schemas.microsoft.com/office/drawing/2014/main" id="{3517F0EA-950F-40A7-D865-97E5B58D87B8}"/>
              </a:ext>
            </a:extLst>
          </p:cNvPr>
          <p:cNvSpPr/>
          <p:nvPr/>
        </p:nvSpPr>
        <p:spPr>
          <a:xfrm>
            <a:off x="2588007" y="4810686"/>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cxnSp>
        <p:nvCxnSpPr>
          <p:cNvPr id="29" name="Gerade Verbindung mit Pfeil 28">
            <a:extLst>
              <a:ext uri="{FF2B5EF4-FFF2-40B4-BE49-F238E27FC236}">
                <a16:creationId xmlns:a16="http://schemas.microsoft.com/office/drawing/2014/main" id="{F730983B-06DC-44F6-4928-2DA33070D8FA}"/>
              </a:ext>
            </a:extLst>
          </p:cNvPr>
          <p:cNvCxnSpPr>
            <a:cxnSpLocks/>
          </p:cNvCxnSpPr>
          <p:nvPr/>
        </p:nvCxnSpPr>
        <p:spPr>
          <a:xfrm flipH="1">
            <a:off x="1965816" y="5999669"/>
            <a:ext cx="917958" cy="5348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C3F78D27-1E85-EA51-BDD3-D463B40893B4}"/>
              </a:ext>
            </a:extLst>
          </p:cNvPr>
          <p:cNvCxnSpPr>
            <a:cxnSpLocks/>
          </p:cNvCxnSpPr>
          <p:nvPr/>
        </p:nvCxnSpPr>
        <p:spPr>
          <a:xfrm>
            <a:off x="3464154" y="5949381"/>
            <a:ext cx="917958" cy="5348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3" name="Gerade Verbindung mit Pfeil 32">
            <a:extLst>
              <a:ext uri="{FF2B5EF4-FFF2-40B4-BE49-F238E27FC236}">
                <a16:creationId xmlns:a16="http://schemas.microsoft.com/office/drawing/2014/main" id="{A87E2971-554B-AB73-C417-C432DBE51163}"/>
              </a:ext>
            </a:extLst>
          </p:cNvPr>
          <p:cNvCxnSpPr>
            <a:cxnSpLocks/>
          </p:cNvCxnSpPr>
          <p:nvPr/>
        </p:nvCxnSpPr>
        <p:spPr>
          <a:xfrm>
            <a:off x="3158542" y="5397692"/>
            <a:ext cx="0" cy="406592"/>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pic>
        <p:nvPicPr>
          <p:cNvPr id="35" name="Grafik 34" descr="Häkchen mit einfarbiger Füllung">
            <a:extLst>
              <a:ext uri="{FF2B5EF4-FFF2-40B4-BE49-F238E27FC236}">
                <a16:creationId xmlns:a16="http://schemas.microsoft.com/office/drawing/2014/main" id="{EB097788-D667-E196-CD12-11DDB5E568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66662" y="4119731"/>
            <a:ext cx="572677" cy="572677"/>
          </a:xfrm>
          <a:prstGeom prst="rect">
            <a:avLst/>
          </a:prstGeom>
        </p:spPr>
      </p:pic>
      <p:sp>
        <p:nvSpPr>
          <p:cNvPr id="22" name="Ellipse 21">
            <a:extLst>
              <a:ext uri="{FF2B5EF4-FFF2-40B4-BE49-F238E27FC236}">
                <a16:creationId xmlns:a16="http://schemas.microsoft.com/office/drawing/2014/main" id="{88B2E7CC-216F-1AF4-B67A-CEDFB7D6B527}"/>
              </a:ext>
            </a:extLst>
          </p:cNvPr>
          <p:cNvSpPr/>
          <p:nvPr/>
        </p:nvSpPr>
        <p:spPr>
          <a:xfrm>
            <a:off x="2883774" y="5756585"/>
            <a:ext cx="580380" cy="521212"/>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cxnSp>
        <p:nvCxnSpPr>
          <p:cNvPr id="38" name="Gerader Verbinder 37">
            <a:extLst>
              <a:ext uri="{FF2B5EF4-FFF2-40B4-BE49-F238E27FC236}">
                <a16:creationId xmlns:a16="http://schemas.microsoft.com/office/drawing/2014/main" id="{F91899C5-EE0D-64AD-AFBB-7AC14992D03A}"/>
              </a:ext>
            </a:extLst>
          </p:cNvPr>
          <p:cNvCxnSpPr>
            <a:cxnSpLocks/>
          </p:cNvCxnSpPr>
          <p:nvPr/>
        </p:nvCxnSpPr>
        <p:spPr>
          <a:xfrm>
            <a:off x="1587500" y="4119731"/>
            <a:ext cx="5854700" cy="0"/>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27" name="Rechteck 26">
            <a:extLst>
              <a:ext uri="{FF2B5EF4-FFF2-40B4-BE49-F238E27FC236}">
                <a16:creationId xmlns:a16="http://schemas.microsoft.com/office/drawing/2014/main" id="{F474BB9B-B0FA-2460-803E-25738748A723}"/>
              </a:ext>
            </a:extLst>
          </p:cNvPr>
          <p:cNvSpPr/>
          <p:nvPr/>
        </p:nvSpPr>
        <p:spPr>
          <a:xfrm>
            <a:off x="2588007" y="2927930"/>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Tree>
    <p:extLst>
      <p:ext uri="{BB962C8B-B14F-4D97-AF65-F5344CB8AC3E}">
        <p14:creationId xmlns:p14="http://schemas.microsoft.com/office/powerpoint/2010/main" val="516337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8D203-2F1D-19C8-EBFC-37C7EE5DA50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BB1D6C1-EEA1-8A14-378B-440916DB4467}"/>
              </a:ext>
            </a:extLst>
          </p:cNvPr>
          <p:cNvSpPr>
            <a:spLocks noGrp="1"/>
          </p:cNvSpPr>
          <p:nvPr>
            <p:ph type="title"/>
          </p:nvPr>
        </p:nvSpPr>
        <p:spPr/>
        <p:txBody>
          <a:bodyPr/>
          <a:lstStyle/>
          <a:p>
            <a:r>
              <a:rPr lang="de-DE" dirty="0"/>
              <a:t>Syntaxregeln</a:t>
            </a:r>
          </a:p>
        </p:txBody>
      </p:sp>
      <p:sp>
        <p:nvSpPr>
          <p:cNvPr id="12" name="Textplatzhalter 11">
            <a:extLst>
              <a:ext uri="{FF2B5EF4-FFF2-40B4-BE49-F238E27FC236}">
                <a16:creationId xmlns:a16="http://schemas.microsoft.com/office/drawing/2014/main" id="{E1A8E0FC-69D4-7CF0-2AE8-75B6D03C0D97}"/>
              </a:ext>
            </a:extLst>
          </p:cNvPr>
          <p:cNvSpPr>
            <a:spLocks noGrp="1"/>
          </p:cNvSpPr>
          <p:nvPr>
            <p:ph type="body" sz="quarter" idx="12"/>
          </p:nvPr>
        </p:nvSpPr>
        <p:spPr/>
        <p:txBody>
          <a:bodyPr/>
          <a:lstStyle/>
          <a:p>
            <a:pPr marL="0" indent="0">
              <a:lnSpc>
                <a:spcPct val="150000"/>
              </a:lnSpc>
              <a:buNone/>
            </a:pPr>
            <a:r>
              <a:rPr lang="de-DE" sz="2400" dirty="0"/>
              <a:t>5. Daten/System/Organisationseinheit werden mit Funktionen verbunden</a:t>
            </a:r>
          </a:p>
        </p:txBody>
      </p:sp>
      <p:sp>
        <p:nvSpPr>
          <p:cNvPr id="4" name="Rechteck 3">
            <a:extLst>
              <a:ext uri="{FF2B5EF4-FFF2-40B4-BE49-F238E27FC236}">
                <a16:creationId xmlns:a16="http://schemas.microsoft.com/office/drawing/2014/main" id="{12B42B21-1B0C-6FF1-C6BC-234BC4868C3A}"/>
              </a:ext>
            </a:extLst>
          </p:cNvPr>
          <p:cNvSpPr/>
          <p:nvPr/>
        </p:nvSpPr>
        <p:spPr>
          <a:xfrm>
            <a:off x="1989919" y="370171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Bestellung tätigen</a:t>
            </a:r>
          </a:p>
        </p:txBody>
      </p:sp>
      <p:cxnSp>
        <p:nvCxnSpPr>
          <p:cNvPr id="5" name="Gerade Verbindung mit Pfeil 4">
            <a:extLst>
              <a:ext uri="{FF2B5EF4-FFF2-40B4-BE49-F238E27FC236}">
                <a16:creationId xmlns:a16="http://schemas.microsoft.com/office/drawing/2014/main" id="{B29E6F86-7646-832B-89C3-93E6E16EE479}"/>
              </a:ext>
            </a:extLst>
          </p:cNvPr>
          <p:cNvCxnSpPr>
            <a:cxnSpLocks/>
          </p:cNvCxnSpPr>
          <p:nvPr/>
        </p:nvCxnSpPr>
        <p:spPr>
          <a:xfrm flipH="1">
            <a:off x="2570839" y="3293002"/>
            <a:ext cx="1" cy="4087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AC1953DB-450C-4664-3031-E90641918B48}"/>
              </a:ext>
            </a:extLst>
          </p:cNvPr>
          <p:cNvCxnSpPr>
            <a:cxnSpLocks/>
          </p:cNvCxnSpPr>
          <p:nvPr/>
        </p:nvCxnSpPr>
        <p:spPr>
          <a:xfrm>
            <a:off x="2608787" y="4311699"/>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DFE3825D-FA0C-40BA-BF6E-A5EA6AF80BC7}"/>
              </a:ext>
            </a:extLst>
          </p:cNvPr>
          <p:cNvSpPr/>
          <p:nvPr/>
        </p:nvSpPr>
        <p:spPr>
          <a:xfrm>
            <a:off x="3733991" y="3707654"/>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a:t>
            </a:r>
          </a:p>
        </p:txBody>
      </p:sp>
      <p:cxnSp>
        <p:nvCxnSpPr>
          <p:cNvPr id="10" name="Gerader Verbinder 9">
            <a:extLst>
              <a:ext uri="{FF2B5EF4-FFF2-40B4-BE49-F238E27FC236}">
                <a16:creationId xmlns:a16="http://schemas.microsoft.com/office/drawing/2014/main" id="{8010F1C7-05CB-E973-76BB-6D745B08A3C6}"/>
              </a:ext>
            </a:extLst>
          </p:cNvPr>
          <p:cNvCxnSpPr>
            <a:stCxn id="9" idx="2"/>
          </p:cNvCxnSpPr>
          <p:nvPr/>
        </p:nvCxnSpPr>
        <p:spPr>
          <a:xfrm flipH="1" flipV="1">
            <a:off x="3233171" y="3977643"/>
            <a:ext cx="500820" cy="34399"/>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11" name="Rechteck 10">
            <a:extLst>
              <a:ext uri="{FF2B5EF4-FFF2-40B4-BE49-F238E27FC236}">
                <a16:creationId xmlns:a16="http://schemas.microsoft.com/office/drawing/2014/main" id="{5917EB3B-0E3F-411B-6F5A-03FC1253E467}"/>
              </a:ext>
            </a:extLst>
          </p:cNvPr>
          <p:cNvSpPr/>
          <p:nvPr/>
        </p:nvSpPr>
        <p:spPr>
          <a:xfrm>
            <a:off x="3671234" y="4462633"/>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Einkaufs-</a:t>
            </a:r>
          </a:p>
          <a:p>
            <a:pPr algn="ctr"/>
            <a:r>
              <a:rPr lang="de-DE" sz="1200" b="1" dirty="0">
                <a:solidFill>
                  <a:srgbClr val="012656"/>
                </a:solidFill>
              </a:rPr>
              <a:t>daten</a:t>
            </a:r>
          </a:p>
        </p:txBody>
      </p:sp>
      <p:cxnSp>
        <p:nvCxnSpPr>
          <p:cNvPr id="14" name="Gerader Verbinder 13">
            <a:extLst>
              <a:ext uri="{FF2B5EF4-FFF2-40B4-BE49-F238E27FC236}">
                <a16:creationId xmlns:a16="http://schemas.microsoft.com/office/drawing/2014/main" id="{833C163F-1962-15F2-9DC1-547B7E9914CF}"/>
              </a:ext>
            </a:extLst>
          </p:cNvPr>
          <p:cNvCxnSpPr>
            <a:cxnSpLocks/>
            <a:endCxn id="4" idx="3"/>
          </p:cNvCxnSpPr>
          <p:nvPr/>
        </p:nvCxnSpPr>
        <p:spPr>
          <a:xfrm flipH="1" flipV="1">
            <a:off x="3247220" y="4005240"/>
            <a:ext cx="456228" cy="71137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15" name="Gruppieren 14">
            <a:extLst>
              <a:ext uri="{FF2B5EF4-FFF2-40B4-BE49-F238E27FC236}">
                <a16:creationId xmlns:a16="http://schemas.microsoft.com/office/drawing/2014/main" id="{4F8C6447-E313-08CF-92EC-BD83F67C0FDE}"/>
              </a:ext>
            </a:extLst>
          </p:cNvPr>
          <p:cNvGrpSpPr/>
          <p:nvPr/>
        </p:nvGrpSpPr>
        <p:grpSpPr>
          <a:xfrm>
            <a:off x="3441950" y="2899915"/>
            <a:ext cx="1364444" cy="579127"/>
            <a:chOff x="8229196" y="2431605"/>
            <a:chExt cx="1257301" cy="607043"/>
          </a:xfrm>
          <a:solidFill>
            <a:schemeClr val="bg1">
              <a:lumMod val="95000"/>
            </a:schemeClr>
          </a:solidFill>
        </p:grpSpPr>
        <p:sp>
          <p:nvSpPr>
            <p:cNvPr id="16" name="Rechteck 15">
              <a:extLst>
                <a:ext uri="{FF2B5EF4-FFF2-40B4-BE49-F238E27FC236}">
                  <a16:creationId xmlns:a16="http://schemas.microsoft.com/office/drawing/2014/main" id="{5076726C-88FE-98C5-5A34-BEBC44E29AE9}"/>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a:t>
              </a:r>
            </a:p>
            <a:p>
              <a:pPr algn="ctr"/>
              <a:r>
                <a:rPr lang="de-DE" sz="1200" b="1" dirty="0">
                  <a:solidFill>
                    <a:srgbClr val="012656"/>
                  </a:solidFill>
                </a:rPr>
                <a:t>Software</a:t>
              </a:r>
              <a:endParaRPr lang="de-DE" sz="1600" b="1" dirty="0">
                <a:solidFill>
                  <a:srgbClr val="012656"/>
                </a:solidFill>
              </a:endParaRPr>
            </a:p>
          </p:txBody>
        </p:sp>
        <p:cxnSp>
          <p:nvCxnSpPr>
            <p:cNvPr id="18" name="Gerader Verbinder 17">
              <a:extLst>
                <a:ext uri="{FF2B5EF4-FFF2-40B4-BE49-F238E27FC236}">
                  <a16:creationId xmlns:a16="http://schemas.microsoft.com/office/drawing/2014/main" id="{D7F0BB2E-ADA8-8C1F-F7C7-6F2B7EE24A59}"/>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9D60833D-F4E4-4523-2747-27904B15B98F}"/>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cxnSp>
        <p:nvCxnSpPr>
          <p:cNvPr id="28" name="Gerader Verbinder 27">
            <a:extLst>
              <a:ext uri="{FF2B5EF4-FFF2-40B4-BE49-F238E27FC236}">
                <a16:creationId xmlns:a16="http://schemas.microsoft.com/office/drawing/2014/main" id="{D7FBF972-D5C4-10F6-041F-45417C82A0E7}"/>
              </a:ext>
            </a:extLst>
          </p:cNvPr>
          <p:cNvCxnSpPr>
            <a:cxnSpLocks/>
            <a:stCxn id="4" idx="3"/>
            <a:endCxn id="16" idx="1"/>
          </p:cNvCxnSpPr>
          <p:nvPr/>
        </p:nvCxnSpPr>
        <p:spPr>
          <a:xfrm flipV="1">
            <a:off x="3247220" y="3189479"/>
            <a:ext cx="194730" cy="81576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D26B8E21-F1BC-DF04-9D84-B0CF7BB2A78E}"/>
              </a:ext>
            </a:extLst>
          </p:cNvPr>
          <p:cNvCxnSpPr>
            <a:cxnSpLocks/>
          </p:cNvCxnSpPr>
          <p:nvPr/>
        </p:nvCxnSpPr>
        <p:spPr>
          <a:xfrm flipH="1">
            <a:off x="8070092" y="3293002"/>
            <a:ext cx="1" cy="408716"/>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29E8BC55-8416-C257-2B1B-05FA0AE63683}"/>
              </a:ext>
            </a:extLst>
          </p:cNvPr>
          <p:cNvCxnSpPr>
            <a:cxnSpLocks/>
          </p:cNvCxnSpPr>
          <p:nvPr/>
        </p:nvCxnSpPr>
        <p:spPr>
          <a:xfrm>
            <a:off x="8038367" y="4311699"/>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42" name="Ellipse 41">
            <a:extLst>
              <a:ext uri="{FF2B5EF4-FFF2-40B4-BE49-F238E27FC236}">
                <a16:creationId xmlns:a16="http://schemas.microsoft.com/office/drawing/2014/main" id="{2DF0CCBF-3EF5-BD37-14C7-F8EBEEB61AC3}"/>
              </a:ext>
            </a:extLst>
          </p:cNvPr>
          <p:cNvSpPr/>
          <p:nvPr/>
        </p:nvSpPr>
        <p:spPr>
          <a:xfrm>
            <a:off x="9163571" y="3707654"/>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a:t>
            </a:r>
          </a:p>
        </p:txBody>
      </p:sp>
      <p:cxnSp>
        <p:nvCxnSpPr>
          <p:cNvPr id="44" name="Gerader Verbinder 43">
            <a:extLst>
              <a:ext uri="{FF2B5EF4-FFF2-40B4-BE49-F238E27FC236}">
                <a16:creationId xmlns:a16="http://schemas.microsoft.com/office/drawing/2014/main" id="{BA98A968-3361-47B6-D05B-5A57DA52D606}"/>
              </a:ext>
            </a:extLst>
          </p:cNvPr>
          <p:cNvCxnSpPr>
            <a:stCxn id="42" idx="2"/>
          </p:cNvCxnSpPr>
          <p:nvPr/>
        </p:nvCxnSpPr>
        <p:spPr>
          <a:xfrm flipH="1" flipV="1">
            <a:off x="8662751" y="3977643"/>
            <a:ext cx="500820" cy="34399"/>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45" name="Rechteck 44">
            <a:extLst>
              <a:ext uri="{FF2B5EF4-FFF2-40B4-BE49-F238E27FC236}">
                <a16:creationId xmlns:a16="http://schemas.microsoft.com/office/drawing/2014/main" id="{3D66FD2E-7A0E-75DE-B067-BDE520B4B3F1}"/>
              </a:ext>
            </a:extLst>
          </p:cNvPr>
          <p:cNvSpPr/>
          <p:nvPr/>
        </p:nvSpPr>
        <p:spPr>
          <a:xfrm>
            <a:off x="9100814" y="4462633"/>
            <a:ext cx="1257301" cy="570626"/>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Einkaufs-</a:t>
            </a:r>
          </a:p>
          <a:p>
            <a:pPr algn="ctr"/>
            <a:r>
              <a:rPr lang="de-DE" sz="1200" b="1" dirty="0">
                <a:solidFill>
                  <a:srgbClr val="012656"/>
                </a:solidFill>
              </a:rPr>
              <a:t>daten</a:t>
            </a:r>
          </a:p>
        </p:txBody>
      </p:sp>
      <p:cxnSp>
        <p:nvCxnSpPr>
          <p:cNvPr id="46" name="Gerader Verbinder 45">
            <a:extLst>
              <a:ext uri="{FF2B5EF4-FFF2-40B4-BE49-F238E27FC236}">
                <a16:creationId xmlns:a16="http://schemas.microsoft.com/office/drawing/2014/main" id="{F2C7D305-C94E-3F28-DD6E-DA11BDBA2802}"/>
              </a:ext>
            </a:extLst>
          </p:cNvPr>
          <p:cNvCxnSpPr>
            <a:cxnSpLocks/>
          </p:cNvCxnSpPr>
          <p:nvPr/>
        </p:nvCxnSpPr>
        <p:spPr>
          <a:xfrm flipH="1" flipV="1">
            <a:off x="8676800" y="4005240"/>
            <a:ext cx="456228" cy="71137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grpSp>
        <p:nvGrpSpPr>
          <p:cNvPr id="47" name="Gruppieren 46">
            <a:extLst>
              <a:ext uri="{FF2B5EF4-FFF2-40B4-BE49-F238E27FC236}">
                <a16:creationId xmlns:a16="http://schemas.microsoft.com/office/drawing/2014/main" id="{57682439-D2FA-7C10-EE00-FA3CFB07CFBA}"/>
              </a:ext>
            </a:extLst>
          </p:cNvPr>
          <p:cNvGrpSpPr/>
          <p:nvPr/>
        </p:nvGrpSpPr>
        <p:grpSpPr>
          <a:xfrm>
            <a:off x="8871530" y="2899915"/>
            <a:ext cx="1364444" cy="579127"/>
            <a:chOff x="8229196" y="2431605"/>
            <a:chExt cx="1257301" cy="607043"/>
          </a:xfrm>
          <a:solidFill>
            <a:schemeClr val="bg1">
              <a:lumMod val="95000"/>
            </a:schemeClr>
          </a:solidFill>
        </p:grpSpPr>
        <p:sp>
          <p:nvSpPr>
            <p:cNvPr id="48" name="Rechteck 47">
              <a:extLst>
                <a:ext uri="{FF2B5EF4-FFF2-40B4-BE49-F238E27FC236}">
                  <a16:creationId xmlns:a16="http://schemas.microsoft.com/office/drawing/2014/main" id="{045A99E1-DD50-B851-D739-7D1DFAC5BFE6}"/>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b="1" dirty="0">
                  <a:solidFill>
                    <a:srgbClr val="012656"/>
                  </a:solidFill>
                </a:rPr>
                <a:t>Bestell-</a:t>
              </a:r>
            </a:p>
            <a:p>
              <a:pPr algn="ctr"/>
              <a:r>
                <a:rPr lang="de-DE" sz="1200" b="1" dirty="0">
                  <a:solidFill>
                    <a:srgbClr val="012656"/>
                  </a:solidFill>
                </a:rPr>
                <a:t>Software</a:t>
              </a:r>
              <a:endParaRPr lang="de-DE" sz="1600" b="1" dirty="0">
                <a:solidFill>
                  <a:srgbClr val="012656"/>
                </a:solidFill>
              </a:endParaRPr>
            </a:p>
          </p:txBody>
        </p:sp>
        <p:cxnSp>
          <p:nvCxnSpPr>
            <p:cNvPr id="49" name="Gerader Verbinder 48">
              <a:extLst>
                <a:ext uri="{FF2B5EF4-FFF2-40B4-BE49-F238E27FC236}">
                  <a16:creationId xmlns:a16="http://schemas.microsoft.com/office/drawing/2014/main" id="{1D10BA05-1199-3C31-F415-5D942E46F70C}"/>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EB474C20-5DFD-0E2B-B1C3-9EBCA428CCB5}"/>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cxnSp>
        <p:nvCxnSpPr>
          <p:cNvPr id="51" name="Gerader Verbinder 50">
            <a:extLst>
              <a:ext uri="{FF2B5EF4-FFF2-40B4-BE49-F238E27FC236}">
                <a16:creationId xmlns:a16="http://schemas.microsoft.com/office/drawing/2014/main" id="{CD070241-4186-77A2-9593-C66EF05DFF7A}"/>
              </a:ext>
            </a:extLst>
          </p:cNvPr>
          <p:cNvCxnSpPr>
            <a:cxnSpLocks/>
            <a:endCxn id="48" idx="1"/>
          </p:cNvCxnSpPr>
          <p:nvPr/>
        </p:nvCxnSpPr>
        <p:spPr>
          <a:xfrm flipV="1">
            <a:off x="8676800" y="3189479"/>
            <a:ext cx="194730" cy="815761"/>
          </a:xfrm>
          <a:prstGeom prst="line">
            <a:avLst/>
          </a:prstGeom>
          <a:ln>
            <a:solidFill>
              <a:srgbClr val="012656"/>
            </a:solidFill>
          </a:ln>
        </p:spPr>
        <p:style>
          <a:lnRef idx="1">
            <a:schemeClr val="accent1"/>
          </a:lnRef>
          <a:fillRef idx="0">
            <a:schemeClr val="accent1"/>
          </a:fillRef>
          <a:effectRef idx="0">
            <a:schemeClr val="accent1"/>
          </a:effectRef>
          <a:fontRef idx="minor">
            <a:schemeClr val="tx1"/>
          </a:fontRef>
        </p:style>
      </p:cxnSp>
      <p:sp>
        <p:nvSpPr>
          <p:cNvPr id="53" name="Textplatzhalter 2">
            <a:extLst>
              <a:ext uri="{FF2B5EF4-FFF2-40B4-BE49-F238E27FC236}">
                <a16:creationId xmlns:a16="http://schemas.microsoft.com/office/drawing/2014/main" id="{6EDFC4F7-FD00-FDEE-1A69-2C32890BE70E}"/>
              </a:ext>
            </a:extLst>
          </p:cNvPr>
          <p:cNvSpPr txBox="1">
            <a:spLocks/>
          </p:cNvSpPr>
          <p:nvPr/>
        </p:nvSpPr>
        <p:spPr>
          <a:xfrm>
            <a:off x="7463384" y="369085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200" b="1" dirty="0">
                <a:solidFill>
                  <a:srgbClr val="012656"/>
                </a:solidFill>
              </a:rPr>
              <a:t>Bestellung getätigt</a:t>
            </a:r>
          </a:p>
        </p:txBody>
      </p:sp>
      <p:sp>
        <p:nvSpPr>
          <p:cNvPr id="56" name="Textfeld 55">
            <a:extLst>
              <a:ext uri="{FF2B5EF4-FFF2-40B4-BE49-F238E27FC236}">
                <a16:creationId xmlns:a16="http://schemas.microsoft.com/office/drawing/2014/main" id="{9661DE55-3187-E215-5924-68F60FFBA235}"/>
              </a:ext>
            </a:extLst>
          </p:cNvPr>
          <p:cNvSpPr txBox="1"/>
          <p:nvPr/>
        </p:nvSpPr>
        <p:spPr>
          <a:xfrm>
            <a:off x="7406540" y="2985932"/>
            <a:ext cx="291747" cy="738664"/>
          </a:xfrm>
          <a:prstGeom prst="rect">
            <a:avLst/>
          </a:prstGeom>
          <a:noFill/>
        </p:spPr>
        <p:txBody>
          <a:bodyPr wrap="none" lIns="0" tIns="0" rIns="0" bIns="0" rtlCol="0">
            <a:spAutoFit/>
          </a:bodyPr>
          <a:lstStyle/>
          <a:p>
            <a:r>
              <a:rPr lang="de-DE" sz="4800" b="1" dirty="0">
                <a:solidFill>
                  <a:srgbClr val="FF0000"/>
                </a:solidFill>
              </a:rPr>
              <a:t>x</a:t>
            </a:r>
          </a:p>
        </p:txBody>
      </p:sp>
      <p:pic>
        <p:nvPicPr>
          <p:cNvPr id="58" name="Grafik 57" descr="Häkchen mit einfarbiger Füllung">
            <a:extLst>
              <a:ext uri="{FF2B5EF4-FFF2-40B4-BE49-F238E27FC236}">
                <a16:creationId xmlns:a16="http://schemas.microsoft.com/office/drawing/2014/main" id="{4DFF558D-5ECE-658F-EBCD-C3D0DAE135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70470" y="2985932"/>
            <a:ext cx="572677" cy="572677"/>
          </a:xfrm>
          <a:prstGeom prst="rect">
            <a:avLst/>
          </a:prstGeom>
        </p:spPr>
      </p:pic>
    </p:spTree>
    <p:extLst>
      <p:ext uri="{BB962C8B-B14F-4D97-AF65-F5344CB8AC3E}">
        <p14:creationId xmlns:p14="http://schemas.microsoft.com/office/powerpoint/2010/main" val="1955774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1EB66-4BDE-95EB-7DBE-A18F614278B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EE41D03-52AD-9740-AF78-768E409E2C2C}"/>
              </a:ext>
            </a:extLst>
          </p:cNvPr>
          <p:cNvSpPr>
            <a:spLocks noGrp="1"/>
          </p:cNvSpPr>
          <p:nvPr>
            <p:ph type="title"/>
          </p:nvPr>
        </p:nvSpPr>
        <p:spPr/>
        <p:txBody>
          <a:bodyPr/>
          <a:lstStyle/>
          <a:p>
            <a:r>
              <a:rPr lang="de-DE" dirty="0"/>
              <a:t>Syntaxregeln</a:t>
            </a:r>
          </a:p>
        </p:txBody>
      </p:sp>
      <p:sp>
        <p:nvSpPr>
          <p:cNvPr id="12" name="Textplatzhalter 11">
            <a:extLst>
              <a:ext uri="{FF2B5EF4-FFF2-40B4-BE49-F238E27FC236}">
                <a16:creationId xmlns:a16="http://schemas.microsoft.com/office/drawing/2014/main" id="{DF6DF6CF-68C7-4FCA-201A-0423B27024A4}"/>
              </a:ext>
            </a:extLst>
          </p:cNvPr>
          <p:cNvSpPr>
            <a:spLocks noGrp="1"/>
          </p:cNvSpPr>
          <p:nvPr>
            <p:ph type="body" sz="quarter" idx="12"/>
          </p:nvPr>
        </p:nvSpPr>
        <p:spPr/>
        <p:txBody>
          <a:bodyPr/>
          <a:lstStyle/>
          <a:p>
            <a:pPr marL="0" indent="0">
              <a:lnSpc>
                <a:spcPct val="150000"/>
              </a:lnSpc>
              <a:buNone/>
            </a:pPr>
            <a:r>
              <a:rPr lang="de-DE" sz="2400" dirty="0"/>
              <a:t>6. Daten/System/Organisationseinheit sind optional</a:t>
            </a:r>
          </a:p>
        </p:txBody>
      </p:sp>
      <p:sp>
        <p:nvSpPr>
          <p:cNvPr id="3" name="Textplatzhalter 2">
            <a:extLst>
              <a:ext uri="{FF2B5EF4-FFF2-40B4-BE49-F238E27FC236}">
                <a16:creationId xmlns:a16="http://schemas.microsoft.com/office/drawing/2014/main" id="{9F0C4896-FE45-6054-22DE-C45D5AD433CE}"/>
              </a:ext>
            </a:extLst>
          </p:cNvPr>
          <p:cNvSpPr txBox="1">
            <a:spLocks/>
          </p:cNvSpPr>
          <p:nvPr/>
        </p:nvSpPr>
        <p:spPr>
          <a:xfrm>
            <a:off x="2529318" y="2431606"/>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6" name="Rechteck 5">
            <a:extLst>
              <a:ext uri="{FF2B5EF4-FFF2-40B4-BE49-F238E27FC236}">
                <a16:creationId xmlns:a16="http://schemas.microsoft.com/office/drawing/2014/main" id="{66704C2C-8D77-9278-B47F-8967B05F7C50}"/>
              </a:ext>
            </a:extLst>
          </p:cNvPr>
          <p:cNvSpPr/>
          <p:nvPr/>
        </p:nvSpPr>
        <p:spPr>
          <a:xfrm>
            <a:off x="2529318" y="328014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8" name="Ellipse 7">
            <a:extLst>
              <a:ext uri="{FF2B5EF4-FFF2-40B4-BE49-F238E27FC236}">
                <a16:creationId xmlns:a16="http://schemas.microsoft.com/office/drawing/2014/main" id="{6815E95C-0C74-0E9B-6710-6B5D3CB276F7}"/>
              </a:ext>
            </a:extLst>
          </p:cNvPr>
          <p:cNvSpPr/>
          <p:nvPr/>
        </p:nvSpPr>
        <p:spPr>
          <a:xfrm>
            <a:off x="2141373" y="4926805"/>
            <a:ext cx="286219" cy="25704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3" name="Ellipse 12">
            <a:extLst>
              <a:ext uri="{FF2B5EF4-FFF2-40B4-BE49-F238E27FC236}">
                <a16:creationId xmlns:a16="http://schemas.microsoft.com/office/drawing/2014/main" id="{1B8288E9-D90C-D47D-E7ED-31ED1C7631B8}"/>
              </a:ext>
            </a:extLst>
          </p:cNvPr>
          <p:cNvSpPr/>
          <p:nvPr/>
        </p:nvSpPr>
        <p:spPr>
          <a:xfrm>
            <a:off x="2141374" y="4186771"/>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7" name="Textfeld 16">
            <a:extLst>
              <a:ext uri="{FF2B5EF4-FFF2-40B4-BE49-F238E27FC236}">
                <a16:creationId xmlns:a16="http://schemas.microsoft.com/office/drawing/2014/main" id="{C718A8B6-BFE0-5014-7A80-8D48DBD9BC77}"/>
              </a:ext>
            </a:extLst>
          </p:cNvPr>
          <p:cNvSpPr txBox="1"/>
          <p:nvPr/>
        </p:nvSpPr>
        <p:spPr>
          <a:xfrm>
            <a:off x="2506355" y="4160743"/>
            <a:ext cx="1534394" cy="338554"/>
          </a:xfrm>
          <a:prstGeom prst="rect">
            <a:avLst/>
          </a:prstGeom>
          <a:noFill/>
        </p:spPr>
        <p:txBody>
          <a:bodyPr wrap="none" rtlCol="0">
            <a:spAutoFit/>
          </a:bodyPr>
          <a:lstStyle/>
          <a:p>
            <a:r>
              <a:rPr lang="de-DE" sz="1600" b="1" dirty="0"/>
              <a:t>UND</a:t>
            </a:r>
            <a:r>
              <a:rPr lang="de-DE" sz="1600" dirty="0"/>
              <a:t> Konnektor</a:t>
            </a:r>
          </a:p>
        </p:txBody>
      </p:sp>
      <p:sp>
        <p:nvSpPr>
          <p:cNvPr id="19" name="Textfeld 18">
            <a:extLst>
              <a:ext uri="{FF2B5EF4-FFF2-40B4-BE49-F238E27FC236}">
                <a16:creationId xmlns:a16="http://schemas.microsoft.com/office/drawing/2014/main" id="{E628F891-5BB9-BFB0-56FE-48FA4170F0CF}"/>
              </a:ext>
            </a:extLst>
          </p:cNvPr>
          <p:cNvSpPr txBox="1"/>
          <p:nvPr/>
        </p:nvSpPr>
        <p:spPr>
          <a:xfrm>
            <a:off x="2506355" y="4521752"/>
            <a:ext cx="1507144" cy="338554"/>
          </a:xfrm>
          <a:prstGeom prst="rect">
            <a:avLst/>
          </a:prstGeom>
          <a:noFill/>
        </p:spPr>
        <p:txBody>
          <a:bodyPr wrap="none" rtlCol="0">
            <a:spAutoFit/>
          </a:bodyPr>
          <a:lstStyle/>
          <a:p>
            <a:r>
              <a:rPr lang="de-DE" sz="1600" b="1" dirty="0"/>
              <a:t>XOR </a:t>
            </a:r>
            <a:r>
              <a:rPr lang="de-DE" sz="1600" dirty="0"/>
              <a:t>Konnektor</a:t>
            </a:r>
          </a:p>
        </p:txBody>
      </p:sp>
      <p:sp>
        <p:nvSpPr>
          <p:cNvPr id="20" name="Textfeld 19">
            <a:extLst>
              <a:ext uri="{FF2B5EF4-FFF2-40B4-BE49-F238E27FC236}">
                <a16:creationId xmlns:a16="http://schemas.microsoft.com/office/drawing/2014/main" id="{FA41AD9E-FA9F-BCA9-EBAA-8ED6E135D7A8}"/>
              </a:ext>
            </a:extLst>
          </p:cNvPr>
          <p:cNvSpPr txBox="1"/>
          <p:nvPr/>
        </p:nvSpPr>
        <p:spPr>
          <a:xfrm>
            <a:off x="2506355" y="4845291"/>
            <a:ext cx="1390124" cy="338554"/>
          </a:xfrm>
          <a:prstGeom prst="rect">
            <a:avLst/>
          </a:prstGeom>
          <a:noFill/>
        </p:spPr>
        <p:txBody>
          <a:bodyPr wrap="none" rtlCol="0">
            <a:spAutoFit/>
          </a:bodyPr>
          <a:lstStyle/>
          <a:p>
            <a:r>
              <a:rPr lang="de-DE" sz="1600" b="1" dirty="0"/>
              <a:t>OR </a:t>
            </a:r>
            <a:r>
              <a:rPr lang="de-DE" sz="1600" dirty="0"/>
              <a:t>Konnektor</a:t>
            </a:r>
          </a:p>
        </p:txBody>
      </p:sp>
      <p:sp>
        <p:nvSpPr>
          <p:cNvPr id="22" name="Ellipse 21">
            <a:extLst>
              <a:ext uri="{FF2B5EF4-FFF2-40B4-BE49-F238E27FC236}">
                <a16:creationId xmlns:a16="http://schemas.microsoft.com/office/drawing/2014/main" id="{444BB3C9-8919-2B58-C9B7-23530B97EBDE}"/>
              </a:ext>
            </a:extLst>
          </p:cNvPr>
          <p:cNvSpPr/>
          <p:nvPr/>
        </p:nvSpPr>
        <p:spPr>
          <a:xfrm>
            <a:off x="2141374" y="4556788"/>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cxnSp>
        <p:nvCxnSpPr>
          <p:cNvPr id="23" name="Gerade Verbindung mit Pfeil 22">
            <a:extLst>
              <a:ext uri="{FF2B5EF4-FFF2-40B4-BE49-F238E27FC236}">
                <a16:creationId xmlns:a16="http://schemas.microsoft.com/office/drawing/2014/main" id="{C2573394-B058-AE66-D007-2B4BE6DE298E}"/>
              </a:ext>
            </a:extLst>
          </p:cNvPr>
          <p:cNvCxnSpPr>
            <a:cxnSpLocks/>
          </p:cNvCxnSpPr>
          <p:nvPr/>
        </p:nvCxnSpPr>
        <p:spPr>
          <a:xfrm>
            <a:off x="2153043" y="5693483"/>
            <a:ext cx="103478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feld 23">
            <a:extLst>
              <a:ext uri="{FF2B5EF4-FFF2-40B4-BE49-F238E27FC236}">
                <a16:creationId xmlns:a16="http://schemas.microsoft.com/office/drawing/2014/main" id="{623ECF3F-3C8C-650C-BBDF-26EE6A11093A}"/>
              </a:ext>
            </a:extLst>
          </p:cNvPr>
          <p:cNvSpPr txBox="1"/>
          <p:nvPr/>
        </p:nvSpPr>
        <p:spPr>
          <a:xfrm>
            <a:off x="3260508" y="5507384"/>
            <a:ext cx="1285929" cy="338554"/>
          </a:xfrm>
          <a:prstGeom prst="rect">
            <a:avLst/>
          </a:prstGeom>
          <a:noFill/>
        </p:spPr>
        <p:txBody>
          <a:bodyPr wrap="none" rtlCol="0">
            <a:spAutoFit/>
          </a:bodyPr>
          <a:lstStyle/>
          <a:p>
            <a:r>
              <a:rPr lang="de-DE" sz="1600" dirty="0"/>
              <a:t>Kontrollfluss</a:t>
            </a:r>
          </a:p>
        </p:txBody>
      </p:sp>
      <p:grpSp>
        <p:nvGrpSpPr>
          <p:cNvPr id="25" name="Gruppieren 24">
            <a:extLst>
              <a:ext uri="{FF2B5EF4-FFF2-40B4-BE49-F238E27FC236}">
                <a16:creationId xmlns:a16="http://schemas.microsoft.com/office/drawing/2014/main" id="{59851D29-44DD-6574-BD1D-039F1CDCD88D}"/>
              </a:ext>
            </a:extLst>
          </p:cNvPr>
          <p:cNvGrpSpPr/>
          <p:nvPr/>
        </p:nvGrpSpPr>
        <p:grpSpPr>
          <a:xfrm>
            <a:off x="7676567" y="4151094"/>
            <a:ext cx="1257301" cy="607043"/>
            <a:chOff x="8229196" y="2431605"/>
            <a:chExt cx="1257301" cy="607043"/>
          </a:xfrm>
          <a:solidFill>
            <a:schemeClr val="bg1">
              <a:lumMod val="95000"/>
            </a:schemeClr>
          </a:solidFill>
        </p:grpSpPr>
        <p:sp>
          <p:nvSpPr>
            <p:cNvPr id="26" name="Rechteck 25">
              <a:extLst>
                <a:ext uri="{FF2B5EF4-FFF2-40B4-BE49-F238E27FC236}">
                  <a16:creationId xmlns:a16="http://schemas.microsoft.com/office/drawing/2014/main" id="{E1C9D9EA-FC7B-7760-5F50-CC2F66F3DF62}"/>
                </a:ext>
              </a:extLst>
            </p:cNvPr>
            <p:cNvSpPr/>
            <p:nvPr/>
          </p:nvSpPr>
          <p:spPr>
            <a:xfrm>
              <a:off x="8229196" y="2431605"/>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012656"/>
                  </a:solidFill>
                </a:rPr>
                <a:t>System</a:t>
              </a:r>
            </a:p>
          </p:txBody>
        </p:sp>
        <p:cxnSp>
          <p:nvCxnSpPr>
            <p:cNvPr id="27" name="Gerader Verbinder 26">
              <a:extLst>
                <a:ext uri="{FF2B5EF4-FFF2-40B4-BE49-F238E27FC236}">
                  <a16:creationId xmlns:a16="http://schemas.microsoft.com/office/drawing/2014/main" id="{43177E99-2825-F390-3808-4BB11FD59F4D}"/>
                </a:ext>
              </a:extLst>
            </p:cNvPr>
            <p:cNvCxnSpPr/>
            <p:nvPr/>
          </p:nvCxnSpPr>
          <p:spPr>
            <a:xfrm>
              <a:off x="840538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006370A-DB5C-1AC7-2E99-0AB2C67E6E0D}"/>
                </a:ext>
              </a:extLst>
            </p:cNvPr>
            <p:cNvCxnSpPr/>
            <p:nvPr/>
          </p:nvCxnSpPr>
          <p:spPr>
            <a:xfrm>
              <a:off x="9300732" y="2431605"/>
              <a:ext cx="0" cy="607043"/>
            </a:xfrm>
            <a:prstGeom prst="line">
              <a:avLst/>
            </a:prstGeom>
            <a:grpFill/>
            <a:ln w="19050">
              <a:solidFill>
                <a:srgbClr val="012656"/>
              </a:solidFill>
            </a:ln>
          </p:spPr>
          <p:style>
            <a:lnRef idx="1">
              <a:schemeClr val="accent1"/>
            </a:lnRef>
            <a:fillRef idx="0">
              <a:schemeClr val="accent1"/>
            </a:fillRef>
            <a:effectRef idx="0">
              <a:schemeClr val="accent1"/>
            </a:effectRef>
            <a:fontRef idx="minor">
              <a:schemeClr val="tx1"/>
            </a:fontRef>
          </p:style>
        </p:cxnSp>
      </p:grpSp>
      <p:sp>
        <p:nvSpPr>
          <p:cNvPr id="30" name="Ellipse 29">
            <a:extLst>
              <a:ext uri="{FF2B5EF4-FFF2-40B4-BE49-F238E27FC236}">
                <a16:creationId xmlns:a16="http://schemas.microsoft.com/office/drawing/2014/main" id="{596C3376-0628-BD6F-F78D-A9B1E342933D}"/>
              </a:ext>
            </a:extLst>
          </p:cNvPr>
          <p:cNvSpPr/>
          <p:nvPr/>
        </p:nvSpPr>
        <p:spPr>
          <a:xfrm>
            <a:off x="7769450" y="2197834"/>
            <a:ext cx="1071536"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Unit</a:t>
            </a:r>
          </a:p>
        </p:txBody>
      </p:sp>
      <p:sp>
        <p:nvSpPr>
          <p:cNvPr id="31" name="Rechteck 30">
            <a:extLst>
              <a:ext uri="{FF2B5EF4-FFF2-40B4-BE49-F238E27FC236}">
                <a16:creationId xmlns:a16="http://schemas.microsoft.com/office/drawing/2014/main" id="{64425EC4-E997-258C-0357-C0D832521AD6}"/>
              </a:ext>
            </a:extLst>
          </p:cNvPr>
          <p:cNvSpPr/>
          <p:nvPr/>
        </p:nvSpPr>
        <p:spPr>
          <a:xfrm>
            <a:off x="7666990" y="3038649"/>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Daten</a:t>
            </a:r>
          </a:p>
        </p:txBody>
      </p:sp>
      <p:grpSp>
        <p:nvGrpSpPr>
          <p:cNvPr id="32" name="Gruppieren 31">
            <a:extLst>
              <a:ext uri="{FF2B5EF4-FFF2-40B4-BE49-F238E27FC236}">
                <a16:creationId xmlns:a16="http://schemas.microsoft.com/office/drawing/2014/main" id="{773F590A-8132-E7AF-9467-09E17DF9B927}"/>
              </a:ext>
            </a:extLst>
          </p:cNvPr>
          <p:cNvGrpSpPr/>
          <p:nvPr/>
        </p:nvGrpSpPr>
        <p:grpSpPr>
          <a:xfrm>
            <a:off x="7677792" y="5213546"/>
            <a:ext cx="1443873" cy="670190"/>
            <a:chOff x="8230420" y="5444237"/>
            <a:chExt cx="1443873" cy="670190"/>
          </a:xfrm>
          <a:solidFill>
            <a:schemeClr val="bg1">
              <a:lumMod val="95000"/>
            </a:schemeClr>
          </a:solidFill>
        </p:grpSpPr>
        <p:sp>
          <p:nvSpPr>
            <p:cNvPr id="33" name="Textplatzhalter 2">
              <a:extLst>
                <a:ext uri="{FF2B5EF4-FFF2-40B4-BE49-F238E27FC236}">
                  <a16:creationId xmlns:a16="http://schemas.microsoft.com/office/drawing/2014/main" id="{B886E9F7-1754-EDCD-D700-72459485E7BC}"/>
                </a:ext>
              </a:extLst>
            </p:cNvPr>
            <p:cNvSpPr txBox="1">
              <a:spLocks/>
            </p:cNvSpPr>
            <p:nvPr/>
          </p:nvSpPr>
          <p:spPr>
            <a:xfrm>
              <a:off x="8416992" y="5507384"/>
              <a:ext cx="1257301" cy="607043"/>
            </a:xfrm>
            <a:prstGeom prst="hexagon">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endParaRPr lang="de-DE" sz="1200" b="1" dirty="0">
                <a:solidFill>
                  <a:srgbClr val="012656"/>
                </a:solidFill>
              </a:endParaRPr>
            </a:p>
          </p:txBody>
        </p:sp>
        <p:sp>
          <p:nvSpPr>
            <p:cNvPr id="34" name="Rechteck 33">
              <a:extLst>
                <a:ext uri="{FF2B5EF4-FFF2-40B4-BE49-F238E27FC236}">
                  <a16:creationId xmlns:a16="http://schemas.microsoft.com/office/drawing/2014/main" id="{2953F5AA-C3E8-F035-D775-2C5A9B2E1869}"/>
                </a:ext>
              </a:extLst>
            </p:cNvPr>
            <p:cNvSpPr/>
            <p:nvPr/>
          </p:nvSpPr>
          <p:spPr>
            <a:xfrm>
              <a:off x="8230420" y="5444237"/>
              <a:ext cx="1257301" cy="607043"/>
            </a:xfrm>
            <a:prstGeom prst="rect">
              <a:avLst/>
            </a:prstGeom>
            <a:grp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b="1" dirty="0">
                  <a:solidFill>
                    <a:srgbClr val="012656"/>
                  </a:solidFill>
                </a:rPr>
                <a:t>Prozess-</a:t>
              </a:r>
              <a:r>
                <a:rPr lang="de-DE" sz="1400" b="1" dirty="0" err="1">
                  <a:solidFill>
                    <a:srgbClr val="012656"/>
                  </a:solidFill>
                </a:rPr>
                <a:t>wegweiser</a:t>
              </a:r>
              <a:endParaRPr lang="de-DE" sz="1400" b="1" dirty="0">
                <a:solidFill>
                  <a:srgbClr val="012656"/>
                </a:solidFill>
              </a:endParaRPr>
            </a:p>
          </p:txBody>
        </p:sp>
      </p:grpSp>
      <p:sp>
        <p:nvSpPr>
          <p:cNvPr id="35" name="Geschweifte Klammer rechts 34">
            <a:extLst>
              <a:ext uri="{FF2B5EF4-FFF2-40B4-BE49-F238E27FC236}">
                <a16:creationId xmlns:a16="http://schemas.microsoft.com/office/drawing/2014/main" id="{649DCAC5-A85C-F1E3-99B6-40AABF9CE36D}"/>
              </a:ext>
            </a:extLst>
          </p:cNvPr>
          <p:cNvSpPr/>
          <p:nvPr/>
        </p:nvSpPr>
        <p:spPr>
          <a:xfrm>
            <a:off x="4819650" y="2197834"/>
            <a:ext cx="428623" cy="3622755"/>
          </a:xfrm>
          <a:prstGeom prst="rightBrace">
            <a:avLst>
              <a:gd name="adj1" fmla="val 66111"/>
              <a:gd name="adj2" fmla="val 5026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6" name="Geschweifte Klammer rechts 35">
            <a:extLst>
              <a:ext uri="{FF2B5EF4-FFF2-40B4-BE49-F238E27FC236}">
                <a16:creationId xmlns:a16="http://schemas.microsoft.com/office/drawing/2014/main" id="{E16F0218-FC3F-58F4-54BD-524E6D30DE3C}"/>
              </a:ext>
            </a:extLst>
          </p:cNvPr>
          <p:cNvSpPr/>
          <p:nvPr/>
        </p:nvSpPr>
        <p:spPr>
          <a:xfrm>
            <a:off x="9214830" y="2197834"/>
            <a:ext cx="428623" cy="3622755"/>
          </a:xfrm>
          <a:prstGeom prst="rightBrace">
            <a:avLst>
              <a:gd name="adj1" fmla="val 66111"/>
              <a:gd name="adj2" fmla="val 5026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38" name="Textfeld 37">
            <a:extLst>
              <a:ext uri="{FF2B5EF4-FFF2-40B4-BE49-F238E27FC236}">
                <a16:creationId xmlns:a16="http://schemas.microsoft.com/office/drawing/2014/main" id="{7B27CC1B-B67F-0CFB-6A0B-82910899C757}"/>
              </a:ext>
            </a:extLst>
          </p:cNvPr>
          <p:cNvSpPr txBox="1"/>
          <p:nvPr/>
        </p:nvSpPr>
        <p:spPr>
          <a:xfrm>
            <a:off x="9685645" y="3723140"/>
            <a:ext cx="1676517" cy="830997"/>
          </a:xfrm>
          <a:prstGeom prst="rect">
            <a:avLst/>
          </a:prstGeom>
          <a:noFill/>
        </p:spPr>
        <p:txBody>
          <a:bodyPr wrap="square">
            <a:spAutoFit/>
          </a:bodyPr>
          <a:lstStyle/>
          <a:p>
            <a:r>
              <a:rPr lang="de-DE" sz="2400" b="1" dirty="0"/>
              <a:t>Optionale</a:t>
            </a:r>
            <a:br>
              <a:rPr lang="de-DE" sz="2400" b="1" dirty="0"/>
            </a:br>
            <a:r>
              <a:rPr lang="de-DE" sz="2400" b="1" dirty="0"/>
              <a:t>Elemente</a:t>
            </a:r>
            <a:endParaRPr lang="de-DE" b="1" dirty="0"/>
          </a:p>
        </p:txBody>
      </p:sp>
      <p:sp>
        <p:nvSpPr>
          <p:cNvPr id="39" name="Textfeld 38">
            <a:extLst>
              <a:ext uri="{FF2B5EF4-FFF2-40B4-BE49-F238E27FC236}">
                <a16:creationId xmlns:a16="http://schemas.microsoft.com/office/drawing/2014/main" id="{B38B7516-A5ED-EC80-5CE4-103C8D93A603}"/>
              </a:ext>
            </a:extLst>
          </p:cNvPr>
          <p:cNvSpPr txBox="1"/>
          <p:nvPr/>
        </p:nvSpPr>
        <p:spPr>
          <a:xfrm>
            <a:off x="5353047" y="3707390"/>
            <a:ext cx="2189743" cy="830997"/>
          </a:xfrm>
          <a:prstGeom prst="rect">
            <a:avLst/>
          </a:prstGeom>
          <a:noFill/>
        </p:spPr>
        <p:txBody>
          <a:bodyPr wrap="square">
            <a:spAutoFit/>
          </a:bodyPr>
          <a:lstStyle/>
          <a:p>
            <a:r>
              <a:rPr lang="de-DE" sz="2400" b="1" dirty="0"/>
              <a:t>Notwendige Elemente</a:t>
            </a:r>
            <a:endParaRPr lang="de-DE" b="1" dirty="0"/>
          </a:p>
        </p:txBody>
      </p:sp>
    </p:spTree>
    <p:extLst>
      <p:ext uri="{BB962C8B-B14F-4D97-AF65-F5344CB8AC3E}">
        <p14:creationId xmlns:p14="http://schemas.microsoft.com/office/powerpoint/2010/main" val="2188678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070D4-8F81-0AB7-BB8A-49E6B02550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292ABAB-FA3D-B139-1080-A77DA09D95A7}"/>
              </a:ext>
            </a:extLst>
          </p:cNvPr>
          <p:cNvSpPr>
            <a:spLocks noGrp="1"/>
          </p:cNvSpPr>
          <p:nvPr>
            <p:ph type="title"/>
          </p:nvPr>
        </p:nvSpPr>
        <p:spPr/>
        <p:txBody>
          <a:bodyPr/>
          <a:lstStyle/>
          <a:p>
            <a:r>
              <a:rPr lang="de-DE" dirty="0"/>
              <a:t>Syntaxregeln</a:t>
            </a:r>
          </a:p>
        </p:txBody>
      </p:sp>
      <p:sp>
        <p:nvSpPr>
          <p:cNvPr id="12" name="Textplatzhalter 11">
            <a:extLst>
              <a:ext uri="{FF2B5EF4-FFF2-40B4-BE49-F238E27FC236}">
                <a16:creationId xmlns:a16="http://schemas.microsoft.com/office/drawing/2014/main" id="{D65F4AB4-6EC9-D90D-5F5A-64CD5AE996B9}"/>
              </a:ext>
            </a:extLst>
          </p:cNvPr>
          <p:cNvSpPr>
            <a:spLocks noGrp="1"/>
          </p:cNvSpPr>
          <p:nvPr>
            <p:ph type="body" sz="quarter" idx="12"/>
          </p:nvPr>
        </p:nvSpPr>
        <p:spPr/>
        <p:txBody>
          <a:bodyPr/>
          <a:lstStyle/>
          <a:p>
            <a:pPr marL="0" indent="0">
              <a:lnSpc>
                <a:spcPct val="150000"/>
              </a:lnSpc>
              <a:buNone/>
            </a:pPr>
            <a:r>
              <a:rPr lang="de-DE" sz="2400" dirty="0"/>
              <a:t>7. Auf ein Ereignis kann kein OR </a:t>
            </a:r>
            <a:r>
              <a:rPr lang="de-DE" sz="2400" dirty="0" err="1"/>
              <a:t>bzw</a:t>
            </a:r>
            <a:r>
              <a:rPr lang="de-DE" sz="2400" dirty="0"/>
              <a:t> XOR folgen. Nur AND ist erlaubt</a:t>
            </a:r>
          </a:p>
        </p:txBody>
      </p:sp>
      <p:sp>
        <p:nvSpPr>
          <p:cNvPr id="4" name="Ellipse 3">
            <a:extLst>
              <a:ext uri="{FF2B5EF4-FFF2-40B4-BE49-F238E27FC236}">
                <a16:creationId xmlns:a16="http://schemas.microsoft.com/office/drawing/2014/main" id="{756D7087-AC6F-7109-0E5C-D1C5269A586B}"/>
              </a:ext>
            </a:extLst>
          </p:cNvPr>
          <p:cNvSpPr/>
          <p:nvPr/>
        </p:nvSpPr>
        <p:spPr>
          <a:xfrm>
            <a:off x="9951297" y="3832424"/>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a:t>
            </a:r>
            <a:endParaRPr lang="de-DE" sz="3200" b="1" dirty="0">
              <a:solidFill>
                <a:srgbClr val="012656"/>
              </a:solidFill>
            </a:endParaRPr>
          </a:p>
        </p:txBody>
      </p:sp>
      <p:sp>
        <p:nvSpPr>
          <p:cNvPr id="6" name="Rechteck 5">
            <a:extLst>
              <a:ext uri="{FF2B5EF4-FFF2-40B4-BE49-F238E27FC236}">
                <a16:creationId xmlns:a16="http://schemas.microsoft.com/office/drawing/2014/main" id="{E220F797-71A1-C159-D302-F9E36C41419F}"/>
              </a:ext>
            </a:extLst>
          </p:cNvPr>
          <p:cNvSpPr/>
          <p:nvPr/>
        </p:nvSpPr>
        <p:spPr>
          <a:xfrm>
            <a:off x="604996" y="452247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0" name="Ellipse 9">
            <a:extLst>
              <a:ext uri="{FF2B5EF4-FFF2-40B4-BE49-F238E27FC236}">
                <a16:creationId xmlns:a16="http://schemas.microsoft.com/office/drawing/2014/main" id="{CEBD3C4E-CBF9-40FC-C650-7C87D78F5052}"/>
              </a:ext>
            </a:extLst>
          </p:cNvPr>
          <p:cNvSpPr/>
          <p:nvPr/>
        </p:nvSpPr>
        <p:spPr>
          <a:xfrm>
            <a:off x="1862297" y="3839210"/>
            <a:ext cx="580380" cy="521212"/>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200" b="1" dirty="0">
                <a:solidFill>
                  <a:srgbClr val="012656"/>
                </a:solidFill>
                <a:sym typeface="Symbol"/>
              </a:rPr>
              <a:t>X</a:t>
            </a:r>
            <a:endParaRPr lang="de-DE" sz="3200" b="1" dirty="0">
              <a:solidFill>
                <a:srgbClr val="012656"/>
              </a:solidFill>
            </a:endParaRPr>
          </a:p>
        </p:txBody>
      </p:sp>
      <p:sp>
        <p:nvSpPr>
          <p:cNvPr id="13" name="Ellipse 12">
            <a:extLst>
              <a:ext uri="{FF2B5EF4-FFF2-40B4-BE49-F238E27FC236}">
                <a16:creationId xmlns:a16="http://schemas.microsoft.com/office/drawing/2014/main" id="{ACCA08AC-08A8-1E7D-2E25-9AFA9346FA3E}"/>
              </a:ext>
            </a:extLst>
          </p:cNvPr>
          <p:cNvSpPr/>
          <p:nvPr/>
        </p:nvSpPr>
        <p:spPr>
          <a:xfrm>
            <a:off x="5869109" y="3825856"/>
            <a:ext cx="595250" cy="534566"/>
          </a:xfrm>
          <a:prstGeom prst="ellipse">
            <a:avLst/>
          </a:prstGeom>
          <a:solidFill>
            <a:schemeClr val="bg1"/>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4000" b="1" dirty="0">
                <a:solidFill>
                  <a:srgbClr val="012656"/>
                </a:solidFill>
                <a:sym typeface="Symbol"/>
              </a:rPr>
              <a:t></a:t>
            </a:r>
            <a:endParaRPr lang="de-DE" sz="4000" b="1" dirty="0">
              <a:solidFill>
                <a:srgbClr val="012656"/>
              </a:solidFill>
            </a:endParaRPr>
          </a:p>
        </p:txBody>
      </p:sp>
      <p:sp>
        <p:nvSpPr>
          <p:cNvPr id="14" name="Rechteck 13">
            <a:extLst>
              <a:ext uri="{FF2B5EF4-FFF2-40B4-BE49-F238E27FC236}">
                <a16:creationId xmlns:a16="http://schemas.microsoft.com/office/drawing/2014/main" id="{E88656B0-BA10-0625-5F23-254D6522C523}"/>
              </a:ext>
            </a:extLst>
          </p:cNvPr>
          <p:cNvSpPr/>
          <p:nvPr/>
        </p:nvSpPr>
        <p:spPr>
          <a:xfrm>
            <a:off x="2323877" y="4522478"/>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6" name="Rechteck 15">
            <a:extLst>
              <a:ext uri="{FF2B5EF4-FFF2-40B4-BE49-F238E27FC236}">
                <a16:creationId xmlns:a16="http://schemas.microsoft.com/office/drawing/2014/main" id="{CC970710-C090-7602-5818-5399D23300D4}"/>
              </a:ext>
            </a:extLst>
          </p:cNvPr>
          <p:cNvSpPr/>
          <p:nvPr/>
        </p:nvSpPr>
        <p:spPr>
          <a:xfrm>
            <a:off x="4663492" y="452247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7" name="Rechteck 16">
            <a:extLst>
              <a:ext uri="{FF2B5EF4-FFF2-40B4-BE49-F238E27FC236}">
                <a16:creationId xmlns:a16="http://schemas.microsoft.com/office/drawing/2014/main" id="{C650274D-E63E-007B-8E63-4176CE9A20E6}"/>
              </a:ext>
            </a:extLst>
          </p:cNvPr>
          <p:cNvSpPr/>
          <p:nvPr/>
        </p:nvSpPr>
        <p:spPr>
          <a:xfrm>
            <a:off x="6411693" y="452247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19" name="Rechteck 18">
            <a:extLst>
              <a:ext uri="{FF2B5EF4-FFF2-40B4-BE49-F238E27FC236}">
                <a16:creationId xmlns:a16="http://schemas.microsoft.com/office/drawing/2014/main" id="{6870EC8D-17F6-120B-D7B1-B36FC51FF4A8}"/>
              </a:ext>
            </a:extLst>
          </p:cNvPr>
          <p:cNvSpPr/>
          <p:nvPr/>
        </p:nvSpPr>
        <p:spPr>
          <a:xfrm>
            <a:off x="8721988" y="4479315"/>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0" name="Rechteck 19">
            <a:extLst>
              <a:ext uri="{FF2B5EF4-FFF2-40B4-BE49-F238E27FC236}">
                <a16:creationId xmlns:a16="http://schemas.microsoft.com/office/drawing/2014/main" id="{4FEAAA74-2FD9-90AE-18AC-862FC9EC9FE2}"/>
              </a:ext>
            </a:extLst>
          </p:cNvPr>
          <p:cNvSpPr/>
          <p:nvPr/>
        </p:nvSpPr>
        <p:spPr>
          <a:xfrm>
            <a:off x="10365568" y="4522477"/>
            <a:ext cx="1257301" cy="607043"/>
          </a:xfrm>
          <a:prstGeom prst="rect">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b="1" dirty="0">
                <a:solidFill>
                  <a:srgbClr val="012656"/>
                </a:solidFill>
              </a:rPr>
              <a:t>Funktion</a:t>
            </a:r>
          </a:p>
        </p:txBody>
      </p:sp>
      <p:sp>
        <p:nvSpPr>
          <p:cNvPr id="22" name="Textfeld 21">
            <a:extLst>
              <a:ext uri="{FF2B5EF4-FFF2-40B4-BE49-F238E27FC236}">
                <a16:creationId xmlns:a16="http://schemas.microsoft.com/office/drawing/2014/main" id="{E592A31C-AD92-B877-931F-C34CA53135BC}"/>
              </a:ext>
            </a:extLst>
          </p:cNvPr>
          <p:cNvSpPr txBox="1"/>
          <p:nvPr/>
        </p:nvSpPr>
        <p:spPr>
          <a:xfrm>
            <a:off x="6064983" y="2125012"/>
            <a:ext cx="291747" cy="738664"/>
          </a:xfrm>
          <a:prstGeom prst="rect">
            <a:avLst/>
          </a:prstGeom>
          <a:noFill/>
        </p:spPr>
        <p:txBody>
          <a:bodyPr wrap="none" lIns="0" tIns="0" rIns="0" bIns="0" rtlCol="0">
            <a:spAutoFit/>
          </a:bodyPr>
          <a:lstStyle/>
          <a:p>
            <a:r>
              <a:rPr lang="de-DE" sz="4800" b="1" dirty="0">
                <a:solidFill>
                  <a:srgbClr val="FF0000"/>
                </a:solidFill>
              </a:rPr>
              <a:t>x</a:t>
            </a:r>
          </a:p>
        </p:txBody>
      </p:sp>
      <p:pic>
        <p:nvPicPr>
          <p:cNvPr id="24" name="Grafik 23" descr="Häkchen mit einfarbiger Füllung">
            <a:extLst>
              <a:ext uri="{FF2B5EF4-FFF2-40B4-BE49-F238E27FC236}">
                <a16:creationId xmlns:a16="http://schemas.microsoft.com/office/drawing/2014/main" id="{DD468294-BC23-C998-138A-5160EA7273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79230" y="2132150"/>
            <a:ext cx="572677" cy="572677"/>
          </a:xfrm>
          <a:prstGeom prst="rect">
            <a:avLst/>
          </a:prstGeom>
        </p:spPr>
      </p:pic>
      <p:sp>
        <p:nvSpPr>
          <p:cNvPr id="25" name="Textfeld 24">
            <a:extLst>
              <a:ext uri="{FF2B5EF4-FFF2-40B4-BE49-F238E27FC236}">
                <a16:creationId xmlns:a16="http://schemas.microsoft.com/office/drawing/2014/main" id="{732770D6-F0EE-13E5-A213-55239A39480B}"/>
              </a:ext>
            </a:extLst>
          </p:cNvPr>
          <p:cNvSpPr txBox="1"/>
          <p:nvPr/>
        </p:nvSpPr>
        <p:spPr>
          <a:xfrm>
            <a:off x="2061807" y="2125012"/>
            <a:ext cx="291747" cy="738664"/>
          </a:xfrm>
          <a:prstGeom prst="rect">
            <a:avLst/>
          </a:prstGeom>
          <a:noFill/>
        </p:spPr>
        <p:txBody>
          <a:bodyPr wrap="none" lIns="0" tIns="0" rIns="0" bIns="0" rtlCol="0">
            <a:spAutoFit/>
          </a:bodyPr>
          <a:lstStyle/>
          <a:p>
            <a:r>
              <a:rPr lang="de-DE" sz="4800" b="1" dirty="0">
                <a:solidFill>
                  <a:srgbClr val="FF0000"/>
                </a:solidFill>
              </a:rPr>
              <a:t>x</a:t>
            </a:r>
          </a:p>
        </p:txBody>
      </p:sp>
      <p:cxnSp>
        <p:nvCxnSpPr>
          <p:cNvPr id="26" name="Gerade Verbindung mit Pfeil 25">
            <a:extLst>
              <a:ext uri="{FF2B5EF4-FFF2-40B4-BE49-F238E27FC236}">
                <a16:creationId xmlns:a16="http://schemas.microsoft.com/office/drawing/2014/main" id="{46C98038-AE49-A417-025D-091A7CA367ED}"/>
              </a:ext>
            </a:extLst>
          </p:cNvPr>
          <p:cNvCxnSpPr>
            <a:cxnSpLocks/>
          </p:cNvCxnSpPr>
          <p:nvPr/>
        </p:nvCxnSpPr>
        <p:spPr>
          <a:xfrm>
            <a:off x="2176987" y="3301461"/>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7" name="Gerade Verbindung mit Pfeil 26">
            <a:extLst>
              <a:ext uri="{FF2B5EF4-FFF2-40B4-BE49-F238E27FC236}">
                <a16:creationId xmlns:a16="http://schemas.microsoft.com/office/drawing/2014/main" id="{87B40E95-8278-AED3-4F3B-A84D940A24DA}"/>
              </a:ext>
            </a:extLst>
          </p:cNvPr>
          <p:cNvCxnSpPr>
            <a:cxnSpLocks/>
          </p:cNvCxnSpPr>
          <p:nvPr/>
        </p:nvCxnSpPr>
        <p:spPr>
          <a:xfrm>
            <a:off x="6152087" y="3301461"/>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E4184835-0E74-59E7-DA19-7EDFEB8B37C9}"/>
              </a:ext>
            </a:extLst>
          </p:cNvPr>
          <p:cNvCxnSpPr>
            <a:cxnSpLocks/>
          </p:cNvCxnSpPr>
          <p:nvPr/>
        </p:nvCxnSpPr>
        <p:spPr>
          <a:xfrm>
            <a:off x="10241487" y="3301461"/>
            <a:ext cx="0" cy="537749"/>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33C04840-FA71-FFCD-93EE-082D50D067F4}"/>
              </a:ext>
            </a:extLst>
          </p:cNvPr>
          <p:cNvCxnSpPr>
            <a:cxnSpLocks/>
            <a:stCxn id="10" idx="2"/>
          </p:cNvCxnSpPr>
          <p:nvPr/>
        </p:nvCxnSpPr>
        <p:spPr>
          <a:xfrm flipH="1">
            <a:off x="1523837" y="4099816"/>
            <a:ext cx="338460" cy="4795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E7946909-9E2D-48B0-117E-1C0237C373F8}"/>
              </a:ext>
            </a:extLst>
          </p:cNvPr>
          <p:cNvCxnSpPr>
            <a:cxnSpLocks/>
            <a:stCxn id="10" idx="6"/>
          </p:cNvCxnSpPr>
          <p:nvPr/>
        </p:nvCxnSpPr>
        <p:spPr>
          <a:xfrm>
            <a:off x="2442677" y="4099816"/>
            <a:ext cx="281647" cy="42266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F9E40A30-5FCB-94F8-4F31-A3C790F610CA}"/>
              </a:ext>
            </a:extLst>
          </p:cNvPr>
          <p:cNvCxnSpPr>
            <a:cxnSpLocks/>
          </p:cNvCxnSpPr>
          <p:nvPr/>
        </p:nvCxnSpPr>
        <p:spPr>
          <a:xfrm flipH="1">
            <a:off x="5544567" y="4099816"/>
            <a:ext cx="338460" cy="4795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C5978CED-E3E8-DA1E-0262-E33C22315AE8}"/>
              </a:ext>
            </a:extLst>
          </p:cNvPr>
          <p:cNvCxnSpPr>
            <a:cxnSpLocks/>
          </p:cNvCxnSpPr>
          <p:nvPr/>
        </p:nvCxnSpPr>
        <p:spPr>
          <a:xfrm>
            <a:off x="6463407" y="4099816"/>
            <a:ext cx="281647" cy="42266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6" name="Gerade Verbindung mit Pfeil 35">
            <a:extLst>
              <a:ext uri="{FF2B5EF4-FFF2-40B4-BE49-F238E27FC236}">
                <a16:creationId xmlns:a16="http://schemas.microsoft.com/office/drawing/2014/main" id="{2549F467-B655-1DE1-5CEA-CD2D7B9163B0}"/>
              </a:ext>
            </a:extLst>
          </p:cNvPr>
          <p:cNvCxnSpPr>
            <a:cxnSpLocks/>
          </p:cNvCxnSpPr>
          <p:nvPr/>
        </p:nvCxnSpPr>
        <p:spPr>
          <a:xfrm flipH="1">
            <a:off x="9603063" y="4099816"/>
            <a:ext cx="338460" cy="47952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B67AE2A6-D677-98C5-59AA-09165CE3914A}"/>
              </a:ext>
            </a:extLst>
          </p:cNvPr>
          <p:cNvCxnSpPr>
            <a:cxnSpLocks/>
          </p:cNvCxnSpPr>
          <p:nvPr/>
        </p:nvCxnSpPr>
        <p:spPr>
          <a:xfrm>
            <a:off x="10521903" y="4099816"/>
            <a:ext cx="281647" cy="422661"/>
          </a:xfrm>
          <a:prstGeom prst="straightConnector1">
            <a:avLst/>
          </a:prstGeom>
          <a:ln w="38100">
            <a:solidFill>
              <a:srgbClr val="012656"/>
            </a:solidFill>
            <a:tailEnd type="arrow"/>
          </a:ln>
        </p:spPr>
        <p:style>
          <a:lnRef idx="1">
            <a:schemeClr val="accent1"/>
          </a:lnRef>
          <a:fillRef idx="0">
            <a:schemeClr val="accent1"/>
          </a:fillRef>
          <a:effectRef idx="0">
            <a:schemeClr val="accent1"/>
          </a:effectRef>
          <a:fontRef idx="minor">
            <a:schemeClr val="tx1"/>
          </a:fontRef>
        </p:style>
      </p:cxnSp>
      <p:sp>
        <p:nvSpPr>
          <p:cNvPr id="8" name="Textplatzhalter 2">
            <a:extLst>
              <a:ext uri="{FF2B5EF4-FFF2-40B4-BE49-F238E27FC236}">
                <a16:creationId xmlns:a16="http://schemas.microsoft.com/office/drawing/2014/main" id="{58C3B2AE-0FB3-8D2D-C97C-AFC0522FA0EE}"/>
              </a:ext>
            </a:extLst>
          </p:cNvPr>
          <p:cNvSpPr txBox="1">
            <a:spLocks/>
          </p:cNvSpPr>
          <p:nvPr/>
        </p:nvSpPr>
        <p:spPr>
          <a:xfrm>
            <a:off x="1523837" y="280925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15" name="Textplatzhalter 2">
            <a:extLst>
              <a:ext uri="{FF2B5EF4-FFF2-40B4-BE49-F238E27FC236}">
                <a16:creationId xmlns:a16="http://schemas.microsoft.com/office/drawing/2014/main" id="{3867CAA9-8F01-2AAD-D774-77C94358CE9D}"/>
              </a:ext>
            </a:extLst>
          </p:cNvPr>
          <p:cNvSpPr txBox="1">
            <a:spLocks/>
          </p:cNvSpPr>
          <p:nvPr/>
        </p:nvSpPr>
        <p:spPr>
          <a:xfrm>
            <a:off x="5538084" y="280925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
        <p:nvSpPr>
          <p:cNvPr id="18" name="Textplatzhalter 2">
            <a:extLst>
              <a:ext uri="{FF2B5EF4-FFF2-40B4-BE49-F238E27FC236}">
                <a16:creationId xmlns:a16="http://schemas.microsoft.com/office/drawing/2014/main" id="{589A0D85-61D5-8B52-6243-0A9428C8F491}"/>
              </a:ext>
            </a:extLst>
          </p:cNvPr>
          <p:cNvSpPr txBox="1">
            <a:spLocks/>
          </p:cNvSpPr>
          <p:nvPr/>
        </p:nvSpPr>
        <p:spPr>
          <a:xfrm>
            <a:off x="9589474" y="2809257"/>
            <a:ext cx="1257301" cy="607043"/>
          </a:xfrm>
          <a:prstGeom prst="hexagon">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600" b="1">
                <a:solidFill>
                  <a:srgbClr val="012656"/>
                </a:solidFill>
              </a:rPr>
              <a:t>Ereignis</a:t>
            </a:r>
            <a:endParaRPr lang="de-DE" sz="1600" b="1" dirty="0">
              <a:solidFill>
                <a:srgbClr val="012656"/>
              </a:solidFill>
            </a:endParaRPr>
          </a:p>
        </p:txBody>
      </p:sp>
    </p:spTree>
    <p:extLst>
      <p:ext uri="{BB962C8B-B14F-4D97-AF65-F5344CB8AC3E}">
        <p14:creationId xmlns:p14="http://schemas.microsoft.com/office/powerpoint/2010/main" val="945024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EPK und ARIS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580" y="1121230"/>
            <a:ext cx="7552026" cy="4799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3353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19E58-1A2F-5430-DC98-AD2B083BDDC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48B9CB0C-2C9A-BB05-6260-9D8A9E3B18E9}"/>
              </a:ext>
            </a:extLst>
          </p:cNvPr>
          <p:cNvSpPr>
            <a:spLocks noGrp="1"/>
          </p:cNvSpPr>
          <p:nvPr>
            <p:ph type="title"/>
          </p:nvPr>
        </p:nvSpPr>
        <p:spPr/>
        <p:txBody>
          <a:bodyPr/>
          <a:lstStyle/>
          <a:p>
            <a:r>
              <a:rPr lang="de-DE" dirty="0"/>
              <a:t>Bewertung</a:t>
            </a:r>
          </a:p>
        </p:txBody>
      </p:sp>
      <p:sp>
        <p:nvSpPr>
          <p:cNvPr id="6" name="Textplatzhalter 5">
            <a:extLst>
              <a:ext uri="{FF2B5EF4-FFF2-40B4-BE49-F238E27FC236}">
                <a16:creationId xmlns:a16="http://schemas.microsoft.com/office/drawing/2014/main" id="{C6869C75-3D8E-D756-2C52-3939DD51487F}"/>
              </a:ext>
            </a:extLst>
          </p:cNvPr>
          <p:cNvSpPr>
            <a:spLocks noGrp="1"/>
          </p:cNvSpPr>
          <p:nvPr>
            <p:ph type="body" sz="quarter" idx="12"/>
          </p:nvPr>
        </p:nvSpPr>
        <p:spPr>
          <a:xfrm>
            <a:off x="276489" y="2647950"/>
            <a:ext cx="5514711" cy="2981326"/>
          </a:xfrm>
        </p:spPr>
        <p:txBody>
          <a:bodyPr/>
          <a:lstStyle/>
          <a:p>
            <a:r>
              <a:rPr lang="de-DE" sz="1800" dirty="0"/>
              <a:t>EPK ist eine relativ </a:t>
            </a:r>
            <a:r>
              <a:rPr lang="de-DE" sz="1800" b="1" dirty="0"/>
              <a:t>flexible</a:t>
            </a:r>
            <a:r>
              <a:rPr lang="de-DE" sz="1800" dirty="0"/>
              <a:t> Abbildungsmöglich­keit für Standardprozesse.​</a:t>
            </a:r>
          </a:p>
          <a:p>
            <a:r>
              <a:rPr lang="de-DE" sz="1800" dirty="0"/>
              <a:t> EPK ist anwendungsübergreifend und verfügt über eine </a:t>
            </a:r>
            <a:r>
              <a:rPr lang="de-DE" sz="1800" b="1" dirty="0"/>
              <a:t>umfangreiche Toolunterstützung</a:t>
            </a:r>
            <a:r>
              <a:rPr lang="de-DE" sz="1800" dirty="0"/>
              <a:t>. ​</a:t>
            </a:r>
          </a:p>
          <a:p>
            <a:r>
              <a:rPr lang="de-DE" sz="1800" dirty="0"/>
              <a:t> EPK ist relativ </a:t>
            </a:r>
            <a:r>
              <a:rPr lang="de-DE" sz="1800" b="1" dirty="0"/>
              <a:t>leicht zu erlernen </a:t>
            </a:r>
            <a:r>
              <a:rPr lang="de-DE" sz="1800" dirty="0"/>
              <a:t>und ist für nicht IT-Fachleute verständlich. ​</a:t>
            </a:r>
          </a:p>
          <a:p>
            <a:r>
              <a:rPr lang="de-DE" sz="1800" dirty="0"/>
              <a:t> EPK bietet </a:t>
            </a:r>
            <a:r>
              <a:rPr lang="de-DE" sz="1800" b="1" dirty="0"/>
              <a:t>eine gute Grundlage </a:t>
            </a:r>
            <a:r>
              <a:rPr lang="de-DE" sz="1800" dirty="0"/>
              <a:t>für Simulationen, Analysen und Prüfung von Sollkonzepten. </a:t>
            </a:r>
          </a:p>
        </p:txBody>
      </p:sp>
      <p:sp>
        <p:nvSpPr>
          <p:cNvPr id="2" name="Textplatzhalter 5">
            <a:extLst>
              <a:ext uri="{FF2B5EF4-FFF2-40B4-BE49-F238E27FC236}">
                <a16:creationId xmlns:a16="http://schemas.microsoft.com/office/drawing/2014/main" id="{8453513B-22CB-C893-8C04-7946B8AA15DD}"/>
              </a:ext>
            </a:extLst>
          </p:cNvPr>
          <p:cNvSpPr txBox="1">
            <a:spLocks/>
          </p:cNvSpPr>
          <p:nvPr/>
        </p:nvSpPr>
        <p:spPr>
          <a:xfrm>
            <a:off x="6220089" y="2647950"/>
            <a:ext cx="5514711" cy="2981326"/>
          </a:xfrm>
          <a:prstGeom prst="rect">
            <a:avLst/>
          </a:prstGeom>
        </p:spPr>
        <p:txBody>
          <a:bodyPr vert="horz" lIns="0" tIns="0" rIns="0" bIns="0" rtlCol="0">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tx1"/>
                </a:solidFill>
                <a:latin typeface="+mj-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tx1"/>
                </a:solidFill>
                <a:latin typeface="+mj-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de-DE" sz="1800" dirty="0"/>
              <a:t>Die Abbildung von kreativen und </a:t>
            </a:r>
            <a:r>
              <a:rPr lang="de-DE" sz="1800" b="1" dirty="0"/>
              <a:t>komplexen Abläufen</a:t>
            </a:r>
            <a:r>
              <a:rPr lang="de-DE" sz="1800" dirty="0"/>
              <a:t>, sowie von Überwachungstätigkeiten ist problematisch. ​</a:t>
            </a:r>
          </a:p>
          <a:p>
            <a:r>
              <a:rPr lang="de-DE" sz="1800" dirty="0"/>
              <a:t>Die Top-Down-Modellierung kann </a:t>
            </a:r>
            <a:r>
              <a:rPr lang="de-DE" sz="1800" b="1" dirty="0"/>
              <a:t>unübersicht­lich werden.​</a:t>
            </a:r>
          </a:p>
          <a:p>
            <a:r>
              <a:rPr lang="de-DE" sz="1800" dirty="0"/>
              <a:t>Das Modell ist aufgrund der </a:t>
            </a:r>
            <a:r>
              <a:rPr lang="de-DE" sz="1800" b="1" dirty="0"/>
              <a:t>fehlenden Standar­disierung</a:t>
            </a:r>
            <a:r>
              <a:rPr lang="de-DE" sz="1800" dirty="0"/>
              <a:t> wenig außerhalb Deutschlands verbreitet.</a:t>
            </a:r>
          </a:p>
          <a:p>
            <a:r>
              <a:rPr lang="de-DE" sz="1800" b="1" dirty="0"/>
              <a:t>Ereignis / Funktion – Abfolge </a:t>
            </a:r>
            <a:r>
              <a:rPr lang="de-DE" sz="1800" dirty="0"/>
              <a:t>macht Prozesse schnell umfangreich</a:t>
            </a:r>
          </a:p>
        </p:txBody>
      </p:sp>
      <p:sp>
        <p:nvSpPr>
          <p:cNvPr id="7" name="Rechteck 6">
            <a:extLst>
              <a:ext uri="{FF2B5EF4-FFF2-40B4-BE49-F238E27FC236}">
                <a16:creationId xmlns:a16="http://schemas.microsoft.com/office/drawing/2014/main" id="{5E69634A-39A4-B252-ECCD-88F06603A452}"/>
              </a:ext>
            </a:extLst>
          </p:cNvPr>
          <p:cNvSpPr/>
          <p:nvPr/>
        </p:nvSpPr>
        <p:spPr>
          <a:xfrm>
            <a:off x="1866900" y="1609725"/>
            <a:ext cx="1266825" cy="7143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5400" b="1" dirty="0"/>
              <a:t>+</a:t>
            </a:r>
          </a:p>
        </p:txBody>
      </p:sp>
      <p:sp>
        <p:nvSpPr>
          <p:cNvPr id="8" name="Rechteck 7">
            <a:extLst>
              <a:ext uri="{FF2B5EF4-FFF2-40B4-BE49-F238E27FC236}">
                <a16:creationId xmlns:a16="http://schemas.microsoft.com/office/drawing/2014/main" id="{50A91C6B-CD43-F7DA-AAE7-3F68592E07E8}"/>
              </a:ext>
            </a:extLst>
          </p:cNvPr>
          <p:cNvSpPr/>
          <p:nvPr/>
        </p:nvSpPr>
        <p:spPr>
          <a:xfrm>
            <a:off x="8258175" y="1609724"/>
            <a:ext cx="1266825" cy="7143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5400" b="1" dirty="0"/>
              <a:t>-</a:t>
            </a:r>
          </a:p>
        </p:txBody>
      </p:sp>
    </p:spTree>
    <p:extLst>
      <p:ext uri="{BB962C8B-B14F-4D97-AF65-F5344CB8AC3E}">
        <p14:creationId xmlns:p14="http://schemas.microsoft.com/office/powerpoint/2010/main" val="4195949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79C3F-2743-D3F1-1547-51E09CCCD8BB}"/>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678634AE-FFC6-A4E7-E121-FBDBB8FCC2D7}"/>
              </a:ext>
            </a:extLst>
          </p:cNvPr>
          <p:cNvSpPr>
            <a:spLocks noGrp="1"/>
          </p:cNvSpPr>
          <p:nvPr>
            <p:ph type="title"/>
          </p:nvPr>
        </p:nvSpPr>
        <p:spPr/>
        <p:txBody>
          <a:bodyPr/>
          <a:lstStyle/>
          <a:p>
            <a:r>
              <a:rPr lang="de-DE" dirty="0"/>
              <a:t>Literatur</a:t>
            </a:r>
          </a:p>
        </p:txBody>
      </p:sp>
      <p:sp>
        <p:nvSpPr>
          <p:cNvPr id="6" name="Textplatzhalter 5">
            <a:extLst>
              <a:ext uri="{FF2B5EF4-FFF2-40B4-BE49-F238E27FC236}">
                <a16:creationId xmlns:a16="http://schemas.microsoft.com/office/drawing/2014/main" id="{C4B8F0A8-AD80-0E4D-63EB-A858AC08A929}"/>
              </a:ext>
            </a:extLst>
          </p:cNvPr>
          <p:cNvSpPr>
            <a:spLocks noGrp="1"/>
          </p:cNvSpPr>
          <p:nvPr>
            <p:ph type="body" sz="quarter" idx="12"/>
          </p:nvPr>
        </p:nvSpPr>
        <p:spPr>
          <a:xfrm>
            <a:off x="276489" y="1345173"/>
            <a:ext cx="11729362" cy="5161440"/>
          </a:xfrm>
        </p:spPr>
        <p:txBody>
          <a:bodyPr/>
          <a:lstStyle/>
          <a:p>
            <a:r>
              <a:rPr lang="de-DE" sz="1800" dirty="0"/>
              <a:t>G. Keller ; M. </a:t>
            </a:r>
            <a:r>
              <a:rPr lang="de-DE" sz="1800" dirty="0" err="1"/>
              <a:t>Nüttgens</a:t>
            </a:r>
            <a:r>
              <a:rPr lang="de-DE" sz="1800" dirty="0"/>
              <a:t> ; A.-W. Scheer (1992), Semantische </a:t>
            </a:r>
            <a:r>
              <a:rPr lang="de-DE" sz="1800" dirty="0" err="1"/>
              <a:t>Prozeßmodellierung</a:t>
            </a:r>
            <a:r>
              <a:rPr lang="de-DE" sz="1800" dirty="0"/>
              <a:t> auf der Grundlage Ereignisgesteuerter </a:t>
            </a:r>
            <a:r>
              <a:rPr lang="de-DE" sz="1800" dirty="0" err="1"/>
              <a:t>Prozeßketten</a:t>
            </a:r>
            <a:r>
              <a:rPr lang="de-DE" sz="1800" dirty="0"/>
              <a:t> (EPK), Working Paper, Universität Saarbrücken</a:t>
            </a:r>
          </a:p>
          <a:p>
            <a:endParaRPr lang="de-DE" sz="1800" dirty="0"/>
          </a:p>
        </p:txBody>
      </p:sp>
    </p:spTree>
    <p:extLst>
      <p:ext uri="{BB962C8B-B14F-4D97-AF65-F5344CB8AC3E}">
        <p14:creationId xmlns:p14="http://schemas.microsoft.com/office/powerpoint/2010/main" val="1862886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E54C1-13E7-7B2F-5010-43FFEFAE5CD4}"/>
              </a:ext>
            </a:extLst>
          </p:cNvPr>
          <p:cNvSpPr>
            <a:spLocks noGrp="1"/>
          </p:cNvSpPr>
          <p:nvPr>
            <p:ph type="title"/>
          </p:nvPr>
        </p:nvSpPr>
        <p:spPr/>
        <p:txBody>
          <a:bodyPr/>
          <a:lstStyle/>
          <a:p>
            <a:r>
              <a:rPr lang="de-DE" dirty="0"/>
              <a:t>Aufgabe 1: Bibliotheksausleihe</a:t>
            </a:r>
          </a:p>
        </p:txBody>
      </p:sp>
      <p:sp>
        <p:nvSpPr>
          <p:cNvPr id="3" name="Textplatzhalter 2">
            <a:extLst>
              <a:ext uri="{FF2B5EF4-FFF2-40B4-BE49-F238E27FC236}">
                <a16:creationId xmlns:a16="http://schemas.microsoft.com/office/drawing/2014/main" id="{5E0AB0E7-F1E9-C4B2-D1BD-0470B0050D64}"/>
              </a:ext>
            </a:extLst>
          </p:cNvPr>
          <p:cNvSpPr>
            <a:spLocks noGrp="1"/>
          </p:cNvSpPr>
          <p:nvPr>
            <p:ph type="body" sz="quarter" idx="12"/>
          </p:nvPr>
        </p:nvSpPr>
        <p:spPr>
          <a:xfrm>
            <a:off x="252000" y="1455420"/>
            <a:ext cx="4996276" cy="4792980"/>
          </a:xfrm>
        </p:spPr>
        <p:txBody>
          <a:bodyPr/>
          <a:lstStyle/>
          <a:p>
            <a:r>
              <a:rPr lang="de-DE" sz="2000" dirty="0"/>
              <a:t>Ein Student möchte ein Buch ausleihen. Er sucht das Buch im Katalog. Ist das Buch verfügbar, leiht der Bibliothekar das Buch aus. Ist es nicht verfügbar, wird der Student informiert. Der Prozess endet.</a:t>
            </a:r>
          </a:p>
        </p:txBody>
      </p:sp>
      <p:sp>
        <p:nvSpPr>
          <p:cNvPr id="12" name="Rechteck 11">
            <a:extLst>
              <a:ext uri="{FF2B5EF4-FFF2-40B4-BE49-F238E27FC236}">
                <a16:creationId xmlns:a16="http://schemas.microsoft.com/office/drawing/2014/main" id="{21D13930-9F90-E9FB-7C46-1816FA23A2A5}"/>
              </a:ext>
            </a:extLst>
          </p:cNvPr>
          <p:cNvSpPr/>
          <p:nvPr/>
        </p:nvSpPr>
        <p:spPr>
          <a:xfrm>
            <a:off x="8410413" y="1971421"/>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Suche im </a:t>
            </a:r>
          </a:p>
          <a:p>
            <a:pPr algn="ctr"/>
            <a:r>
              <a:rPr lang="de-DE" sz="1000" dirty="0"/>
              <a:t>Katalog</a:t>
            </a:r>
          </a:p>
        </p:txBody>
      </p:sp>
      <p:cxnSp>
        <p:nvCxnSpPr>
          <p:cNvPr id="18" name="Gerade Verbindung mit Pfeil 17">
            <a:extLst>
              <a:ext uri="{FF2B5EF4-FFF2-40B4-BE49-F238E27FC236}">
                <a16:creationId xmlns:a16="http://schemas.microsoft.com/office/drawing/2014/main" id="{BDEFEC4C-D7BE-4D75-5C73-5D9086EE224F}"/>
              </a:ext>
            </a:extLst>
          </p:cNvPr>
          <p:cNvCxnSpPr>
            <a:cxnSpLocks/>
            <a:endCxn id="12" idx="0"/>
          </p:cNvCxnSpPr>
          <p:nvPr/>
        </p:nvCxnSpPr>
        <p:spPr>
          <a:xfrm>
            <a:off x="8984703" y="1686352"/>
            <a:ext cx="0" cy="285069"/>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20" name="Textplatzhalter 2">
            <a:extLst>
              <a:ext uri="{FF2B5EF4-FFF2-40B4-BE49-F238E27FC236}">
                <a16:creationId xmlns:a16="http://schemas.microsoft.com/office/drawing/2014/main" id="{7BCEE2CE-0CFE-BC88-50C1-86DD76DE6F7A}"/>
              </a:ext>
            </a:extLst>
          </p:cNvPr>
          <p:cNvSpPr txBox="1">
            <a:spLocks/>
          </p:cNvSpPr>
          <p:nvPr/>
        </p:nvSpPr>
        <p:spPr>
          <a:xfrm>
            <a:off x="8410413" y="1178144"/>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Std. will Buch ausleihen</a:t>
            </a:r>
          </a:p>
        </p:txBody>
      </p:sp>
      <p:sp>
        <p:nvSpPr>
          <p:cNvPr id="21" name="Textplatzhalter 2">
            <a:extLst>
              <a:ext uri="{FF2B5EF4-FFF2-40B4-BE49-F238E27FC236}">
                <a16:creationId xmlns:a16="http://schemas.microsoft.com/office/drawing/2014/main" id="{B6FE262A-7D70-4D3D-29C1-68C058C70147}"/>
              </a:ext>
            </a:extLst>
          </p:cNvPr>
          <p:cNvSpPr txBox="1">
            <a:spLocks/>
          </p:cNvSpPr>
          <p:nvPr/>
        </p:nvSpPr>
        <p:spPr>
          <a:xfrm>
            <a:off x="7319801" y="2857384"/>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Buch </a:t>
            </a:r>
            <a:br>
              <a:rPr lang="de-DE" sz="1000" dirty="0"/>
            </a:br>
            <a:r>
              <a:rPr lang="de-DE" sz="1000" dirty="0"/>
              <a:t>verfügbar</a:t>
            </a:r>
          </a:p>
        </p:txBody>
      </p:sp>
      <p:sp>
        <p:nvSpPr>
          <p:cNvPr id="22" name="Textplatzhalter 2">
            <a:extLst>
              <a:ext uri="{FF2B5EF4-FFF2-40B4-BE49-F238E27FC236}">
                <a16:creationId xmlns:a16="http://schemas.microsoft.com/office/drawing/2014/main" id="{2EB97FDE-C4B7-008F-88EC-F577B2002146}"/>
              </a:ext>
            </a:extLst>
          </p:cNvPr>
          <p:cNvSpPr txBox="1">
            <a:spLocks/>
          </p:cNvSpPr>
          <p:nvPr/>
        </p:nvSpPr>
        <p:spPr>
          <a:xfrm>
            <a:off x="9501026" y="2857384"/>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Buch nicht </a:t>
            </a:r>
            <a:br>
              <a:rPr lang="de-DE" sz="1000" dirty="0"/>
            </a:br>
            <a:r>
              <a:rPr lang="de-DE" sz="1000" dirty="0"/>
              <a:t>verfügbar</a:t>
            </a:r>
          </a:p>
        </p:txBody>
      </p:sp>
      <p:sp>
        <p:nvSpPr>
          <p:cNvPr id="23" name="Rechteck 22">
            <a:extLst>
              <a:ext uri="{FF2B5EF4-FFF2-40B4-BE49-F238E27FC236}">
                <a16:creationId xmlns:a16="http://schemas.microsoft.com/office/drawing/2014/main" id="{A7A051D2-F544-21C2-043B-9CEED8D4A8A4}"/>
              </a:ext>
            </a:extLst>
          </p:cNvPr>
          <p:cNvSpPr/>
          <p:nvPr/>
        </p:nvSpPr>
        <p:spPr>
          <a:xfrm>
            <a:off x="7261833" y="3650661"/>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Buch </a:t>
            </a:r>
          </a:p>
          <a:p>
            <a:pPr algn="ctr"/>
            <a:r>
              <a:rPr lang="de-DE" sz="1000" dirty="0"/>
              <a:t>ausleihen</a:t>
            </a:r>
          </a:p>
        </p:txBody>
      </p:sp>
      <p:sp>
        <p:nvSpPr>
          <p:cNvPr id="29" name="Ellipse 28">
            <a:extLst>
              <a:ext uri="{FF2B5EF4-FFF2-40B4-BE49-F238E27FC236}">
                <a16:creationId xmlns:a16="http://schemas.microsoft.com/office/drawing/2014/main" id="{08C0E002-FDF6-4D73-6903-6AC45BDD9FC1}"/>
              </a:ext>
            </a:extLst>
          </p:cNvPr>
          <p:cNvSpPr/>
          <p:nvPr/>
        </p:nvSpPr>
        <p:spPr>
          <a:xfrm>
            <a:off x="8841594" y="2728864"/>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sp>
        <p:nvSpPr>
          <p:cNvPr id="30" name="Textplatzhalter 2">
            <a:extLst>
              <a:ext uri="{FF2B5EF4-FFF2-40B4-BE49-F238E27FC236}">
                <a16:creationId xmlns:a16="http://schemas.microsoft.com/office/drawing/2014/main" id="{1CAF10D1-7E5E-80D5-BCA7-1F3B2DA7EEEA}"/>
              </a:ext>
            </a:extLst>
          </p:cNvPr>
          <p:cNvSpPr txBox="1">
            <a:spLocks/>
          </p:cNvSpPr>
          <p:nvPr/>
        </p:nvSpPr>
        <p:spPr>
          <a:xfrm>
            <a:off x="7261833" y="4443939"/>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Buch ist ausgeliehen</a:t>
            </a:r>
          </a:p>
        </p:txBody>
      </p:sp>
      <p:sp>
        <p:nvSpPr>
          <p:cNvPr id="31" name="Rechteck 30">
            <a:extLst>
              <a:ext uri="{FF2B5EF4-FFF2-40B4-BE49-F238E27FC236}">
                <a16:creationId xmlns:a16="http://schemas.microsoft.com/office/drawing/2014/main" id="{10F573B2-BC0E-1591-9B33-5C2FA7E0807F}"/>
              </a:ext>
            </a:extLst>
          </p:cNvPr>
          <p:cNvSpPr/>
          <p:nvPr/>
        </p:nvSpPr>
        <p:spPr>
          <a:xfrm>
            <a:off x="9443058" y="3660232"/>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Student informieren</a:t>
            </a:r>
          </a:p>
        </p:txBody>
      </p:sp>
      <p:sp>
        <p:nvSpPr>
          <p:cNvPr id="32" name="Textplatzhalter 2">
            <a:extLst>
              <a:ext uri="{FF2B5EF4-FFF2-40B4-BE49-F238E27FC236}">
                <a16:creationId xmlns:a16="http://schemas.microsoft.com/office/drawing/2014/main" id="{1A10A555-8EBB-56D6-A13E-19C6D9FFD1E9}"/>
              </a:ext>
            </a:extLst>
          </p:cNvPr>
          <p:cNvSpPr txBox="1">
            <a:spLocks/>
          </p:cNvSpPr>
          <p:nvPr/>
        </p:nvSpPr>
        <p:spPr>
          <a:xfrm>
            <a:off x="9443058" y="4443939"/>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Student ist informiert</a:t>
            </a:r>
          </a:p>
        </p:txBody>
      </p:sp>
      <p:cxnSp>
        <p:nvCxnSpPr>
          <p:cNvPr id="35" name="Gerade Verbindung mit Pfeil 34">
            <a:extLst>
              <a:ext uri="{FF2B5EF4-FFF2-40B4-BE49-F238E27FC236}">
                <a16:creationId xmlns:a16="http://schemas.microsoft.com/office/drawing/2014/main" id="{15281B4A-BCA8-8A0C-2E99-37BFC7BB18B9}"/>
              </a:ext>
            </a:extLst>
          </p:cNvPr>
          <p:cNvCxnSpPr>
            <a:cxnSpLocks/>
            <a:endCxn id="21" idx="0"/>
          </p:cNvCxnSpPr>
          <p:nvPr/>
        </p:nvCxnSpPr>
        <p:spPr>
          <a:xfrm flipH="1">
            <a:off x="8468381" y="2857383"/>
            <a:ext cx="372666" cy="277277"/>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B70AF71B-5C28-F23B-844B-8DF0BFB0314E}"/>
              </a:ext>
            </a:extLst>
          </p:cNvPr>
          <p:cNvCxnSpPr>
            <a:cxnSpLocks/>
            <a:endCxn id="22" idx="3"/>
          </p:cNvCxnSpPr>
          <p:nvPr/>
        </p:nvCxnSpPr>
        <p:spPr>
          <a:xfrm>
            <a:off x="9127812" y="2857383"/>
            <a:ext cx="373214" cy="277277"/>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3782051E-EA07-08DB-65D7-058B7FF18B19}"/>
              </a:ext>
            </a:extLst>
          </p:cNvPr>
          <p:cNvCxnSpPr>
            <a:cxnSpLocks/>
            <a:stCxn id="12" idx="2"/>
          </p:cNvCxnSpPr>
          <p:nvPr/>
        </p:nvCxnSpPr>
        <p:spPr>
          <a:xfrm>
            <a:off x="8984703" y="2525972"/>
            <a:ext cx="0" cy="202892"/>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C8AEDDCA-E6AD-B1BF-010B-7214DA6CAD04}"/>
              </a:ext>
            </a:extLst>
          </p:cNvPr>
          <p:cNvCxnSpPr>
            <a:cxnSpLocks/>
          </p:cNvCxnSpPr>
          <p:nvPr/>
        </p:nvCxnSpPr>
        <p:spPr>
          <a:xfrm>
            <a:off x="7905203" y="3365592"/>
            <a:ext cx="0" cy="285069"/>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a:extLst>
              <a:ext uri="{FF2B5EF4-FFF2-40B4-BE49-F238E27FC236}">
                <a16:creationId xmlns:a16="http://schemas.microsoft.com/office/drawing/2014/main" id="{61829691-C102-DABD-E403-690ABDB5D268}"/>
              </a:ext>
            </a:extLst>
          </p:cNvPr>
          <p:cNvCxnSpPr>
            <a:cxnSpLocks/>
          </p:cNvCxnSpPr>
          <p:nvPr/>
        </p:nvCxnSpPr>
        <p:spPr>
          <a:xfrm>
            <a:off x="7905203" y="4158870"/>
            <a:ext cx="0" cy="285069"/>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59F9A491-2BB1-2385-BBCD-8A7B00EA3BD4}"/>
              </a:ext>
            </a:extLst>
          </p:cNvPr>
          <p:cNvCxnSpPr>
            <a:cxnSpLocks/>
          </p:cNvCxnSpPr>
          <p:nvPr/>
        </p:nvCxnSpPr>
        <p:spPr>
          <a:xfrm>
            <a:off x="10051503" y="3365592"/>
            <a:ext cx="0" cy="285069"/>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0D14C2A5-52EF-A1EC-F607-935F48394EBE}"/>
              </a:ext>
            </a:extLst>
          </p:cNvPr>
          <p:cNvCxnSpPr>
            <a:cxnSpLocks/>
          </p:cNvCxnSpPr>
          <p:nvPr/>
        </p:nvCxnSpPr>
        <p:spPr>
          <a:xfrm>
            <a:off x="10051503" y="4158870"/>
            <a:ext cx="0" cy="285069"/>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420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63A55C-9E0B-AA55-FCF6-6274573CA83C}"/>
              </a:ext>
            </a:extLst>
          </p:cNvPr>
          <p:cNvSpPr>
            <a:spLocks noGrp="1"/>
          </p:cNvSpPr>
          <p:nvPr>
            <p:ph type="title"/>
          </p:nvPr>
        </p:nvSpPr>
        <p:spPr/>
        <p:txBody>
          <a:bodyPr/>
          <a:lstStyle/>
          <a:p>
            <a:r>
              <a:rPr lang="de-DE" dirty="0"/>
              <a:t>Aufgabe 2 – Hotelreservierung</a:t>
            </a:r>
          </a:p>
        </p:txBody>
      </p:sp>
      <p:sp>
        <p:nvSpPr>
          <p:cNvPr id="3" name="Textplatzhalter 2">
            <a:extLst>
              <a:ext uri="{FF2B5EF4-FFF2-40B4-BE49-F238E27FC236}">
                <a16:creationId xmlns:a16="http://schemas.microsoft.com/office/drawing/2014/main" id="{4E0F2FFE-BE74-F60C-2258-8568AA60AE64}"/>
              </a:ext>
            </a:extLst>
          </p:cNvPr>
          <p:cNvSpPr>
            <a:spLocks noGrp="1"/>
          </p:cNvSpPr>
          <p:nvPr>
            <p:ph type="body" sz="quarter" idx="12"/>
          </p:nvPr>
        </p:nvSpPr>
        <p:spPr>
          <a:xfrm>
            <a:off x="252000" y="1455420"/>
            <a:ext cx="5379544" cy="4792980"/>
          </a:xfrm>
        </p:spPr>
        <p:txBody>
          <a:bodyPr/>
          <a:lstStyle/>
          <a:p>
            <a:pPr marL="0" indent="0">
              <a:buNone/>
            </a:pPr>
            <a:br>
              <a:rPr lang="de-DE" dirty="0"/>
            </a:br>
            <a:r>
              <a:rPr lang="de-DE" dirty="0"/>
              <a:t>Ein Gast möchte ein Hotelzimmer über das Internet buchen. Nach Eingang der Buchungsanfrage werden gleichzeitig die Verfügbarkeit des gewünschten Zimmers geprüft und die Zahlungsdaten validiert. Ist kein Zimmer verfügbar, erhält der Gast eine Absage. Sind Zimmer verfügbar und die Zahlungsdaten gültig, wird die Reservierung bestätigt.</a:t>
            </a:r>
          </a:p>
        </p:txBody>
      </p:sp>
      <p:sp>
        <p:nvSpPr>
          <p:cNvPr id="4" name="Rechteck 3">
            <a:extLst>
              <a:ext uri="{FF2B5EF4-FFF2-40B4-BE49-F238E27FC236}">
                <a16:creationId xmlns:a16="http://schemas.microsoft.com/office/drawing/2014/main" id="{4AF7D4FD-B6B8-1186-533E-8562B896EA04}"/>
              </a:ext>
            </a:extLst>
          </p:cNvPr>
          <p:cNvSpPr/>
          <p:nvPr/>
        </p:nvSpPr>
        <p:spPr>
          <a:xfrm>
            <a:off x="7836123" y="2511154"/>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Verfügbarkeit prüfen</a:t>
            </a:r>
          </a:p>
        </p:txBody>
      </p:sp>
      <p:cxnSp>
        <p:nvCxnSpPr>
          <p:cNvPr id="5" name="Gerade Verbindung mit Pfeil 4">
            <a:extLst>
              <a:ext uri="{FF2B5EF4-FFF2-40B4-BE49-F238E27FC236}">
                <a16:creationId xmlns:a16="http://schemas.microsoft.com/office/drawing/2014/main" id="{A7CBBE7E-011B-41F9-032F-0F6F2B49C53B}"/>
              </a:ext>
            </a:extLst>
          </p:cNvPr>
          <p:cNvCxnSpPr>
            <a:cxnSpLocks/>
            <a:stCxn id="24" idx="4"/>
            <a:endCxn id="4" idx="0"/>
          </p:cNvCxnSpPr>
          <p:nvPr/>
        </p:nvCxnSpPr>
        <p:spPr>
          <a:xfrm flipH="1">
            <a:off x="8410413" y="2141905"/>
            <a:ext cx="574290" cy="36924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Textplatzhalter 2">
            <a:extLst>
              <a:ext uri="{FF2B5EF4-FFF2-40B4-BE49-F238E27FC236}">
                <a16:creationId xmlns:a16="http://schemas.microsoft.com/office/drawing/2014/main" id="{00FFF6D7-1E68-D1FA-24A0-4621C5544CFD}"/>
              </a:ext>
            </a:extLst>
          </p:cNvPr>
          <p:cNvSpPr txBox="1">
            <a:spLocks/>
          </p:cNvSpPr>
          <p:nvPr/>
        </p:nvSpPr>
        <p:spPr>
          <a:xfrm>
            <a:off x="8410413" y="1053039"/>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Gast möchte Hotelzimmer buchen</a:t>
            </a:r>
          </a:p>
        </p:txBody>
      </p:sp>
      <p:sp>
        <p:nvSpPr>
          <p:cNvPr id="8" name="Textplatzhalter 2">
            <a:extLst>
              <a:ext uri="{FF2B5EF4-FFF2-40B4-BE49-F238E27FC236}">
                <a16:creationId xmlns:a16="http://schemas.microsoft.com/office/drawing/2014/main" id="{4D930805-A94F-2846-C025-DE67B1205D85}"/>
              </a:ext>
            </a:extLst>
          </p:cNvPr>
          <p:cNvSpPr txBox="1">
            <a:spLocks/>
          </p:cNvSpPr>
          <p:nvPr/>
        </p:nvSpPr>
        <p:spPr>
          <a:xfrm>
            <a:off x="7836123" y="3268597"/>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Zimmer vorhanden</a:t>
            </a:r>
          </a:p>
        </p:txBody>
      </p:sp>
      <p:sp>
        <p:nvSpPr>
          <p:cNvPr id="24" name="Ellipse 23">
            <a:extLst>
              <a:ext uri="{FF2B5EF4-FFF2-40B4-BE49-F238E27FC236}">
                <a16:creationId xmlns:a16="http://schemas.microsoft.com/office/drawing/2014/main" id="{F950FE17-8DE5-5A1C-F54B-CA0F1A6D54E1}"/>
              </a:ext>
            </a:extLst>
          </p:cNvPr>
          <p:cNvSpPr/>
          <p:nvPr/>
        </p:nvSpPr>
        <p:spPr>
          <a:xfrm>
            <a:off x="8841594" y="1884866"/>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37" name="Rechteck 36">
            <a:extLst>
              <a:ext uri="{FF2B5EF4-FFF2-40B4-BE49-F238E27FC236}">
                <a16:creationId xmlns:a16="http://schemas.microsoft.com/office/drawing/2014/main" id="{B9A16BDE-0F18-65D7-4598-513E209C5515}"/>
              </a:ext>
            </a:extLst>
          </p:cNvPr>
          <p:cNvSpPr/>
          <p:nvPr/>
        </p:nvSpPr>
        <p:spPr>
          <a:xfrm>
            <a:off x="9112277" y="2511154"/>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Zahlungsdaten validieren</a:t>
            </a:r>
          </a:p>
        </p:txBody>
      </p:sp>
      <p:cxnSp>
        <p:nvCxnSpPr>
          <p:cNvPr id="38" name="Gerade Verbindung mit Pfeil 37">
            <a:extLst>
              <a:ext uri="{FF2B5EF4-FFF2-40B4-BE49-F238E27FC236}">
                <a16:creationId xmlns:a16="http://schemas.microsoft.com/office/drawing/2014/main" id="{3B5C7946-C856-25B3-C941-04578AEA7C8E}"/>
              </a:ext>
            </a:extLst>
          </p:cNvPr>
          <p:cNvCxnSpPr>
            <a:cxnSpLocks/>
            <a:stCxn id="24" idx="4"/>
          </p:cNvCxnSpPr>
          <p:nvPr/>
        </p:nvCxnSpPr>
        <p:spPr>
          <a:xfrm>
            <a:off x="8984703" y="2141905"/>
            <a:ext cx="701864" cy="36924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EB0E6F02-2CB0-ED78-CF35-2013C38C9ABE}"/>
              </a:ext>
            </a:extLst>
          </p:cNvPr>
          <p:cNvCxnSpPr>
            <a:cxnSpLocks/>
          </p:cNvCxnSpPr>
          <p:nvPr/>
        </p:nvCxnSpPr>
        <p:spPr>
          <a:xfrm flipH="1">
            <a:off x="9107242" y="4386577"/>
            <a:ext cx="1" cy="17556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5" name="Textplatzhalter 2">
            <a:extLst>
              <a:ext uri="{FF2B5EF4-FFF2-40B4-BE49-F238E27FC236}">
                <a16:creationId xmlns:a16="http://schemas.microsoft.com/office/drawing/2014/main" id="{F150D63E-B14E-6D6C-1250-C7EEAD647C6E}"/>
              </a:ext>
            </a:extLst>
          </p:cNvPr>
          <p:cNvSpPr txBox="1">
            <a:spLocks/>
          </p:cNvSpPr>
          <p:nvPr/>
        </p:nvSpPr>
        <p:spPr>
          <a:xfrm>
            <a:off x="9127812" y="3268597"/>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Zahlungsdaten akzeptiert</a:t>
            </a:r>
          </a:p>
        </p:txBody>
      </p:sp>
      <p:sp>
        <p:nvSpPr>
          <p:cNvPr id="47" name="Rechteck 46">
            <a:extLst>
              <a:ext uri="{FF2B5EF4-FFF2-40B4-BE49-F238E27FC236}">
                <a16:creationId xmlns:a16="http://schemas.microsoft.com/office/drawing/2014/main" id="{FCD1A808-E928-2B38-F3B6-8D4A5D69215E}"/>
              </a:ext>
            </a:extLst>
          </p:cNvPr>
          <p:cNvSpPr/>
          <p:nvPr/>
        </p:nvSpPr>
        <p:spPr>
          <a:xfrm>
            <a:off x="8526382" y="4520630"/>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Gast erhält eine zusage</a:t>
            </a:r>
          </a:p>
        </p:txBody>
      </p:sp>
      <p:sp>
        <p:nvSpPr>
          <p:cNvPr id="52" name="Ellipse 51">
            <a:extLst>
              <a:ext uri="{FF2B5EF4-FFF2-40B4-BE49-F238E27FC236}">
                <a16:creationId xmlns:a16="http://schemas.microsoft.com/office/drawing/2014/main" id="{EF82A233-AF34-27CE-A02C-5D3F98DA478B}"/>
              </a:ext>
            </a:extLst>
          </p:cNvPr>
          <p:cNvSpPr/>
          <p:nvPr/>
        </p:nvSpPr>
        <p:spPr>
          <a:xfrm>
            <a:off x="8951188" y="4123321"/>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cxnSp>
        <p:nvCxnSpPr>
          <p:cNvPr id="62" name="Gerade Verbindung mit Pfeil 61">
            <a:extLst>
              <a:ext uri="{FF2B5EF4-FFF2-40B4-BE49-F238E27FC236}">
                <a16:creationId xmlns:a16="http://schemas.microsoft.com/office/drawing/2014/main" id="{AA10ACA3-8B04-C3F3-DD91-3318812BDBE2}"/>
              </a:ext>
            </a:extLst>
          </p:cNvPr>
          <p:cNvCxnSpPr>
            <a:cxnSpLocks/>
            <a:endCxn id="52" idx="1"/>
          </p:cNvCxnSpPr>
          <p:nvPr/>
        </p:nvCxnSpPr>
        <p:spPr>
          <a:xfrm>
            <a:off x="8410413" y="3823148"/>
            <a:ext cx="582691" cy="33781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3" name="Gerade Verbindung mit Pfeil 62">
            <a:extLst>
              <a:ext uri="{FF2B5EF4-FFF2-40B4-BE49-F238E27FC236}">
                <a16:creationId xmlns:a16="http://schemas.microsoft.com/office/drawing/2014/main" id="{04DFEADB-2FC9-BE6A-03F0-18CE9BA64829}"/>
              </a:ext>
            </a:extLst>
          </p:cNvPr>
          <p:cNvCxnSpPr>
            <a:cxnSpLocks/>
          </p:cNvCxnSpPr>
          <p:nvPr/>
        </p:nvCxnSpPr>
        <p:spPr>
          <a:xfrm flipH="1">
            <a:off x="9203891" y="3823148"/>
            <a:ext cx="455899" cy="3481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0" name="Textplatzhalter 2">
            <a:extLst>
              <a:ext uri="{FF2B5EF4-FFF2-40B4-BE49-F238E27FC236}">
                <a16:creationId xmlns:a16="http://schemas.microsoft.com/office/drawing/2014/main" id="{8BD7CADD-767F-2AF5-157F-521FED3F98D2}"/>
              </a:ext>
            </a:extLst>
          </p:cNvPr>
          <p:cNvSpPr txBox="1">
            <a:spLocks/>
          </p:cNvSpPr>
          <p:nvPr/>
        </p:nvSpPr>
        <p:spPr>
          <a:xfrm>
            <a:off x="8568355" y="5259627"/>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Vorgang beendet</a:t>
            </a:r>
          </a:p>
        </p:txBody>
      </p:sp>
      <p:cxnSp>
        <p:nvCxnSpPr>
          <p:cNvPr id="73" name="Gerade Verbindung mit Pfeil 72">
            <a:extLst>
              <a:ext uri="{FF2B5EF4-FFF2-40B4-BE49-F238E27FC236}">
                <a16:creationId xmlns:a16="http://schemas.microsoft.com/office/drawing/2014/main" id="{ECA97AF4-7E09-164B-C6E8-C61155AB49FD}"/>
              </a:ext>
            </a:extLst>
          </p:cNvPr>
          <p:cNvCxnSpPr>
            <a:cxnSpLocks/>
          </p:cNvCxnSpPr>
          <p:nvPr/>
        </p:nvCxnSpPr>
        <p:spPr>
          <a:xfrm>
            <a:off x="9634128" y="3045196"/>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5" name="Gerade Verbindung mit Pfeil 74">
            <a:extLst>
              <a:ext uri="{FF2B5EF4-FFF2-40B4-BE49-F238E27FC236}">
                <a16:creationId xmlns:a16="http://schemas.microsoft.com/office/drawing/2014/main" id="{5004DACB-BB36-434A-CCE7-61A738B75B30}"/>
              </a:ext>
            </a:extLst>
          </p:cNvPr>
          <p:cNvCxnSpPr>
            <a:cxnSpLocks/>
          </p:cNvCxnSpPr>
          <p:nvPr/>
        </p:nvCxnSpPr>
        <p:spPr>
          <a:xfrm>
            <a:off x="8395716" y="3045196"/>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6" name="Gerade Verbindung mit Pfeil 75">
            <a:extLst>
              <a:ext uri="{FF2B5EF4-FFF2-40B4-BE49-F238E27FC236}">
                <a16:creationId xmlns:a16="http://schemas.microsoft.com/office/drawing/2014/main" id="{D8BBA6A3-596E-779B-A041-7EC2242E8254}"/>
              </a:ext>
            </a:extLst>
          </p:cNvPr>
          <p:cNvCxnSpPr>
            <a:cxnSpLocks/>
          </p:cNvCxnSpPr>
          <p:nvPr/>
        </p:nvCxnSpPr>
        <p:spPr>
          <a:xfrm>
            <a:off x="8993104" y="1607590"/>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7" name="Gerade Verbindung mit Pfeil 76">
            <a:extLst>
              <a:ext uri="{FF2B5EF4-FFF2-40B4-BE49-F238E27FC236}">
                <a16:creationId xmlns:a16="http://schemas.microsoft.com/office/drawing/2014/main" id="{77112E08-B8A3-84C4-C1E3-39773578DE41}"/>
              </a:ext>
            </a:extLst>
          </p:cNvPr>
          <p:cNvCxnSpPr>
            <a:cxnSpLocks/>
          </p:cNvCxnSpPr>
          <p:nvPr/>
        </p:nvCxnSpPr>
        <p:spPr>
          <a:xfrm>
            <a:off x="9127812" y="5026858"/>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137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7167-5F95-B278-68B5-5C122B38059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94F61A-DC69-5FAD-0C91-3F490B905E7D}"/>
              </a:ext>
            </a:extLst>
          </p:cNvPr>
          <p:cNvSpPr>
            <a:spLocks noGrp="1"/>
          </p:cNvSpPr>
          <p:nvPr>
            <p:ph type="title"/>
          </p:nvPr>
        </p:nvSpPr>
        <p:spPr/>
        <p:txBody>
          <a:bodyPr/>
          <a:lstStyle/>
          <a:p>
            <a:r>
              <a:rPr lang="de-DE" dirty="0"/>
              <a:t>Aufgabe 3 – Studienbewerbung</a:t>
            </a:r>
          </a:p>
        </p:txBody>
      </p:sp>
      <p:sp>
        <p:nvSpPr>
          <p:cNvPr id="3" name="Textplatzhalter 2">
            <a:extLst>
              <a:ext uri="{FF2B5EF4-FFF2-40B4-BE49-F238E27FC236}">
                <a16:creationId xmlns:a16="http://schemas.microsoft.com/office/drawing/2014/main" id="{EA291E12-7526-7C42-48ED-4AB645E4EDD6}"/>
              </a:ext>
            </a:extLst>
          </p:cNvPr>
          <p:cNvSpPr>
            <a:spLocks noGrp="1"/>
          </p:cNvSpPr>
          <p:nvPr>
            <p:ph type="body" sz="quarter" idx="12"/>
          </p:nvPr>
        </p:nvSpPr>
        <p:spPr>
          <a:xfrm>
            <a:off x="251999" y="1455420"/>
            <a:ext cx="5844001" cy="4792980"/>
          </a:xfrm>
        </p:spPr>
        <p:txBody>
          <a:bodyPr/>
          <a:lstStyle/>
          <a:p>
            <a:pPr marL="0" indent="0">
              <a:buNone/>
            </a:pPr>
            <a:br>
              <a:rPr lang="de-DE" dirty="0"/>
            </a:br>
            <a:r>
              <a:rPr lang="de-DE" dirty="0"/>
              <a:t>Eine Bewerbung geht bei einer Hochschule ein. Parallel werden </a:t>
            </a:r>
          </a:p>
          <a:p>
            <a:pPr>
              <a:buFontTx/>
              <a:buChar char="-"/>
            </a:pPr>
            <a:r>
              <a:rPr lang="de-DE" dirty="0"/>
              <a:t>Hochschulzugangsberechtigung geprüft,</a:t>
            </a:r>
          </a:p>
          <a:p>
            <a:pPr>
              <a:buFontTx/>
              <a:buChar char="-"/>
            </a:pPr>
            <a:r>
              <a:rPr lang="de-DE" dirty="0"/>
              <a:t>Bewerbungsunterlagen kontrolliert, </a:t>
            </a:r>
          </a:p>
          <a:p>
            <a:pPr>
              <a:buFontTx/>
              <a:buChar char="-"/>
            </a:pPr>
            <a:r>
              <a:rPr lang="de-DE" dirty="0"/>
              <a:t>Bewerbungsgebühr überprüft. </a:t>
            </a:r>
          </a:p>
          <a:p>
            <a:pPr marL="0" indent="0">
              <a:buNone/>
            </a:pPr>
            <a:r>
              <a:rPr lang="de-DE" dirty="0"/>
              <a:t>Sind alle Voraussetzungen erfüllt, entscheidet der Zulassungsausschuss über die Aufnahme. Bei Zulassung erhält der Bewerber einen Studienplatz und kann sich einschreiben. Bei Ablehnung erhält er einen Ablehnungsbescheid.</a:t>
            </a:r>
          </a:p>
        </p:txBody>
      </p:sp>
      <p:sp>
        <p:nvSpPr>
          <p:cNvPr id="5" name="Rechteck 4">
            <a:extLst>
              <a:ext uri="{FF2B5EF4-FFF2-40B4-BE49-F238E27FC236}">
                <a16:creationId xmlns:a16="http://schemas.microsoft.com/office/drawing/2014/main" id="{3921B434-0DD3-1EFF-6099-4CC67295268B}"/>
              </a:ext>
            </a:extLst>
          </p:cNvPr>
          <p:cNvSpPr/>
          <p:nvPr/>
        </p:nvSpPr>
        <p:spPr>
          <a:xfrm>
            <a:off x="6116681" y="1594904"/>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Hochschulzugangs- </a:t>
            </a:r>
            <a:r>
              <a:rPr lang="de-DE" sz="1000" dirty="0" err="1"/>
              <a:t>berechtigung</a:t>
            </a:r>
            <a:r>
              <a:rPr lang="de-DE" sz="1000" dirty="0"/>
              <a:t> geprüft</a:t>
            </a:r>
          </a:p>
        </p:txBody>
      </p:sp>
      <p:sp>
        <p:nvSpPr>
          <p:cNvPr id="7" name="Textplatzhalter 2">
            <a:extLst>
              <a:ext uri="{FF2B5EF4-FFF2-40B4-BE49-F238E27FC236}">
                <a16:creationId xmlns:a16="http://schemas.microsoft.com/office/drawing/2014/main" id="{7179A33C-D9B4-132E-A2D3-EA7B6EA92684}"/>
              </a:ext>
            </a:extLst>
          </p:cNvPr>
          <p:cNvSpPr txBox="1">
            <a:spLocks/>
          </p:cNvSpPr>
          <p:nvPr/>
        </p:nvSpPr>
        <p:spPr>
          <a:xfrm>
            <a:off x="7676539" y="378063"/>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Bewerbung von Stud. geht ein</a:t>
            </a:r>
          </a:p>
        </p:txBody>
      </p:sp>
      <p:sp>
        <p:nvSpPr>
          <p:cNvPr id="8" name="Rechteck 7">
            <a:extLst>
              <a:ext uri="{FF2B5EF4-FFF2-40B4-BE49-F238E27FC236}">
                <a16:creationId xmlns:a16="http://schemas.microsoft.com/office/drawing/2014/main" id="{66127F9E-4DE8-9A26-0DDC-5DA924E09DB7}"/>
              </a:ext>
            </a:extLst>
          </p:cNvPr>
          <p:cNvSpPr/>
          <p:nvPr/>
        </p:nvSpPr>
        <p:spPr>
          <a:xfrm>
            <a:off x="7676539" y="1555327"/>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Bewerbungsunterlagen kontrolliert</a:t>
            </a:r>
          </a:p>
        </p:txBody>
      </p:sp>
      <p:sp>
        <p:nvSpPr>
          <p:cNvPr id="9" name="Rechteck 8">
            <a:extLst>
              <a:ext uri="{FF2B5EF4-FFF2-40B4-BE49-F238E27FC236}">
                <a16:creationId xmlns:a16="http://schemas.microsoft.com/office/drawing/2014/main" id="{713C8874-3294-6B1A-6970-6E9FA0B8BDA0}"/>
              </a:ext>
            </a:extLst>
          </p:cNvPr>
          <p:cNvSpPr/>
          <p:nvPr/>
        </p:nvSpPr>
        <p:spPr>
          <a:xfrm>
            <a:off x="9236397" y="1594904"/>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Bewerbungsgebühr überprüft</a:t>
            </a:r>
          </a:p>
        </p:txBody>
      </p:sp>
      <p:sp>
        <p:nvSpPr>
          <p:cNvPr id="15" name="Ellipse 14">
            <a:extLst>
              <a:ext uri="{FF2B5EF4-FFF2-40B4-BE49-F238E27FC236}">
                <a16:creationId xmlns:a16="http://schemas.microsoft.com/office/drawing/2014/main" id="{00FF9DB5-3835-3D86-67E6-0F648762A6BE}"/>
              </a:ext>
            </a:extLst>
          </p:cNvPr>
          <p:cNvSpPr/>
          <p:nvPr/>
        </p:nvSpPr>
        <p:spPr>
          <a:xfrm>
            <a:off x="8107721" y="1124372"/>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6" name="Textplatzhalter 2">
            <a:extLst>
              <a:ext uri="{FF2B5EF4-FFF2-40B4-BE49-F238E27FC236}">
                <a16:creationId xmlns:a16="http://schemas.microsoft.com/office/drawing/2014/main" id="{E5FE517F-012F-FC49-D956-E7E8B5F612D8}"/>
              </a:ext>
            </a:extLst>
          </p:cNvPr>
          <p:cNvSpPr txBox="1">
            <a:spLocks/>
          </p:cNvSpPr>
          <p:nvPr/>
        </p:nvSpPr>
        <p:spPr>
          <a:xfrm>
            <a:off x="7665707" y="2723968"/>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None/>
            </a:pPr>
            <a:r>
              <a:rPr lang="de-DE" sz="1000" dirty="0"/>
              <a:t>Voraus-setzungen erfüllt</a:t>
            </a:r>
          </a:p>
        </p:txBody>
      </p:sp>
      <p:sp>
        <p:nvSpPr>
          <p:cNvPr id="17" name="Ellipse 16">
            <a:extLst>
              <a:ext uri="{FF2B5EF4-FFF2-40B4-BE49-F238E27FC236}">
                <a16:creationId xmlns:a16="http://schemas.microsoft.com/office/drawing/2014/main" id="{D5DA2FE3-905F-4F00-957A-F91097443A97}"/>
              </a:ext>
            </a:extLst>
          </p:cNvPr>
          <p:cNvSpPr/>
          <p:nvPr/>
        </p:nvSpPr>
        <p:spPr>
          <a:xfrm>
            <a:off x="8107721" y="2288697"/>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sym typeface="Symbol"/>
              </a:rPr>
              <a:t></a:t>
            </a:r>
            <a:endParaRPr lang="de-DE" sz="2000" b="1" dirty="0">
              <a:solidFill>
                <a:schemeClr val="tx1"/>
              </a:solidFill>
            </a:endParaRPr>
          </a:p>
        </p:txBody>
      </p:sp>
      <p:sp>
        <p:nvSpPr>
          <p:cNvPr id="18" name="Rechteck 17">
            <a:extLst>
              <a:ext uri="{FF2B5EF4-FFF2-40B4-BE49-F238E27FC236}">
                <a16:creationId xmlns:a16="http://schemas.microsoft.com/office/drawing/2014/main" id="{5074375C-5118-6D2E-E9FE-2ACECA943D69}"/>
              </a:ext>
            </a:extLst>
          </p:cNvPr>
          <p:cNvSpPr/>
          <p:nvPr/>
        </p:nvSpPr>
        <p:spPr>
          <a:xfrm>
            <a:off x="7676539" y="3447531"/>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Entscheidung über Aufnahme</a:t>
            </a:r>
          </a:p>
        </p:txBody>
      </p:sp>
      <p:sp>
        <p:nvSpPr>
          <p:cNvPr id="20" name="Ellipse 19">
            <a:extLst>
              <a:ext uri="{FF2B5EF4-FFF2-40B4-BE49-F238E27FC236}">
                <a16:creationId xmlns:a16="http://schemas.microsoft.com/office/drawing/2014/main" id="{65A01948-BF5D-C8F1-0CA3-C386AA2743F8}"/>
              </a:ext>
            </a:extLst>
          </p:cNvPr>
          <p:cNvSpPr/>
          <p:nvPr/>
        </p:nvSpPr>
        <p:spPr>
          <a:xfrm>
            <a:off x="9315771" y="3370408"/>
            <a:ext cx="1307329"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900" dirty="0" err="1">
                <a:solidFill>
                  <a:srgbClr val="254061"/>
                </a:solidFill>
              </a:rPr>
              <a:t>Zulassungsaussch</a:t>
            </a:r>
            <a:endParaRPr lang="de-DE" sz="900" b="1" dirty="0">
              <a:solidFill>
                <a:srgbClr val="254061"/>
              </a:solidFill>
            </a:endParaRPr>
          </a:p>
        </p:txBody>
      </p:sp>
      <p:cxnSp>
        <p:nvCxnSpPr>
          <p:cNvPr id="22" name="Gerader Verbinder 21">
            <a:extLst>
              <a:ext uri="{FF2B5EF4-FFF2-40B4-BE49-F238E27FC236}">
                <a16:creationId xmlns:a16="http://schemas.microsoft.com/office/drawing/2014/main" id="{F26AB6F2-903D-7658-1020-9887C5D144E9}"/>
              </a:ext>
            </a:extLst>
          </p:cNvPr>
          <p:cNvCxnSpPr>
            <a:stCxn id="20" idx="2"/>
            <a:endCxn id="18" idx="3"/>
          </p:cNvCxnSpPr>
          <p:nvPr/>
        </p:nvCxnSpPr>
        <p:spPr>
          <a:xfrm flipH="1">
            <a:off x="8983868" y="3674796"/>
            <a:ext cx="331903" cy="50011"/>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platzhalter 2">
            <a:extLst>
              <a:ext uri="{FF2B5EF4-FFF2-40B4-BE49-F238E27FC236}">
                <a16:creationId xmlns:a16="http://schemas.microsoft.com/office/drawing/2014/main" id="{246F7D83-4325-1DB3-27C6-E0E39194C3EF}"/>
              </a:ext>
            </a:extLst>
          </p:cNvPr>
          <p:cNvSpPr txBox="1">
            <a:spLocks/>
          </p:cNvSpPr>
          <p:nvPr/>
        </p:nvSpPr>
        <p:spPr>
          <a:xfrm>
            <a:off x="8500307" y="4725661"/>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None/>
            </a:pPr>
            <a:r>
              <a:rPr lang="de-DE" sz="1000" dirty="0"/>
              <a:t>Zulassung</a:t>
            </a:r>
          </a:p>
        </p:txBody>
      </p:sp>
      <p:sp>
        <p:nvSpPr>
          <p:cNvPr id="24" name="Textplatzhalter 2">
            <a:extLst>
              <a:ext uri="{FF2B5EF4-FFF2-40B4-BE49-F238E27FC236}">
                <a16:creationId xmlns:a16="http://schemas.microsoft.com/office/drawing/2014/main" id="{2D2088EA-89AF-2001-C875-5ABC63BBECFE}"/>
              </a:ext>
            </a:extLst>
          </p:cNvPr>
          <p:cNvSpPr txBox="1">
            <a:spLocks/>
          </p:cNvSpPr>
          <p:nvPr/>
        </p:nvSpPr>
        <p:spPr>
          <a:xfrm>
            <a:off x="7030339" y="4725661"/>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None/>
            </a:pPr>
            <a:r>
              <a:rPr lang="de-DE" sz="1000" dirty="0"/>
              <a:t>Ablehnung</a:t>
            </a:r>
          </a:p>
        </p:txBody>
      </p:sp>
      <p:sp>
        <p:nvSpPr>
          <p:cNvPr id="27" name="Rechteck 26">
            <a:extLst>
              <a:ext uri="{FF2B5EF4-FFF2-40B4-BE49-F238E27FC236}">
                <a16:creationId xmlns:a16="http://schemas.microsoft.com/office/drawing/2014/main" id="{D731EC52-B773-D707-2D60-8AEE032A4B38}"/>
              </a:ext>
            </a:extLst>
          </p:cNvPr>
          <p:cNvSpPr/>
          <p:nvPr/>
        </p:nvSpPr>
        <p:spPr>
          <a:xfrm>
            <a:off x="8443943" y="5470796"/>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Kann sich einschreiben</a:t>
            </a:r>
          </a:p>
        </p:txBody>
      </p:sp>
      <p:sp>
        <p:nvSpPr>
          <p:cNvPr id="28" name="Rechteck 27">
            <a:extLst>
              <a:ext uri="{FF2B5EF4-FFF2-40B4-BE49-F238E27FC236}">
                <a16:creationId xmlns:a16="http://schemas.microsoft.com/office/drawing/2014/main" id="{B480A13B-EB5A-3CA3-1B89-E0ABC87FA123}"/>
              </a:ext>
            </a:extLst>
          </p:cNvPr>
          <p:cNvSpPr/>
          <p:nvPr/>
        </p:nvSpPr>
        <p:spPr>
          <a:xfrm>
            <a:off x="6996471" y="5478578"/>
            <a:ext cx="1307329"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Erhält Absage</a:t>
            </a:r>
          </a:p>
        </p:txBody>
      </p:sp>
      <p:sp>
        <p:nvSpPr>
          <p:cNvPr id="30" name="Ellipse 29">
            <a:extLst>
              <a:ext uri="{FF2B5EF4-FFF2-40B4-BE49-F238E27FC236}">
                <a16:creationId xmlns:a16="http://schemas.microsoft.com/office/drawing/2014/main" id="{670F2452-AE0A-A662-23A3-466082DBCD67}"/>
              </a:ext>
            </a:extLst>
          </p:cNvPr>
          <p:cNvSpPr/>
          <p:nvPr/>
        </p:nvSpPr>
        <p:spPr>
          <a:xfrm>
            <a:off x="8107720" y="4185860"/>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sp>
        <p:nvSpPr>
          <p:cNvPr id="31" name="Ellipse 30">
            <a:extLst>
              <a:ext uri="{FF2B5EF4-FFF2-40B4-BE49-F238E27FC236}">
                <a16:creationId xmlns:a16="http://schemas.microsoft.com/office/drawing/2014/main" id="{27F77C3C-F476-E14D-C589-FD13151199A6}"/>
              </a:ext>
            </a:extLst>
          </p:cNvPr>
          <p:cNvSpPr/>
          <p:nvPr/>
        </p:nvSpPr>
        <p:spPr>
          <a:xfrm>
            <a:off x="10261839" y="5555192"/>
            <a:ext cx="1307329"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900" dirty="0">
                <a:solidFill>
                  <a:srgbClr val="254061"/>
                </a:solidFill>
              </a:rPr>
              <a:t>Student,</a:t>
            </a:r>
            <a:endParaRPr lang="de-DE" sz="900" b="1" dirty="0">
              <a:solidFill>
                <a:srgbClr val="254061"/>
              </a:solidFill>
            </a:endParaRPr>
          </a:p>
        </p:txBody>
      </p:sp>
      <p:cxnSp>
        <p:nvCxnSpPr>
          <p:cNvPr id="32" name="Gerader Verbinder 31">
            <a:extLst>
              <a:ext uri="{FF2B5EF4-FFF2-40B4-BE49-F238E27FC236}">
                <a16:creationId xmlns:a16="http://schemas.microsoft.com/office/drawing/2014/main" id="{18291C74-F2C0-D429-C725-82E3C735E77E}"/>
              </a:ext>
            </a:extLst>
          </p:cNvPr>
          <p:cNvCxnSpPr>
            <a:cxnSpLocks/>
            <a:stCxn id="31" idx="2"/>
            <a:endCxn id="27" idx="3"/>
          </p:cNvCxnSpPr>
          <p:nvPr/>
        </p:nvCxnSpPr>
        <p:spPr>
          <a:xfrm flipH="1" flipV="1">
            <a:off x="9751272" y="5748072"/>
            <a:ext cx="510567" cy="111508"/>
          </a:xfrm>
          <a:prstGeom prst="line">
            <a:avLst/>
          </a:prstGeom>
        </p:spPr>
        <p:style>
          <a:lnRef idx="1">
            <a:schemeClr val="accent1"/>
          </a:lnRef>
          <a:fillRef idx="0">
            <a:schemeClr val="accent1"/>
          </a:fillRef>
          <a:effectRef idx="0">
            <a:schemeClr val="accent1"/>
          </a:effectRef>
          <a:fontRef idx="minor">
            <a:schemeClr val="tx1"/>
          </a:fontRef>
        </p:style>
      </p:cxnSp>
      <p:sp>
        <p:nvSpPr>
          <p:cNvPr id="33" name="Ellipse 32">
            <a:extLst>
              <a:ext uri="{FF2B5EF4-FFF2-40B4-BE49-F238E27FC236}">
                <a16:creationId xmlns:a16="http://schemas.microsoft.com/office/drawing/2014/main" id="{0B5AF57B-81B7-0CAB-D8EF-CE83A2858FE4}"/>
              </a:ext>
            </a:extLst>
          </p:cNvPr>
          <p:cNvSpPr/>
          <p:nvPr/>
        </p:nvSpPr>
        <p:spPr>
          <a:xfrm>
            <a:off x="5408857" y="5470796"/>
            <a:ext cx="1307329" cy="608775"/>
          </a:xfrm>
          <a:prstGeom prst="ellipse">
            <a:avLst/>
          </a:prstGeom>
          <a:solidFill>
            <a:schemeClr val="bg1">
              <a:lumMod val="95000"/>
            </a:schemeClr>
          </a:solidFill>
          <a:ln>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de-DE" sz="900" dirty="0">
                <a:solidFill>
                  <a:srgbClr val="254061"/>
                </a:solidFill>
              </a:rPr>
              <a:t>Student,</a:t>
            </a:r>
            <a:endParaRPr lang="de-DE" sz="900" b="1" dirty="0">
              <a:solidFill>
                <a:srgbClr val="254061"/>
              </a:solidFill>
            </a:endParaRPr>
          </a:p>
        </p:txBody>
      </p:sp>
      <p:cxnSp>
        <p:nvCxnSpPr>
          <p:cNvPr id="34" name="Gerader Verbinder 33">
            <a:extLst>
              <a:ext uri="{FF2B5EF4-FFF2-40B4-BE49-F238E27FC236}">
                <a16:creationId xmlns:a16="http://schemas.microsoft.com/office/drawing/2014/main" id="{959905D2-3E2B-EEB4-6968-AEA8AA0672FF}"/>
              </a:ext>
            </a:extLst>
          </p:cNvPr>
          <p:cNvCxnSpPr>
            <a:cxnSpLocks/>
          </p:cNvCxnSpPr>
          <p:nvPr/>
        </p:nvCxnSpPr>
        <p:spPr>
          <a:xfrm flipH="1" flipV="1">
            <a:off x="6721121" y="5780810"/>
            <a:ext cx="370424" cy="27112"/>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platzhalter 2">
            <a:extLst>
              <a:ext uri="{FF2B5EF4-FFF2-40B4-BE49-F238E27FC236}">
                <a16:creationId xmlns:a16="http://schemas.microsoft.com/office/drawing/2014/main" id="{DF266BB0-8E37-4780-DD4A-58BE0B9DF7E9}"/>
              </a:ext>
            </a:extLst>
          </p:cNvPr>
          <p:cNvSpPr txBox="1">
            <a:spLocks/>
          </p:cNvSpPr>
          <p:nvPr/>
        </p:nvSpPr>
        <p:spPr>
          <a:xfrm>
            <a:off x="7115976" y="6223713"/>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None/>
            </a:pPr>
            <a:r>
              <a:rPr lang="de-DE" sz="1000" dirty="0"/>
              <a:t>Vorgang abgeschlossen</a:t>
            </a:r>
          </a:p>
        </p:txBody>
      </p:sp>
      <p:sp>
        <p:nvSpPr>
          <p:cNvPr id="36" name="Textplatzhalter 2">
            <a:extLst>
              <a:ext uri="{FF2B5EF4-FFF2-40B4-BE49-F238E27FC236}">
                <a16:creationId xmlns:a16="http://schemas.microsoft.com/office/drawing/2014/main" id="{BF3690F6-1105-B553-3F7C-3A7A9ED86843}"/>
              </a:ext>
            </a:extLst>
          </p:cNvPr>
          <p:cNvSpPr txBox="1">
            <a:spLocks/>
          </p:cNvSpPr>
          <p:nvPr/>
        </p:nvSpPr>
        <p:spPr>
          <a:xfrm>
            <a:off x="8500307" y="6203767"/>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None/>
            </a:pPr>
            <a:r>
              <a:rPr lang="de-DE" sz="1000" dirty="0"/>
              <a:t>Vorgang abgeschlossen</a:t>
            </a:r>
          </a:p>
        </p:txBody>
      </p:sp>
      <p:cxnSp>
        <p:nvCxnSpPr>
          <p:cNvPr id="38" name="Gerade Verbindung mit Pfeil 37">
            <a:extLst>
              <a:ext uri="{FF2B5EF4-FFF2-40B4-BE49-F238E27FC236}">
                <a16:creationId xmlns:a16="http://schemas.microsoft.com/office/drawing/2014/main" id="{5D8348B8-1402-D744-900B-1360FD3A47F0}"/>
              </a:ext>
            </a:extLst>
          </p:cNvPr>
          <p:cNvCxnSpPr>
            <a:endCxn id="15" idx="0"/>
          </p:cNvCxnSpPr>
          <p:nvPr/>
        </p:nvCxnSpPr>
        <p:spPr>
          <a:xfrm>
            <a:off x="8250830" y="940594"/>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EBABA55F-E787-B152-46ED-B7E1F599D129}"/>
              </a:ext>
            </a:extLst>
          </p:cNvPr>
          <p:cNvCxnSpPr/>
          <p:nvPr/>
        </p:nvCxnSpPr>
        <p:spPr>
          <a:xfrm>
            <a:off x="8250830" y="1375178"/>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8CB510B2-3D82-8DC9-53CF-B426B0921E13}"/>
              </a:ext>
            </a:extLst>
          </p:cNvPr>
          <p:cNvCxnSpPr>
            <a:cxnSpLocks/>
            <a:stCxn id="15" idx="4"/>
          </p:cNvCxnSpPr>
          <p:nvPr/>
        </p:nvCxnSpPr>
        <p:spPr>
          <a:xfrm flipH="1">
            <a:off x="7424010" y="1381411"/>
            <a:ext cx="826820" cy="212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E9EABBAB-0A17-5A0B-98EF-7546D70EEF2B}"/>
              </a:ext>
            </a:extLst>
          </p:cNvPr>
          <p:cNvCxnSpPr>
            <a:cxnSpLocks/>
            <a:stCxn id="15" idx="4"/>
          </p:cNvCxnSpPr>
          <p:nvPr/>
        </p:nvCxnSpPr>
        <p:spPr>
          <a:xfrm>
            <a:off x="8250830" y="1381411"/>
            <a:ext cx="985567" cy="217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Gerade Verbindung mit Pfeil 45">
            <a:extLst>
              <a:ext uri="{FF2B5EF4-FFF2-40B4-BE49-F238E27FC236}">
                <a16:creationId xmlns:a16="http://schemas.microsoft.com/office/drawing/2014/main" id="{A8979767-12C7-3E19-01AA-EA2442562547}"/>
              </a:ext>
            </a:extLst>
          </p:cNvPr>
          <p:cNvCxnSpPr/>
          <p:nvPr/>
        </p:nvCxnSpPr>
        <p:spPr>
          <a:xfrm>
            <a:off x="8250830" y="2109878"/>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Gerade Verbindung mit Pfeil 48">
            <a:extLst>
              <a:ext uri="{FF2B5EF4-FFF2-40B4-BE49-F238E27FC236}">
                <a16:creationId xmlns:a16="http://schemas.microsoft.com/office/drawing/2014/main" id="{C357F697-72F1-6147-7C06-4DD3F45B7498}"/>
              </a:ext>
            </a:extLst>
          </p:cNvPr>
          <p:cNvCxnSpPr>
            <a:cxnSpLocks/>
            <a:endCxn id="17" idx="2"/>
          </p:cNvCxnSpPr>
          <p:nvPr/>
        </p:nvCxnSpPr>
        <p:spPr>
          <a:xfrm>
            <a:off x="7423256" y="2149359"/>
            <a:ext cx="684465" cy="267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Gerade Verbindung mit Pfeil 51">
            <a:extLst>
              <a:ext uri="{FF2B5EF4-FFF2-40B4-BE49-F238E27FC236}">
                <a16:creationId xmlns:a16="http://schemas.microsoft.com/office/drawing/2014/main" id="{E3351418-FA96-5133-C01C-AEFAAC8C0796}"/>
              </a:ext>
            </a:extLst>
          </p:cNvPr>
          <p:cNvCxnSpPr>
            <a:cxnSpLocks/>
            <a:endCxn id="17" idx="6"/>
          </p:cNvCxnSpPr>
          <p:nvPr/>
        </p:nvCxnSpPr>
        <p:spPr>
          <a:xfrm flipH="1">
            <a:off x="8393939" y="2149359"/>
            <a:ext cx="842458" cy="267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CD424D26-82C3-2002-423D-C57CA33B3C00}"/>
              </a:ext>
            </a:extLst>
          </p:cNvPr>
          <p:cNvCxnSpPr/>
          <p:nvPr/>
        </p:nvCxnSpPr>
        <p:spPr>
          <a:xfrm>
            <a:off x="8250830" y="2545736"/>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Gerade Verbindung mit Pfeil 54">
            <a:extLst>
              <a:ext uri="{FF2B5EF4-FFF2-40B4-BE49-F238E27FC236}">
                <a16:creationId xmlns:a16="http://schemas.microsoft.com/office/drawing/2014/main" id="{183029CB-8F13-B910-B4D8-62C0D2D0F164}"/>
              </a:ext>
            </a:extLst>
          </p:cNvPr>
          <p:cNvCxnSpPr/>
          <p:nvPr/>
        </p:nvCxnSpPr>
        <p:spPr>
          <a:xfrm>
            <a:off x="8250830" y="3278519"/>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6508CF53-F90C-0F96-794F-65DED007C99F}"/>
              </a:ext>
            </a:extLst>
          </p:cNvPr>
          <p:cNvCxnSpPr/>
          <p:nvPr/>
        </p:nvCxnSpPr>
        <p:spPr>
          <a:xfrm>
            <a:off x="8250830" y="4002082"/>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DA8974C3-D354-C807-73C8-C1D7E1CBB646}"/>
              </a:ext>
            </a:extLst>
          </p:cNvPr>
          <p:cNvCxnSpPr>
            <a:cxnSpLocks/>
            <a:stCxn id="30" idx="4"/>
            <a:endCxn id="23" idx="4"/>
          </p:cNvCxnSpPr>
          <p:nvPr/>
        </p:nvCxnSpPr>
        <p:spPr>
          <a:xfrm>
            <a:off x="8250829" y="4442899"/>
            <a:ext cx="388116" cy="282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Gerade Verbindung mit Pfeil 60">
            <a:extLst>
              <a:ext uri="{FF2B5EF4-FFF2-40B4-BE49-F238E27FC236}">
                <a16:creationId xmlns:a16="http://schemas.microsoft.com/office/drawing/2014/main" id="{C9D25D87-A8AF-5E13-8575-BDF201F1A7B4}"/>
              </a:ext>
            </a:extLst>
          </p:cNvPr>
          <p:cNvCxnSpPr>
            <a:cxnSpLocks/>
            <a:stCxn id="30" idx="4"/>
            <a:endCxn id="24" idx="5"/>
          </p:cNvCxnSpPr>
          <p:nvPr/>
        </p:nvCxnSpPr>
        <p:spPr>
          <a:xfrm flipH="1">
            <a:off x="8040281" y="4442899"/>
            <a:ext cx="210548" cy="282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04692332-CD83-7E82-41B2-3D08FA6C0FDD}"/>
              </a:ext>
            </a:extLst>
          </p:cNvPr>
          <p:cNvCxnSpPr/>
          <p:nvPr/>
        </p:nvCxnSpPr>
        <p:spPr>
          <a:xfrm>
            <a:off x="7604629" y="5280212"/>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Gerade Verbindung mit Pfeil 65">
            <a:extLst>
              <a:ext uri="{FF2B5EF4-FFF2-40B4-BE49-F238E27FC236}">
                <a16:creationId xmlns:a16="http://schemas.microsoft.com/office/drawing/2014/main" id="{EC93B8A0-D428-EB94-E61C-6D89F184CA6C}"/>
              </a:ext>
            </a:extLst>
          </p:cNvPr>
          <p:cNvCxnSpPr/>
          <p:nvPr/>
        </p:nvCxnSpPr>
        <p:spPr>
          <a:xfrm>
            <a:off x="9074597" y="5280212"/>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Gerade Verbindung mit Pfeil 66">
            <a:extLst>
              <a:ext uri="{FF2B5EF4-FFF2-40B4-BE49-F238E27FC236}">
                <a16:creationId xmlns:a16="http://schemas.microsoft.com/office/drawing/2014/main" id="{1D6A8734-7B3C-DDD6-F5B2-4B239E290E0C}"/>
              </a:ext>
            </a:extLst>
          </p:cNvPr>
          <p:cNvCxnSpPr/>
          <p:nvPr/>
        </p:nvCxnSpPr>
        <p:spPr>
          <a:xfrm>
            <a:off x="7604629" y="6018163"/>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Gerade Verbindung mit Pfeil 67">
            <a:extLst>
              <a:ext uri="{FF2B5EF4-FFF2-40B4-BE49-F238E27FC236}">
                <a16:creationId xmlns:a16="http://schemas.microsoft.com/office/drawing/2014/main" id="{170288CF-4D75-7524-0B83-8D9734EDB81E}"/>
              </a:ext>
            </a:extLst>
          </p:cNvPr>
          <p:cNvCxnSpPr/>
          <p:nvPr/>
        </p:nvCxnSpPr>
        <p:spPr>
          <a:xfrm>
            <a:off x="9074597" y="6018163"/>
            <a:ext cx="0" cy="183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2376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4634A6-DA6D-6773-8967-D6914E027E4F}"/>
              </a:ext>
            </a:extLst>
          </p:cNvPr>
          <p:cNvSpPr>
            <a:spLocks noGrp="1"/>
          </p:cNvSpPr>
          <p:nvPr>
            <p:ph type="title"/>
          </p:nvPr>
        </p:nvSpPr>
        <p:spPr/>
        <p:txBody>
          <a:bodyPr/>
          <a:lstStyle/>
          <a:p>
            <a:r>
              <a:rPr lang="de-DE" dirty="0"/>
              <a:t>Aufgabe 6 - Arzttermin</a:t>
            </a:r>
          </a:p>
        </p:txBody>
      </p:sp>
      <p:cxnSp>
        <p:nvCxnSpPr>
          <p:cNvPr id="5" name="Gerade Verbindung mit Pfeil 4">
            <a:extLst>
              <a:ext uri="{FF2B5EF4-FFF2-40B4-BE49-F238E27FC236}">
                <a16:creationId xmlns:a16="http://schemas.microsoft.com/office/drawing/2014/main" id="{61414287-7DDC-C211-A483-104D24B37A11}"/>
              </a:ext>
            </a:extLst>
          </p:cNvPr>
          <p:cNvCxnSpPr>
            <a:cxnSpLocks/>
          </p:cNvCxnSpPr>
          <p:nvPr/>
        </p:nvCxnSpPr>
        <p:spPr>
          <a:xfrm flipH="1">
            <a:off x="7548864" y="2782476"/>
            <a:ext cx="574290" cy="36924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Textplatzhalter 2">
            <a:extLst>
              <a:ext uri="{FF2B5EF4-FFF2-40B4-BE49-F238E27FC236}">
                <a16:creationId xmlns:a16="http://schemas.microsoft.com/office/drawing/2014/main" id="{BAE856A2-B3DE-39A4-80BE-263D9EF7911C}"/>
              </a:ext>
            </a:extLst>
          </p:cNvPr>
          <p:cNvSpPr txBox="1">
            <a:spLocks/>
          </p:cNvSpPr>
          <p:nvPr/>
        </p:nvSpPr>
        <p:spPr>
          <a:xfrm>
            <a:off x="7540463" y="971810"/>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Patient benötigt Termin</a:t>
            </a:r>
          </a:p>
        </p:txBody>
      </p:sp>
      <p:cxnSp>
        <p:nvCxnSpPr>
          <p:cNvPr id="9" name="Gerade Verbindung mit Pfeil 8">
            <a:extLst>
              <a:ext uri="{FF2B5EF4-FFF2-40B4-BE49-F238E27FC236}">
                <a16:creationId xmlns:a16="http://schemas.microsoft.com/office/drawing/2014/main" id="{4BCED660-7A40-02D7-0081-016C54E4A861}"/>
              </a:ext>
            </a:extLst>
          </p:cNvPr>
          <p:cNvCxnSpPr>
            <a:cxnSpLocks/>
          </p:cNvCxnSpPr>
          <p:nvPr/>
        </p:nvCxnSpPr>
        <p:spPr>
          <a:xfrm>
            <a:off x="8123154" y="2782476"/>
            <a:ext cx="701864" cy="36924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0" name="Gerade Verbindung mit Pfeil 9">
            <a:extLst>
              <a:ext uri="{FF2B5EF4-FFF2-40B4-BE49-F238E27FC236}">
                <a16:creationId xmlns:a16="http://schemas.microsoft.com/office/drawing/2014/main" id="{08AEF50A-1CC3-3F8B-2E52-1839166188C1}"/>
              </a:ext>
            </a:extLst>
          </p:cNvPr>
          <p:cNvCxnSpPr>
            <a:cxnSpLocks/>
          </p:cNvCxnSpPr>
          <p:nvPr/>
        </p:nvCxnSpPr>
        <p:spPr>
          <a:xfrm>
            <a:off x="8123154" y="1526361"/>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5604D5E8-AE65-4416-97FA-B67165CABC68}"/>
              </a:ext>
            </a:extLst>
          </p:cNvPr>
          <p:cNvSpPr/>
          <p:nvPr/>
        </p:nvSpPr>
        <p:spPr>
          <a:xfrm>
            <a:off x="7981984" y="2525437"/>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sp>
        <p:nvSpPr>
          <p:cNvPr id="13" name="Textplatzhalter 2">
            <a:extLst>
              <a:ext uri="{FF2B5EF4-FFF2-40B4-BE49-F238E27FC236}">
                <a16:creationId xmlns:a16="http://schemas.microsoft.com/office/drawing/2014/main" id="{FE1D518F-59A8-07BE-1D36-2ED9A905DBF9}"/>
              </a:ext>
            </a:extLst>
          </p:cNvPr>
          <p:cNvSpPr txBox="1">
            <a:spLocks/>
          </p:cNvSpPr>
          <p:nvPr/>
        </p:nvSpPr>
        <p:spPr>
          <a:xfrm>
            <a:off x="6922104" y="3151724"/>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Keine Termine frei</a:t>
            </a:r>
          </a:p>
        </p:txBody>
      </p:sp>
      <p:sp>
        <p:nvSpPr>
          <p:cNvPr id="15" name="Textplatzhalter 2">
            <a:extLst>
              <a:ext uri="{FF2B5EF4-FFF2-40B4-BE49-F238E27FC236}">
                <a16:creationId xmlns:a16="http://schemas.microsoft.com/office/drawing/2014/main" id="{6A096F16-180A-B7B5-D0D5-2EFB60555872}"/>
              </a:ext>
            </a:extLst>
          </p:cNvPr>
          <p:cNvSpPr txBox="1">
            <a:spLocks/>
          </p:cNvSpPr>
          <p:nvPr/>
        </p:nvSpPr>
        <p:spPr>
          <a:xfrm>
            <a:off x="8250728" y="3151724"/>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Regulärer Termine vorhanden</a:t>
            </a:r>
          </a:p>
        </p:txBody>
      </p:sp>
      <p:sp>
        <p:nvSpPr>
          <p:cNvPr id="17" name="Rechteck 16">
            <a:extLst>
              <a:ext uri="{FF2B5EF4-FFF2-40B4-BE49-F238E27FC236}">
                <a16:creationId xmlns:a16="http://schemas.microsoft.com/office/drawing/2014/main" id="{EEC38CEC-64BD-230A-C369-437E2F7E68A8}"/>
              </a:ext>
            </a:extLst>
          </p:cNvPr>
          <p:cNvSpPr/>
          <p:nvPr/>
        </p:nvSpPr>
        <p:spPr>
          <a:xfrm>
            <a:off x="7548864" y="1745323"/>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Patient kontaktiert Facharzt</a:t>
            </a:r>
          </a:p>
        </p:txBody>
      </p:sp>
      <p:cxnSp>
        <p:nvCxnSpPr>
          <p:cNvPr id="18" name="Gerade Verbindung mit Pfeil 17">
            <a:extLst>
              <a:ext uri="{FF2B5EF4-FFF2-40B4-BE49-F238E27FC236}">
                <a16:creationId xmlns:a16="http://schemas.microsoft.com/office/drawing/2014/main" id="{31620C80-E981-82A6-8F09-76ECA18547BF}"/>
              </a:ext>
            </a:extLst>
          </p:cNvPr>
          <p:cNvCxnSpPr>
            <a:cxnSpLocks/>
          </p:cNvCxnSpPr>
          <p:nvPr/>
        </p:nvCxnSpPr>
        <p:spPr>
          <a:xfrm>
            <a:off x="8123154" y="2299874"/>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BED182E5-0878-407F-F1EA-62E351E7F5B4}"/>
              </a:ext>
            </a:extLst>
          </p:cNvPr>
          <p:cNvSpPr/>
          <p:nvPr/>
        </p:nvSpPr>
        <p:spPr>
          <a:xfrm>
            <a:off x="8250728" y="5116456"/>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Termin buchen</a:t>
            </a:r>
          </a:p>
        </p:txBody>
      </p:sp>
      <p:sp>
        <p:nvSpPr>
          <p:cNvPr id="20" name="Rechteck 19">
            <a:extLst>
              <a:ext uri="{FF2B5EF4-FFF2-40B4-BE49-F238E27FC236}">
                <a16:creationId xmlns:a16="http://schemas.microsoft.com/office/drawing/2014/main" id="{4D678E44-E408-D3F9-96B7-B8C7CB877E37}"/>
              </a:ext>
            </a:extLst>
          </p:cNvPr>
          <p:cNvSpPr/>
          <p:nvPr/>
        </p:nvSpPr>
        <p:spPr>
          <a:xfrm>
            <a:off x="6966173" y="3825768"/>
            <a:ext cx="1148580" cy="55455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t>Hinweis auf Privatpatient</a:t>
            </a:r>
          </a:p>
        </p:txBody>
      </p:sp>
      <p:sp>
        <p:nvSpPr>
          <p:cNvPr id="21" name="Textplatzhalter 2">
            <a:extLst>
              <a:ext uri="{FF2B5EF4-FFF2-40B4-BE49-F238E27FC236}">
                <a16:creationId xmlns:a16="http://schemas.microsoft.com/office/drawing/2014/main" id="{7E07FF96-5A6E-D781-9B12-A526495406AA}"/>
              </a:ext>
            </a:extLst>
          </p:cNvPr>
          <p:cNvSpPr txBox="1">
            <a:spLocks/>
          </p:cNvSpPr>
          <p:nvPr/>
        </p:nvSpPr>
        <p:spPr>
          <a:xfrm>
            <a:off x="6974574" y="4546286"/>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Privattermin vorhanden</a:t>
            </a:r>
          </a:p>
        </p:txBody>
      </p:sp>
      <p:sp>
        <p:nvSpPr>
          <p:cNvPr id="22" name="Ellipse 21">
            <a:extLst>
              <a:ext uri="{FF2B5EF4-FFF2-40B4-BE49-F238E27FC236}">
                <a16:creationId xmlns:a16="http://schemas.microsoft.com/office/drawing/2014/main" id="{B7CC6ABE-3F91-F534-8910-0E5957BAC949}"/>
              </a:ext>
            </a:extLst>
          </p:cNvPr>
          <p:cNvSpPr/>
          <p:nvPr/>
        </p:nvSpPr>
        <p:spPr>
          <a:xfrm>
            <a:off x="8681909" y="4633854"/>
            <a:ext cx="286218" cy="25703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sym typeface="Symbol"/>
              </a:rPr>
              <a:t>x</a:t>
            </a:r>
            <a:endParaRPr lang="de-DE" dirty="0">
              <a:solidFill>
                <a:schemeClr val="tx1"/>
              </a:solidFill>
            </a:endParaRPr>
          </a:p>
        </p:txBody>
      </p:sp>
      <p:cxnSp>
        <p:nvCxnSpPr>
          <p:cNvPr id="27" name="Gerade Verbindung mit Pfeil 26">
            <a:extLst>
              <a:ext uri="{FF2B5EF4-FFF2-40B4-BE49-F238E27FC236}">
                <a16:creationId xmlns:a16="http://schemas.microsoft.com/office/drawing/2014/main" id="{B6583192-649F-D5A7-F698-D214A4B4C4BC}"/>
              </a:ext>
            </a:extLst>
          </p:cNvPr>
          <p:cNvCxnSpPr>
            <a:cxnSpLocks/>
            <a:endCxn id="22" idx="0"/>
          </p:cNvCxnSpPr>
          <p:nvPr/>
        </p:nvCxnSpPr>
        <p:spPr>
          <a:xfrm>
            <a:off x="8825018" y="3706275"/>
            <a:ext cx="0" cy="92757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64C20363-6475-F110-3B22-BDD804B701CC}"/>
              </a:ext>
            </a:extLst>
          </p:cNvPr>
          <p:cNvCxnSpPr>
            <a:cxnSpLocks/>
            <a:stCxn id="21" idx="0"/>
            <a:endCxn id="22" idx="2"/>
          </p:cNvCxnSpPr>
          <p:nvPr/>
        </p:nvCxnSpPr>
        <p:spPr>
          <a:xfrm flipV="1">
            <a:off x="8123154" y="4762374"/>
            <a:ext cx="558755" cy="611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Gerade Verbindung mit Pfeil 33">
            <a:extLst>
              <a:ext uri="{FF2B5EF4-FFF2-40B4-BE49-F238E27FC236}">
                <a16:creationId xmlns:a16="http://schemas.microsoft.com/office/drawing/2014/main" id="{098B3B98-ED9F-846B-53D2-F685D23F7352}"/>
              </a:ext>
            </a:extLst>
          </p:cNvPr>
          <p:cNvCxnSpPr>
            <a:cxnSpLocks/>
            <a:stCxn id="22" idx="4"/>
          </p:cNvCxnSpPr>
          <p:nvPr/>
        </p:nvCxnSpPr>
        <p:spPr>
          <a:xfrm>
            <a:off x="8825018" y="4890893"/>
            <a:ext cx="0" cy="22295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6" name="Textplatzhalter 2">
            <a:extLst>
              <a:ext uri="{FF2B5EF4-FFF2-40B4-BE49-F238E27FC236}">
                <a16:creationId xmlns:a16="http://schemas.microsoft.com/office/drawing/2014/main" id="{253D93E3-4716-6FBD-19F0-8ED5B83EC5B0}"/>
              </a:ext>
            </a:extLst>
          </p:cNvPr>
          <p:cNvSpPr txBox="1">
            <a:spLocks/>
          </p:cNvSpPr>
          <p:nvPr/>
        </p:nvSpPr>
        <p:spPr>
          <a:xfrm>
            <a:off x="8250728" y="5946991"/>
            <a:ext cx="1148580" cy="554551"/>
          </a:xfrm>
          <a:prstGeom prst="hexagon">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sz="2200" kern="1200">
                <a:solidFill>
                  <a:schemeClr val="lt1"/>
                </a:solidFill>
                <a:latin typeface="+mn-lt"/>
                <a:ea typeface="+mn-ea"/>
                <a:cs typeface="+mn-cs"/>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800" kern="1200">
                <a:solidFill>
                  <a:schemeClr val="lt1"/>
                </a:solidFill>
                <a:latin typeface="+mn-lt"/>
                <a:ea typeface="+mn-ea"/>
                <a:cs typeface="+mn-cs"/>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sz="1400" kern="1200">
                <a:solidFill>
                  <a:schemeClr val="lt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lt1"/>
                </a:solidFill>
                <a:latin typeface="+mn-lt"/>
                <a:ea typeface="+mn-ea"/>
                <a:cs typeface="+mn-cs"/>
              </a:defRPr>
            </a:lvl9pPr>
          </a:lstStyle>
          <a:p>
            <a:pPr marL="0" indent="0" algn="ctr">
              <a:buFont typeface="Wingdings" panose="05000000000000000000" pitchFamily="2" charset="2"/>
              <a:buNone/>
            </a:pPr>
            <a:r>
              <a:rPr lang="de-DE" sz="1000" dirty="0"/>
              <a:t>Termin gebucht</a:t>
            </a:r>
          </a:p>
        </p:txBody>
      </p:sp>
      <p:cxnSp>
        <p:nvCxnSpPr>
          <p:cNvPr id="37" name="Gerade Verbindung mit Pfeil 36">
            <a:extLst>
              <a:ext uri="{FF2B5EF4-FFF2-40B4-BE49-F238E27FC236}">
                <a16:creationId xmlns:a16="http://schemas.microsoft.com/office/drawing/2014/main" id="{66E72A36-17AF-6F47-A2F4-E1423135C1C9}"/>
              </a:ext>
            </a:extLst>
          </p:cNvPr>
          <p:cNvCxnSpPr>
            <a:cxnSpLocks/>
          </p:cNvCxnSpPr>
          <p:nvPr/>
        </p:nvCxnSpPr>
        <p:spPr>
          <a:xfrm>
            <a:off x="8825018" y="5671007"/>
            <a:ext cx="0" cy="27598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3E5B42EA-DB2C-F737-6A6E-45366B8F50DB}"/>
              </a:ext>
            </a:extLst>
          </p:cNvPr>
          <p:cNvCxnSpPr>
            <a:cxnSpLocks/>
          </p:cNvCxnSpPr>
          <p:nvPr/>
        </p:nvCxnSpPr>
        <p:spPr>
          <a:xfrm>
            <a:off x="7538792" y="3655358"/>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46DD6546-680B-5057-5B99-55C611341A6D}"/>
              </a:ext>
            </a:extLst>
          </p:cNvPr>
          <p:cNvCxnSpPr>
            <a:cxnSpLocks/>
          </p:cNvCxnSpPr>
          <p:nvPr/>
        </p:nvCxnSpPr>
        <p:spPr>
          <a:xfrm>
            <a:off x="7538792" y="4377518"/>
            <a:ext cx="0" cy="24458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2" name="Textplatzhalter 2">
            <a:extLst>
              <a:ext uri="{FF2B5EF4-FFF2-40B4-BE49-F238E27FC236}">
                <a16:creationId xmlns:a16="http://schemas.microsoft.com/office/drawing/2014/main" id="{C0F7AE62-84E8-525C-AF5D-D29BA5BA1F65}"/>
              </a:ext>
            </a:extLst>
          </p:cNvPr>
          <p:cNvSpPr>
            <a:spLocks noGrp="1"/>
          </p:cNvSpPr>
          <p:nvPr>
            <p:ph type="body" sz="quarter" idx="12"/>
          </p:nvPr>
        </p:nvSpPr>
        <p:spPr>
          <a:xfrm>
            <a:off x="252000" y="1455420"/>
            <a:ext cx="4870810" cy="4792980"/>
          </a:xfrm>
        </p:spPr>
        <p:txBody>
          <a:bodyPr/>
          <a:lstStyle/>
          <a:p>
            <a:pPr marL="0" indent="0">
              <a:buNone/>
            </a:pPr>
            <a:br>
              <a:rPr lang="de-DE" dirty="0"/>
            </a:br>
            <a:r>
              <a:rPr lang="de-DE" dirty="0"/>
              <a:t>Patient benötigt Facharzt Termin. Patient kontaktiert den FA, ein regulärer </a:t>
            </a:r>
          </a:p>
          <a:p>
            <a:pPr marL="0" indent="0">
              <a:buNone/>
            </a:pPr>
            <a:r>
              <a:rPr lang="de-DE" dirty="0"/>
              <a:t>Termin ist vorhanden und wird gebucht </a:t>
            </a:r>
          </a:p>
          <a:p>
            <a:pPr marL="0" indent="0">
              <a:buNone/>
            </a:pPr>
            <a:r>
              <a:rPr lang="de-DE" dirty="0"/>
              <a:t>Wenn kein regulärer Termin </a:t>
            </a:r>
            <a:r>
              <a:rPr lang="de-DE" dirty="0" err="1"/>
              <a:t>vorhande</a:t>
            </a:r>
            <a:r>
              <a:rPr lang="de-DE" dirty="0"/>
              <a:t>. Hinweis, dass der Patient ein Privatpatient ist. Privattermin ist vorhanden und wird gebucht.</a:t>
            </a:r>
          </a:p>
        </p:txBody>
      </p:sp>
    </p:spTree>
    <p:extLst>
      <p:ext uri="{BB962C8B-B14F-4D97-AF65-F5344CB8AC3E}">
        <p14:creationId xmlns:p14="http://schemas.microsoft.com/office/powerpoint/2010/main" val="42781965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0" ma:contentTypeDescription="Ein neues Dokument erstellen." ma:contentTypeScope="" ma:versionID="0f2540221f69b035c39066c91bfa0797">
  <xsd:schema xmlns:xsd="http://www.w3.org/2001/XMLSchema" xmlns:xs="http://www.w3.org/2001/XMLSchema" xmlns:p="http://schemas.microsoft.com/office/2006/metadata/properties" targetNamespace="http://schemas.microsoft.com/office/2006/metadata/properties" ma:root="true" ma:fieldsID="64bd91030dd2cd3052693ebd8aef66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customXml/itemProps2.xml><?xml version="1.0" encoding="utf-8"?>
<ds:datastoreItem xmlns:ds="http://schemas.openxmlformats.org/officeDocument/2006/customXml" ds:itemID="{37AC0D6E-39C2-4D65-9684-651AA42911CB}">
  <ds:schemaRefs>
    <ds:schemaRef ds:uri="http://schemas.microsoft.com/sharepoint/v3/contenttype/forms"/>
  </ds:schemaRefs>
</ds:datastoreItem>
</file>

<file path=customXml/itemProps3.xml><?xml version="1.0" encoding="utf-8"?>
<ds:datastoreItem xmlns:ds="http://schemas.openxmlformats.org/officeDocument/2006/customXml" ds:itemID="{43D1674E-39A9-477F-AB9A-26A2475DD441}"/>
</file>

<file path=docProps/app.xml><?xml version="1.0" encoding="utf-8"?>
<Properties xmlns="http://schemas.openxmlformats.org/officeDocument/2006/extended-properties" xmlns:vt="http://schemas.openxmlformats.org/officeDocument/2006/docPropsVTypes">
  <Template>HSBA Folienmastervorlage (5)</Template>
  <TotalTime>0</TotalTime>
  <Words>2094</Words>
  <Application>Microsoft Office PowerPoint</Application>
  <PresentationFormat>Breitbild</PresentationFormat>
  <Paragraphs>602</Paragraphs>
  <Slides>41</Slides>
  <Notes>1</Notes>
  <HiddenSlides>0</HiddenSlides>
  <MMClips>0</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1</vt:i4>
      </vt:variant>
      <vt:variant>
        <vt:lpstr>Folientitel</vt:lpstr>
      </vt:variant>
      <vt:variant>
        <vt:i4>41</vt:i4>
      </vt:variant>
    </vt:vector>
  </HeadingPairs>
  <TitlesOfParts>
    <vt:vector size="50" baseType="lpstr">
      <vt:lpstr>Wingdings 3</vt:lpstr>
      <vt:lpstr>Titillium Web</vt:lpstr>
      <vt:lpstr>Symbol</vt:lpstr>
      <vt:lpstr>TitilliumText25L</vt:lpstr>
      <vt:lpstr>Arial</vt:lpstr>
      <vt:lpstr>Wingdings</vt:lpstr>
      <vt:lpstr>Integral</vt:lpstr>
      <vt:lpstr>Integral Lehre (mit Quellenachweis)</vt:lpstr>
      <vt:lpstr>think-cell Slide</vt:lpstr>
      <vt:lpstr>Ereignisgesteuerte  Prozesskette (EPK)</vt:lpstr>
      <vt:lpstr>Agenda</vt:lpstr>
      <vt:lpstr>Historie</vt:lpstr>
      <vt:lpstr>Einsatzzweck</vt:lpstr>
      <vt:lpstr>Einordnung in ARIS</vt:lpstr>
      <vt:lpstr>Sprachkonstrukte</vt:lpstr>
      <vt:lpstr>Sprachkonstrukte: Ereignis</vt:lpstr>
      <vt:lpstr>Sprachkonstrukte: Funktion</vt:lpstr>
      <vt:lpstr>Beispiel: Einfache Prozesse ohne Konnektoren</vt:lpstr>
      <vt:lpstr>Sprachkonstrukte: Konnektoren</vt:lpstr>
      <vt:lpstr>Sprachkonstrukte: UND</vt:lpstr>
      <vt:lpstr>Sprachkonstrukt: UND</vt:lpstr>
      <vt:lpstr>Sprachkonstrukte: XOR</vt:lpstr>
      <vt:lpstr>Sprachkonstrukte: XOR</vt:lpstr>
      <vt:lpstr>Sprachkonstrukte: OR</vt:lpstr>
      <vt:lpstr>Sprachkonstrukte: OR</vt:lpstr>
      <vt:lpstr>Zusammenfassung EPK-Konnektoren</vt:lpstr>
      <vt:lpstr>Sprachkonstrukte: Überblick</vt:lpstr>
      <vt:lpstr>Sprachkonstrukte: Unit</vt:lpstr>
      <vt:lpstr>Sprachkonstrukte: Beispiel</vt:lpstr>
      <vt:lpstr>Sprachkonstrukte: Daten</vt:lpstr>
      <vt:lpstr>Sprachkonstrukte: Beispiel</vt:lpstr>
      <vt:lpstr>Sprachkonstrukte</vt:lpstr>
      <vt:lpstr>Sprachkonstrukte: Beispiel</vt:lpstr>
      <vt:lpstr>Sprachkonstrukte</vt:lpstr>
      <vt:lpstr>Sprachkonstrukte: Prozesswegweiser</vt:lpstr>
      <vt:lpstr>Syntaxregeln</vt:lpstr>
      <vt:lpstr>Syntaxregeln</vt:lpstr>
      <vt:lpstr>Syntaxregeln</vt:lpstr>
      <vt:lpstr>Syntaxregeln</vt:lpstr>
      <vt:lpstr>Syntaxregeln</vt:lpstr>
      <vt:lpstr>Syntaxregeln</vt:lpstr>
      <vt:lpstr>Syntaxregeln</vt:lpstr>
      <vt:lpstr>Syntaxregeln</vt:lpstr>
      <vt:lpstr>EPK und ARIS</vt:lpstr>
      <vt:lpstr>Bewertung</vt:lpstr>
      <vt:lpstr>Literatur</vt:lpstr>
      <vt:lpstr>Aufgabe 1: Bibliotheksausleihe</vt:lpstr>
      <vt:lpstr>Aufgabe 2 – Hotelreservierung</vt:lpstr>
      <vt:lpstr>Aufgabe 3 – Studienbewerbung</vt:lpstr>
      <vt:lpstr>Aufgabe 6 - Arzttermin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43</cp:revision>
  <cp:lastPrinted>2018-12-21T13:35:12Z</cp:lastPrinted>
  <dcterms:created xsi:type="dcterms:W3CDTF">2026-07-16T07:13:15Z</dcterms:created>
  <dcterms:modified xsi:type="dcterms:W3CDTF">2026-07-26T12:44:30Z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