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9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779AE"/>
                </a:solidFill>
                <a:latin typeface="Arial"/>
              </a:rPr>
              <a:t>Modellierung betrieblicher Informationssysteme · Übung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96000"/>
            <a:ext cx="1026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02C58"/>
                </a:solidFill>
                <a:latin typeface="Arial"/>
              </a:rPr>
              <a:t>UML-Klassendiagramme für zwei betriebliche Informationssysteme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744000"/>
            <a:ext cx="1800000" cy="396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0000" y="4031999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Aufgabe 1 · Hochschulverwaltung      Aufgabe 2 · Finanzbuchhaltung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184000"/>
            <a:ext cx="72000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Arial"/>
              </a:rPr>
              <a:t>Felix Heinsius · Matrikelnummer ⟦offen⟧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6B6B6B"/>
                </a:solidFill>
                <a:latin typeface="Arial"/>
              </a:rPr>
              <a:t>HSBA · 2. Semester · Dozent:in ⟦offen⟧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6B6B6B"/>
                </a:solidFill>
                <a:latin typeface="Arial"/>
              </a:rPr>
              <a:t>31.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764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1764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Vorgehen und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22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2322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Aufgabe 1 – Klassendiagramm der Hochschulverwaltung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880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2880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Beziehungstypen und Multiplizitäten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438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3438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Spezialisierung der Prüfungsformen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996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3996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Aufgabe 2 – Klassendiagramm der Finanzbuchhaltung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554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4554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Zugriff der Klasse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112000"/>
            <a:ext cx="46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4779AE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0000" y="5112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121"/>
                </a:solidFill>
                <a:latin typeface="Arial"/>
              </a:rPr>
              <a:t>Prüfpunkte und Fazit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20000" y="2736000"/>
            <a:ext cx="100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FBCD8"/>
                </a:solidFill>
                <a:latin typeface="Arial"/>
              </a:rPr>
              <a:t>Aufgabe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04000"/>
            <a:ext cx="100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Hochschulverwaltung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068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8D8E8"/>
                </a:solidFill>
                <a:latin typeface="Arial"/>
              </a:rPr>
              <a:t>Studiengänge, Module, Prüfungen und Versuche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Substantive werden Klassen, Verben werden Beziehungen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92000"/>
            <a:ext cx="46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2C58"/>
                </a:solidFill>
                <a:latin typeface="Arial"/>
              </a:rPr>
              <a:t>Vorgehen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475200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Substantive des Aufgabentexts als Klassenkandidaten sammeln</a:t>
            </a:r>
          </a:p>
          <a:p>
            <a:pPr marL="198000" indent="-198000">
              <a:lnSpc>
                <a:spcPct val="115000"/>
              </a:lnSpc>
              <a:spcBef>
                <a:spcPts val="12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Eigenschaften als Attribute, Tätigkeiten als Methoden zuordnen</a:t>
            </a:r>
          </a:p>
          <a:p>
            <a:pPr marL="198000" indent="-198000">
              <a:lnSpc>
                <a:spcPct val="115000"/>
              </a:lnSpc>
              <a:spcBef>
                <a:spcPts val="12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Je Satzaussage eine Beziehung benennen und ihren Typ bestimmen</a:t>
            </a:r>
          </a:p>
          <a:p>
            <a:pPr marL="198000" indent="-198000">
              <a:lnSpc>
                <a:spcPct val="115000"/>
              </a:lnSpc>
              <a:spcBef>
                <a:spcPts val="12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Multiplizität aus „genau ein“, „mindestens ein“ und „beliebig viele“ ableiten</a:t>
            </a:r>
          </a:p>
          <a:p>
            <a:pPr marL="198000" indent="-198000">
              <a:lnSpc>
                <a:spcPct val="115000"/>
              </a:lnSpc>
              <a:spcBef>
                <a:spcPts val="12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Bestandsregel prüfen: bleibt der Teil ohne das Ganze bestehen?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000" y="1692000"/>
            <a:ext cx="514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2C58"/>
                </a:solidFill>
                <a:latin typeface="Arial"/>
              </a:rPr>
              <a:t>Notation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72000" y="2304000"/>
            <a:ext cx="1224000" cy="0"/>
          </a:xfrm>
          <a:prstGeom prst="line">
            <a:avLst/>
          </a:prstGeom>
          <a:ln w="12700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48000" y="2080800"/>
            <a:ext cx="367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C58"/>
                </a:solidFill>
                <a:latin typeface="Arial"/>
              </a:rPr>
              <a:t>Assoziation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000" y="2322000"/>
            <a:ext cx="3671999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Arial"/>
              </a:rPr>
              <a:t>Objekte kennen sich, beide bestehen unabhängig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72000" y="3168000"/>
            <a:ext cx="1224000" cy="0"/>
          </a:xfrm>
          <a:prstGeom prst="line">
            <a:avLst/>
          </a:prstGeom>
          <a:ln w="12700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372000" y="3114000"/>
            <a:ext cx="165600" cy="108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8000" y="2944800"/>
            <a:ext cx="367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C58"/>
                </a:solidFill>
                <a:latin typeface="Arial"/>
              </a:rPr>
              <a:t>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000" y="3186000"/>
            <a:ext cx="3671999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Arial"/>
              </a:rPr>
              <a:t>Teil bleibt bestehen, wenn das Ganze entfällt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72000" y="4031999"/>
            <a:ext cx="1224000" cy="0"/>
          </a:xfrm>
          <a:prstGeom prst="line">
            <a:avLst/>
          </a:prstGeom>
          <a:ln w="12700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6372000" y="3977999"/>
            <a:ext cx="165600" cy="108000"/>
          </a:xfrm>
          <a:prstGeom prst="diamond">
            <a:avLst/>
          </a:prstGeom>
          <a:solidFill>
            <a:srgbClr val="002C58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8000" y="3808800"/>
            <a:ext cx="367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C58"/>
                </a:solidFill>
                <a:latin typeface="Arial"/>
              </a:rPr>
              <a:t>Komposition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000" y="4050000"/>
            <a:ext cx="3671999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Arial"/>
              </a:rPr>
              <a:t>Teil existiert ohne das Ganze nicht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72000" y="4896000"/>
            <a:ext cx="1224000" cy="0"/>
          </a:xfrm>
          <a:prstGeom prst="line">
            <a:avLst/>
          </a:prstGeom>
          <a:ln w="12700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7412400" y="4788000"/>
            <a:ext cx="223200" cy="2160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8000" y="4672800"/>
            <a:ext cx="367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C58"/>
                </a:solidFill>
                <a:latin typeface="Arial"/>
              </a:rPr>
              <a:t>Vererbung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000" y="4914000"/>
            <a:ext cx="3671999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Arial"/>
              </a:rPr>
              <a:t>Unterklasse erbt Attribute und Methoden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23200"/>
            <a:ext cx="93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2C58"/>
                </a:solidFill>
                <a:latin typeface="Arial"/>
              </a:rPr>
              <a:t>Neun Klassen bilden Studium, Lehre und Prüfung ab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737999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60000" y="961200"/>
            <a:ext cx="2448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60000" y="1436400"/>
            <a:ext cx="2448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60000" y="766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Studiengang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200" y="9863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kuerzel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200" y="11231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bezeichnung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200" y="12600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regelstudienzeit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" y="14616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modulAufnehmen()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" y="1598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studienplanDrucken()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2000" y="737999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2000" y="961200"/>
            <a:ext cx="2448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752000" y="1436400"/>
            <a:ext cx="2448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52000" y="766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1200" y="9863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modulnummer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1200" y="11231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titel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1200" y="12600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credits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1200" y="14616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prüfungAnsetzen()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737999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144000" y="961200"/>
            <a:ext cx="2448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144000" y="1299600"/>
            <a:ext cx="2448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0" y="766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Dozent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3200" y="9863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personalnummer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00" y="11231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3200" y="13248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noteEintragen()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2628000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0000" y="2851200"/>
            <a:ext cx="2448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60000" y="3326400"/>
            <a:ext cx="2448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0000" y="2656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Student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200" y="2876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matrikelnummer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200" y="30132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200" y="31500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200" y="33516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zuPrüfungAnmelden()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200" y="3488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notenspiegelAbrufen()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2000" y="2628000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752000" y="2851200"/>
            <a:ext cx="2448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752000" y="3326400"/>
            <a:ext cx="2448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752000" y="2656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Prüfung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1200" y="2876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prüfungsnummer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31200" y="30132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datum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1200" y="31500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raum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31200" y="33516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anmeldungÖffnen()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1200" y="3488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prüfungAbsagen()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4212000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60000" y="4435199"/>
            <a:ext cx="2448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60000" y="4910400"/>
            <a:ext cx="2448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0000" y="4240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Prüfungsversuch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200" y="4460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versuchsnummer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200" y="45972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datum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200" y="4733999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200" y="49356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alsBestandenVerbuchen()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9200" y="5072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versuchZurücktreten()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51999" y="5562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51999" y="57852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851999" y="59868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851999" y="5590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Klausur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200" y="5810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bearbeitungsdauer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200" y="60120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aufsichtEinteilen()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80000" y="5562000"/>
            <a:ext cx="2448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480000" y="5785200"/>
            <a:ext cx="2448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480000" y="6123600"/>
            <a:ext cx="2448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80000" y="5590800"/>
            <a:ext cx="2448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MündlichePrüfung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59200" y="58104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dauer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9200" y="59472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beisitzer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9200" y="6148800"/>
            <a:ext cx="2322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protokollAnlegen()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4000" y="5562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9324000" y="57852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9324000" y="59868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324000" y="5590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Präsentation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03200" y="5810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vortragsdauer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03200" y="60120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technikPrüfen()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808000" y="1116000"/>
            <a:ext cx="1944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iamond 73"/>
          <p:cNvSpPr/>
          <p:nvPr/>
        </p:nvSpPr>
        <p:spPr>
          <a:xfrm>
            <a:off x="2807999" y="1062000"/>
            <a:ext cx="165600" cy="108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88000" y="917999"/>
            <a:ext cx="1655999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fasst zusammen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06000" y="1137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8000" y="1137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1..*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200000" y="1116000"/>
            <a:ext cx="1944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343999" y="917999"/>
            <a:ext cx="1655999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lehrt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08000" y="1137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0000" y="1137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1..*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976000" y="1638000"/>
            <a:ext cx="0" cy="990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Diamond 82"/>
          <p:cNvSpPr/>
          <p:nvPr/>
        </p:nvSpPr>
        <p:spPr>
          <a:xfrm rot="5400000">
            <a:off x="5893200" y="1666800"/>
            <a:ext cx="165600" cy="108000"/>
          </a:xfrm>
          <a:prstGeom prst="diamond">
            <a:avLst/>
          </a:prstGeom>
          <a:solidFill>
            <a:srgbClr val="002C58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40800" y="18180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40800" y="2419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1..*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4000" y="2070000"/>
            <a:ext cx="108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setzt an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584000" y="1774800"/>
            <a:ext cx="0" cy="8532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648800" y="1843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48800" y="2419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0000" y="2070000"/>
            <a:ext cx="1332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ist eingeschrieben in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584000" y="3664800"/>
            <a:ext cx="0" cy="5472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Diamond 91"/>
          <p:cNvSpPr/>
          <p:nvPr/>
        </p:nvSpPr>
        <p:spPr>
          <a:xfrm rot="5400000">
            <a:off x="1501200" y="3693600"/>
            <a:ext cx="165600" cy="108000"/>
          </a:xfrm>
          <a:prstGeom prst="diamond">
            <a:avLst/>
          </a:prstGeom>
          <a:solidFill>
            <a:srgbClr val="002C58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8800" y="38160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48800" y="40248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0000" y="3906000"/>
            <a:ext cx="1332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unternimmt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2808000" y="4680000"/>
            <a:ext cx="1152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960000" y="3456000"/>
            <a:ext cx="0" cy="122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960000" y="3456000"/>
            <a:ext cx="792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Diamond 98"/>
          <p:cNvSpPr/>
          <p:nvPr/>
        </p:nvSpPr>
        <p:spPr>
          <a:xfrm>
            <a:off x="2807999" y="4626000"/>
            <a:ext cx="165600" cy="108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06000" y="4701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76000" y="3283199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80000" y="4374000"/>
            <a:ext cx="1224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bezieht sich auf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0368000" y="1501200"/>
            <a:ext cx="0" cy="17028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200000" y="3204000"/>
            <a:ext cx="3168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432800" y="1565999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90000" y="3225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80000" y="2988000"/>
            <a:ext cx="1944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4779AE"/>
                </a:solidFill>
                <a:latin typeface="Arial"/>
              </a:rPr>
              <a:t>beaufsichtigt</a:t>
            </a:r>
          </a:p>
        </p:txBody>
      </p:sp>
      <p:sp>
        <p:nvSpPr>
          <p:cNvPr id="108" name="Isosceles Triangle 107"/>
          <p:cNvSpPr/>
          <p:nvPr/>
        </p:nvSpPr>
        <p:spPr>
          <a:xfrm>
            <a:off x="5868000" y="3664800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5976000" y="3823199"/>
            <a:ext cx="0" cy="1594801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004000" y="5418000"/>
            <a:ext cx="5472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004000" y="5418000"/>
            <a:ext cx="0" cy="14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703999" y="5418000"/>
            <a:ext cx="0" cy="14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476000" y="5418000"/>
            <a:ext cx="0" cy="14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720000" y="6462000"/>
            <a:ext cx="90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Abb. 1: Klassendiagramm Hochschulverwaltung (eigene Darstellung, Notation nach OMG 2017)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93200" y="6462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Die Bestandsregel trennt Aggregation von Komposition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655999"/>
            <a:ext cx="2664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0000" y="17424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Beziehung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4000" y="1655999"/>
            <a:ext cx="1440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74000" y="17424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Typ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4000" y="1655999"/>
            <a:ext cx="1584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14000" y="17424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Multiplizität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8000" y="1655999"/>
            <a:ext cx="5076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000" y="17424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Begründung aus dem Aufgabentext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1998000"/>
            <a:ext cx="2664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0000" y="20700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Studiengang – Modul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4000" y="1998000"/>
            <a:ext cx="1440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74000" y="20700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Aggregation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24000" y="1998000"/>
            <a:ext cx="1584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14000" y="20700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0..*  :  1..*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8000" y="1998000"/>
            <a:ext cx="5076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8000" y="20700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Modul bleibt bestehen, wenn ein Studiengang eingestellt wird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2448000"/>
            <a:ext cx="2664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0000" y="25200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Modul – Prüfung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4000" y="2448000"/>
            <a:ext cx="144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74000" y="25200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Komposition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24000" y="2448000"/>
            <a:ext cx="1584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14000" y="25200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1  :  1..*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8000" y="2448000"/>
            <a:ext cx="5076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8000" y="25200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Prüfungstermin existiert ohne das Modul nicht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2898000"/>
            <a:ext cx="2664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0000" y="29700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Studiengang – Student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4000" y="2898000"/>
            <a:ext cx="1440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74000" y="29700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Assoziation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24000" y="2898000"/>
            <a:ext cx="1584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14000" y="29700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1  :  0..*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8000" y="2898000"/>
            <a:ext cx="5076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98000" y="29700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Student ist in genau einem Studiengang eingeschrieben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3348000"/>
            <a:ext cx="2664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0000" y="34200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Dozent – Prüfung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4000" y="3348000"/>
            <a:ext cx="144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474000" y="34200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Assoziation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24000" y="3348000"/>
            <a:ext cx="1584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914000" y="34200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0..1  :  0..*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8000" y="3348000"/>
            <a:ext cx="5076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98000" y="34200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Jeder Termin wird von höchstens einem Dozenten beaufsichtigt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000" y="3798000"/>
            <a:ext cx="2664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10000" y="38700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Student – Prüfungsversuch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4000" y="3798000"/>
            <a:ext cx="1440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474000" y="38700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Komposition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24000" y="3798000"/>
            <a:ext cx="1584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914000" y="38700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1  :  0..*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8000" y="3798000"/>
            <a:ext cx="5076000" cy="450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98000" y="38700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Versuch gehört zu genau einem Studenten und existiert ohne ihn nicht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4248000"/>
            <a:ext cx="2664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10000" y="4320000"/>
            <a:ext cx="24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Prüfungsversuch – Prüfung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4000" y="4248000"/>
            <a:ext cx="1440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474000" y="4320000"/>
            <a:ext cx="1260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Aggregation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24000" y="4248000"/>
            <a:ext cx="1584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914000" y="4320000"/>
            <a:ext cx="140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0..*  : 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8000" y="4248000"/>
            <a:ext cx="50760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498000" y="4320000"/>
            <a:ext cx="489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Termin bleibt bestehen, wenn ein Versuch gelöscht wird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000" y="4896000"/>
            <a:ext cx="104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rial"/>
              </a:rPr>
              <a:t>Die Raute steht immer beim Ganzen – gefüllt bei Komposition, offen bei Aggregation.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Prüfung wird in drei Prüfungsformen spezialisiert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36000" y="1764000"/>
            <a:ext cx="3096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36000" y="1987200"/>
            <a:ext cx="3096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36000" y="2462400"/>
            <a:ext cx="3096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36000" y="1792800"/>
            <a:ext cx="3096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Prüfung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5200" y="2012400"/>
            <a:ext cx="297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prüfungsnummer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5200" y="2149200"/>
            <a:ext cx="297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datum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5200" y="2286000"/>
            <a:ext cx="297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raum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200" y="2487600"/>
            <a:ext cx="297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anmeldungÖffnen()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5200" y="2624400"/>
            <a:ext cx="297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prüfungAbsagen()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5975999" y="2800800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083999" y="2959200"/>
            <a:ext cx="0" cy="2808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60000" y="3240000"/>
            <a:ext cx="7848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60000" y="3240000"/>
            <a:ext cx="0" cy="180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3999" y="3240000"/>
            <a:ext cx="0" cy="180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08000" y="3240000"/>
            <a:ext cx="0" cy="180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07999" y="3420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07999" y="3643199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007999" y="38448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7999" y="3448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Klausur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7200" y="3668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bearbeitungsdauer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7200" y="38700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aufsichtEinteilen()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2000" y="3420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932000" y="3643199"/>
            <a:ext cx="2304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932000" y="3981599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932000" y="3448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MündlichePrüfung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1200" y="3668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dauer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1200" y="38052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beisitzer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1200" y="4006799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protokollAnlegen()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56000" y="3420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856000" y="3643199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856000" y="38448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856000" y="3448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Präsentation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5200" y="3668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vortragsdauer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5200" y="38700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technikPrüfen()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4608000"/>
            <a:ext cx="1044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buClr>
                <a:srgbClr val="4779AE"/>
              </a:buClr>
              <a:buSzPct val="65000"/>
              <a:buFont typeface="Arial"/>
              <a:buChar char="▪"/>
            </a:pPr>
            <a:r>
              <a:rPr sz="1500" b="0">
                <a:solidFill>
                  <a:srgbClr val="212121"/>
                </a:solidFill>
                <a:latin typeface="Arial"/>
              </a:rPr>
              <a:t>Gemeinsame Merkmale stehen einmal in der Oberklasse – keine Redundanz</a:t>
            </a:r>
          </a:p>
          <a:p>
            <a:pPr marL="198000" indent="-198000">
              <a:lnSpc>
                <a:spcPct val="115000"/>
              </a:lnSpc>
              <a:spcBef>
                <a:spcPts val="1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500" b="0">
                <a:solidFill>
                  <a:srgbClr val="212121"/>
                </a:solidFill>
                <a:latin typeface="Arial"/>
              </a:rPr>
              <a:t>Jede Unterklasse ergänzt nur ihre eigenen Attribute und Operationen</a:t>
            </a:r>
          </a:p>
          <a:p>
            <a:pPr marL="198000" indent="-198000">
              <a:lnSpc>
                <a:spcPct val="115000"/>
              </a:lnSpc>
              <a:spcBef>
                <a:spcPts val="1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500" b="0">
                <a:solidFill>
                  <a:srgbClr val="212121"/>
                </a:solidFill>
                <a:latin typeface="Arial"/>
              </a:rPr>
              <a:t>Prüfungsversuch und Dozent verweisen weiterhin auf Prüfung, nicht auf die Unterklassen</a:t>
            </a:r>
          </a:p>
          <a:p>
            <a:pPr marL="198000" indent="-198000">
              <a:lnSpc>
                <a:spcPct val="115000"/>
              </a:lnSpc>
              <a:spcBef>
                <a:spcPts val="1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500" b="0">
                <a:solidFill>
                  <a:srgbClr val="212121"/>
                </a:solidFill>
                <a:latin typeface="Arial"/>
              </a:rPr>
              <a:t>Eine vierte Prüfungsform lässt sich ohne Änderung am Bestand ergänzen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20000" y="2736000"/>
            <a:ext cx="100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FBCD8"/>
                </a:solidFill>
                <a:latin typeface="Arial"/>
              </a:rPr>
              <a:t>Aufgabe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04000"/>
            <a:ext cx="100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Finanzbuchhaltung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068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8D8E8"/>
                </a:solidFill>
                <a:latin typeface="Arial"/>
              </a:rPr>
              <a:t>Geschäftspartner, Rechnungen, Buchungssätze und Rollen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23200"/>
            <a:ext cx="93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2C58"/>
                </a:solidFill>
                <a:latin typeface="Arial"/>
              </a:rPr>
              <a:t>Dreizehn Klassen bilden Partner, Belege und Buchung ab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0000" y="737999"/>
            <a:ext cx="2160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440000" y="961200"/>
            <a:ext cx="2160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440000" y="1436400"/>
            <a:ext cx="2160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40000" y="766800"/>
            <a:ext cx="216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Geschäftspartner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9200" y="986399"/>
            <a:ext cx="203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9200" y="1123199"/>
            <a:ext cx="203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adresse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9200" y="1260000"/>
            <a:ext cx="203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telefonnummer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9200" y="1461600"/>
            <a:ext cx="203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löschen()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9200" y="1598400"/>
            <a:ext cx="203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duplizieren()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2000" y="737999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432000" y="961200"/>
            <a:ext cx="230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432000" y="1436400"/>
            <a:ext cx="230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32000" y="766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Mitarbeiter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1200" y="986399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personalnummer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11200" y="1123199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11200" y="12600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e-mail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484000"/>
            <a:ext cx="2015999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0000" y="2707200"/>
            <a:ext cx="2015999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60000" y="2908800"/>
            <a:ext cx="2015999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0000" y="2512800"/>
            <a:ext cx="2015999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Kunde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200" y="27324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sepaMandat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200" y="29340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abmahnen()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64000" y="2484000"/>
            <a:ext cx="2015999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664000" y="2707200"/>
            <a:ext cx="2015999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664000" y="2908800"/>
            <a:ext cx="2015999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64000" y="2512800"/>
            <a:ext cx="2015999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Lieferant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7324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iban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340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bezahlen()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2484000"/>
            <a:ext cx="2015999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184000" y="2707200"/>
            <a:ext cx="2015999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184000" y="3182400"/>
            <a:ext cx="2015999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84000" y="2512800"/>
            <a:ext cx="2015999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Buchungsperiode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3200" y="27324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beginn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3200" y="28692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3200" y="3006000"/>
            <a:ext cx="189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32000" y="2484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432000" y="2707200"/>
            <a:ext cx="230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432000" y="2887200"/>
            <a:ext cx="230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32000" y="2512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Buchhalter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1200" y="2912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buchen()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3960000"/>
            <a:ext cx="2376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60000" y="4183199"/>
            <a:ext cx="2376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60000" y="4658400"/>
            <a:ext cx="2376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60000" y="3988800"/>
            <a:ext cx="2376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Rechnung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200" y="42084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rechnungsnummer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200" y="43452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rechnungsdatum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200" y="44820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gesamtbetrag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200" y="46836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gesamtbetragBerechnen()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4000" y="3960000"/>
            <a:ext cx="2376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184000" y="4183199"/>
            <a:ext cx="2376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184000" y="4658400"/>
            <a:ext cx="2376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184000" y="3988800"/>
            <a:ext cx="2376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Buchungssatz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63200" y="42084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buchungsdatum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63200" y="43452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rechnungsnummer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63200" y="44820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Buchungstext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63200" y="4683600"/>
            <a:ext cx="2250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wiederholen()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32000" y="3960000"/>
            <a:ext cx="230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9432000" y="4183199"/>
            <a:ext cx="230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9432000" y="4363200"/>
            <a:ext cx="2304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432000" y="3988800"/>
            <a:ext cx="230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Administrator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11200" y="43884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benutzerVerwalten()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11200" y="4525200"/>
            <a:ext cx="217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einstellungenVerwalten()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1999" y="5364000"/>
            <a:ext cx="194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251999" y="5587200"/>
            <a:ext cx="194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51999" y="6062400"/>
            <a:ext cx="194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251999" y="5392800"/>
            <a:ext cx="194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Rechnungsposition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1200" y="56124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produkt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200" y="57492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menge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200" y="58860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einzelpreis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76000" y="5364000"/>
            <a:ext cx="1800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376000" y="5587200"/>
            <a:ext cx="1800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2376000" y="5925600"/>
            <a:ext cx="1800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2376000" y="5392800"/>
            <a:ext cx="180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Zahlung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55200" y="5612400"/>
            <a:ext cx="167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zahlungsdatum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55200" y="5749200"/>
            <a:ext cx="167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betrag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55200" y="5950800"/>
            <a:ext cx="1674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wiederholen()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52000" y="5364000"/>
            <a:ext cx="194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4752000" y="5587200"/>
            <a:ext cx="1944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4752000" y="5925600"/>
            <a:ext cx="194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752000" y="5392800"/>
            <a:ext cx="194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Buchungsposition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31200" y="56124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betrag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1200" y="57492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sachkonto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31200" y="59508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wiederholen()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16000" y="5364000"/>
            <a:ext cx="194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416000" y="5587200"/>
            <a:ext cx="194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7416000" y="6062400"/>
            <a:ext cx="1944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7416000" y="5392800"/>
            <a:ext cx="194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Sachkonto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5200" y="56124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kontonummer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5200" y="57492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bezeichnung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5200" y="58860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kontotyp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5200" y="60876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löschen()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5200" y="6224400"/>
            <a:ext cx="181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duplizieren()</a:t>
            </a:r>
          </a:p>
        </p:txBody>
      </p:sp>
      <p:sp>
        <p:nvSpPr>
          <p:cNvPr id="95" name="Isosceles Triangle 94"/>
          <p:cNvSpPr/>
          <p:nvPr/>
        </p:nvSpPr>
        <p:spPr>
          <a:xfrm>
            <a:off x="2412000" y="1774800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520000" y="1933200"/>
            <a:ext cx="0" cy="2628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368000" y="2196000"/>
            <a:ext cx="2303999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368000" y="2196000"/>
            <a:ext cx="0" cy="288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671999" y="2196000"/>
            <a:ext cx="0" cy="288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>
            <a:off x="10476000" y="1616400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0584000" y="1774800"/>
            <a:ext cx="0" cy="7092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>
            <a:off x="10476000" y="3088800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10584000" y="3247200"/>
            <a:ext cx="0" cy="7128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80000" y="3110400"/>
            <a:ext cx="0" cy="8496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144800" y="3175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4800" y="3751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384000" y="3110400"/>
            <a:ext cx="0" cy="5256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2088000" y="3636000"/>
            <a:ext cx="1296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088000" y="3636000"/>
            <a:ext cx="0" cy="32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48800" y="3175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52800" y="37008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224000" y="4860000"/>
            <a:ext cx="0" cy="50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/>
          <p:cNvSpPr/>
          <p:nvPr/>
        </p:nvSpPr>
        <p:spPr>
          <a:xfrm rot="5400000">
            <a:off x="1141200" y="4888800"/>
            <a:ext cx="165600" cy="108000"/>
          </a:xfrm>
          <a:prstGeom prst="diamond">
            <a:avLst/>
          </a:prstGeom>
          <a:solidFill>
            <a:srgbClr val="002C58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2376000" y="4860000"/>
            <a:ext cx="0" cy="306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376000" y="5166000"/>
            <a:ext cx="900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76000" y="5166000"/>
            <a:ext cx="0" cy="198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2440800" y="48960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40800" y="51840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736000" y="4464000"/>
            <a:ext cx="2448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808000" y="4485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1..*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36000" y="4485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192000" y="3362400"/>
            <a:ext cx="0" cy="5976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/>
          <p:cNvSpPr/>
          <p:nvPr/>
        </p:nvSpPr>
        <p:spPr>
          <a:xfrm rot="5400000">
            <a:off x="6109200" y="3391200"/>
            <a:ext cx="165600" cy="108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5724000" y="4860000"/>
            <a:ext cx="0" cy="504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Diamond 124"/>
          <p:cNvSpPr/>
          <p:nvPr/>
        </p:nvSpPr>
        <p:spPr>
          <a:xfrm rot="5400000">
            <a:off x="5641200" y="4888800"/>
            <a:ext cx="165600" cy="108000"/>
          </a:xfrm>
          <a:prstGeom prst="diamond">
            <a:avLst/>
          </a:prstGeom>
          <a:solidFill>
            <a:srgbClr val="002C58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6696000" y="5760000"/>
            <a:ext cx="720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6732000" y="5587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40000" y="55872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cxnSp>
        <p:nvCxnSpPr>
          <p:cNvPr id="129" name="Connector 128"/>
          <p:cNvCxnSpPr/>
          <p:nvPr/>
        </p:nvCxnSpPr>
        <p:spPr>
          <a:xfrm flipH="1">
            <a:off x="8280000" y="2808000"/>
            <a:ext cx="1152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280000" y="2808000"/>
            <a:ext cx="0" cy="18360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7560000" y="4644000"/>
            <a:ext cx="720000" cy="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8784000" y="26460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632000" y="4665600"/>
            <a:ext cx="576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0..*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20000" y="6498000"/>
            <a:ext cx="90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Abb. 2: Klassendiagramm Finanzbuchhaltung (eigene Darstellung, Notation nach OMG 2017)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393200" y="6498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Vererbung und Komposition tragen das Buchhaltungsmodell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944000"/>
            <a:ext cx="10440000" cy="3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Kunde und Lieferant erben Name, Adresse und Telefonnummer und ergänzen nur Sepa-Mandat beziehungsweise IBAN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Rechnungspositionen sind Komposition: ohne ihre Rechnung existieren sie nicht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Buchungspositionen gehören fest zum Buchungssatz, das Sachkonto bleibt eigenständig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Die Buchungsperiode aggregiert nur – ihre Buchungssätze bestehen unabhängig weiter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Mitarbeiter → Buchhalter → Administrator ist eine zweistufige Vererbungskette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Administrator kennt drei Attribute und drei Methoden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34000"/>
            <a:ext cx="107532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Arial"/>
              </a:rPr>
              <a:t>Antwort auf die Frage zu Aufgabe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015999"/>
            <a:ext cx="266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6000" y="2239200"/>
            <a:ext cx="266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6000" y="2714400"/>
            <a:ext cx="266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6000" y="2044800"/>
            <a:ext cx="266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Mitarbeiter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200" y="2264400"/>
            <a:ext cx="253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personalnummer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200" y="2401200"/>
            <a:ext cx="253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200" y="2538000"/>
            <a:ext cx="253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e-mail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160000" y="2894399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268000" y="3052800"/>
            <a:ext cx="0" cy="3312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36000" y="3384000"/>
            <a:ext cx="266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36000" y="3607200"/>
            <a:ext cx="266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36000" y="3787200"/>
            <a:ext cx="2664000" cy="20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6000" y="3412800"/>
            <a:ext cx="266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Buchhalter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5200" y="3812400"/>
            <a:ext cx="253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buchen()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2160000" y="3988800"/>
            <a:ext cx="216000" cy="158400"/>
          </a:xfrm>
          <a:prstGeom prst="triangle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268000" y="4147200"/>
            <a:ext cx="0" cy="352800"/>
          </a:xfrm>
          <a:prstGeom prst="line">
            <a:avLst/>
          </a:prstGeom>
          <a:ln w="9525">
            <a:solidFill>
              <a:srgbClr val="002C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36000" y="4500000"/>
            <a:ext cx="2664000" cy="223200"/>
          </a:xfrm>
          <a:prstGeom prst="rect">
            <a:avLst/>
          </a:prstGeom>
          <a:solidFill>
            <a:srgbClr val="E4ECF4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36000" y="4723200"/>
            <a:ext cx="2664000" cy="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36000" y="4903200"/>
            <a:ext cx="2664000" cy="3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6000" y="4528800"/>
            <a:ext cx="2664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C58"/>
                </a:solidFill>
                <a:latin typeface="Arial"/>
              </a:rPr>
              <a:t>Administrator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5200" y="4928400"/>
            <a:ext cx="253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benutzerVerwalten()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200" y="5065200"/>
            <a:ext cx="253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Arial"/>
              </a:rPr>
              <a:t>einstellungenVerwalten()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6000" y="1944000"/>
            <a:ext cx="694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2C58"/>
                </a:solidFill>
                <a:latin typeface="Arial"/>
              </a:rPr>
              <a:t>Zugriff eines Objekts der Klasse Administrator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6000" y="2412000"/>
            <a:ext cx="6948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Geerbt von Mitarbeiter – Attribute:  personalnummer, name, e-mail</a:t>
            </a:r>
          </a:p>
          <a:p>
            <a:pPr marL="198000" indent="-198000">
              <a:lnSpc>
                <a:spcPct val="115000"/>
              </a:lnSpc>
              <a:spcBef>
                <a:spcPts val="16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Geerbt von Buchhalter – Methode:  buchen()</a:t>
            </a:r>
          </a:p>
          <a:p>
            <a:pPr marL="198000" indent="-198000">
              <a:lnSpc>
                <a:spcPct val="115000"/>
              </a:lnSpc>
              <a:spcBef>
                <a:spcPts val="16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0">
                <a:solidFill>
                  <a:srgbClr val="212121"/>
                </a:solidFill>
                <a:latin typeface="Arial"/>
              </a:rPr>
              <a:t>Eigene Methoden:  benutzerVerwalten(), einstellungenVerwalten()</a:t>
            </a:r>
          </a:p>
          <a:p>
            <a:pPr marL="198000" indent="-198000">
              <a:lnSpc>
                <a:spcPct val="115000"/>
              </a:lnSpc>
              <a:spcBef>
                <a:spcPts val="16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600" b="1">
                <a:solidFill>
                  <a:srgbClr val="002C58"/>
                </a:solidFill>
                <a:latin typeface="Arial"/>
              </a:rPr>
              <a:t>Summe: drei Attribute und drei Methoden – Buchhalter deklariert selbst keine Attribute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6000" y="4680000"/>
            <a:ext cx="6948000" cy="1260000"/>
          </a:xfrm>
          <a:prstGeom prst="rect">
            <a:avLst/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2000" y="4860000"/>
            <a:ext cx="6516000" cy="100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Voraussetzung ist die Sichtbarkeit: geerbt zugreifbar sind nur öffentliche und geschützte Merkmale. Private Merkmale der Oberklasse wären nur über deren eigene Operationen erreichbar. Das Diagramm gibt keine Sichtbarkeiten an – hier als öffentlich angenommen.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Fünf Stellen im Modell der Aufgabe 2 sind noch zu schärfen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655999"/>
            <a:ext cx="3744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0000" y="1742400"/>
            <a:ext cx="356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Stelle im Modell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464000" y="1655999"/>
            <a:ext cx="3456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54000" y="1742400"/>
            <a:ext cx="3276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Aufgabentext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0" y="1655999"/>
            <a:ext cx="3564000" cy="342000"/>
          </a:xfrm>
          <a:prstGeom prst="rect">
            <a:avLst/>
          </a:prstGeom>
          <a:solidFill>
            <a:srgbClr val="002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10000" y="1742400"/>
            <a:ext cx="3384000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Anpassung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1998000"/>
            <a:ext cx="3744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0000" y="2070000"/>
            <a:ext cx="356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Rechnung – Zahlung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4000" y="1998000"/>
            <a:ext cx="3456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4000" y="2070000"/>
            <a:ext cx="3276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„eine oder mehrere Zahlungen“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0" y="1998000"/>
            <a:ext cx="3564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0000" y="2070000"/>
            <a:ext cx="338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1..* statt 0..*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484000"/>
            <a:ext cx="3744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0000" y="2556000"/>
            <a:ext cx="356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Buchungssatz – Buchungsposition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4000" y="2484000"/>
            <a:ext cx="3456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54000" y="2556000"/>
            <a:ext cx="3276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„mindestens zwei Buchungspositionen“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2484000"/>
            <a:ext cx="3564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10000" y="2556000"/>
            <a:ext cx="338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Multiplizität 2..* ergänzen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2970000"/>
            <a:ext cx="3744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0000" y="3041999"/>
            <a:ext cx="356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Buchungsperiode – Buchungssatz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4000" y="2970000"/>
            <a:ext cx="3456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54000" y="3041999"/>
            <a:ext cx="3276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„können Teil einer Buchungsperiode sein“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2970000"/>
            <a:ext cx="3564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10000" y="3041999"/>
            <a:ext cx="338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0..1 zu 0..* ergänzen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3456000"/>
            <a:ext cx="3744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0000" y="3528000"/>
            <a:ext cx="356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Kunde / Lieferant – Rechnung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4000" y="3456000"/>
            <a:ext cx="3456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54000" y="3528000"/>
            <a:ext cx="3276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„genau zu einem Kunden oder einem Lieferanten“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3456000"/>
            <a:ext cx="3564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10000" y="3528000"/>
            <a:ext cx="338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{xor}-Constraint ergänzen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3941999"/>
            <a:ext cx="3744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0000" y="4013999"/>
            <a:ext cx="356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Attribute rechnungsnummer, sachkonto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4000" y="3941999"/>
            <a:ext cx="3456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54000" y="4013999"/>
            <a:ext cx="3276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bereits über Assoziationen abgebildet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0000" y="3941999"/>
            <a:ext cx="3564000" cy="486000"/>
          </a:xfrm>
          <a:prstGeom prst="rect">
            <a:avLst/>
          </a:prstGeom>
          <a:solidFill>
            <a:srgbClr val="F2F5F9"/>
          </a:solidFill>
          <a:ln w="635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10000" y="4013999"/>
            <a:ext cx="3384000" cy="3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121"/>
                </a:solidFill>
                <a:latin typeface="Arial"/>
              </a:rPr>
              <a:t>Redundanz prüfen und entfernen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4572000"/>
            <a:ext cx="104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Arial"/>
              </a:rPr>
              <a:t>Aufgabe 1 bildet dagegen alle Textaussagen vollständig ab – dort ist keine Korrektur offen.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Fazit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944000"/>
            <a:ext cx="10440000" cy="3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Existiert der Teil ohne das Ganze nicht, wird aus der Aggregation eine Komposition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Multiplizitäten stammen direkt aus dem Aufgabentext und sind damit prüfbar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Vererbung hält beide Modelle redundanzfrei und erweiterbar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Der Administrator greift auf drei geerbte Attribute und drei Methoden zu</a:t>
            </a:r>
          </a:p>
          <a:p>
            <a:pPr marL="198000" indent="-198000">
              <a:lnSpc>
                <a:spcPct val="115000"/>
              </a:lnSpc>
              <a:spcBef>
                <a:spcPts val="20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700" b="0">
                <a:solidFill>
                  <a:srgbClr val="212121"/>
                </a:solidFill>
                <a:latin typeface="Arial"/>
              </a:rPr>
              <a:t>Offen bleiben fünf Präzisierungen im Modell der Finanzbuchhaltung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13999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C58"/>
                </a:solidFill>
                <a:latin typeface="Arial"/>
              </a:rPr>
              <a:t>Quellen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33200"/>
            <a:ext cx="1512000" cy="32400"/>
          </a:xfrm>
          <a:prstGeom prst="rect">
            <a:avLst/>
          </a:prstGeom>
          <a:solidFill>
            <a:srgbClr val="477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10440000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buClr>
                <a:srgbClr val="4779AE"/>
              </a:buClr>
              <a:buSzPct val="65000"/>
              <a:buFont typeface="Arial"/>
              <a:buChar char="▪"/>
            </a:pPr>
            <a:r>
              <a:rPr sz="1400" b="0">
                <a:solidFill>
                  <a:srgbClr val="212121"/>
                </a:solidFill>
                <a:latin typeface="Arial"/>
              </a:rPr>
              <a:t>Object Management Group. 2017. „OMG Unified Modeling Language (OMG UML), Version 2.5.1.“ OMG Document formal/2017-12-05.</a:t>
            </a:r>
          </a:p>
          <a:p>
            <a:pPr marL="198000" indent="-198000">
              <a:lnSpc>
                <a:spcPct val="115000"/>
              </a:lnSpc>
              <a:spcBef>
                <a:spcPts val="14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400" b="0">
                <a:solidFill>
                  <a:srgbClr val="212121"/>
                </a:solidFill>
                <a:latin typeface="Arial"/>
              </a:rPr>
              <a:t>HSBA. 2026. „Aufgabenstellung Übung: UML-Klassendiagramme, Aufgaben 1 und 2.“ Modellierung betrieblicher Informationssysteme, 2. Semester.</a:t>
            </a:r>
          </a:p>
          <a:p>
            <a:pPr marL="198000" indent="-198000">
              <a:lnSpc>
                <a:spcPct val="115000"/>
              </a:lnSpc>
              <a:spcBef>
                <a:spcPts val="14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400" b="0">
                <a:solidFill>
                  <a:srgbClr val="212121"/>
                </a:solidFill>
                <a:latin typeface="Arial"/>
              </a:rPr>
              <a:t>HSBA. 2026. „MOBIS_Einleitung.pptx“, „Konzept.pptx“ und „EPK.pptx“. Vorlesungsunterlagen, 2. Semester.</a:t>
            </a:r>
          </a:p>
          <a:p>
            <a:pPr marL="198000" indent="-198000">
              <a:lnSpc>
                <a:spcPct val="115000"/>
              </a:lnSpc>
              <a:spcBef>
                <a:spcPts val="1400"/>
              </a:spcBef>
              <a:buClr>
                <a:srgbClr val="4779AE"/>
              </a:buClr>
              <a:buSzPct val="65000"/>
              <a:buFont typeface="Arial"/>
              <a:buChar char="▪"/>
            </a:pPr>
            <a:r>
              <a:rPr sz="1400" b="0">
                <a:solidFill>
                  <a:srgbClr val="212121"/>
                </a:solidFill>
                <a:latin typeface="Arial"/>
              </a:rPr>
              <a:t>Abbildungen 1 und 2: eigene Darstellung auf Basis der Aufgabentexte.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968000"/>
            <a:ext cx="1044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Arial"/>
              </a:rPr>
              <a:t>⟦Vor der Abgabe ergänzen: Dozent:in, genaue Titel und Datum der Vorlesungsunterlagen sowie ein Lehrbuchbeleg zur UML-Notation.⟧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444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Felix Heinsius · Modellierung betrieblicher Informationssysteme · HSBA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3200" y="6444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