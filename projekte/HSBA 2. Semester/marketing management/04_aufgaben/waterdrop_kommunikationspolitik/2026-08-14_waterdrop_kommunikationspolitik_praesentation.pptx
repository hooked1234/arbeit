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Kurz einsteigen: Wir beantworten die fünf Fragen der Fallstudie in dieser Reihenfolge – Ziele, Instrumente, Zielgruppe, Botschaft, Erfolgsmessung. Vortragszeit 3 Minuten, deshalb pro Frage eine Folie.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Engpass ist nicht Reichweite, sondern Bedeutung: Bekanntheit ist vorhanden, die Erklärung des Nutzens fehlt. Daraus folgt die gesamte Argumentation der nächsten Folien.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Psychographische Ziele sind den ökonomischen vorgelagert (Meffert et al. 2019, 635f.). Bei Waterdrop ist die erste Wirkungsstufe – Kenntnis – erreicht, die zweite – Verstehen und Bewerten – nicht. Deshalb Ziele auf Verständnis, Vertrauen und Preisakzeptanz legen, nicht auf zusätzliche Reichweite.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Auswahlbegründung: Jedes Instrument löst genau eine Barriere. Content erklärt das Produkt, Sampling entkräftet den Preiseinwand durch eigene Erfahrung, Influencer liefern Glaubwürdigkeit im zweistufigen Kommunikationsfluss. Alle drei müssen integriert geführt werden, damit Botschaft und Auftritt konsistent bleiben.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Bewusst dieses Segment: Es hat die Zahlungsbereitschaft, die der Preis voraussetzt, und einen konkreten Alltagsanlass. Studierende wären preissensibler, rein sportlich Aktive zu klein. Kanäle und Botschaften folgen direkt aus den Bedürfnissen – dieselbe Zeile von links nach rechts gelesen.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Claim nennt in einem Satz die Anwendung (ein Würfel ins eigene Wasser) und beide Verzichtsargumente (Zucker, Plastikflasche). Beide sind durch die Produkteigenschaften gedeckt – das ist die Bedingung für Glaubwürdigkeit und schützt vor Greenwashing-Vorwürfen.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Zwei Ebenen, passend zu Frage 1: Befragungsdaten für die psychologische Wirkung, Trackingdaten entlang des Online-Funnels für die ökonomische. Wichtig ist das Design: ohne vorab definierte Zielwerte und ohne Kontrollgruppe lässt sich die Wirkung der Kampagne nicht von Markteffekten trennen.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Abschluss in drei Sätzen: Problem, Maßnahme, Messgröße – dann den Claim stehen lassen. Keine neuen Inhalte mehr.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Vorlesungsfolien sind Orientierung, nicht alleinige wissenschaftliche Quelle – die Primärquellen sind vollständig aufgeführt.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C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722376" y="1874519"/>
            <a:ext cx="10746943" cy="320040"/>
          </a:xfrm>
          <a:prstGeom prst="rect">
            <a:avLst/>
          </a:prstGeom>
          <a:noFill/>
        </p:spPr>
        <p:txBody>
          <a:bodyPr wrap="square" anchor="t" lIns="0" rIns="0" tIns="0" bIns="0">
            <a:spAutoFit/>
          </a:bodyPr>
          <a:lstStyle/>
          <a:p>
            <a:pPr algn="l">
              <a:lnSpc>
                <a:spcPct val="118000"/>
              </a:lnSpc>
              <a:spcBef>
                <a:spcPts val="0"/>
              </a:spcBef>
              <a:spcAft>
                <a:spcPts val="0"/>
              </a:spcAft>
            </a:pPr>
            <a:r>
              <a:rPr sz="1400" b="0" i="0">
                <a:solidFill>
                  <a:srgbClr val="7BA3C9"/>
                </a:solidFill>
                <a:latin typeface="Calibri"/>
              </a:rPr>
              <a:t>Gruppenfallstudie · Abschnitt 3.3 Kommunikationspolitik</a:t>
            </a:r>
          </a:p>
        </p:txBody>
      </p:sp>
      <p:sp>
        <p:nvSpPr>
          <p:cNvPr id="4" name="TextBox 3"/>
          <p:cNvSpPr txBox="1"/>
          <p:nvPr/>
        </p:nvSpPr>
        <p:spPr>
          <a:xfrm>
            <a:off x="722376" y="2331720"/>
            <a:ext cx="10746943" cy="868680"/>
          </a:xfrm>
          <a:prstGeom prst="rect">
            <a:avLst/>
          </a:prstGeom>
          <a:noFill/>
        </p:spPr>
        <p:txBody>
          <a:bodyPr wrap="square" anchor="t" lIns="0" rIns="0" tIns="0" bIns="0">
            <a:spAutoFit/>
          </a:bodyPr>
          <a:lstStyle/>
          <a:p>
            <a:pPr algn="l">
              <a:lnSpc>
                <a:spcPct val="118000"/>
              </a:lnSpc>
              <a:spcBef>
                <a:spcPts val="0"/>
              </a:spcBef>
              <a:spcAft>
                <a:spcPts val="0"/>
              </a:spcAft>
            </a:pPr>
            <a:r>
              <a:rPr sz="3600" b="1" i="0">
                <a:solidFill>
                  <a:srgbClr val="FFFFFF"/>
                </a:solidFill>
                <a:latin typeface="Calibri"/>
              </a:rPr>
              <a:t>Kommunikationspolitik bei Waterdrop</a:t>
            </a:r>
          </a:p>
        </p:txBody>
      </p:sp>
      <p:sp>
        <p:nvSpPr>
          <p:cNvPr id="5" name="TextBox 4"/>
          <p:cNvSpPr txBox="1"/>
          <p:nvPr/>
        </p:nvSpPr>
        <p:spPr>
          <a:xfrm>
            <a:off x="722376" y="3310128"/>
            <a:ext cx="8961120" cy="822960"/>
          </a:xfrm>
          <a:prstGeom prst="rect">
            <a:avLst/>
          </a:prstGeom>
          <a:noFill/>
        </p:spPr>
        <p:txBody>
          <a:bodyPr wrap="square" anchor="t" lIns="0" rIns="0" tIns="0" bIns="0">
            <a:spAutoFit/>
          </a:bodyPr>
          <a:lstStyle/>
          <a:p>
            <a:pPr algn="l">
              <a:lnSpc>
                <a:spcPct val="118000"/>
              </a:lnSpc>
              <a:spcBef>
                <a:spcPts val="0"/>
              </a:spcBef>
              <a:spcAft>
                <a:spcPts val="0"/>
              </a:spcAft>
            </a:pPr>
            <a:r>
              <a:rPr sz="2000" b="0" i="0">
                <a:solidFill>
                  <a:srgbClr val="CBD8E5"/>
                </a:solidFill>
                <a:latin typeface="Calibri"/>
              </a:rPr>
              <a:t>Kommunikationsziele, Instrumente, Zielgruppe, Botschaft und Erfolgsmessung</a:t>
            </a:r>
          </a:p>
        </p:txBody>
      </p:sp>
      <p:sp>
        <p:nvSpPr>
          <p:cNvPr id="6" name="TextBox 5"/>
          <p:cNvSpPr txBox="1"/>
          <p:nvPr/>
        </p:nvSpPr>
        <p:spPr>
          <a:xfrm>
            <a:off x="722376" y="5074920"/>
            <a:ext cx="10746943" cy="1005840"/>
          </a:xfrm>
          <a:prstGeom prst="rect">
            <a:avLst/>
          </a:prstGeom>
          <a:noFill/>
        </p:spPr>
        <p:txBody>
          <a:bodyPr wrap="square" anchor="t" lIns="0" rIns="0" tIns="0" bIns="0">
            <a:spAutoFit/>
          </a:bodyPr>
          <a:lstStyle/>
          <a:p>
            <a:pPr algn="l">
              <a:lnSpc>
                <a:spcPct val="118000"/>
              </a:lnSpc>
              <a:spcBef>
                <a:spcPts val="0"/>
              </a:spcBef>
              <a:spcAft>
                <a:spcPts val="300"/>
              </a:spcAft>
            </a:pPr>
            <a:r>
              <a:rPr sz="1400" b="1" i="0">
                <a:solidFill>
                  <a:srgbClr val="FFFFFF"/>
                </a:solidFill>
                <a:latin typeface="Calibri"/>
              </a:rPr>
              <a:t>Felix Heinsius</a:t>
            </a:r>
          </a:p>
          <a:p>
            <a:pPr algn="l">
              <a:lnSpc>
                <a:spcPct val="118000"/>
              </a:lnSpc>
              <a:spcBef>
                <a:spcPts val="0"/>
              </a:spcBef>
              <a:spcAft>
                <a:spcPts val="0"/>
              </a:spcAft>
            </a:pPr>
            <a:r>
              <a:rPr sz="1300" b="0" i="0">
                <a:solidFill>
                  <a:srgbClr val="CBD8E5"/>
                </a:solidFill>
                <a:latin typeface="Calibri"/>
              </a:rPr>
              <a:t>Modul Marketing Management · JG 25 · Prof. Dr. Ann-Kristin Hölter</a:t>
            </a:r>
          </a:p>
          <a:p>
            <a:pPr algn="l">
              <a:lnSpc>
                <a:spcPct val="118000"/>
              </a:lnSpc>
              <a:spcBef>
                <a:spcPts val="0"/>
              </a:spcBef>
              <a:spcAft>
                <a:spcPts val="0"/>
              </a:spcAft>
            </a:pPr>
            <a:r>
              <a:rPr sz="1300" b="0" i="0">
                <a:solidFill>
                  <a:srgbClr val="CBD8E5"/>
                </a:solidFill>
                <a:latin typeface="Calibri"/>
              </a:rPr>
              <a:t>Hamburg School of Business Administration · 14. 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57200"/>
            <a:ext cx="10746943" cy="777240"/>
          </a:xfrm>
          <a:prstGeom prst="rect">
            <a:avLst/>
          </a:prstGeom>
          <a:noFill/>
        </p:spPr>
        <p:txBody>
          <a:bodyPr wrap="square" anchor="ctr" lIns="0" rIns="0" tIns="0" bIns="0">
            <a:spAutoFit/>
          </a:bodyPr>
          <a:lstStyle/>
          <a:p>
            <a:pPr algn="l">
              <a:lnSpc>
                <a:spcPct val="105000"/>
              </a:lnSpc>
              <a:spcBef>
                <a:spcPts val="0"/>
              </a:spcBef>
              <a:spcAft>
                <a:spcPts val="0"/>
              </a:spcAft>
            </a:pPr>
            <a:r>
              <a:rPr sz="3000" b="1" i="0">
                <a:solidFill>
                  <a:srgbClr val="002C58"/>
                </a:solidFill>
                <a:latin typeface="Calibri"/>
              </a:rPr>
              <a:t>Waterdrop ist bekannt, aber nicht verstanden</a:t>
            </a:r>
          </a:p>
        </p:txBody>
      </p:sp>
      <p:sp>
        <p:nvSpPr>
          <p:cNvPr id="3" name="TextBox 2"/>
          <p:cNvSpPr txBox="1"/>
          <p:nvPr/>
        </p:nvSpPr>
        <p:spPr>
          <a:xfrm>
            <a:off x="722376" y="1389888"/>
            <a:ext cx="5074920" cy="292608"/>
          </a:xfrm>
          <a:prstGeom prst="rect">
            <a:avLst/>
          </a:prstGeom>
          <a:noFill/>
        </p:spPr>
        <p:txBody>
          <a:bodyPr wrap="square" anchor="t" lIns="0" rIns="0" tIns="0" bIns="0">
            <a:spAutoFit/>
          </a:bodyPr>
          <a:lstStyle/>
          <a:p>
            <a:pPr algn="l">
              <a:lnSpc>
                <a:spcPct val="118000"/>
              </a:lnSpc>
              <a:spcBef>
                <a:spcPts val="0"/>
              </a:spcBef>
              <a:spcAft>
                <a:spcPts val="0"/>
              </a:spcAft>
            </a:pPr>
            <a:r>
              <a:rPr sz="1700" b="1" i="0">
                <a:solidFill>
                  <a:srgbClr val="002C58"/>
                </a:solidFill>
                <a:latin typeface="Calibri"/>
              </a:rPr>
              <a:t>Ausgangssituation</a:t>
            </a:r>
          </a:p>
        </p:txBody>
      </p:sp>
      <p:sp>
        <p:nvSpPr>
          <p:cNvPr id="4" name="TextBox 3"/>
          <p:cNvSpPr txBox="1"/>
          <p:nvPr/>
        </p:nvSpPr>
        <p:spPr>
          <a:xfrm>
            <a:off x="722376" y="1828800"/>
            <a:ext cx="5074920" cy="2926080"/>
          </a:xfrm>
          <a:prstGeom prst="rect">
            <a:avLst/>
          </a:prstGeom>
          <a:noFill/>
        </p:spPr>
        <p:txBody>
          <a:bodyPr wrap="square" anchor="t" lIns="0" rIns="0" tIns="0" bIns="0">
            <a:spAutoFit/>
          </a:bodyPr>
          <a:lstStyle/>
          <a:p>
            <a:pPr algn="l" marL="219456" indent="-219456">
              <a:lnSpc>
                <a:spcPct val="118000"/>
              </a:lnSpc>
              <a:spcBef>
                <a:spcPts val="0"/>
              </a:spcBef>
              <a:spcAft>
                <a:spcPts val="1000"/>
              </a:spcAft>
              <a:buFont typeface="Arial"/>
              <a:buChar char="▪"/>
            </a:pPr>
            <a:r>
              <a:rPr sz="1600" b="0" i="0">
                <a:solidFill>
                  <a:srgbClr val="212121"/>
                </a:solidFill>
                <a:latin typeface="Calibri"/>
              </a:rPr>
              <a:t>Microdrinks: Getränkewürfel statt Fertiggetränk</a:t>
            </a:r>
          </a:p>
          <a:p>
            <a:pPr algn="l" marL="219456" indent="-219456">
              <a:lnSpc>
                <a:spcPct val="118000"/>
              </a:lnSpc>
              <a:spcBef>
                <a:spcPts val="0"/>
              </a:spcBef>
              <a:spcAft>
                <a:spcPts val="1000"/>
              </a:spcAft>
              <a:buFont typeface="Arial"/>
              <a:buChar char="▪"/>
            </a:pPr>
            <a:r>
              <a:rPr sz="1600" b="0" i="0">
                <a:solidFill>
                  <a:srgbClr val="212121"/>
                </a:solidFill>
                <a:latin typeface="Calibri"/>
              </a:rPr>
              <a:t>Versprechen: weniger Plastik, mehr Wasserkonsum, Geschmack ohne Zucker</a:t>
            </a:r>
          </a:p>
          <a:p>
            <a:pPr algn="l" marL="219456" indent="-219456">
              <a:lnSpc>
                <a:spcPct val="118000"/>
              </a:lnSpc>
              <a:spcBef>
                <a:spcPts val="0"/>
              </a:spcBef>
              <a:spcAft>
                <a:spcPts val="1000"/>
              </a:spcAft>
              <a:buFont typeface="Arial"/>
              <a:buChar char="▪"/>
            </a:pPr>
            <a:r>
              <a:rPr sz="1600" b="0" i="0">
                <a:solidFill>
                  <a:srgbClr val="212121"/>
                </a:solidFill>
                <a:latin typeface="Calibri"/>
              </a:rPr>
              <a:t>Vertrieb über Onlineshop, eigene Stores und Einzelhandel</a:t>
            </a:r>
          </a:p>
          <a:p>
            <a:pPr algn="l" marL="219456" indent="-219456">
              <a:lnSpc>
                <a:spcPct val="118000"/>
              </a:lnSpc>
              <a:spcBef>
                <a:spcPts val="0"/>
              </a:spcBef>
              <a:spcAft>
                <a:spcPts val="600"/>
              </a:spcAft>
              <a:buFont typeface="Arial"/>
              <a:buChar char="▪"/>
            </a:pPr>
            <a:r>
              <a:rPr sz="1600" b="0" i="0">
                <a:solidFill>
                  <a:srgbClr val="212121"/>
                </a:solidFill>
                <a:latin typeface="Calibri"/>
              </a:rPr>
              <a:t>Wachstum bisher über Social Media, Influencer und Sportkooperationen</a:t>
            </a:r>
          </a:p>
        </p:txBody>
      </p:sp>
      <p:sp>
        <p:nvSpPr>
          <p:cNvPr id="5" name="Rounded Rectangle 4"/>
          <p:cNvSpPr/>
          <p:nvPr/>
        </p:nvSpPr>
        <p:spPr>
          <a:xfrm>
            <a:off x="6254496" y="1389888"/>
            <a:ext cx="5212080" cy="1078992"/>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510528" y="1536192"/>
            <a:ext cx="4700016" cy="786383"/>
          </a:xfrm>
          <a:prstGeom prst="rect">
            <a:avLst/>
          </a:prstGeom>
          <a:noFill/>
        </p:spPr>
        <p:txBody>
          <a:bodyPr wrap="square" anchor="ctr" lIns="0" rIns="0" tIns="0" bIns="0">
            <a:spAutoFit/>
          </a:bodyPr>
          <a:lstStyle/>
          <a:p>
            <a:pPr algn="l">
              <a:lnSpc>
                <a:spcPct val="118000"/>
              </a:lnSpc>
              <a:spcBef>
                <a:spcPts val="0"/>
              </a:spcBef>
              <a:spcAft>
                <a:spcPts val="400"/>
              </a:spcAft>
            </a:pPr>
            <a:r>
              <a:rPr sz="1500" b="1" i="0">
                <a:solidFill>
                  <a:srgbClr val="002C58"/>
                </a:solidFill>
                <a:latin typeface="Calibri"/>
              </a:rPr>
              <a:t>Wettbewerb</a:t>
            </a:r>
          </a:p>
          <a:p>
            <a:pPr algn="l">
              <a:lnSpc>
                <a:spcPct val="118000"/>
              </a:lnSpc>
              <a:spcBef>
                <a:spcPts val="0"/>
              </a:spcBef>
              <a:spcAft>
                <a:spcPts val="0"/>
              </a:spcAft>
            </a:pPr>
            <a:r>
              <a:rPr sz="1400" b="0" i="0">
                <a:solidFill>
                  <a:srgbClr val="212121"/>
                </a:solidFill>
                <a:latin typeface="Calibri"/>
              </a:rPr>
              <a:t>Immer mehr Anbieter bringen ähnliche Produkte auf den Markt.</a:t>
            </a:r>
          </a:p>
        </p:txBody>
      </p:sp>
      <p:sp>
        <p:nvSpPr>
          <p:cNvPr id="7" name="Rounded Rectangle 6"/>
          <p:cNvSpPr/>
          <p:nvPr/>
        </p:nvSpPr>
        <p:spPr>
          <a:xfrm>
            <a:off x="6254496" y="2633472"/>
            <a:ext cx="5212080" cy="1078992"/>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510528" y="2779776"/>
            <a:ext cx="4700016" cy="786383"/>
          </a:xfrm>
          <a:prstGeom prst="rect">
            <a:avLst/>
          </a:prstGeom>
          <a:noFill/>
        </p:spPr>
        <p:txBody>
          <a:bodyPr wrap="square" anchor="ctr" lIns="0" rIns="0" tIns="0" bIns="0">
            <a:spAutoFit/>
          </a:bodyPr>
          <a:lstStyle/>
          <a:p>
            <a:pPr algn="l">
              <a:lnSpc>
                <a:spcPct val="118000"/>
              </a:lnSpc>
              <a:spcBef>
                <a:spcPts val="0"/>
              </a:spcBef>
              <a:spcAft>
                <a:spcPts val="400"/>
              </a:spcAft>
            </a:pPr>
            <a:r>
              <a:rPr sz="1500" b="1" i="0">
                <a:solidFill>
                  <a:srgbClr val="002C58"/>
                </a:solidFill>
                <a:latin typeface="Calibri"/>
              </a:rPr>
              <a:t>Verständnis</a:t>
            </a:r>
          </a:p>
          <a:p>
            <a:pPr algn="l">
              <a:lnSpc>
                <a:spcPct val="118000"/>
              </a:lnSpc>
              <a:spcBef>
                <a:spcPts val="0"/>
              </a:spcBef>
              <a:spcAft>
                <a:spcPts val="0"/>
              </a:spcAft>
            </a:pPr>
            <a:r>
              <a:rPr sz="1400" b="0" i="0">
                <a:solidFill>
                  <a:srgbClr val="212121"/>
                </a:solidFill>
                <a:latin typeface="Calibri"/>
              </a:rPr>
              <a:t>Das Produkt ist bekannt, wird aber nicht genau verstanden.</a:t>
            </a:r>
          </a:p>
        </p:txBody>
      </p:sp>
      <p:sp>
        <p:nvSpPr>
          <p:cNvPr id="9" name="Rounded Rectangle 8"/>
          <p:cNvSpPr/>
          <p:nvPr/>
        </p:nvSpPr>
        <p:spPr>
          <a:xfrm>
            <a:off x="6254496" y="3877056"/>
            <a:ext cx="5212080" cy="1078992"/>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10528" y="4023360"/>
            <a:ext cx="4700016" cy="786383"/>
          </a:xfrm>
          <a:prstGeom prst="rect">
            <a:avLst/>
          </a:prstGeom>
          <a:noFill/>
        </p:spPr>
        <p:txBody>
          <a:bodyPr wrap="square" anchor="ctr" lIns="0" rIns="0" tIns="0" bIns="0">
            <a:spAutoFit/>
          </a:bodyPr>
          <a:lstStyle/>
          <a:p>
            <a:pPr algn="l">
              <a:lnSpc>
                <a:spcPct val="118000"/>
              </a:lnSpc>
              <a:spcBef>
                <a:spcPts val="0"/>
              </a:spcBef>
              <a:spcAft>
                <a:spcPts val="400"/>
              </a:spcAft>
            </a:pPr>
            <a:r>
              <a:rPr sz="1500" b="1" i="0">
                <a:solidFill>
                  <a:srgbClr val="002C58"/>
                </a:solidFill>
                <a:latin typeface="Calibri"/>
              </a:rPr>
              <a:t>Preis</a:t>
            </a:r>
          </a:p>
          <a:p>
            <a:pPr algn="l">
              <a:lnSpc>
                <a:spcPct val="118000"/>
              </a:lnSpc>
              <a:spcBef>
                <a:spcPts val="0"/>
              </a:spcBef>
              <a:spcAft>
                <a:spcPts val="0"/>
              </a:spcAft>
            </a:pPr>
            <a:r>
              <a:rPr sz="1400" b="0" i="0">
                <a:solidFill>
                  <a:srgbClr val="212121"/>
                </a:solidFill>
                <a:latin typeface="Calibri"/>
              </a:rPr>
              <a:t>Der vergleichsweise hohe Preis gilt als Nachteil.</a:t>
            </a:r>
          </a:p>
        </p:txBody>
      </p:sp>
      <p:sp>
        <p:nvSpPr>
          <p:cNvPr id="11" name="Rounded Rectangle 10"/>
          <p:cNvSpPr/>
          <p:nvPr/>
        </p:nvSpPr>
        <p:spPr>
          <a:xfrm>
            <a:off x="722376" y="5230368"/>
            <a:ext cx="10746943" cy="777240"/>
          </a:xfrm>
          <a:prstGeom prst="roundRect">
            <a:avLst>
              <a:gd name="adj" fmla="val 5000"/>
            </a:avLst>
          </a:prstGeom>
          <a:solidFill>
            <a:srgbClr val="002C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33272" y="5230368"/>
            <a:ext cx="10125151" cy="777240"/>
          </a:xfrm>
          <a:prstGeom prst="rect">
            <a:avLst/>
          </a:prstGeom>
          <a:noFill/>
        </p:spPr>
        <p:txBody>
          <a:bodyPr wrap="square" anchor="ctr" lIns="0" rIns="0" tIns="0" bIns="0">
            <a:spAutoFit/>
          </a:bodyPr>
          <a:lstStyle/>
          <a:p>
            <a:pPr algn="l">
              <a:lnSpc>
                <a:spcPct val="110000"/>
              </a:lnSpc>
              <a:spcBef>
                <a:spcPts val="0"/>
              </a:spcBef>
              <a:spcAft>
                <a:spcPts val="0"/>
              </a:spcAft>
            </a:pPr>
            <a:r>
              <a:rPr sz="1800" b="1" i="0">
                <a:solidFill>
                  <a:srgbClr val="FFFFFF"/>
                </a:solidFill>
                <a:latin typeface="Calibri"/>
              </a:rPr>
              <a:t>Leitfrage: Wie muss Waterdrop kommunizieren, damit Nutzen und Preis verstanden werden?</a:t>
            </a:r>
          </a:p>
        </p:txBody>
      </p:sp>
      <p:sp>
        <p:nvSpPr>
          <p:cNvPr id="13" name="TextBox 12"/>
          <p:cNvSpPr txBox="1"/>
          <p:nvPr/>
        </p:nvSpPr>
        <p:spPr>
          <a:xfrm>
            <a:off x="722376" y="6364224"/>
            <a:ext cx="10106863" cy="274320"/>
          </a:xfrm>
          <a:prstGeom prst="rect">
            <a:avLst/>
          </a:prstGeom>
          <a:noFill/>
        </p:spPr>
        <p:txBody>
          <a:bodyPr wrap="square" anchor="t" lIns="0" rIns="0" tIns="0" bIns="0">
            <a:spAutoFit/>
          </a:bodyPr>
          <a:lstStyle/>
          <a:p>
            <a:pPr algn="l">
              <a:lnSpc>
                <a:spcPct val="118000"/>
              </a:lnSpc>
              <a:spcBef>
                <a:spcPts val="0"/>
              </a:spcBef>
              <a:spcAft>
                <a:spcPts val="0"/>
              </a:spcAft>
            </a:pPr>
            <a:r>
              <a:rPr sz="900" b="0" i="0">
                <a:solidFill>
                  <a:srgbClr val="6B6B6B"/>
                </a:solidFill>
                <a:latin typeface="Calibri"/>
              </a:rPr>
              <a:t>Quelle: HSBA (2025), Gruppenfallstudie „Kommunikationspolitik bei Waterdrop“, Abschnitt 3.3.</a:t>
            </a:r>
          </a:p>
        </p:txBody>
      </p:sp>
      <p:sp>
        <p:nvSpPr>
          <p:cNvPr id="14" name="TextBox 13"/>
          <p:cNvSpPr txBox="1"/>
          <p:nvPr/>
        </p:nvSpPr>
        <p:spPr>
          <a:xfrm>
            <a:off x="10920679" y="6364224"/>
            <a:ext cx="548640" cy="274320"/>
          </a:xfrm>
          <a:prstGeom prst="rect">
            <a:avLst/>
          </a:prstGeom>
          <a:noFill/>
        </p:spPr>
        <p:txBody>
          <a:bodyPr wrap="square" anchor="t" lIns="0" rIns="0" tIns="0" bIns="0">
            <a:spAutoFit/>
          </a:bodyPr>
          <a:lstStyle/>
          <a:p>
            <a:pPr algn="r">
              <a:lnSpc>
                <a:spcPct val="118000"/>
              </a:lnSpc>
              <a:spcBef>
                <a:spcPts val="0"/>
              </a:spcBef>
              <a:spcAft>
                <a:spcPts val="0"/>
              </a:spcAft>
            </a:pPr>
            <a:r>
              <a:rPr sz="900" b="0" i="0">
                <a:solidFill>
                  <a:srgbClr val="6B6B6B"/>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722376" y="457200"/>
            <a:ext cx="548640" cy="548640"/>
          </a:xfrm>
          <a:prstGeom prst="ellipse">
            <a:avLst/>
          </a:prstGeom>
          <a:solidFill>
            <a:srgbClr val="002C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1</a:t>
            </a:r>
          </a:p>
        </p:txBody>
      </p:sp>
      <p:sp>
        <p:nvSpPr>
          <p:cNvPr id="3" name="TextBox 2"/>
          <p:cNvSpPr txBox="1"/>
          <p:nvPr/>
        </p:nvSpPr>
        <p:spPr>
          <a:xfrm>
            <a:off x="1490472" y="457200"/>
            <a:ext cx="9978847" cy="777240"/>
          </a:xfrm>
          <a:prstGeom prst="rect">
            <a:avLst/>
          </a:prstGeom>
          <a:noFill/>
        </p:spPr>
        <p:txBody>
          <a:bodyPr wrap="square" anchor="ctr" lIns="0" rIns="0" tIns="0" bIns="0">
            <a:spAutoFit/>
          </a:bodyPr>
          <a:lstStyle/>
          <a:p>
            <a:pPr algn="l">
              <a:lnSpc>
                <a:spcPct val="105000"/>
              </a:lnSpc>
              <a:spcBef>
                <a:spcPts val="0"/>
              </a:spcBef>
              <a:spcAft>
                <a:spcPts val="0"/>
              </a:spcAft>
            </a:pPr>
            <a:r>
              <a:rPr sz="3000" b="1" i="0">
                <a:solidFill>
                  <a:srgbClr val="002C58"/>
                </a:solidFill>
                <a:latin typeface="Calibri"/>
              </a:rPr>
              <a:t>Psychologische Ziele gehen den ökonomischen voraus</a:t>
            </a:r>
          </a:p>
        </p:txBody>
      </p:sp>
      <p:sp>
        <p:nvSpPr>
          <p:cNvPr id="4" name="Rounded Rectangle 3"/>
          <p:cNvSpPr/>
          <p:nvPr/>
        </p:nvSpPr>
        <p:spPr>
          <a:xfrm>
            <a:off x="722376" y="1444752"/>
            <a:ext cx="5212080" cy="315468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78408" y="1664208"/>
            <a:ext cx="4700016" cy="2715768"/>
          </a:xfrm>
          <a:prstGeom prst="rect">
            <a:avLst/>
          </a:prstGeom>
          <a:noFill/>
        </p:spPr>
        <p:txBody>
          <a:bodyPr wrap="square" anchor="ctr" lIns="0" rIns="0" tIns="0" bIns="0">
            <a:spAutoFit/>
          </a:bodyPr>
          <a:lstStyle/>
          <a:p>
            <a:pPr algn="l">
              <a:lnSpc>
                <a:spcPct val="118000"/>
              </a:lnSpc>
              <a:spcBef>
                <a:spcPts val="0"/>
              </a:spcBef>
              <a:spcAft>
                <a:spcPts val="900"/>
              </a:spcAft>
            </a:pPr>
            <a:r>
              <a:rPr sz="1700" b="1" i="0">
                <a:solidFill>
                  <a:srgbClr val="002C58"/>
                </a:solidFill>
                <a:latin typeface="Calibri"/>
              </a:rPr>
              <a:t>Psychologische (psychographische) Ziele</a:t>
            </a:r>
          </a:p>
          <a:p>
            <a:pPr algn="l" marL="219456" indent="-219456">
              <a:lnSpc>
                <a:spcPct val="118000"/>
              </a:lnSpc>
              <a:spcBef>
                <a:spcPts val="0"/>
              </a:spcBef>
              <a:spcAft>
                <a:spcPts val="600"/>
              </a:spcAft>
              <a:buFont typeface="Arial"/>
              <a:buChar char="▪"/>
            </a:pPr>
            <a:r>
              <a:rPr sz="1600" b="0" i="0">
                <a:solidFill>
                  <a:srgbClr val="212121"/>
                </a:solidFill>
                <a:latin typeface="Calibri"/>
              </a:rPr>
              <a:t>Produktverständnis statt bloßer Bekanntheit</a:t>
            </a:r>
          </a:p>
          <a:p>
            <a:pPr algn="l" marL="219456" indent="-219456">
              <a:lnSpc>
                <a:spcPct val="118000"/>
              </a:lnSpc>
              <a:spcBef>
                <a:spcPts val="0"/>
              </a:spcBef>
              <a:spcAft>
                <a:spcPts val="600"/>
              </a:spcAft>
              <a:buFont typeface="Arial"/>
              <a:buChar char="▪"/>
            </a:pPr>
            <a:r>
              <a:rPr sz="1600" b="0" i="0">
                <a:solidFill>
                  <a:srgbClr val="212121"/>
                </a:solidFill>
                <a:latin typeface="Calibri"/>
              </a:rPr>
              <a:t>Vertrauen in Zuckerfreiheit und Nachhaltigkeit</a:t>
            </a:r>
          </a:p>
          <a:p>
            <a:pPr algn="l" marL="219456" indent="-219456">
              <a:lnSpc>
                <a:spcPct val="118000"/>
              </a:lnSpc>
              <a:spcBef>
                <a:spcPts val="0"/>
              </a:spcBef>
              <a:spcAft>
                <a:spcPts val="600"/>
              </a:spcAft>
              <a:buFont typeface="Arial"/>
              <a:buChar char="▪"/>
            </a:pPr>
            <a:r>
              <a:rPr sz="1600" b="0" i="0">
                <a:solidFill>
                  <a:srgbClr val="212121"/>
                </a:solidFill>
                <a:latin typeface="Calibri"/>
              </a:rPr>
              <a:t>Profilierung gegenüber Nachahmern</a:t>
            </a:r>
          </a:p>
          <a:p>
            <a:pPr algn="l" marL="219456" indent="-219456">
              <a:lnSpc>
                <a:spcPct val="118000"/>
              </a:lnSpc>
              <a:spcBef>
                <a:spcPts val="0"/>
              </a:spcBef>
              <a:spcAft>
                <a:spcPts val="600"/>
              </a:spcAft>
              <a:buFont typeface="Arial"/>
              <a:buChar char="▪"/>
            </a:pPr>
            <a:r>
              <a:rPr sz="1600" b="0" i="0">
                <a:solidFill>
                  <a:srgbClr val="212121"/>
                </a:solidFill>
                <a:latin typeface="Calibri"/>
              </a:rPr>
              <a:t>Kauf- und Wiederkaufabsicht stärken</a:t>
            </a:r>
          </a:p>
        </p:txBody>
      </p:sp>
      <p:sp>
        <p:nvSpPr>
          <p:cNvPr id="6" name="Rounded Rectangle 5"/>
          <p:cNvSpPr/>
          <p:nvPr/>
        </p:nvSpPr>
        <p:spPr>
          <a:xfrm>
            <a:off x="6254496" y="1444752"/>
            <a:ext cx="5212080" cy="315468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510528" y="1664208"/>
            <a:ext cx="4700016" cy="2715768"/>
          </a:xfrm>
          <a:prstGeom prst="rect">
            <a:avLst/>
          </a:prstGeom>
          <a:noFill/>
        </p:spPr>
        <p:txBody>
          <a:bodyPr wrap="square" anchor="ctr" lIns="0" rIns="0" tIns="0" bIns="0">
            <a:spAutoFit/>
          </a:bodyPr>
          <a:lstStyle/>
          <a:p>
            <a:pPr algn="l">
              <a:lnSpc>
                <a:spcPct val="118000"/>
              </a:lnSpc>
              <a:spcBef>
                <a:spcPts val="0"/>
              </a:spcBef>
              <a:spcAft>
                <a:spcPts val="900"/>
              </a:spcAft>
            </a:pPr>
            <a:r>
              <a:rPr sz="1700" b="1" i="0">
                <a:solidFill>
                  <a:srgbClr val="002C58"/>
                </a:solidFill>
                <a:latin typeface="Calibri"/>
              </a:rPr>
              <a:t>Ökonomische Ziele</a:t>
            </a:r>
          </a:p>
          <a:p>
            <a:pPr algn="l" marL="219456" indent="-219456">
              <a:lnSpc>
                <a:spcPct val="118000"/>
              </a:lnSpc>
              <a:spcBef>
                <a:spcPts val="0"/>
              </a:spcBef>
              <a:spcAft>
                <a:spcPts val="600"/>
              </a:spcAft>
              <a:buFont typeface="Arial"/>
              <a:buChar char="▪"/>
            </a:pPr>
            <a:r>
              <a:rPr sz="1600" b="0" i="0">
                <a:solidFill>
                  <a:srgbClr val="212121"/>
                </a:solidFill>
                <a:latin typeface="Calibri"/>
              </a:rPr>
              <a:t>Absatz und Umsatz je Neukunde</a:t>
            </a:r>
          </a:p>
          <a:p>
            <a:pPr algn="l" marL="219456" indent="-219456">
              <a:lnSpc>
                <a:spcPct val="118000"/>
              </a:lnSpc>
              <a:spcBef>
                <a:spcPts val="0"/>
              </a:spcBef>
              <a:spcAft>
                <a:spcPts val="600"/>
              </a:spcAft>
              <a:buFont typeface="Arial"/>
              <a:buChar char="▪"/>
            </a:pPr>
            <a:r>
              <a:rPr sz="1600" b="0" i="0">
                <a:solidFill>
                  <a:srgbClr val="212121"/>
                </a:solidFill>
                <a:latin typeface="Calibri"/>
              </a:rPr>
              <a:t>Conversion Rate im Onlineshop</a:t>
            </a:r>
          </a:p>
          <a:p>
            <a:pPr algn="l" marL="219456" indent="-219456">
              <a:lnSpc>
                <a:spcPct val="118000"/>
              </a:lnSpc>
              <a:spcBef>
                <a:spcPts val="0"/>
              </a:spcBef>
              <a:spcAft>
                <a:spcPts val="600"/>
              </a:spcAft>
              <a:buFont typeface="Arial"/>
              <a:buChar char="▪"/>
            </a:pPr>
            <a:r>
              <a:rPr sz="1600" b="0" i="0">
                <a:solidFill>
                  <a:srgbClr val="212121"/>
                </a:solidFill>
                <a:latin typeface="Calibri"/>
              </a:rPr>
              <a:t>Anteil von Abonnements und Wiederkäufen</a:t>
            </a:r>
          </a:p>
          <a:p>
            <a:pPr algn="l" marL="219456" indent="-219456">
              <a:lnSpc>
                <a:spcPct val="118000"/>
              </a:lnSpc>
              <a:spcBef>
                <a:spcPts val="0"/>
              </a:spcBef>
              <a:spcAft>
                <a:spcPts val="600"/>
              </a:spcAft>
              <a:buFont typeface="Arial"/>
              <a:buChar char="▪"/>
            </a:pPr>
            <a:r>
              <a:rPr sz="1600" b="0" i="0">
                <a:solidFill>
                  <a:srgbClr val="212121"/>
                </a:solidFill>
                <a:latin typeface="Calibri"/>
              </a:rPr>
              <a:t>Preisdurchsetzung statt Dauerrabatt</a:t>
            </a:r>
          </a:p>
        </p:txBody>
      </p:sp>
      <p:sp>
        <p:nvSpPr>
          <p:cNvPr id="8" name="Rounded Rectangle 7"/>
          <p:cNvSpPr/>
          <p:nvPr/>
        </p:nvSpPr>
        <p:spPr>
          <a:xfrm>
            <a:off x="722376" y="4892040"/>
            <a:ext cx="10746943" cy="777240"/>
          </a:xfrm>
          <a:prstGeom prst="roundRect">
            <a:avLst>
              <a:gd name="adj" fmla="val 5000"/>
            </a:avLst>
          </a:prstGeom>
          <a:solidFill>
            <a:srgbClr val="002C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33272" y="4892040"/>
            <a:ext cx="10125151" cy="777240"/>
          </a:xfrm>
          <a:prstGeom prst="rect">
            <a:avLst/>
          </a:prstGeom>
          <a:noFill/>
        </p:spPr>
        <p:txBody>
          <a:bodyPr wrap="square" anchor="ctr" lIns="0" rIns="0" tIns="0" bIns="0">
            <a:spAutoFit/>
          </a:bodyPr>
          <a:lstStyle/>
          <a:p>
            <a:pPr algn="l">
              <a:lnSpc>
                <a:spcPct val="110000"/>
              </a:lnSpc>
              <a:spcBef>
                <a:spcPts val="0"/>
              </a:spcBef>
              <a:spcAft>
                <a:spcPts val="0"/>
              </a:spcAft>
            </a:pPr>
            <a:r>
              <a:rPr sz="1800" b="1" i="0">
                <a:solidFill>
                  <a:srgbClr val="FFFFFF"/>
                </a:solidFill>
                <a:latin typeface="Calibri"/>
              </a:rPr>
              <a:t>Bekanntheit ist erreicht – die Wirkungslücke liegt bei Verständnis und Preisakzeptanz.</a:t>
            </a:r>
          </a:p>
        </p:txBody>
      </p:sp>
      <p:sp>
        <p:nvSpPr>
          <p:cNvPr id="10" name="TextBox 9"/>
          <p:cNvSpPr txBox="1"/>
          <p:nvPr/>
        </p:nvSpPr>
        <p:spPr>
          <a:xfrm>
            <a:off x="722376" y="6364224"/>
            <a:ext cx="10106863" cy="274320"/>
          </a:xfrm>
          <a:prstGeom prst="rect">
            <a:avLst/>
          </a:prstGeom>
          <a:noFill/>
        </p:spPr>
        <p:txBody>
          <a:bodyPr wrap="square" anchor="t" lIns="0" rIns="0" tIns="0" bIns="0">
            <a:spAutoFit/>
          </a:bodyPr>
          <a:lstStyle/>
          <a:p>
            <a:pPr algn="l">
              <a:lnSpc>
                <a:spcPct val="118000"/>
              </a:lnSpc>
              <a:spcBef>
                <a:spcPts val="0"/>
              </a:spcBef>
              <a:spcAft>
                <a:spcPts val="0"/>
              </a:spcAft>
            </a:pPr>
            <a:r>
              <a:rPr sz="900" b="0" i="0">
                <a:solidFill>
                  <a:srgbClr val="6B6B6B"/>
                </a:solidFill>
                <a:latin typeface="Calibri"/>
              </a:rPr>
              <a:t>Ziele nach Meffert et al. (2019, 635–636) und Homburg (2020, 221); Wirkungsstufen nach Lavidge und Steiner (1961, 59–62).</a:t>
            </a:r>
          </a:p>
        </p:txBody>
      </p:sp>
      <p:sp>
        <p:nvSpPr>
          <p:cNvPr id="11" name="TextBox 10"/>
          <p:cNvSpPr txBox="1"/>
          <p:nvPr/>
        </p:nvSpPr>
        <p:spPr>
          <a:xfrm>
            <a:off x="10920679" y="6364224"/>
            <a:ext cx="548640" cy="274320"/>
          </a:xfrm>
          <a:prstGeom prst="rect">
            <a:avLst/>
          </a:prstGeom>
          <a:noFill/>
        </p:spPr>
        <p:txBody>
          <a:bodyPr wrap="square" anchor="t" lIns="0" rIns="0" tIns="0" bIns="0">
            <a:spAutoFit/>
          </a:bodyPr>
          <a:lstStyle/>
          <a:p>
            <a:pPr algn="r">
              <a:lnSpc>
                <a:spcPct val="118000"/>
              </a:lnSpc>
              <a:spcBef>
                <a:spcPts val="0"/>
              </a:spcBef>
              <a:spcAft>
                <a:spcPts val="0"/>
              </a:spcAft>
            </a:pPr>
            <a:r>
              <a:rPr sz="900" b="0" i="0">
                <a:solidFill>
                  <a:srgbClr val="6B6B6B"/>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722376" y="457200"/>
            <a:ext cx="548640" cy="548640"/>
          </a:xfrm>
          <a:prstGeom prst="ellipse">
            <a:avLst/>
          </a:prstGeom>
          <a:solidFill>
            <a:srgbClr val="002C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2</a:t>
            </a:r>
          </a:p>
        </p:txBody>
      </p:sp>
      <p:sp>
        <p:nvSpPr>
          <p:cNvPr id="3" name="TextBox 2"/>
          <p:cNvSpPr txBox="1"/>
          <p:nvPr/>
        </p:nvSpPr>
        <p:spPr>
          <a:xfrm>
            <a:off x="1490472" y="457200"/>
            <a:ext cx="9978847" cy="777240"/>
          </a:xfrm>
          <a:prstGeom prst="rect">
            <a:avLst/>
          </a:prstGeom>
          <a:noFill/>
        </p:spPr>
        <p:txBody>
          <a:bodyPr wrap="square" anchor="ctr" lIns="0" rIns="0" tIns="0" bIns="0">
            <a:spAutoFit/>
          </a:bodyPr>
          <a:lstStyle/>
          <a:p>
            <a:pPr algn="l">
              <a:lnSpc>
                <a:spcPct val="105000"/>
              </a:lnSpc>
              <a:spcBef>
                <a:spcPts val="0"/>
              </a:spcBef>
              <a:spcAft>
                <a:spcPts val="0"/>
              </a:spcAft>
            </a:pPr>
            <a:r>
              <a:rPr sz="3000" b="1" i="0">
                <a:solidFill>
                  <a:srgbClr val="002C58"/>
                </a:solidFill>
                <a:latin typeface="Calibri"/>
              </a:rPr>
              <a:t>Drei Instrumente adressieren Verständnis und Preisrisiko</a:t>
            </a:r>
          </a:p>
        </p:txBody>
      </p:sp>
      <p:sp>
        <p:nvSpPr>
          <p:cNvPr id="4" name="Rounded Rectangle 3"/>
          <p:cNvSpPr/>
          <p:nvPr/>
        </p:nvSpPr>
        <p:spPr>
          <a:xfrm>
            <a:off x="722376" y="1444752"/>
            <a:ext cx="3429000" cy="315468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78408" y="1700784"/>
            <a:ext cx="402336" cy="402336"/>
          </a:xfrm>
          <a:prstGeom prst="ellipse">
            <a:avLst/>
          </a:prstGeom>
          <a:solidFill>
            <a:srgbClr val="002C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1</a:t>
            </a:r>
          </a:p>
        </p:txBody>
      </p:sp>
      <p:sp>
        <p:nvSpPr>
          <p:cNvPr id="6" name="TextBox 5"/>
          <p:cNvSpPr txBox="1"/>
          <p:nvPr/>
        </p:nvSpPr>
        <p:spPr>
          <a:xfrm>
            <a:off x="978408" y="2286000"/>
            <a:ext cx="2916936" cy="2039112"/>
          </a:xfrm>
          <a:prstGeom prst="rect">
            <a:avLst/>
          </a:prstGeom>
          <a:noFill/>
        </p:spPr>
        <p:txBody>
          <a:bodyPr wrap="square" anchor="t" lIns="0" rIns="0" tIns="0" bIns="0">
            <a:spAutoFit/>
          </a:bodyPr>
          <a:lstStyle/>
          <a:p>
            <a:pPr algn="l">
              <a:lnSpc>
                <a:spcPct val="118000"/>
              </a:lnSpc>
              <a:spcBef>
                <a:spcPts val="0"/>
              </a:spcBef>
              <a:spcAft>
                <a:spcPts val="800"/>
              </a:spcAft>
            </a:pPr>
            <a:r>
              <a:rPr sz="1600" b="1" i="0">
                <a:solidFill>
                  <a:srgbClr val="002C58"/>
                </a:solidFill>
                <a:latin typeface="Calibri"/>
              </a:rPr>
              <a:t>Content- und Social-Media-Marketing</a:t>
            </a:r>
          </a:p>
          <a:p>
            <a:pPr algn="l">
              <a:lnSpc>
                <a:spcPct val="118000"/>
              </a:lnSpc>
              <a:spcBef>
                <a:spcPts val="0"/>
              </a:spcBef>
              <a:spcAft>
                <a:spcPts val="0"/>
              </a:spcAft>
            </a:pPr>
            <a:r>
              <a:rPr sz="1400" b="0" i="0">
                <a:solidFill>
                  <a:srgbClr val="212121"/>
                </a:solidFill>
                <a:latin typeface="Calibri"/>
              </a:rPr>
              <a:t>Erklärt Anwendung und Nutzen dort, wo die Zielgruppe ohnehin ist – kurz, visuell und wiederholt.</a:t>
            </a:r>
          </a:p>
        </p:txBody>
      </p:sp>
      <p:sp>
        <p:nvSpPr>
          <p:cNvPr id="7" name="Rounded Rectangle 6"/>
          <p:cNvSpPr/>
          <p:nvPr/>
        </p:nvSpPr>
        <p:spPr>
          <a:xfrm>
            <a:off x="4379976" y="1444752"/>
            <a:ext cx="3429000" cy="315468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636008" y="1700784"/>
            <a:ext cx="402336" cy="402336"/>
          </a:xfrm>
          <a:prstGeom prst="ellipse">
            <a:avLst/>
          </a:prstGeom>
          <a:solidFill>
            <a:srgbClr val="002C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2</a:t>
            </a:r>
          </a:p>
        </p:txBody>
      </p:sp>
      <p:sp>
        <p:nvSpPr>
          <p:cNvPr id="9" name="TextBox 8"/>
          <p:cNvSpPr txBox="1"/>
          <p:nvPr/>
        </p:nvSpPr>
        <p:spPr>
          <a:xfrm>
            <a:off x="4636008" y="2286000"/>
            <a:ext cx="2916936" cy="2039112"/>
          </a:xfrm>
          <a:prstGeom prst="rect">
            <a:avLst/>
          </a:prstGeom>
          <a:noFill/>
        </p:spPr>
        <p:txBody>
          <a:bodyPr wrap="square" anchor="t" lIns="0" rIns="0" tIns="0" bIns="0">
            <a:spAutoFit/>
          </a:bodyPr>
          <a:lstStyle/>
          <a:p>
            <a:pPr algn="l">
              <a:lnSpc>
                <a:spcPct val="118000"/>
              </a:lnSpc>
              <a:spcBef>
                <a:spcPts val="0"/>
              </a:spcBef>
              <a:spcAft>
                <a:spcPts val="800"/>
              </a:spcAft>
            </a:pPr>
            <a:r>
              <a:rPr sz="1600" b="1" i="0">
                <a:solidFill>
                  <a:srgbClr val="002C58"/>
                </a:solidFill>
                <a:latin typeface="Calibri"/>
              </a:rPr>
              <a:t>Verkaufsförderung und Sampling</a:t>
            </a:r>
          </a:p>
          <a:p>
            <a:pPr algn="l">
              <a:lnSpc>
                <a:spcPct val="118000"/>
              </a:lnSpc>
              <a:spcBef>
                <a:spcPts val="0"/>
              </a:spcBef>
              <a:spcAft>
                <a:spcPts val="0"/>
              </a:spcAft>
            </a:pPr>
            <a:r>
              <a:rPr sz="1400" b="0" i="0">
                <a:solidFill>
                  <a:srgbClr val="212121"/>
                </a:solidFill>
                <a:latin typeface="Calibri"/>
              </a:rPr>
              <a:t>Probier-Sets, Starter-Kits und Tastings senken das wahrgenommene Preisrisiko vor dem Erstkauf.</a:t>
            </a:r>
          </a:p>
        </p:txBody>
      </p:sp>
      <p:sp>
        <p:nvSpPr>
          <p:cNvPr id="10" name="Rounded Rectangle 9"/>
          <p:cNvSpPr/>
          <p:nvPr/>
        </p:nvSpPr>
        <p:spPr>
          <a:xfrm>
            <a:off x="8037575" y="1444752"/>
            <a:ext cx="3429000" cy="315468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293607" y="1700784"/>
            <a:ext cx="402336" cy="402336"/>
          </a:xfrm>
          <a:prstGeom prst="ellipse">
            <a:avLst/>
          </a:prstGeom>
          <a:solidFill>
            <a:srgbClr val="002C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3</a:t>
            </a:r>
          </a:p>
        </p:txBody>
      </p:sp>
      <p:sp>
        <p:nvSpPr>
          <p:cNvPr id="12" name="TextBox 11"/>
          <p:cNvSpPr txBox="1"/>
          <p:nvPr/>
        </p:nvSpPr>
        <p:spPr>
          <a:xfrm>
            <a:off x="8293607" y="2286000"/>
            <a:ext cx="2916936" cy="2039112"/>
          </a:xfrm>
          <a:prstGeom prst="rect">
            <a:avLst/>
          </a:prstGeom>
          <a:noFill/>
        </p:spPr>
        <p:txBody>
          <a:bodyPr wrap="square" anchor="t" lIns="0" rIns="0" tIns="0" bIns="0">
            <a:spAutoFit/>
          </a:bodyPr>
          <a:lstStyle/>
          <a:p>
            <a:pPr algn="l">
              <a:lnSpc>
                <a:spcPct val="118000"/>
              </a:lnSpc>
              <a:spcBef>
                <a:spcPts val="0"/>
              </a:spcBef>
              <a:spcAft>
                <a:spcPts val="800"/>
              </a:spcAft>
            </a:pPr>
            <a:r>
              <a:rPr sz="1600" b="1" i="0">
                <a:solidFill>
                  <a:srgbClr val="002C58"/>
                </a:solidFill>
                <a:latin typeface="Calibri"/>
              </a:rPr>
              <a:t>Influencer- und Kooperationsmarketing</a:t>
            </a:r>
          </a:p>
          <a:p>
            <a:pPr algn="l">
              <a:lnSpc>
                <a:spcPct val="118000"/>
              </a:lnSpc>
              <a:spcBef>
                <a:spcPts val="0"/>
              </a:spcBef>
              <a:spcAft>
                <a:spcPts val="0"/>
              </a:spcAft>
            </a:pPr>
            <a:r>
              <a:rPr sz="1400" b="0" i="0">
                <a:solidFill>
                  <a:srgbClr val="212121"/>
                </a:solidFill>
                <a:latin typeface="Calibri"/>
              </a:rPr>
              <a:t>Meinungsführer als Multiplikatoren, ausgewählt nach Glaubwürdigkeit statt nach Reichweite.</a:t>
            </a:r>
          </a:p>
        </p:txBody>
      </p:sp>
      <p:sp>
        <p:nvSpPr>
          <p:cNvPr id="13" name="Rounded Rectangle 12"/>
          <p:cNvSpPr/>
          <p:nvPr/>
        </p:nvSpPr>
        <p:spPr>
          <a:xfrm>
            <a:off x="722376" y="4892040"/>
            <a:ext cx="10746943" cy="777240"/>
          </a:xfrm>
          <a:prstGeom prst="roundRect">
            <a:avLst>
              <a:gd name="adj" fmla="val 5000"/>
            </a:avLst>
          </a:prstGeom>
          <a:solidFill>
            <a:srgbClr val="002C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33272" y="4892040"/>
            <a:ext cx="10125151" cy="777240"/>
          </a:xfrm>
          <a:prstGeom prst="rect">
            <a:avLst/>
          </a:prstGeom>
          <a:noFill/>
        </p:spPr>
        <p:txBody>
          <a:bodyPr wrap="square" anchor="ctr" lIns="0" rIns="0" tIns="0" bIns="0">
            <a:spAutoFit/>
          </a:bodyPr>
          <a:lstStyle/>
          <a:p>
            <a:pPr algn="l">
              <a:lnSpc>
                <a:spcPct val="110000"/>
              </a:lnSpc>
              <a:spcBef>
                <a:spcPts val="0"/>
              </a:spcBef>
              <a:spcAft>
                <a:spcPts val="0"/>
              </a:spcAft>
            </a:pPr>
            <a:r>
              <a:rPr sz="1700" b="1" i="0">
                <a:solidFill>
                  <a:srgbClr val="FFFFFF"/>
                </a:solidFill>
                <a:latin typeface="Calibri"/>
              </a:rPr>
              <a:t>Flankierend: PR zur Nachhaltigkeit, CRM-Mailings für den Wiederkauf, persönlicher Verkauf in eigenen Stores.</a:t>
            </a:r>
          </a:p>
        </p:txBody>
      </p:sp>
      <p:sp>
        <p:nvSpPr>
          <p:cNvPr id="15" name="TextBox 14"/>
          <p:cNvSpPr txBox="1"/>
          <p:nvPr/>
        </p:nvSpPr>
        <p:spPr>
          <a:xfrm>
            <a:off x="722376" y="6364224"/>
            <a:ext cx="10106863" cy="274320"/>
          </a:xfrm>
          <a:prstGeom prst="rect">
            <a:avLst/>
          </a:prstGeom>
          <a:noFill/>
        </p:spPr>
        <p:txBody>
          <a:bodyPr wrap="square" anchor="t" lIns="0" rIns="0" tIns="0" bIns="0">
            <a:spAutoFit/>
          </a:bodyPr>
          <a:lstStyle/>
          <a:p>
            <a:pPr algn="l">
              <a:lnSpc>
                <a:spcPct val="118000"/>
              </a:lnSpc>
              <a:spcBef>
                <a:spcPts val="0"/>
              </a:spcBef>
              <a:spcAft>
                <a:spcPts val="0"/>
              </a:spcAft>
            </a:pPr>
            <a:r>
              <a:rPr sz="900" b="0" i="0">
                <a:solidFill>
                  <a:srgbClr val="6B6B6B"/>
                </a:solidFill>
                <a:latin typeface="Calibri"/>
              </a:rPr>
              <a:t>Instrumente und integrierte Kommunikation nach Kotler und Armstrong (2020, 394, 406), Homburg (2020, 251) und Lammenett (2019, 41).</a:t>
            </a:r>
          </a:p>
        </p:txBody>
      </p:sp>
      <p:sp>
        <p:nvSpPr>
          <p:cNvPr id="16" name="TextBox 15"/>
          <p:cNvSpPr txBox="1"/>
          <p:nvPr/>
        </p:nvSpPr>
        <p:spPr>
          <a:xfrm>
            <a:off x="10920679" y="6364224"/>
            <a:ext cx="548640" cy="274320"/>
          </a:xfrm>
          <a:prstGeom prst="rect">
            <a:avLst/>
          </a:prstGeom>
          <a:noFill/>
        </p:spPr>
        <p:txBody>
          <a:bodyPr wrap="square" anchor="t" lIns="0" rIns="0" tIns="0" bIns="0">
            <a:spAutoFit/>
          </a:bodyPr>
          <a:lstStyle/>
          <a:p>
            <a:pPr algn="r">
              <a:lnSpc>
                <a:spcPct val="118000"/>
              </a:lnSpc>
              <a:spcBef>
                <a:spcPts val="0"/>
              </a:spcBef>
              <a:spcAft>
                <a:spcPts val="0"/>
              </a:spcAft>
            </a:pPr>
            <a:r>
              <a:rPr sz="900" b="0" i="0">
                <a:solidFill>
                  <a:srgbClr val="6B6B6B"/>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722376" y="457200"/>
            <a:ext cx="548640" cy="548640"/>
          </a:xfrm>
          <a:prstGeom prst="ellipse">
            <a:avLst/>
          </a:prstGeom>
          <a:solidFill>
            <a:srgbClr val="002C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3</a:t>
            </a:r>
          </a:p>
        </p:txBody>
      </p:sp>
      <p:sp>
        <p:nvSpPr>
          <p:cNvPr id="3" name="TextBox 2"/>
          <p:cNvSpPr txBox="1"/>
          <p:nvPr/>
        </p:nvSpPr>
        <p:spPr>
          <a:xfrm>
            <a:off x="1490472" y="457200"/>
            <a:ext cx="9978847" cy="777240"/>
          </a:xfrm>
          <a:prstGeom prst="rect">
            <a:avLst/>
          </a:prstGeom>
          <a:noFill/>
        </p:spPr>
        <p:txBody>
          <a:bodyPr wrap="square" anchor="ctr" lIns="0" rIns="0" tIns="0" bIns="0">
            <a:spAutoFit/>
          </a:bodyPr>
          <a:lstStyle/>
          <a:p>
            <a:pPr algn="l">
              <a:lnSpc>
                <a:spcPct val="105000"/>
              </a:lnSpc>
              <a:spcBef>
                <a:spcPts val="0"/>
              </a:spcBef>
              <a:spcAft>
                <a:spcPts val="0"/>
              </a:spcAft>
            </a:pPr>
            <a:r>
              <a:rPr sz="3000" b="1" i="0">
                <a:solidFill>
                  <a:srgbClr val="002C58"/>
                </a:solidFill>
                <a:latin typeface="Calibri"/>
              </a:rPr>
              <a:t>Urbane Berufstätige sind das tragfähigste Segment</a:t>
            </a:r>
          </a:p>
        </p:txBody>
      </p:sp>
      <p:sp>
        <p:nvSpPr>
          <p:cNvPr id="4" name="Rounded Rectangle 3"/>
          <p:cNvSpPr/>
          <p:nvPr/>
        </p:nvSpPr>
        <p:spPr>
          <a:xfrm>
            <a:off x="722376" y="1417320"/>
            <a:ext cx="10746943" cy="54864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78408" y="1417320"/>
            <a:ext cx="10234879" cy="548640"/>
          </a:xfrm>
          <a:prstGeom prst="rect">
            <a:avLst/>
          </a:prstGeom>
          <a:noFill/>
        </p:spPr>
        <p:txBody>
          <a:bodyPr wrap="square" anchor="ctr" lIns="0" rIns="0" tIns="0" bIns="0">
            <a:spAutoFit/>
          </a:bodyPr>
          <a:lstStyle/>
          <a:p>
            <a:pPr algn="l">
              <a:lnSpc>
                <a:spcPct val="118000"/>
              </a:lnSpc>
              <a:spcBef>
                <a:spcPts val="0"/>
              </a:spcBef>
              <a:spcAft>
                <a:spcPts val="0"/>
              </a:spcAft>
            </a:pPr>
            <a:r>
              <a:rPr sz="1500" b="1" i="0">
                <a:solidFill>
                  <a:srgbClr val="002C58"/>
                </a:solidFill>
                <a:latin typeface="Calibri"/>
              </a:rPr>
              <a:t>Segment: Berufstätige 25–39 Jahre, urban, gesundheitsbewusst, hohe Zahlungsbereitschaft</a:t>
            </a:r>
          </a:p>
        </p:txBody>
      </p:sp>
      <p:sp>
        <p:nvSpPr>
          <p:cNvPr id="6" name="Rounded Rectangle 5"/>
          <p:cNvSpPr/>
          <p:nvPr/>
        </p:nvSpPr>
        <p:spPr>
          <a:xfrm>
            <a:off x="722376" y="2148840"/>
            <a:ext cx="3429000" cy="246888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60120" y="2350008"/>
            <a:ext cx="2953512" cy="2066544"/>
          </a:xfrm>
          <a:prstGeom prst="rect">
            <a:avLst/>
          </a:prstGeom>
          <a:noFill/>
        </p:spPr>
        <p:txBody>
          <a:bodyPr wrap="square" anchor="t" lIns="0" rIns="0" tIns="0" bIns="0">
            <a:spAutoFit/>
          </a:bodyPr>
          <a:lstStyle/>
          <a:p>
            <a:pPr algn="l">
              <a:lnSpc>
                <a:spcPct val="118000"/>
              </a:lnSpc>
              <a:spcBef>
                <a:spcPts val="0"/>
              </a:spcBef>
              <a:spcAft>
                <a:spcPts val="900"/>
              </a:spcAft>
            </a:pPr>
            <a:r>
              <a:rPr sz="1700" b="1" i="0">
                <a:solidFill>
                  <a:srgbClr val="002C58"/>
                </a:solidFill>
                <a:latin typeface="Calibri"/>
              </a:rPr>
              <a:t>Bedürfnisse</a:t>
            </a:r>
          </a:p>
          <a:p>
            <a:pPr algn="l" marL="219456" indent="-219456">
              <a:lnSpc>
                <a:spcPct val="118000"/>
              </a:lnSpc>
              <a:spcBef>
                <a:spcPts val="0"/>
              </a:spcBef>
              <a:spcAft>
                <a:spcPts val="600"/>
              </a:spcAft>
              <a:buFont typeface="Arial"/>
              <a:buChar char="▪"/>
            </a:pPr>
            <a:r>
              <a:rPr sz="1400" b="0" i="0">
                <a:solidFill>
                  <a:srgbClr val="212121"/>
                </a:solidFill>
                <a:latin typeface="Calibri"/>
              </a:rPr>
              <a:t>Genug trinken trotz Termindruck</a:t>
            </a:r>
          </a:p>
          <a:p>
            <a:pPr algn="l" marL="219456" indent="-219456">
              <a:lnSpc>
                <a:spcPct val="118000"/>
              </a:lnSpc>
              <a:spcBef>
                <a:spcPts val="0"/>
              </a:spcBef>
              <a:spcAft>
                <a:spcPts val="600"/>
              </a:spcAft>
              <a:buFont typeface="Arial"/>
              <a:buChar char="▪"/>
            </a:pPr>
            <a:r>
              <a:rPr sz="1400" b="0" i="0">
                <a:solidFill>
                  <a:srgbClr val="212121"/>
                </a:solidFill>
                <a:latin typeface="Calibri"/>
              </a:rPr>
              <a:t>Geschmack ohne Zucker</a:t>
            </a:r>
          </a:p>
          <a:p>
            <a:pPr algn="l" marL="219456" indent="-219456">
              <a:lnSpc>
                <a:spcPct val="118000"/>
              </a:lnSpc>
              <a:spcBef>
                <a:spcPts val="0"/>
              </a:spcBef>
              <a:spcAft>
                <a:spcPts val="600"/>
              </a:spcAft>
              <a:buFont typeface="Arial"/>
              <a:buChar char="▪"/>
            </a:pPr>
            <a:r>
              <a:rPr sz="1400" b="0" i="0">
                <a:solidFill>
                  <a:srgbClr val="212121"/>
                </a:solidFill>
                <a:latin typeface="Calibri"/>
              </a:rPr>
              <a:t>Kein Kisten- und Flaschenschleppen</a:t>
            </a:r>
          </a:p>
          <a:p>
            <a:pPr algn="l" marL="219456" indent="-219456">
              <a:lnSpc>
                <a:spcPct val="118000"/>
              </a:lnSpc>
              <a:spcBef>
                <a:spcPts val="0"/>
              </a:spcBef>
              <a:spcAft>
                <a:spcPts val="600"/>
              </a:spcAft>
              <a:buFont typeface="Arial"/>
              <a:buChar char="▪"/>
            </a:pPr>
            <a:r>
              <a:rPr sz="1400" b="0" i="0">
                <a:solidFill>
                  <a:srgbClr val="212121"/>
                </a:solidFill>
                <a:latin typeface="Calibri"/>
              </a:rPr>
              <a:t>Nachhaltigkeit ohne Verzicht</a:t>
            </a:r>
          </a:p>
        </p:txBody>
      </p:sp>
      <p:sp>
        <p:nvSpPr>
          <p:cNvPr id="8" name="Rounded Rectangle 7"/>
          <p:cNvSpPr/>
          <p:nvPr/>
        </p:nvSpPr>
        <p:spPr>
          <a:xfrm>
            <a:off x="4379976" y="2148840"/>
            <a:ext cx="3429000" cy="246888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617720" y="2350008"/>
            <a:ext cx="2953512" cy="2066544"/>
          </a:xfrm>
          <a:prstGeom prst="rect">
            <a:avLst/>
          </a:prstGeom>
          <a:noFill/>
        </p:spPr>
        <p:txBody>
          <a:bodyPr wrap="square" anchor="t" lIns="0" rIns="0" tIns="0" bIns="0">
            <a:spAutoFit/>
          </a:bodyPr>
          <a:lstStyle/>
          <a:p>
            <a:pPr algn="l">
              <a:lnSpc>
                <a:spcPct val="118000"/>
              </a:lnSpc>
              <a:spcBef>
                <a:spcPts val="0"/>
              </a:spcBef>
              <a:spcAft>
                <a:spcPts val="900"/>
              </a:spcAft>
            </a:pPr>
            <a:r>
              <a:rPr sz="1700" b="1" i="0">
                <a:solidFill>
                  <a:srgbClr val="002C58"/>
                </a:solidFill>
                <a:latin typeface="Calibri"/>
              </a:rPr>
              <a:t>Kanäle</a:t>
            </a:r>
          </a:p>
          <a:p>
            <a:pPr algn="l" marL="219456" indent="-219456">
              <a:lnSpc>
                <a:spcPct val="118000"/>
              </a:lnSpc>
              <a:spcBef>
                <a:spcPts val="0"/>
              </a:spcBef>
              <a:spcAft>
                <a:spcPts val="600"/>
              </a:spcAft>
              <a:buFont typeface="Arial"/>
              <a:buChar char="▪"/>
            </a:pPr>
            <a:r>
              <a:rPr sz="1400" b="0" i="0">
                <a:solidFill>
                  <a:srgbClr val="212121"/>
                </a:solidFill>
                <a:latin typeface="Calibri"/>
              </a:rPr>
              <a:t>Instagram, TikTok, YouTube</a:t>
            </a:r>
          </a:p>
          <a:p>
            <a:pPr algn="l" marL="219456" indent="-219456">
              <a:lnSpc>
                <a:spcPct val="118000"/>
              </a:lnSpc>
              <a:spcBef>
                <a:spcPts val="0"/>
              </a:spcBef>
              <a:spcAft>
                <a:spcPts val="600"/>
              </a:spcAft>
              <a:buFont typeface="Arial"/>
              <a:buChar char="▪"/>
            </a:pPr>
            <a:r>
              <a:rPr sz="1400" b="0" i="0">
                <a:solidFill>
                  <a:srgbClr val="212121"/>
                </a:solidFill>
                <a:latin typeface="Calibri"/>
              </a:rPr>
              <a:t>LinkedIn und Podcasts</a:t>
            </a:r>
          </a:p>
          <a:p>
            <a:pPr algn="l" marL="219456" indent="-219456">
              <a:lnSpc>
                <a:spcPct val="118000"/>
              </a:lnSpc>
              <a:spcBef>
                <a:spcPts val="0"/>
              </a:spcBef>
              <a:spcAft>
                <a:spcPts val="600"/>
              </a:spcAft>
              <a:buFont typeface="Arial"/>
              <a:buChar char="▪"/>
            </a:pPr>
            <a:r>
              <a:rPr sz="1400" b="0" i="0">
                <a:solidFill>
                  <a:srgbClr val="212121"/>
                </a:solidFill>
                <a:latin typeface="Calibri"/>
              </a:rPr>
              <a:t>Newsletter und Abo-CRM</a:t>
            </a:r>
          </a:p>
          <a:p>
            <a:pPr algn="l" marL="219456" indent="-219456">
              <a:lnSpc>
                <a:spcPct val="118000"/>
              </a:lnSpc>
              <a:spcBef>
                <a:spcPts val="0"/>
              </a:spcBef>
              <a:spcAft>
                <a:spcPts val="600"/>
              </a:spcAft>
              <a:buFont typeface="Arial"/>
              <a:buChar char="▪"/>
            </a:pPr>
            <a:r>
              <a:rPr sz="1400" b="0" i="0">
                <a:solidFill>
                  <a:srgbClr val="212121"/>
                </a:solidFill>
                <a:latin typeface="Calibri"/>
              </a:rPr>
              <a:t>Eigene Stores und Bürokooperationen</a:t>
            </a:r>
          </a:p>
        </p:txBody>
      </p:sp>
      <p:sp>
        <p:nvSpPr>
          <p:cNvPr id="10" name="Rounded Rectangle 9"/>
          <p:cNvSpPr/>
          <p:nvPr/>
        </p:nvSpPr>
        <p:spPr>
          <a:xfrm>
            <a:off x="8037575" y="2148840"/>
            <a:ext cx="3429000" cy="246888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75319" y="2350008"/>
            <a:ext cx="2953512" cy="2066544"/>
          </a:xfrm>
          <a:prstGeom prst="rect">
            <a:avLst/>
          </a:prstGeom>
          <a:noFill/>
        </p:spPr>
        <p:txBody>
          <a:bodyPr wrap="square" anchor="t" lIns="0" rIns="0" tIns="0" bIns="0">
            <a:spAutoFit/>
          </a:bodyPr>
          <a:lstStyle/>
          <a:p>
            <a:pPr algn="l">
              <a:lnSpc>
                <a:spcPct val="118000"/>
              </a:lnSpc>
              <a:spcBef>
                <a:spcPts val="0"/>
              </a:spcBef>
              <a:spcAft>
                <a:spcPts val="900"/>
              </a:spcAft>
            </a:pPr>
            <a:r>
              <a:rPr sz="1700" b="1" i="0">
                <a:solidFill>
                  <a:srgbClr val="002C58"/>
                </a:solidFill>
                <a:latin typeface="Calibri"/>
              </a:rPr>
              <a:t>Botschaften</a:t>
            </a:r>
          </a:p>
          <a:p>
            <a:pPr algn="l" marL="219456" indent="-219456">
              <a:lnSpc>
                <a:spcPct val="118000"/>
              </a:lnSpc>
              <a:spcBef>
                <a:spcPts val="0"/>
              </a:spcBef>
              <a:spcAft>
                <a:spcPts val="600"/>
              </a:spcAft>
              <a:buFont typeface="Arial"/>
              <a:buChar char="▪"/>
            </a:pPr>
            <a:r>
              <a:rPr sz="1400" b="0" i="0">
                <a:solidFill>
                  <a:srgbClr val="212121"/>
                </a:solidFill>
                <a:latin typeface="Calibri"/>
              </a:rPr>
              <a:t>Kosten je Getränk statt Packungspreis</a:t>
            </a:r>
          </a:p>
          <a:p>
            <a:pPr algn="l" marL="219456" indent="-219456">
              <a:lnSpc>
                <a:spcPct val="118000"/>
              </a:lnSpc>
              <a:spcBef>
                <a:spcPts val="0"/>
              </a:spcBef>
              <a:spcAft>
                <a:spcPts val="600"/>
              </a:spcAft>
              <a:buFont typeface="Arial"/>
              <a:buChar char="▪"/>
            </a:pPr>
            <a:r>
              <a:rPr sz="1400" b="0" i="0">
                <a:solidFill>
                  <a:srgbClr val="212121"/>
                </a:solidFill>
                <a:latin typeface="Calibri"/>
              </a:rPr>
              <a:t>Eingesparte Flaschen pro Jahr</a:t>
            </a:r>
          </a:p>
          <a:p>
            <a:pPr algn="l" marL="219456" indent="-219456">
              <a:lnSpc>
                <a:spcPct val="118000"/>
              </a:lnSpc>
              <a:spcBef>
                <a:spcPts val="0"/>
              </a:spcBef>
              <a:spcAft>
                <a:spcPts val="600"/>
              </a:spcAft>
              <a:buFont typeface="Arial"/>
              <a:buChar char="▪"/>
            </a:pPr>
            <a:r>
              <a:rPr sz="1400" b="0" i="0">
                <a:solidFill>
                  <a:srgbClr val="212121"/>
                </a:solidFill>
                <a:latin typeface="Calibri"/>
              </a:rPr>
              <a:t>Null Zucker, voller Geschmack</a:t>
            </a:r>
          </a:p>
          <a:p>
            <a:pPr algn="l" marL="219456" indent="-219456">
              <a:lnSpc>
                <a:spcPct val="118000"/>
              </a:lnSpc>
              <a:spcBef>
                <a:spcPts val="0"/>
              </a:spcBef>
              <a:spcAft>
                <a:spcPts val="600"/>
              </a:spcAft>
              <a:buFont typeface="Arial"/>
              <a:buChar char="▪"/>
            </a:pPr>
            <a:r>
              <a:rPr sz="1400" b="0" i="0">
                <a:solidFill>
                  <a:srgbClr val="212121"/>
                </a:solidFill>
                <a:latin typeface="Calibri"/>
              </a:rPr>
              <a:t>Passt in Tasche und Arbeitstag</a:t>
            </a:r>
          </a:p>
        </p:txBody>
      </p:sp>
      <p:sp>
        <p:nvSpPr>
          <p:cNvPr id="12" name="Rounded Rectangle 11"/>
          <p:cNvSpPr/>
          <p:nvPr/>
        </p:nvSpPr>
        <p:spPr>
          <a:xfrm>
            <a:off x="722376" y="4956048"/>
            <a:ext cx="10746943" cy="749808"/>
          </a:xfrm>
          <a:prstGeom prst="roundRect">
            <a:avLst>
              <a:gd name="adj" fmla="val 5000"/>
            </a:avLst>
          </a:prstGeom>
          <a:solidFill>
            <a:srgbClr val="002C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33272" y="4956048"/>
            <a:ext cx="10125151" cy="749808"/>
          </a:xfrm>
          <a:prstGeom prst="rect">
            <a:avLst/>
          </a:prstGeom>
          <a:noFill/>
        </p:spPr>
        <p:txBody>
          <a:bodyPr wrap="square" anchor="ctr" lIns="0" rIns="0" tIns="0" bIns="0">
            <a:spAutoFit/>
          </a:bodyPr>
          <a:lstStyle/>
          <a:p>
            <a:pPr algn="l">
              <a:lnSpc>
                <a:spcPct val="110000"/>
              </a:lnSpc>
              <a:spcBef>
                <a:spcPts val="0"/>
              </a:spcBef>
              <a:spcAft>
                <a:spcPts val="0"/>
              </a:spcAft>
            </a:pPr>
            <a:r>
              <a:rPr sz="1700" b="1" i="0">
                <a:solidFill>
                  <a:srgbClr val="FFFFFF"/>
                </a:solidFill>
                <a:latin typeface="Calibri"/>
              </a:rPr>
              <a:t>Die Preisbarriere sinkt, wenn der Preis je Getränk statt je Packung kommuniziert wird.</a:t>
            </a:r>
          </a:p>
        </p:txBody>
      </p:sp>
      <p:sp>
        <p:nvSpPr>
          <p:cNvPr id="14" name="TextBox 13"/>
          <p:cNvSpPr txBox="1"/>
          <p:nvPr/>
        </p:nvSpPr>
        <p:spPr>
          <a:xfrm>
            <a:off x="722376" y="6364224"/>
            <a:ext cx="10106863" cy="274320"/>
          </a:xfrm>
          <a:prstGeom prst="rect">
            <a:avLst/>
          </a:prstGeom>
          <a:noFill/>
        </p:spPr>
        <p:txBody>
          <a:bodyPr wrap="square" anchor="t" lIns="0" rIns="0" tIns="0" bIns="0">
            <a:spAutoFit/>
          </a:bodyPr>
          <a:lstStyle/>
          <a:p>
            <a:pPr algn="l">
              <a:lnSpc>
                <a:spcPct val="118000"/>
              </a:lnSpc>
              <a:spcBef>
                <a:spcPts val="0"/>
              </a:spcBef>
              <a:spcAft>
                <a:spcPts val="0"/>
              </a:spcAft>
            </a:pPr>
            <a:r>
              <a:rPr sz="900" b="0" i="0">
                <a:solidFill>
                  <a:srgbClr val="6B6B6B"/>
                </a:solidFill>
                <a:latin typeface="Calibri"/>
              </a:rPr>
              <a:t>Segmentierungs- und Zielgruppenlogik nach Kotler und Armstrong (2020, 394); Fallangaben nach HSBA (2025).</a:t>
            </a:r>
          </a:p>
        </p:txBody>
      </p:sp>
      <p:sp>
        <p:nvSpPr>
          <p:cNvPr id="15" name="TextBox 14"/>
          <p:cNvSpPr txBox="1"/>
          <p:nvPr/>
        </p:nvSpPr>
        <p:spPr>
          <a:xfrm>
            <a:off x="10920679" y="6364224"/>
            <a:ext cx="548640" cy="274320"/>
          </a:xfrm>
          <a:prstGeom prst="rect">
            <a:avLst/>
          </a:prstGeom>
          <a:noFill/>
        </p:spPr>
        <p:txBody>
          <a:bodyPr wrap="square" anchor="t" lIns="0" rIns="0" tIns="0" bIns="0">
            <a:spAutoFit/>
          </a:bodyPr>
          <a:lstStyle/>
          <a:p>
            <a:pPr algn="r">
              <a:lnSpc>
                <a:spcPct val="118000"/>
              </a:lnSpc>
              <a:spcBef>
                <a:spcPts val="0"/>
              </a:spcBef>
              <a:spcAft>
                <a:spcPts val="0"/>
              </a:spcAft>
            </a:pPr>
            <a:r>
              <a:rPr sz="900" b="0" i="0">
                <a:solidFill>
                  <a:srgbClr val="6B6B6B"/>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722376" y="457200"/>
            <a:ext cx="548640" cy="548640"/>
          </a:xfrm>
          <a:prstGeom prst="ellipse">
            <a:avLst/>
          </a:prstGeom>
          <a:solidFill>
            <a:srgbClr val="002C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4</a:t>
            </a:r>
          </a:p>
        </p:txBody>
      </p:sp>
      <p:sp>
        <p:nvSpPr>
          <p:cNvPr id="3" name="TextBox 2"/>
          <p:cNvSpPr txBox="1"/>
          <p:nvPr/>
        </p:nvSpPr>
        <p:spPr>
          <a:xfrm>
            <a:off x="1490472" y="457200"/>
            <a:ext cx="9978847" cy="777240"/>
          </a:xfrm>
          <a:prstGeom prst="rect">
            <a:avLst/>
          </a:prstGeom>
          <a:noFill/>
        </p:spPr>
        <p:txBody>
          <a:bodyPr wrap="square" anchor="ctr" lIns="0" rIns="0" tIns="0" bIns="0">
            <a:spAutoFit/>
          </a:bodyPr>
          <a:lstStyle/>
          <a:p>
            <a:pPr algn="l">
              <a:lnSpc>
                <a:spcPct val="105000"/>
              </a:lnSpc>
              <a:spcBef>
                <a:spcPts val="0"/>
              </a:spcBef>
              <a:spcAft>
                <a:spcPts val="0"/>
              </a:spcAft>
            </a:pPr>
            <a:r>
              <a:rPr sz="3000" b="1" i="0">
                <a:solidFill>
                  <a:srgbClr val="002C58"/>
                </a:solidFill>
                <a:latin typeface="Calibri"/>
              </a:rPr>
              <a:t>Die Kernbotschaft erklärt Nutzen und Verzicht in einem Satz</a:t>
            </a:r>
          </a:p>
        </p:txBody>
      </p:sp>
      <p:sp>
        <p:nvSpPr>
          <p:cNvPr id="4" name="Rounded Rectangle 3"/>
          <p:cNvSpPr/>
          <p:nvPr/>
        </p:nvSpPr>
        <p:spPr>
          <a:xfrm>
            <a:off x="722376" y="1444752"/>
            <a:ext cx="10746943" cy="1280160"/>
          </a:xfrm>
          <a:prstGeom prst="roundRect">
            <a:avLst>
              <a:gd name="adj" fmla="val 5000"/>
            </a:avLst>
          </a:prstGeom>
          <a:solidFill>
            <a:srgbClr val="002C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88136" y="1444752"/>
            <a:ext cx="10015423" cy="1280160"/>
          </a:xfrm>
          <a:prstGeom prst="rect">
            <a:avLst/>
          </a:prstGeom>
          <a:noFill/>
        </p:spPr>
        <p:txBody>
          <a:bodyPr wrap="square" anchor="ctr" lIns="0" rIns="0" tIns="0" bIns="0">
            <a:spAutoFit/>
          </a:bodyPr>
          <a:lstStyle/>
          <a:p>
            <a:pPr algn="ctr">
              <a:lnSpc>
                <a:spcPct val="110000"/>
              </a:lnSpc>
              <a:spcBef>
                <a:spcPts val="0"/>
              </a:spcBef>
              <a:spcAft>
                <a:spcPts val="0"/>
              </a:spcAft>
            </a:pPr>
            <a:r>
              <a:rPr sz="3000" b="1" i="0">
                <a:solidFill>
                  <a:srgbClr val="FFFFFF"/>
                </a:solidFill>
                <a:latin typeface="Calibri"/>
              </a:rPr>
              <a:t>„Ein Würfel. Dein Wasser. Ohne Zucker, ohne Plastikflasche.“</a:t>
            </a:r>
          </a:p>
        </p:txBody>
      </p:sp>
      <p:sp>
        <p:nvSpPr>
          <p:cNvPr id="6" name="Rounded Rectangle 5"/>
          <p:cNvSpPr/>
          <p:nvPr/>
        </p:nvSpPr>
        <p:spPr>
          <a:xfrm>
            <a:off x="722376" y="2999232"/>
            <a:ext cx="3429000" cy="160020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78408" y="3236976"/>
            <a:ext cx="2916936" cy="1124712"/>
          </a:xfrm>
          <a:prstGeom prst="rect">
            <a:avLst/>
          </a:prstGeom>
          <a:noFill/>
        </p:spPr>
        <p:txBody>
          <a:bodyPr wrap="square" anchor="ctr" lIns="0" rIns="0" tIns="0" bIns="0">
            <a:spAutoFit/>
          </a:bodyPr>
          <a:lstStyle/>
          <a:p>
            <a:pPr algn="l">
              <a:lnSpc>
                <a:spcPct val="118000"/>
              </a:lnSpc>
              <a:spcBef>
                <a:spcPts val="0"/>
              </a:spcBef>
              <a:spcAft>
                <a:spcPts val="700"/>
              </a:spcAft>
            </a:pPr>
            <a:r>
              <a:rPr sz="1600" b="1" i="0">
                <a:solidFill>
                  <a:srgbClr val="002C58"/>
                </a:solidFill>
                <a:latin typeface="Calibri"/>
              </a:rPr>
              <a:t>Verständlich</a:t>
            </a:r>
          </a:p>
          <a:p>
            <a:pPr algn="l">
              <a:lnSpc>
                <a:spcPct val="118000"/>
              </a:lnSpc>
              <a:spcBef>
                <a:spcPts val="0"/>
              </a:spcBef>
              <a:spcAft>
                <a:spcPts val="0"/>
              </a:spcAft>
            </a:pPr>
            <a:r>
              <a:rPr sz="1400" b="0" i="0">
                <a:solidFill>
                  <a:srgbClr val="212121"/>
                </a:solidFill>
                <a:latin typeface="Calibri"/>
              </a:rPr>
              <a:t>Beschreibt Anwendung und Ergebnis ohne Fachbegriffe.</a:t>
            </a:r>
          </a:p>
        </p:txBody>
      </p:sp>
      <p:sp>
        <p:nvSpPr>
          <p:cNvPr id="8" name="Rounded Rectangle 7"/>
          <p:cNvSpPr/>
          <p:nvPr/>
        </p:nvSpPr>
        <p:spPr>
          <a:xfrm>
            <a:off x="4379976" y="2999232"/>
            <a:ext cx="3429000" cy="160020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636008" y="3236976"/>
            <a:ext cx="2916936" cy="1124712"/>
          </a:xfrm>
          <a:prstGeom prst="rect">
            <a:avLst/>
          </a:prstGeom>
          <a:noFill/>
        </p:spPr>
        <p:txBody>
          <a:bodyPr wrap="square" anchor="ctr" lIns="0" rIns="0" tIns="0" bIns="0">
            <a:spAutoFit/>
          </a:bodyPr>
          <a:lstStyle/>
          <a:p>
            <a:pPr algn="l">
              <a:lnSpc>
                <a:spcPct val="118000"/>
              </a:lnSpc>
              <a:spcBef>
                <a:spcPts val="0"/>
              </a:spcBef>
              <a:spcAft>
                <a:spcPts val="700"/>
              </a:spcAft>
            </a:pPr>
            <a:r>
              <a:rPr sz="1600" b="1" i="0">
                <a:solidFill>
                  <a:srgbClr val="002C58"/>
                </a:solidFill>
                <a:latin typeface="Calibri"/>
              </a:rPr>
              <a:t>Glaubwürdig</a:t>
            </a:r>
          </a:p>
          <a:p>
            <a:pPr algn="l">
              <a:lnSpc>
                <a:spcPct val="118000"/>
              </a:lnSpc>
              <a:spcBef>
                <a:spcPts val="0"/>
              </a:spcBef>
              <a:spcAft>
                <a:spcPts val="0"/>
              </a:spcAft>
            </a:pPr>
            <a:r>
              <a:rPr sz="1400" b="0" i="0">
                <a:solidFill>
                  <a:srgbClr val="212121"/>
                </a:solidFill>
                <a:latin typeface="Calibri"/>
              </a:rPr>
              <a:t>Nennt nur Eigenschaften, die am Produkt überprüfbar sind.</a:t>
            </a:r>
          </a:p>
        </p:txBody>
      </p:sp>
      <p:sp>
        <p:nvSpPr>
          <p:cNvPr id="10" name="Rounded Rectangle 9"/>
          <p:cNvSpPr/>
          <p:nvPr/>
        </p:nvSpPr>
        <p:spPr>
          <a:xfrm>
            <a:off x="8037575" y="2999232"/>
            <a:ext cx="3429000" cy="160020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93607" y="3236976"/>
            <a:ext cx="2916936" cy="1124712"/>
          </a:xfrm>
          <a:prstGeom prst="rect">
            <a:avLst/>
          </a:prstGeom>
          <a:noFill/>
        </p:spPr>
        <p:txBody>
          <a:bodyPr wrap="square" anchor="ctr" lIns="0" rIns="0" tIns="0" bIns="0">
            <a:spAutoFit/>
          </a:bodyPr>
          <a:lstStyle/>
          <a:p>
            <a:pPr algn="l">
              <a:lnSpc>
                <a:spcPct val="118000"/>
              </a:lnSpc>
              <a:spcBef>
                <a:spcPts val="0"/>
              </a:spcBef>
              <a:spcAft>
                <a:spcPts val="700"/>
              </a:spcAft>
            </a:pPr>
            <a:r>
              <a:rPr sz="1600" b="1" i="0">
                <a:solidFill>
                  <a:srgbClr val="002C58"/>
                </a:solidFill>
                <a:latin typeface="Calibri"/>
              </a:rPr>
              <a:t>Zielgruppenorientiert</a:t>
            </a:r>
          </a:p>
          <a:p>
            <a:pPr algn="l">
              <a:lnSpc>
                <a:spcPct val="118000"/>
              </a:lnSpc>
              <a:spcBef>
                <a:spcPts val="0"/>
              </a:spcBef>
              <a:spcAft>
                <a:spcPts val="0"/>
              </a:spcAft>
            </a:pPr>
            <a:r>
              <a:rPr sz="1400" b="0" i="0">
                <a:solidFill>
                  <a:srgbClr val="212121"/>
                </a:solidFill>
                <a:latin typeface="Calibri"/>
              </a:rPr>
              <a:t>Setzt am Arbeitsalltag und am Preisvergleich der Zielgruppe an.</a:t>
            </a:r>
          </a:p>
        </p:txBody>
      </p:sp>
      <p:sp>
        <p:nvSpPr>
          <p:cNvPr id="12" name="TextBox 11"/>
          <p:cNvSpPr txBox="1"/>
          <p:nvPr/>
        </p:nvSpPr>
        <p:spPr>
          <a:xfrm>
            <a:off x="722376" y="4956048"/>
            <a:ext cx="10746943" cy="822960"/>
          </a:xfrm>
          <a:prstGeom prst="rect">
            <a:avLst/>
          </a:prstGeom>
          <a:noFill/>
        </p:spPr>
        <p:txBody>
          <a:bodyPr wrap="square" anchor="t" lIns="0" rIns="0" tIns="0" bIns="0">
            <a:spAutoFit/>
          </a:bodyPr>
          <a:lstStyle/>
          <a:p>
            <a:pPr algn="l">
              <a:lnSpc>
                <a:spcPct val="118000"/>
              </a:lnSpc>
              <a:spcBef>
                <a:spcPts val="0"/>
              </a:spcBef>
              <a:spcAft>
                <a:spcPts val="500"/>
              </a:spcAft>
            </a:pPr>
            <a:r>
              <a:rPr sz="1300" b="1" i="0">
                <a:solidFill>
                  <a:srgbClr val="002C58"/>
                </a:solidFill>
                <a:latin typeface="Calibri"/>
              </a:rPr>
              <a:t>Alternativen</a:t>
            </a:r>
          </a:p>
          <a:p>
            <a:pPr algn="l">
              <a:lnSpc>
                <a:spcPct val="118000"/>
              </a:lnSpc>
              <a:spcBef>
                <a:spcPts val="0"/>
              </a:spcBef>
              <a:spcAft>
                <a:spcPts val="0"/>
              </a:spcAft>
            </a:pPr>
            <a:r>
              <a:rPr sz="1400" b="0" i="0">
                <a:solidFill>
                  <a:srgbClr val="6B6B6B"/>
                </a:solidFill>
                <a:latin typeface="Calibri"/>
              </a:rPr>
              <a:t>„Trink mehr. Schlepp weniger.“   ·   „Dein Wasser kann mehr – ohne Zucker.“</a:t>
            </a:r>
          </a:p>
        </p:txBody>
      </p:sp>
      <p:sp>
        <p:nvSpPr>
          <p:cNvPr id="13" name="TextBox 12"/>
          <p:cNvSpPr txBox="1"/>
          <p:nvPr/>
        </p:nvSpPr>
        <p:spPr>
          <a:xfrm>
            <a:off x="722376" y="6364224"/>
            <a:ext cx="10106863" cy="274320"/>
          </a:xfrm>
          <a:prstGeom prst="rect">
            <a:avLst/>
          </a:prstGeom>
          <a:noFill/>
        </p:spPr>
        <p:txBody>
          <a:bodyPr wrap="square" anchor="t" lIns="0" rIns="0" tIns="0" bIns="0">
            <a:spAutoFit/>
          </a:bodyPr>
          <a:lstStyle/>
          <a:p>
            <a:pPr algn="l">
              <a:lnSpc>
                <a:spcPct val="118000"/>
              </a:lnSpc>
              <a:spcBef>
                <a:spcPts val="0"/>
              </a:spcBef>
              <a:spcAft>
                <a:spcPts val="0"/>
              </a:spcAft>
            </a:pPr>
            <a:r>
              <a:rPr sz="900" b="0" i="0">
                <a:solidFill>
                  <a:srgbClr val="6B6B6B"/>
                </a:solidFill>
                <a:latin typeface="Calibri"/>
              </a:rPr>
              <a:t>Botschaftskriterien nach HSBA (2025); Gestaltung der Kommunikationsbotschaft nach Kotler und Armstrong (2020, 394).</a:t>
            </a:r>
          </a:p>
        </p:txBody>
      </p:sp>
      <p:sp>
        <p:nvSpPr>
          <p:cNvPr id="14" name="TextBox 13"/>
          <p:cNvSpPr txBox="1"/>
          <p:nvPr/>
        </p:nvSpPr>
        <p:spPr>
          <a:xfrm>
            <a:off x="10920679" y="6364224"/>
            <a:ext cx="548640" cy="274320"/>
          </a:xfrm>
          <a:prstGeom prst="rect">
            <a:avLst/>
          </a:prstGeom>
          <a:noFill/>
        </p:spPr>
        <p:txBody>
          <a:bodyPr wrap="square" anchor="t" lIns="0" rIns="0" tIns="0" bIns="0">
            <a:spAutoFit/>
          </a:bodyPr>
          <a:lstStyle/>
          <a:p>
            <a:pPr algn="r">
              <a:lnSpc>
                <a:spcPct val="118000"/>
              </a:lnSpc>
              <a:spcBef>
                <a:spcPts val="0"/>
              </a:spcBef>
              <a:spcAft>
                <a:spcPts val="0"/>
              </a:spcAft>
            </a:pPr>
            <a:r>
              <a:rPr sz="900" b="0" i="0">
                <a:solidFill>
                  <a:srgbClr val="6B6B6B"/>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722376" y="457200"/>
            <a:ext cx="548640" cy="548640"/>
          </a:xfrm>
          <a:prstGeom prst="ellipse">
            <a:avLst/>
          </a:prstGeom>
          <a:solidFill>
            <a:srgbClr val="002C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5</a:t>
            </a:r>
          </a:p>
        </p:txBody>
      </p:sp>
      <p:sp>
        <p:nvSpPr>
          <p:cNvPr id="3" name="TextBox 2"/>
          <p:cNvSpPr txBox="1"/>
          <p:nvPr/>
        </p:nvSpPr>
        <p:spPr>
          <a:xfrm>
            <a:off x="1490472" y="457200"/>
            <a:ext cx="9978847" cy="777240"/>
          </a:xfrm>
          <a:prstGeom prst="rect">
            <a:avLst/>
          </a:prstGeom>
          <a:noFill/>
        </p:spPr>
        <p:txBody>
          <a:bodyPr wrap="square" anchor="ctr" lIns="0" rIns="0" tIns="0" bIns="0">
            <a:spAutoFit/>
          </a:bodyPr>
          <a:lstStyle/>
          <a:p>
            <a:pPr algn="l">
              <a:lnSpc>
                <a:spcPct val="105000"/>
              </a:lnSpc>
              <a:spcBef>
                <a:spcPts val="0"/>
              </a:spcBef>
              <a:spcAft>
                <a:spcPts val="0"/>
              </a:spcAft>
            </a:pPr>
            <a:r>
              <a:rPr sz="3000" b="1" i="0">
                <a:solidFill>
                  <a:srgbClr val="002C58"/>
                </a:solidFill>
                <a:latin typeface="Calibri"/>
              </a:rPr>
              <a:t>Der Erfolg wird auf beiden Zielebenen gemessen</a:t>
            </a:r>
          </a:p>
        </p:txBody>
      </p:sp>
      <p:sp>
        <p:nvSpPr>
          <p:cNvPr id="4" name="Chevron 3"/>
          <p:cNvSpPr/>
          <p:nvPr/>
        </p:nvSpPr>
        <p:spPr>
          <a:xfrm>
            <a:off x="722376" y="1417320"/>
            <a:ext cx="2926080" cy="658368"/>
          </a:xfrm>
          <a:prstGeom prst="chevron">
            <a:avLst/>
          </a:prstGeom>
          <a:solidFill>
            <a:srgbClr val="002C58"/>
          </a:solidFill>
          <a:ln>
            <a:noFill/>
          </a:ln>
          <a:effectLst/>
        </p:spPr>
        <p:style>
          <a:lnRef idx="1">
            <a:schemeClr val="accent1"/>
          </a:lnRef>
          <a:fillRef idx="3">
            <a:schemeClr val="accent1"/>
          </a:fillRef>
          <a:effectRef idx="2">
            <a:schemeClr val="accent1"/>
          </a:effectRef>
          <a:fontRef idx="minor">
            <a:schemeClr val="lt1"/>
          </a:fontRef>
        </p:style>
        <p:txBody>
          <a:bodyPr rtlCol="0" anchor="ctr" lIns="256032"/>
          <a:lstStyle/>
          <a:p>
            <a:pPr algn="ctr"/>
            <a:r>
              <a:rPr sz="1400" b="1">
                <a:solidFill>
                  <a:srgbClr val="FFFFFF"/>
                </a:solidFill>
                <a:latin typeface="Calibri"/>
              </a:rPr>
              <a:t>Impressionen</a:t>
            </a:r>
          </a:p>
        </p:txBody>
      </p:sp>
      <p:sp>
        <p:nvSpPr>
          <p:cNvPr id="5" name="Chevron 4"/>
          <p:cNvSpPr/>
          <p:nvPr/>
        </p:nvSpPr>
        <p:spPr>
          <a:xfrm>
            <a:off x="3346704" y="1417320"/>
            <a:ext cx="2926080" cy="658368"/>
          </a:xfrm>
          <a:prstGeom prst="chevron">
            <a:avLst/>
          </a:prstGeom>
          <a:solidFill>
            <a:srgbClr val="1F4E7A"/>
          </a:solidFill>
          <a:ln>
            <a:noFill/>
          </a:ln>
          <a:effectLst/>
        </p:spPr>
        <p:style>
          <a:lnRef idx="1">
            <a:schemeClr val="accent1"/>
          </a:lnRef>
          <a:fillRef idx="3">
            <a:schemeClr val="accent1"/>
          </a:fillRef>
          <a:effectRef idx="2">
            <a:schemeClr val="accent1"/>
          </a:effectRef>
          <a:fontRef idx="minor">
            <a:schemeClr val="lt1"/>
          </a:fontRef>
        </p:style>
        <p:txBody>
          <a:bodyPr rtlCol="0" anchor="ctr" lIns="256032"/>
          <a:lstStyle/>
          <a:p>
            <a:pPr algn="ctr"/>
            <a:r>
              <a:rPr sz="1400" b="1">
                <a:solidFill>
                  <a:srgbClr val="FFFFFF"/>
                </a:solidFill>
                <a:latin typeface="Calibri"/>
              </a:rPr>
              <a:t>Klicks</a:t>
            </a:r>
          </a:p>
        </p:txBody>
      </p:sp>
      <p:sp>
        <p:nvSpPr>
          <p:cNvPr id="6" name="Chevron 5"/>
          <p:cNvSpPr/>
          <p:nvPr/>
        </p:nvSpPr>
        <p:spPr>
          <a:xfrm>
            <a:off x="5971032" y="1417320"/>
            <a:ext cx="2926080" cy="658368"/>
          </a:xfrm>
          <a:prstGeom prst="chevron">
            <a:avLst/>
          </a:prstGeom>
          <a:solidFill>
            <a:srgbClr val="4779AE"/>
          </a:solidFill>
          <a:ln>
            <a:noFill/>
          </a:ln>
          <a:effectLst/>
        </p:spPr>
        <p:style>
          <a:lnRef idx="1">
            <a:schemeClr val="accent1"/>
          </a:lnRef>
          <a:fillRef idx="3">
            <a:schemeClr val="accent1"/>
          </a:fillRef>
          <a:effectRef idx="2">
            <a:schemeClr val="accent1"/>
          </a:effectRef>
          <a:fontRef idx="minor">
            <a:schemeClr val="lt1"/>
          </a:fontRef>
        </p:style>
        <p:txBody>
          <a:bodyPr rtlCol="0" anchor="ctr" lIns="256032"/>
          <a:lstStyle/>
          <a:p>
            <a:pPr algn="ctr"/>
            <a:r>
              <a:rPr sz="1400" b="1">
                <a:solidFill>
                  <a:srgbClr val="FFFFFF"/>
                </a:solidFill>
                <a:latin typeface="Calibri"/>
              </a:rPr>
              <a:t>Leads</a:t>
            </a:r>
          </a:p>
        </p:txBody>
      </p:sp>
      <p:sp>
        <p:nvSpPr>
          <p:cNvPr id="7" name="Chevron 6"/>
          <p:cNvSpPr/>
          <p:nvPr/>
        </p:nvSpPr>
        <p:spPr>
          <a:xfrm>
            <a:off x="8595360" y="1417320"/>
            <a:ext cx="2926080" cy="658368"/>
          </a:xfrm>
          <a:prstGeom prst="chevron">
            <a:avLst/>
          </a:prstGeom>
          <a:solidFill>
            <a:srgbClr val="7BA3C9"/>
          </a:solidFill>
          <a:ln>
            <a:noFill/>
          </a:ln>
          <a:effectLst/>
        </p:spPr>
        <p:style>
          <a:lnRef idx="1">
            <a:schemeClr val="accent1"/>
          </a:lnRef>
          <a:fillRef idx="3">
            <a:schemeClr val="accent1"/>
          </a:fillRef>
          <a:effectRef idx="2">
            <a:schemeClr val="accent1"/>
          </a:effectRef>
          <a:fontRef idx="minor">
            <a:schemeClr val="lt1"/>
          </a:fontRef>
        </p:style>
        <p:txBody>
          <a:bodyPr rtlCol="0" anchor="ctr" lIns="256032"/>
          <a:lstStyle/>
          <a:p>
            <a:pPr algn="ctr"/>
            <a:r>
              <a:rPr sz="1400" b="1">
                <a:solidFill>
                  <a:srgbClr val="FFFFFF"/>
                </a:solidFill>
                <a:latin typeface="Calibri"/>
              </a:rPr>
              <a:t>Konversion</a:t>
            </a:r>
          </a:p>
        </p:txBody>
      </p:sp>
      <p:sp>
        <p:nvSpPr>
          <p:cNvPr id="8" name="Rounded Rectangle 7"/>
          <p:cNvSpPr/>
          <p:nvPr/>
        </p:nvSpPr>
        <p:spPr>
          <a:xfrm>
            <a:off x="722376" y="2395728"/>
            <a:ext cx="5212080" cy="233172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78408" y="2615184"/>
            <a:ext cx="4700016" cy="1892807"/>
          </a:xfrm>
          <a:prstGeom prst="rect">
            <a:avLst/>
          </a:prstGeom>
          <a:noFill/>
        </p:spPr>
        <p:txBody>
          <a:bodyPr wrap="square" anchor="ctr" lIns="0" rIns="0" tIns="0" bIns="0">
            <a:spAutoFit/>
          </a:bodyPr>
          <a:lstStyle/>
          <a:p>
            <a:pPr algn="l">
              <a:lnSpc>
                <a:spcPct val="118000"/>
              </a:lnSpc>
              <a:spcBef>
                <a:spcPts val="0"/>
              </a:spcBef>
              <a:spcAft>
                <a:spcPts val="900"/>
              </a:spcAft>
            </a:pPr>
            <a:r>
              <a:rPr sz="1700" b="1" i="0">
                <a:solidFill>
                  <a:srgbClr val="002C58"/>
                </a:solidFill>
                <a:latin typeface="Calibri"/>
              </a:rPr>
              <a:t>Psychologische Wirkung</a:t>
            </a:r>
          </a:p>
          <a:p>
            <a:pPr algn="l" marL="219456" indent="-219456">
              <a:lnSpc>
                <a:spcPct val="118000"/>
              </a:lnSpc>
              <a:spcBef>
                <a:spcPts val="0"/>
              </a:spcBef>
              <a:spcAft>
                <a:spcPts val="600"/>
              </a:spcAft>
              <a:buFont typeface="Arial"/>
              <a:buChar char="▪"/>
            </a:pPr>
            <a:r>
              <a:rPr sz="1500" b="0" i="0">
                <a:solidFill>
                  <a:srgbClr val="212121"/>
                </a:solidFill>
                <a:latin typeface="Calibri"/>
              </a:rPr>
              <a:t>Gestützte und ungestützte Bekanntheit</a:t>
            </a:r>
          </a:p>
          <a:p>
            <a:pPr algn="l" marL="219456" indent="-219456">
              <a:lnSpc>
                <a:spcPct val="118000"/>
              </a:lnSpc>
              <a:spcBef>
                <a:spcPts val="0"/>
              </a:spcBef>
              <a:spcAft>
                <a:spcPts val="600"/>
              </a:spcAft>
              <a:buFont typeface="Arial"/>
              <a:buChar char="▪"/>
            </a:pPr>
            <a:r>
              <a:rPr sz="1500" b="0" i="0">
                <a:solidFill>
                  <a:srgbClr val="212121"/>
                </a:solidFill>
                <a:latin typeface="Calibri"/>
              </a:rPr>
              <a:t>Produktverständnis und Markenimage</a:t>
            </a:r>
          </a:p>
          <a:p>
            <a:pPr algn="l" marL="219456" indent="-219456">
              <a:lnSpc>
                <a:spcPct val="118000"/>
              </a:lnSpc>
              <a:spcBef>
                <a:spcPts val="0"/>
              </a:spcBef>
              <a:spcAft>
                <a:spcPts val="600"/>
              </a:spcAft>
              <a:buFont typeface="Arial"/>
              <a:buChar char="▪"/>
            </a:pPr>
            <a:r>
              <a:rPr sz="1500" b="0" i="0">
                <a:solidFill>
                  <a:srgbClr val="212121"/>
                </a:solidFill>
                <a:latin typeface="Calibri"/>
              </a:rPr>
              <a:t>Kaufabsicht und Weiterempfehlung</a:t>
            </a:r>
          </a:p>
        </p:txBody>
      </p:sp>
      <p:sp>
        <p:nvSpPr>
          <p:cNvPr id="10" name="Rounded Rectangle 9"/>
          <p:cNvSpPr/>
          <p:nvPr/>
        </p:nvSpPr>
        <p:spPr>
          <a:xfrm>
            <a:off x="6254496" y="2395728"/>
            <a:ext cx="5212080" cy="233172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10528" y="2615184"/>
            <a:ext cx="4700016" cy="1892807"/>
          </a:xfrm>
          <a:prstGeom prst="rect">
            <a:avLst/>
          </a:prstGeom>
          <a:noFill/>
        </p:spPr>
        <p:txBody>
          <a:bodyPr wrap="square" anchor="ctr" lIns="0" rIns="0" tIns="0" bIns="0">
            <a:spAutoFit/>
          </a:bodyPr>
          <a:lstStyle/>
          <a:p>
            <a:pPr algn="l">
              <a:lnSpc>
                <a:spcPct val="118000"/>
              </a:lnSpc>
              <a:spcBef>
                <a:spcPts val="0"/>
              </a:spcBef>
              <a:spcAft>
                <a:spcPts val="900"/>
              </a:spcAft>
            </a:pPr>
            <a:r>
              <a:rPr sz="1700" b="1" i="0">
                <a:solidFill>
                  <a:srgbClr val="002C58"/>
                </a:solidFill>
                <a:latin typeface="Calibri"/>
              </a:rPr>
              <a:t>Ökonomische Wirkung</a:t>
            </a:r>
          </a:p>
          <a:p>
            <a:pPr algn="l" marL="219456" indent="-219456">
              <a:lnSpc>
                <a:spcPct val="118000"/>
              </a:lnSpc>
              <a:spcBef>
                <a:spcPts val="0"/>
              </a:spcBef>
              <a:spcAft>
                <a:spcPts val="600"/>
              </a:spcAft>
              <a:buFont typeface="Arial"/>
              <a:buChar char="▪"/>
            </a:pPr>
            <a:r>
              <a:rPr sz="1500" b="0" i="0">
                <a:solidFill>
                  <a:srgbClr val="212121"/>
                </a:solidFill>
                <a:latin typeface="Calibri"/>
              </a:rPr>
              <a:t>Klickrate, Cost per Click, Conversion Rate</a:t>
            </a:r>
          </a:p>
          <a:p>
            <a:pPr algn="l" marL="219456" indent="-219456">
              <a:lnSpc>
                <a:spcPct val="118000"/>
              </a:lnSpc>
              <a:spcBef>
                <a:spcPts val="0"/>
              </a:spcBef>
              <a:spcAft>
                <a:spcPts val="600"/>
              </a:spcAft>
              <a:buFont typeface="Arial"/>
              <a:buChar char="▪"/>
            </a:pPr>
            <a:r>
              <a:rPr sz="1500" b="0" i="0">
                <a:solidFill>
                  <a:srgbClr val="212121"/>
                </a:solidFill>
                <a:latin typeface="Calibri"/>
              </a:rPr>
              <a:t>Cost per Order und Werbeertrag (ROAS)</a:t>
            </a:r>
          </a:p>
          <a:p>
            <a:pPr algn="l" marL="219456" indent="-219456">
              <a:lnSpc>
                <a:spcPct val="118000"/>
              </a:lnSpc>
              <a:spcBef>
                <a:spcPts val="0"/>
              </a:spcBef>
              <a:spcAft>
                <a:spcPts val="600"/>
              </a:spcAft>
              <a:buFont typeface="Arial"/>
              <a:buChar char="▪"/>
            </a:pPr>
            <a:r>
              <a:rPr sz="1500" b="0" i="0">
                <a:solidFill>
                  <a:srgbClr val="212121"/>
                </a:solidFill>
                <a:latin typeface="Calibri"/>
              </a:rPr>
              <a:t>Wiederkaufquote und Kundenwert</a:t>
            </a:r>
          </a:p>
        </p:txBody>
      </p:sp>
      <p:sp>
        <p:nvSpPr>
          <p:cNvPr id="12" name="Rounded Rectangle 11"/>
          <p:cNvSpPr/>
          <p:nvPr/>
        </p:nvSpPr>
        <p:spPr>
          <a:xfrm>
            <a:off x="722376" y="5029200"/>
            <a:ext cx="10746943" cy="731520"/>
          </a:xfrm>
          <a:prstGeom prst="roundRect">
            <a:avLst>
              <a:gd name="adj" fmla="val 5000"/>
            </a:avLst>
          </a:prstGeom>
          <a:solidFill>
            <a:srgbClr val="002C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33272" y="5029200"/>
            <a:ext cx="10125151" cy="731520"/>
          </a:xfrm>
          <a:prstGeom prst="rect">
            <a:avLst/>
          </a:prstGeom>
          <a:noFill/>
        </p:spPr>
        <p:txBody>
          <a:bodyPr wrap="square" anchor="ctr" lIns="0" rIns="0" tIns="0" bIns="0">
            <a:spAutoFit/>
          </a:bodyPr>
          <a:lstStyle/>
          <a:p>
            <a:pPr algn="l">
              <a:lnSpc>
                <a:spcPct val="110000"/>
              </a:lnSpc>
              <a:spcBef>
                <a:spcPts val="0"/>
              </a:spcBef>
              <a:spcAft>
                <a:spcPts val="0"/>
              </a:spcAft>
            </a:pPr>
            <a:r>
              <a:rPr sz="1700" b="1" i="0">
                <a:solidFill>
                  <a:srgbClr val="FFFFFF"/>
                </a:solidFill>
                <a:latin typeface="Calibri"/>
              </a:rPr>
              <a:t>Messdesign: Zielwerte vorab festlegen, Vorher-Nachher-Tracking mit Kontrollgruppe.</a:t>
            </a:r>
          </a:p>
        </p:txBody>
      </p:sp>
      <p:sp>
        <p:nvSpPr>
          <p:cNvPr id="14" name="TextBox 13"/>
          <p:cNvSpPr txBox="1"/>
          <p:nvPr/>
        </p:nvSpPr>
        <p:spPr>
          <a:xfrm>
            <a:off x="722376" y="6364224"/>
            <a:ext cx="10106863" cy="274320"/>
          </a:xfrm>
          <a:prstGeom prst="rect">
            <a:avLst/>
          </a:prstGeom>
          <a:noFill/>
        </p:spPr>
        <p:txBody>
          <a:bodyPr wrap="square" anchor="t" lIns="0" rIns="0" tIns="0" bIns="0">
            <a:spAutoFit/>
          </a:bodyPr>
          <a:lstStyle/>
          <a:p>
            <a:pPr algn="l">
              <a:lnSpc>
                <a:spcPct val="118000"/>
              </a:lnSpc>
              <a:spcBef>
                <a:spcPts val="0"/>
              </a:spcBef>
              <a:spcAft>
                <a:spcPts val="0"/>
              </a:spcAft>
            </a:pPr>
            <a:r>
              <a:rPr sz="900" b="0" i="0">
                <a:solidFill>
                  <a:srgbClr val="6B6B6B"/>
                </a:solidFill>
                <a:latin typeface="Calibri"/>
              </a:rPr>
              <a:t>Kennzahlen nach Meffert et al. (2019, 653), Kreutzer (2019, 110), Olbrich, Schulz und Holsing (2019, 78) sowie Ahrholdt, Greve und Hopf (2019, 13–15).</a:t>
            </a:r>
          </a:p>
        </p:txBody>
      </p:sp>
      <p:sp>
        <p:nvSpPr>
          <p:cNvPr id="15" name="TextBox 14"/>
          <p:cNvSpPr txBox="1"/>
          <p:nvPr/>
        </p:nvSpPr>
        <p:spPr>
          <a:xfrm>
            <a:off x="10920679" y="6364224"/>
            <a:ext cx="548640" cy="274320"/>
          </a:xfrm>
          <a:prstGeom prst="rect">
            <a:avLst/>
          </a:prstGeom>
          <a:noFill/>
        </p:spPr>
        <p:txBody>
          <a:bodyPr wrap="square" anchor="t" lIns="0" rIns="0" tIns="0" bIns="0">
            <a:spAutoFit/>
          </a:bodyPr>
          <a:lstStyle/>
          <a:p>
            <a:pPr algn="r">
              <a:lnSpc>
                <a:spcPct val="118000"/>
              </a:lnSpc>
              <a:spcBef>
                <a:spcPts val="0"/>
              </a:spcBef>
              <a:spcAft>
                <a:spcPts val="0"/>
              </a:spcAft>
            </a:pPr>
            <a:r>
              <a:rPr sz="900" b="0" i="0">
                <a:solidFill>
                  <a:srgbClr val="6B6B6B"/>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57200"/>
            <a:ext cx="10746943" cy="777240"/>
          </a:xfrm>
          <a:prstGeom prst="rect">
            <a:avLst/>
          </a:prstGeom>
          <a:noFill/>
        </p:spPr>
        <p:txBody>
          <a:bodyPr wrap="square" anchor="ctr" lIns="0" rIns="0" tIns="0" bIns="0">
            <a:spAutoFit/>
          </a:bodyPr>
          <a:lstStyle/>
          <a:p>
            <a:pPr algn="l">
              <a:lnSpc>
                <a:spcPct val="105000"/>
              </a:lnSpc>
              <a:spcBef>
                <a:spcPts val="0"/>
              </a:spcBef>
              <a:spcAft>
                <a:spcPts val="0"/>
              </a:spcAft>
            </a:pPr>
            <a:r>
              <a:rPr sz="3000" b="1" i="0">
                <a:solidFill>
                  <a:srgbClr val="002C58"/>
                </a:solidFill>
                <a:latin typeface="Calibri"/>
              </a:rPr>
              <a:t>Erklären, probieren lassen, Wiederkauf sichern</a:t>
            </a:r>
          </a:p>
        </p:txBody>
      </p:sp>
      <p:sp>
        <p:nvSpPr>
          <p:cNvPr id="3" name="Rounded Rectangle 2"/>
          <p:cNvSpPr/>
          <p:nvPr/>
        </p:nvSpPr>
        <p:spPr>
          <a:xfrm>
            <a:off x="722376" y="1481328"/>
            <a:ext cx="10746943" cy="100584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033272" y="1755648"/>
            <a:ext cx="457200" cy="457200"/>
          </a:xfrm>
          <a:prstGeom prst="ellipse">
            <a:avLst/>
          </a:prstGeom>
          <a:solidFill>
            <a:srgbClr val="002C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1</a:t>
            </a:r>
          </a:p>
        </p:txBody>
      </p:sp>
      <p:sp>
        <p:nvSpPr>
          <p:cNvPr id="5" name="TextBox 4"/>
          <p:cNvSpPr txBox="1"/>
          <p:nvPr/>
        </p:nvSpPr>
        <p:spPr>
          <a:xfrm>
            <a:off x="1746504" y="1481328"/>
            <a:ext cx="9421063" cy="1005840"/>
          </a:xfrm>
          <a:prstGeom prst="rect">
            <a:avLst/>
          </a:prstGeom>
          <a:noFill/>
        </p:spPr>
        <p:txBody>
          <a:bodyPr wrap="square" anchor="ctr" lIns="0" rIns="0" tIns="0" bIns="0">
            <a:spAutoFit/>
          </a:bodyPr>
          <a:lstStyle/>
          <a:p>
            <a:pPr algn="l">
              <a:lnSpc>
                <a:spcPct val="118000"/>
              </a:lnSpc>
              <a:spcBef>
                <a:spcPts val="0"/>
              </a:spcBef>
              <a:spcAft>
                <a:spcPts val="400"/>
              </a:spcAft>
            </a:pPr>
            <a:r>
              <a:rPr sz="1600" b="1" i="0">
                <a:solidFill>
                  <a:srgbClr val="002C58"/>
                </a:solidFill>
                <a:latin typeface="Calibri"/>
              </a:rPr>
              <a:t>Kernproblem</a:t>
            </a:r>
          </a:p>
          <a:p>
            <a:pPr algn="l">
              <a:lnSpc>
                <a:spcPct val="118000"/>
              </a:lnSpc>
              <a:spcBef>
                <a:spcPts val="0"/>
              </a:spcBef>
              <a:spcAft>
                <a:spcPts val="0"/>
              </a:spcAft>
            </a:pPr>
            <a:r>
              <a:rPr sz="1500" b="0" i="0">
                <a:solidFill>
                  <a:srgbClr val="212121"/>
                </a:solidFill>
                <a:latin typeface="Calibri"/>
              </a:rPr>
              <a:t>Nicht die Bekanntheit fehlt, sondern das Verständnis für Nutzen und Preis.</a:t>
            </a:r>
          </a:p>
        </p:txBody>
      </p:sp>
      <p:sp>
        <p:nvSpPr>
          <p:cNvPr id="6" name="Rounded Rectangle 5"/>
          <p:cNvSpPr/>
          <p:nvPr/>
        </p:nvSpPr>
        <p:spPr>
          <a:xfrm>
            <a:off x="722376" y="2651760"/>
            <a:ext cx="10746943" cy="100584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33272" y="2926080"/>
            <a:ext cx="457200" cy="457200"/>
          </a:xfrm>
          <a:prstGeom prst="ellipse">
            <a:avLst/>
          </a:prstGeom>
          <a:solidFill>
            <a:srgbClr val="002C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2</a:t>
            </a:r>
          </a:p>
        </p:txBody>
      </p:sp>
      <p:sp>
        <p:nvSpPr>
          <p:cNvPr id="8" name="TextBox 7"/>
          <p:cNvSpPr txBox="1"/>
          <p:nvPr/>
        </p:nvSpPr>
        <p:spPr>
          <a:xfrm>
            <a:off x="1746504" y="2651760"/>
            <a:ext cx="9421063" cy="1005840"/>
          </a:xfrm>
          <a:prstGeom prst="rect">
            <a:avLst/>
          </a:prstGeom>
          <a:noFill/>
        </p:spPr>
        <p:txBody>
          <a:bodyPr wrap="square" anchor="ctr" lIns="0" rIns="0" tIns="0" bIns="0">
            <a:spAutoFit/>
          </a:bodyPr>
          <a:lstStyle/>
          <a:p>
            <a:pPr algn="l">
              <a:lnSpc>
                <a:spcPct val="118000"/>
              </a:lnSpc>
              <a:spcBef>
                <a:spcPts val="0"/>
              </a:spcBef>
              <a:spcAft>
                <a:spcPts val="400"/>
              </a:spcAft>
            </a:pPr>
            <a:r>
              <a:rPr sz="1600" b="1" i="0">
                <a:solidFill>
                  <a:srgbClr val="002C58"/>
                </a:solidFill>
                <a:latin typeface="Calibri"/>
              </a:rPr>
              <a:t>Wichtigste Maßnahme</a:t>
            </a:r>
          </a:p>
          <a:p>
            <a:pPr algn="l">
              <a:lnSpc>
                <a:spcPct val="118000"/>
              </a:lnSpc>
              <a:spcBef>
                <a:spcPts val="0"/>
              </a:spcBef>
              <a:spcAft>
                <a:spcPts val="0"/>
              </a:spcAft>
            </a:pPr>
            <a:r>
              <a:rPr sz="1500" b="0" i="0">
                <a:solidFill>
                  <a:srgbClr val="212121"/>
                </a:solidFill>
                <a:latin typeface="Calibri"/>
              </a:rPr>
              <a:t>Sampling-gestützte Erklärkampagne über Social Media und eigene Stores.</a:t>
            </a:r>
          </a:p>
        </p:txBody>
      </p:sp>
      <p:sp>
        <p:nvSpPr>
          <p:cNvPr id="9" name="Rounded Rectangle 8"/>
          <p:cNvSpPr/>
          <p:nvPr/>
        </p:nvSpPr>
        <p:spPr>
          <a:xfrm>
            <a:off x="722376" y="3822192"/>
            <a:ext cx="10746943" cy="1005840"/>
          </a:xfrm>
          <a:prstGeom prst="roundRect">
            <a:avLst>
              <a:gd name="adj" fmla="val 5000"/>
            </a:avLst>
          </a:prstGeom>
          <a:solidFill>
            <a:srgbClr val="EE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33272" y="4096512"/>
            <a:ext cx="457200" cy="457200"/>
          </a:xfrm>
          <a:prstGeom prst="ellipse">
            <a:avLst/>
          </a:prstGeom>
          <a:solidFill>
            <a:srgbClr val="002C5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FFFFFF"/>
                </a:solidFill>
                <a:latin typeface="Calibri"/>
              </a:rPr>
              <a:t>3</a:t>
            </a:r>
          </a:p>
        </p:txBody>
      </p:sp>
      <p:sp>
        <p:nvSpPr>
          <p:cNvPr id="11" name="TextBox 10"/>
          <p:cNvSpPr txBox="1"/>
          <p:nvPr/>
        </p:nvSpPr>
        <p:spPr>
          <a:xfrm>
            <a:off x="1746504" y="3822192"/>
            <a:ext cx="9421063" cy="1005840"/>
          </a:xfrm>
          <a:prstGeom prst="rect">
            <a:avLst/>
          </a:prstGeom>
          <a:noFill/>
        </p:spPr>
        <p:txBody>
          <a:bodyPr wrap="square" anchor="ctr" lIns="0" rIns="0" tIns="0" bIns="0">
            <a:spAutoFit/>
          </a:bodyPr>
          <a:lstStyle/>
          <a:p>
            <a:pPr algn="l">
              <a:lnSpc>
                <a:spcPct val="118000"/>
              </a:lnSpc>
              <a:spcBef>
                <a:spcPts val="0"/>
              </a:spcBef>
              <a:spcAft>
                <a:spcPts val="400"/>
              </a:spcAft>
            </a:pPr>
            <a:r>
              <a:rPr sz="1600" b="1" i="0">
                <a:solidFill>
                  <a:srgbClr val="002C58"/>
                </a:solidFill>
                <a:latin typeface="Calibri"/>
              </a:rPr>
              <a:t>Leitkennzahlen</a:t>
            </a:r>
          </a:p>
          <a:p>
            <a:pPr algn="l">
              <a:lnSpc>
                <a:spcPct val="118000"/>
              </a:lnSpc>
              <a:spcBef>
                <a:spcPts val="0"/>
              </a:spcBef>
              <a:spcAft>
                <a:spcPts val="0"/>
              </a:spcAft>
            </a:pPr>
            <a:r>
              <a:rPr sz="1500" b="0" i="0">
                <a:solidFill>
                  <a:srgbClr val="212121"/>
                </a:solidFill>
                <a:latin typeface="Calibri"/>
              </a:rPr>
              <a:t>Conversion Rate beim Erstkauf und Wiederkaufquote nach drei Monaten.</a:t>
            </a:r>
          </a:p>
        </p:txBody>
      </p:sp>
      <p:sp>
        <p:nvSpPr>
          <p:cNvPr id="12" name="Rounded Rectangle 11"/>
          <p:cNvSpPr/>
          <p:nvPr/>
        </p:nvSpPr>
        <p:spPr>
          <a:xfrm>
            <a:off x="722376" y="5074920"/>
            <a:ext cx="10746943" cy="960120"/>
          </a:xfrm>
          <a:prstGeom prst="roundRect">
            <a:avLst>
              <a:gd name="adj" fmla="val 5000"/>
            </a:avLst>
          </a:prstGeom>
          <a:solidFill>
            <a:srgbClr val="002C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88136" y="5074920"/>
            <a:ext cx="10015423" cy="960120"/>
          </a:xfrm>
          <a:prstGeom prst="rect">
            <a:avLst/>
          </a:prstGeom>
          <a:noFill/>
        </p:spPr>
        <p:txBody>
          <a:bodyPr wrap="square" anchor="ctr" lIns="0" rIns="0" tIns="0" bIns="0">
            <a:spAutoFit/>
          </a:bodyPr>
          <a:lstStyle/>
          <a:p>
            <a:pPr algn="ctr">
              <a:lnSpc>
                <a:spcPct val="118000"/>
              </a:lnSpc>
              <a:spcBef>
                <a:spcPts val="0"/>
              </a:spcBef>
              <a:spcAft>
                <a:spcPts val="0"/>
              </a:spcAft>
            </a:pPr>
            <a:r>
              <a:rPr sz="2600" b="1" i="0">
                <a:solidFill>
                  <a:srgbClr val="FFFFFF"/>
                </a:solidFill>
                <a:latin typeface="Calibri"/>
              </a:rPr>
              <a:t>„Ein Würfel. Dein Wasser. Ohne Zucker, ohne Plastikflasche.“</a:t>
            </a:r>
          </a:p>
        </p:txBody>
      </p:sp>
      <p:sp>
        <p:nvSpPr>
          <p:cNvPr id="14" name="TextBox 13"/>
          <p:cNvSpPr txBox="1"/>
          <p:nvPr/>
        </p:nvSpPr>
        <p:spPr>
          <a:xfrm>
            <a:off x="722376" y="6364224"/>
            <a:ext cx="10106863" cy="274320"/>
          </a:xfrm>
          <a:prstGeom prst="rect">
            <a:avLst/>
          </a:prstGeom>
          <a:noFill/>
        </p:spPr>
        <p:txBody>
          <a:bodyPr wrap="square" anchor="t" lIns="0" rIns="0" tIns="0" bIns="0">
            <a:spAutoFit/>
          </a:bodyPr>
          <a:lstStyle/>
          <a:p>
            <a:pPr algn="l">
              <a:lnSpc>
                <a:spcPct val="118000"/>
              </a:lnSpc>
              <a:spcBef>
                <a:spcPts val="0"/>
              </a:spcBef>
              <a:spcAft>
                <a:spcPts val="0"/>
              </a:spcAft>
            </a:pPr>
            <a:r>
              <a:rPr sz="900" b="0" i="0">
                <a:solidFill>
                  <a:srgbClr val="6B6B6B"/>
                </a:solidFill>
                <a:latin typeface="Calibri"/>
              </a:rPr>
              <a:t>Eigene Darstellung auf Basis von HSBA (2025) und Meffert et al. (2019, 635–653).</a:t>
            </a:r>
          </a:p>
        </p:txBody>
      </p:sp>
      <p:sp>
        <p:nvSpPr>
          <p:cNvPr id="15" name="TextBox 14"/>
          <p:cNvSpPr txBox="1"/>
          <p:nvPr/>
        </p:nvSpPr>
        <p:spPr>
          <a:xfrm>
            <a:off x="10920679" y="6364224"/>
            <a:ext cx="548640" cy="274320"/>
          </a:xfrm>
          <a:prstGeom prst="rect">
            <a:avLst/>
          </a:prstGeom>
          <a:noFill/>
        </p:spPr>
        <p:txBody>
          <a:bodyPr wrap="square" anchor="t" lIns="0" rIns="0" tIns="0" bIns="0">
            <a:spAutoFit/>
          </a:bodyPr>
          <a:lstStyle/>
          <a:p>
            <a:pPr algn="r">
              <a:lnSpc>
                <a:spcPct val="118000"/>
              </a:lnSpc>
              <a:spcBef>
                <a:spcPts val="0"/>
              </a:spcBef>
              <a:spcAft>
                <a:spcPts val="0"/>
              </a:spcAft>
            </a:pPr>
            <a:r>
              <a:rPr sz="900" b="0" i="0">
                <a:solidFill>
                  <a:srgbClr val="6B6B6B"/>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22376" y="457200"/>
            <a:ext cx="10746943" cy="777240"/>
          </a:xfrm>
          <a:prstGeom prst="rect">
            <a:avLst/>
          </a:prstGeom>
          <a:noFill/>
        </p:spPr>
        <p:txBody>
          <a:bodyPr wrap="square" anchor="ctr" lIns="0" rIns="0" tIns="0" bIns="0">
            <a:spAutoFit/>
          </a:bodyPr>
          <a:lstStyle/>
          <a:p>
            <a:pPr algn="l">
              <a:lnSpc>
                <a:spcPct val="105000"/>
              </a:lnSpc>
              <a:spcBef>
                <a:spcPts val="0"/>
              </a:spcBef>
              <a:spcAft>
                <a:spcPts val="0"/>
              </a:spcAft>
            </a:pPr>
            <a:r>
              <a:rPr sz="3000" b="1" i="0">
                <a:solidFill>
                  <a:srgbClr val="002C58"/>
                </a:solidFill>
                <a:latin typeface="Calibri"/>
              </a:rPr>
              <a:t>Quellen</a:t>
            </a:r>
          </a:p>
        </p:txBody>
      </p:sp>
      <p:sp>
        <p:nvSpPr>
          <p:cNvPr id="3" name="TextBox 2"/>
          <p:cNvSpPr txBox="1"/>
          <p:nvPr/>
        </p:nvSpPr>
        <p:spPr>
          <a:xfrm>
            <a:off x="722376" y="1481328"/>
            <a:ext cx="5212080" cy="4663440"/>
          </a:xfrm>
          <a:prstGeom prst="rect">
            <a:avLst/>
          </a:prstGeom>
          <a:noFill/>
        </p:spPr>
        <p:txBody>
          <a:bodyPr wrap="square" anchor="t" lIns="0" rIns="0" tIns="0" bIns="0">
            <a:spAutoFit/>
          </a:bodyPr>
          <a:lstStyle/>
          <a:p>
            <a:pPr algn="l" marL="201168" indent="-201168">
              <a:lnSpc>
                <a:spcPct val="114000"/>
              </a:lnSpc>
              <a:spcBef>
                <a:spcPts val="0"/>
              </a:spcBef>
              <a:spcAft>
                <a:spcPts val="1500"/>
              </a:spcAft>
            </a:pPr>
            <a:r>
              <a:rPr sz="1200" b="0" i="0">
                <a:solidFill>
                  <a:srgbClr val="212121"/>
                </a:solidFill>
                <a:latin typeface="Calibri"/>
              </a:rPr>
              <a:t>Ahrholdt, Dennis, Goetz Greve und Gregor Hopf. 2019. Online-Marketing-Intelligence. Wiesbaden: Springer Gabler.</a:t>
            </a:r>
          </a:p>
          <a:p>
            <a:pPr algn="l" marL="201168" indent="-201168">
              <a:lnSpc>
                <a:spcPct val="114000"/>
              </a:lnSpc>
              <a:spcBef>
                <a:spcPts val="0"/>
              </a:spcBef>
              <a:spcAft>
                <a:spcPts val="1500"/>
              </a:spcAft>
            </a:pPr>
            <a:r>
              <a:rPr sz="1200" b="0" i="0">
                <a:solidFill>
                  <a:srgbClr val="212121"/>
                </a:solidFill>
                <a:latin typeface="Calibri"/>
              </a:rPr>
              <a:t>Hölter, Ann-Kristin. 2025. „Marketing Management. Vorlesungsunterlagen JG 25, 2025/26.“ Hamburg: Hamburg School of Business Administration.</a:t>
            </a:r>
          </a:p>
          <a:p>
            <a:pPr algn="l" marL="201168" indent="-201168">
              <a:lnSpc>
                <a:spcPct val="114000"/>
              </a:lnSpc>
              <a:spcBef>
                <a:spcPts val="0"/>
              </a:spcBef>
              <a:spcAft>
                <a:spcPts val="1500"/>
              </a:spcAft>
            </a:pPr>
            <a:r>
              <a:rPr sz="1200" b="0" i="0">
                <a:solidFill>
                  <a:srgbClr val="212121"/>
                </a:solidFill>
                <a:latin typeface="Calibri"/>
              </a:rPr>
              <a:t>Homburg, Christian. 2020. Grundlagen des Marketingmanagements. Einführung in Strategie, Instrumente, Umsetzung und Unternehmensführung. 6. Aufl. Wiesbaden: Springer Gabler.</a:t>
            </a:r>
          </a:p>
          <a:p>
            <a:pPr algn="l" marL="201168" indent="-201168">
              <a:lnSpc>
                <a:spcPct val="114000"/>
              </a:lnSpc>
              <a:spcBef>
                <a:spcPts val="0"/>
              </a:spcBef>
              <a:spcAft>
                <a:spcPts val="1500"/>
              </a:spcAft>
            </a:pPr>
            <a:r>
              <a:rPr sz="1200" b="0" i="0">
                <a:solidFill>
                  <a:srgbClr val="212121"/>
                </a:solidFill>
                <a:latin typeface="Calibri"/>
              </a:rPr>
              <a:t>HSBA. 2025. „Gruppenfallstudie: Kommunikationspolitik bei Waterdrop (Abschnitt 3.3).“ Modul Marketing Management, JG 25. Hamburg.</a:t>
            </a:r>
          </a:p>
          <a:p>
            <a:pPr algn="l" marL="201168" indent="-201168">
              <a:lnSpc>
                <a:spcPct val="114000"/>
              </a:lnSpc>
              <a:spcBef>
                <a:spcPts val="0"/>
              </a:spcBef>
              <a:spcAft>
                <a:spcPts val="1500"/>
              </a:spcAft>
            </a:pPr>
            <a:r>
              <a:rPr sz="1200" b="0" i="0">
                <a:solidFill>
                  <a:srgbClr val="212121"/>
                </a:solidFill>
                <a:latin typeface="Calibri"/>
              </a:rPr>
              <a:t>Kotler, Philip und Gary Armstrong. 2020. Principles of Marketing. 18. Aufl. Harlow: Pearson.</a:t>
            </a:r>
          </a:p>
        </p:txBody>
      </p:sp>
      <p:sp>
        <p:nvSpPr>
          <p:cNvPr id="4" name="TextBox 3"/>
          <p:cNvSpPr txBox="1"/>
          <p:nvPr/>
        </p:nvSpPr>
        <p:spPr>
          <a:xfrm>
            <a:off x="6254496" y="1481328"/>
            <a:ext cx="5212080" cy="4663440"/>
          </a:xfrm>
          <a:prstGeom prst="rect">
            <a:avLst/>
          </a:prstGeom>
          <a:noFill/>
        </p:spPr>
        <p:txBody>
          <a:bodyPr wrap="square" anchor="t" lIns="0" rIns="0" tIns="0" bIns="0">
            <a:spAutoFit/>
          </a:bodyPr>
          <a:lstStyle/>
          <a:p>
            <a:pPr algn="l" marL="201168" indent="-201168">
              <a:lnSpc>
                <a:spcPct val="114000"/>
              </a:lnSpc>
              <a:spcBef>
                <a:spcPts val="0"/>
              </a:spcBef>
              <a:spcAft>
                <a:spcPts val="1500"/>
              </a:spcAft>
            </a:pPr>
            <a:r>
              <a:rPr sz="1200" b="0" i="0">
                <a:solidFill>
                  <a:srgbClr val="212121"/>
                </a:solidFill>
                <a:latin typeface="Calibri"/>
              </a:rPr>
              <a:t>Kreutzer, Ralf T. 2019. Online-Marketing. Studienwissen kompakt. 2. Aufl. Wiesbaden: Springer Gabler.</a:t>
            </a:r>
          </a:p>
          <a:p>
            <a:pPr algn="l" marL="201168" indent="-201168">
              <a:lnSpc>
                <a:spcPct val="114000"/>
              </a:lnSpc>
              <a:spcBef>
                <a:spcPts val="0"/>
              </a:spcBef>
              <a:spcAft>
                <a:spcPts val="1500"/>
              </a:spcAft>
            </a:pPr>
            <a:r>
              <a:rPr sz="1200" b="0" i="0">
                <a:solidFill>
                  <a:srgbClr val="212121"/>
                </a:solidFill>
                <a:latin typeface="Calibri"/>
              </a:rPr>
              <a:t>Lammenett, Erwin. 2019. Praxiswissen Online-Marketing. 7. Aufl. Wiesbaden: Springer Gabler.</a:t>
            </a:r>
          </a:p>
          <a:p>
            <a:pPr algn="l" marL="201168" indent="-201168">
              <a:lnSpc>
                <a:spcPct val="114000"/>
              </a:lnSpc>
              <a:spcBef>
                <a:spcPts val="0"/>
              </a:spcBef>
              <a:spcAft>
                <a:spcPts val="1500"/>
              </a:spcAft>
            </a:pPr>
            <a:r>
              <a:rPr sz="1200" b="0" i="0">
                <a:solidFill>
                  <a:srgbClr val="212121"/>
                </a:solidFill>
                <a:latin typeface="Calibri"/>
              </a:rPr>
              <a:t>Lavidge, Robert J. und Gary A. Steiner. 1961. „A Model for Predictive Measurements of Advertising Effectiveness.“ Journal of Marketing 25 (6): 59–62.</a:t>
            </a:r>
          </a:p>
          <a:p>
            <a:pPr algn="l" marL="201168" indent="-201168">
              <a:lnSpc>
                <a:spcPct val="114000"/>
              </a:lnSpc>
              <a:spcBef>
                <a:spcPts val="0"/>
              </a:spcBef>
              <a:spcAft>
                <a:spcPts val="1500"/>
              </a:spcAft>
            </a:pPr>
            <a:r>
              <a:rPr sz="1200" b="0" i="0">
                <a:solidFill>
                  <a:srgbClr val="212121"/>
                </a:solidFill>
                <a:latin typeface="Calibri"/>
              </a:rPr>
              <a:t>Meffert, Heribert, Christoph Burmann, Manfred Kirchgeorg und Maik Eisenbeiß. 2019. Marketing. Grundlagen marktorientierter Unternehmensführung. 13. Aufl. Wiesbaden: Springer Gabler.</a:t>
            </a:r>
          </a:p>
          <a:p>
            <a:pPr algn="l" marL="201168" indent="-201168">
              <a:lnSpc>
                <a:spcPct val="114000"/>
              </a:lnSpc>
              <a:spcBef>
                <a:spcPts val="0"/>
              </a:spcBef>
              <a:spcAft>
                <a:spcPts val="1500"/>
              </a:spcAft>
            </a:pPr>
            <a:r>
              <a:rPr sz="1200" b="0" i="0">
                <a:solidFill>
                  <a:srgbClr val="212121"/>
                </a:solidFill>
                <a:latin typeface="Calibri"/>
              </a:rPr>
              <a:t>Olbrich, Rainer, Carsten D. Schulz und Christian Holsing. 2019. Electronic Commerce und Online-Marketing. 2. Aufl. Berlin: Springer Gabler.</a:t>
            </a:r>
          </a:p>
        </p:txBody>
      </p:sp>
      <p:sp>
        <p:nvSpPr>
          <p:cNvPr id="5" name="TextBox 4"/>
          <p:cNvSpPr txBox="1"/>
          <p:nvPr/>
        </p:nvSpPr>
        <p:spPr>
          <a:xfrm>
            <a:off x="722376" y="6364224"/>
            <a:ext cx="10106863" cy="274320"/>
          </a:xfrm>
          <a:prstGeom prst="rect">
            <a:avLst/>
          </a:prstGeom>
          <a:noFill/>
        </p:spPr>
        <p:txBody>
          <a:bodyPr wrap="square" anchor="t" lIns="0" rIns="0" tIns="0" bIns="0">
            <a:spAutoFit/>
          </a:bodyPr>
          <a:lstStyle/>
          <a:p>
            <a:pPr algn="l">
              <a:lnSpc>
                <a:spcPct val="118000"/>
              </a:lnSpc>
              <a:spcBef>
                <a:spcPts val="0"/>
              </a:spcBef>
              <a:spcAft>
                <a:spcPts val="0"/>
              </a:spcAft>
            </a:pPr>
            <a:r>
              <a:rPr sz="900" b="0" i="0">
                <a:solidFill>
                  <a:srgbClr val="6B6B6B"/>
                </a:solidFill>
                <a:latin typeface="Calibri"/>
              </a:rPr>
              <a:t>Zitationsstil: Chicago Author-Date.</a:t>
            </a:r>
          </a:p>
        </p:txBody>
      </p:sp>
      <p:sp>
        <p:nvSpPr>
          <p:cNvPr id="6" name="TextBox 5"/>
          <p:cNvSpPr txBox="1"/>
          <p:nvPr/>
        </p:nvSpPr>
        <p:spPr>
          <a:xfrm>
            <a:off x="10920679" y="6364224"/>
            <a:ext cx="548640" cy="274320"/>
          </a:xfrm>
          <a:prstGeom prst="rect">
            <a:avLst/>
          </a:prstGeom>
          <a:noFill/>
        </p:spPr>
        <p:txBody>
          <a:bodyPr wrap="square" anchor="t" lIns="0" rIns="0" tIns="0" bIns="0">
            <a:spAutoFit/>
          </a:bodyPr>
          <a:lstStyle/>
          <a:p>
            <a:pPr algn="r">
              <a:lnSpc>
                <a:spcPct val="118000"/>
              </a:lnSpc>
              <a:spcBef>
                <a:spcPts val="0"/>
              </a:spcBef>
              <a:spcAft>
                <a:spcPts val="0"/>
              </a:spcAft>
            </a:pPr>
            <a:r>
              <a:rPr sz="900" b="0" i="0">
                <a:solidFill>
                  <a:srgbClr val="6B6B6B"/>
                </a:solidFill>
                <a:latin typeface="Calibri"/>
              </a:rPr>
              <a:t>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